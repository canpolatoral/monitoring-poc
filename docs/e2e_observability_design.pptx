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4614718-68cc-4154-4582-a0380da33d8c}">
          <p14:sldIdLst>
            <p14:sldId id="256"/>
            <p14:sldId id="257"/>
          </p14:sldIdLst>
        </p14:section>
        <p14:section name="Design" id="{97f87bb8-6435-24bc-a83b-7447fe05a654}">
          <p14:sldIdLst>
            <p14:sldId id="258"/>
            <p14:sldId id="259"/>
            <p14:sldId id="260"/>
          </p14:sldIdLst>
        </p14:section>
        <p14:section name="Implementation" id="{418bf38b-c3b0-0b07-0812-7eca9546cd53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agree the Phase 1 design for locating failures across the transaction path, starting from the OpenShift integration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stays inside OpenShift. External systems become visible as hops without installing anything on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is what exists today. Teal is what Phase 1 adds. Grey systems need no installation; ServiceEntries make them visible as named nodes.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Metrics find the red dot; traces explain it. Start sampling at about 10 percent and keep all error traces if tail sampling is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installing anything on VMs or DB servers, we still learn whether the hop to them is the problem. The why needs app instrumentation or agents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1-3 give metrics and the red-dot graph. Steps 4-6 give traces. Steps 7-8 bring external systems in and validate. Check field names against the Red Hat docs for the installed Service Mesh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agreeing the pilot journey and the open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E2E observability  |  Phase 1 design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Finding the red dot: end-to-end observability on OpenShift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Phase 1 design: mesh metrics, distributed tracing and external systems via ServiceEntries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411480" cy="41148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14173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1417320"/>
            <a:ext cx="411480" cy="41148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 can't see where a transaction fails today</a:t>
            </a:r>
            <a:endParaRPr lang="en-US" sz="3000" dirty="0"/>
          </a:p>
        </p:txBody>
      </p:sp>
      <p:sp>
        <p:nvSpPr>
          <p:cNvPr id="3" name="Problem card"/>
          <p:cNvSpPr/>
          <p:nvPr/>
        </p:nvSpPr>
        <p:spPr>
          <a:xfrm>
            <a:off x="457200" y="1371600"/>
            <a:ext cx="5394960" cy="384048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91640"/>
            <a:ext cx="502920" cy="50292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91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problem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When a customer journey fails, teams can't pinpoint which hop is responsible.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Every transaction crosses OpenShift, so the integration layer sees the whole path.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The service mesh and sidecars are already in place, but metrics and traces are not yet collected or connected.</a:t>
            </a:r>
            <a:endParaRPr lang="en-US" sz="1500" dirty="0"/>
          </a:p>
        </p:txBody>
      </p:sp>
      <p:sp>
        <p:nvSpPr>
          <p:cNvPr id="8" name="Scope card"/>
          <p:cNvSpPr/>
          <p:nvPr/>
        </p:nvSpPr>
        <p:spPr>
          <a:xfrm>
            <a:off x="6309360" y="1371600"/>
            <a:ext cx="5394960" cy="3840480"/>
          </a:xfrm>
          <a:prstGeom prst="roundRect">
            <a:avLst>
              <a:gd name="adj" fmla="val 23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29400" y="169164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1691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Phase 1 scope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4231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In scope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Mesh metrics, Kiali service graph, distributed tracing, OTel auto-instrumentation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External VMs and databases registered as ServiceEntries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Not in this phase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Agents or exporters on VMs and database servers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Channel-side tracing (mobile, web, API gateway)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Target architecture</a:t>
            </a:r>
            <a:endParaRPr lang="en-US" sz="3000" dirty="0"/>
          </a:p>
        </p:txBody>
      </p:sp>
      <p:sp>
        <p:nvSpPr>
          <p:cNvPr id="3" name="Channels"/>
          <p:cNvSpPr/>
          <p:nvPr/>
        </p:nvSpPr>
        <p:spPr>
          <a:xfrm>
            <a:off x="731520" y="1188720"/>
            <a:ext cx="25603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hannels text"/>
          <p:cNvSpPr txBox="1"/>
          <p:nvPr/>
        </p:nvSpPr>
        <p:spPr>
          <a:xfrm>
            <a:off x="73152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Customer channels</a:t>
            </a:r>
            <a:endParaRPr lang="en-US" sz="1400" dirty="0"/>
          </a:p>
        </p:txBody>
      </p:sp>
      <p:sp>
        <p:nvSpPr>
          <p:cNvPr id="5" name="Cluster boundary"/>
          <p:cNvSpPr/>
          <p:nvPr/>
        </p:nvSpPr>
        <p:spPr>
          <a:xfrm>
            <a:off x="457200" y="1828800"/>
            <a:ext cx="8595360" cy="3520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365760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OpenShift cluster  |  service mesh, sidecars already injected</a:t>
            </a:r>
            <a:endParaRPr lang="en-US" sz="1200" dirty="0"/>
          </a:p>
        </p:txBody>
      </p:sp>
      <p:sp>
        <p:nvSpPr>
          <p:cNvPr id="7" name="Ingress"/>
          <p:cNvSpPr/>
          <p:nvPr/>
        </p:nvSpPr>
        <p:spPr>
          <a:xfrm>
            <a:off x="731520" y="2286000"/>
            <a:ext cx="256032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8" name="Ingress text"/>
          <p:cNvSpPr txBox="1"/>
          <p:nvPr/>
        </p:nvSpPr>
        <p:spPr>
          <a:xfrm>
            <a:off x="731520" y="2286000"/>
            <a:ext cx="2560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Ingress gateway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Trace starts here</a:t>
            </a:r>
            <a:endParaRPr lang="en-US" sz="1400" dirty="0"/>
          </a:p>
        </p:txBody>
      </p:sp>
      <p:sp>
        <p:nvSpPr>
          <p:cNvPr id="9" name="App pods"/>
          <p:cNvSpPr/>
          <p:nvPr/>
        </p:nvSpPr>
        <p:spPr>
          <a:xfrm>
            <a:off x="731520" y="3246120"/>
            <a:ext cx="256032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0" name="App pods text"/>
          <p:cNvSpPr txBox="1"/>
          <p:nvPr/>
        </p:nvSpPr>
        <p:spPr>
          <a:xfrm>
            <a:off x="731520" y="3246120"/>
            <a:ext cx="2560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App pods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Envoy sidecar + OTel agent</a:t>
            </a:r>
            <a:endParaRPr lang="en-US" sz="1400" dirty="0"/>
          </a:p>
        </p:txBody>
      </p:sp>
      <p:sp>
        <p:nvSpPr>
          <p:cNvPr id="11" name="ServiceEntry"/>
          <p:cNvSpPr/>
          <p:nvPr/>
        </p:nvSpPr>
        <p:spPr>
          <a:xfrm>
            <a:off x="731520" y="4206240"/>
            <a:ext cx="256032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ServiceEntry text"/>
          <p:cNvSpPr txBox="1"/>
          <p:nvPr/>
        </p:nvSpPr>
        <p:spPr>
          <a:xfrm>
            <a:off x="731520" y="4206240"/>
            <a:ext cx="2560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ServiceEntry + DR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Registers VMs and DBs</a:t>
            </a:r>
            <a:endParaRPr lang="en-US" sz="1400" dirty="0"/>
          </a:p>
        </p:txBody>
      </p:sp>
      <p:sp>
        <p:nvSpPr>
          <p:cNvPr id="13" name="Prometheus"/>
          <p:cNvSpPr/>
          <p:nvPr/>
        </p:nvSpPr>
        <p:spPr>
          <a:xfrm>
            <a:off x="3657600" y="2286000"/>
            <a:ext cx="2560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4" name="Prometheus text"/>
          <p:cNvSpPr txBox="1"/>
          <p:nvPr/>
        </p:nvSpPr>
        <p:spPr>
          <a:xfrm>
            <a:off x="3657600" y="2286000"/>
            <a:ext cx="2560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Prometheus (UWM)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Scrapes Envoy metrics</a:t>
            </a:r>
            <a:endParaRPr lang="en-US" sz="1400" dirty="0"/>
          </a:p>
        </p:txBody>
      </p:sp>
      <p:sp>
        <p:nvSpPr>
          <p:cNvPr id="15" name="Collector"/>
          <p:cNvSpPr/>
          <p:nvPr/>
        </p:nvSpPr>
        <p:spPr>
          <a:xfrm>
            <a:off x="3657600" y="3246120"/>
            <a:ext cx="2560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Collector text"/>
          <p:cNvSpPr txBox="1"/>
          <p:nvPr/>
        </p:nvSpPr>
        <p:spPr>
          <a:xfrm>
            <a:off x="3657600" y="3246120"/>
            <a:ext cx="2560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OTel Collector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Receives spans (OTLP)</a:t>
            </a:r>
            <a:endParaRPr lang="en-US" sz="1400" dirty="0"/>
          </a:p>
        </p:txBody>
      </p:sp>
      <p:sp>
        <p:nvSpPr>
          <p:cNvPr id="17" name="Tempo"/>
          <p:cNvSpPr/>
          <p:nvPr/>
        </p:nvSpPr>
        <p:spPr>
          <a:xfrm>
            <a:off x="3657600" y="4206240"/>
            <a:ext cx="2560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mpo text"/>
          <p:cNvSpPr txBox="1"/>
          <p:nvPr/>
        </p:nvSpPr>
        <p:spPr>
          <a:xfrm>
            <a:off x="3657600" y="4206240"/>
            <a:ext cx="2560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Tempo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Stores traces</a:t>
            </a:r>
            <a:endParaRPr lang="en-US" sz="1400" dirty="0"/>
          </a:p>
        </p:txBody>
      </p:sp>
      <p:sp>
        <p:nvSpPr>
          <p:cNvPr id="19" name="Kiali"/>
          <p:cNvSpPr/>
          <p:nvPr/>
        </p:nvSpPr>
        <p:spPr>
          <a:xfrm>
            <a:off x="6583680" y="2697480"/>
            <a:ext cx="219456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Kiali text"/>
          <p:cNvSpPr txBox="1"/>
          <p:nvPr/>
        </p:nvSpPr>
        <p:spPr>
          <a:xfrm>
            <a:off x="6583680" y="2697480"/>
            <a:ext cx="21945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Kiali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service graph</a:t>
            </a:r>
            <a:endParaRPr lang="en-US" sz="1400" dirty="0"/>
          </a:p>
        </p:txBody>
      </p:sp>
      <p:sp>
        <p:nvSpPr>
          <p:cNvPr id="21" name="Console"/>
          <p:cNvSpPr/>
          <p:nvPr/>
        </p:nvSpPr>
        <p:spPr>
          <a:xfrm>
            <a:off x="6583680" y="3749040"/>
            <a:ext cx="219456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Console text"/>
          <p:cNvSpPr txBox="1"/>
          <p:nvPr/>
        </p:nvSpPr>
        <p:spPr>
          <a:xfrm>
            <a:off x="6583680" y="3749040"/>
            <a:ext cx="21945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OpenShift console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Dashboards and traces</a:t>
            </a:r>
            <a:endParaRPr lang="en-US" sz="1400" dirty="0"/>
          </a:p>
        </p:txBody>
      </p:sp>
      <p:sp>
        <p:nvSpPr>
          <p:cNvPr id="23" name="Legacy VMs"/>
          <p:cNvSpPr/>
          <p:nvPr/>
        </p:nvSpPr>
        <p:spPr>
          <a:xfrm>
            <a:off x="731520" y="5623560"/>
            <a:ext cx="25603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Legacy VMs text"/>
          <p:cNvSpPr txBox="1"/>
          <p:nvPr/>
        </p:nvSpPr>
        <p:spPr>
          <a:xfrm>
            <a:off x="731520" y="5623560"/>
            <a:ext cx="25603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Legacy apps (VMs)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HTTP: full metrics + spans</a:t>
            </a:r>
            <a:endParaRPr lang="en-US" sz="1400" dirty="0"/>
          </a:p>
        </p:txBody>
      </p:sp>
      <p:sp>
        <p:nvSpPr>
          <p:cNvPr id="25" name="Databases"/>
          <p:cNvSpPr/>
          <p:nvPr/>
        </p:nvSpPr>
        <p:spPr>
          <a:xfrm>
            <a:off x="3657600" y="5623560"/>
            <a:ext cx="25603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Databases text"/>
          <p:cNvSpPr txBox="1"/>
          <p:nvPr/>
        </p:nvSpPr>
        <p:spPr>
          <a:xfrm>
            <a:off x="3657600" y="5623560"/>
            <a:ext cx="25603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Databases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TCP: connections only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011680" y="1645920"/>
            <a:ext cx="0" cy="6400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011680" y="3063240"/>
            <a:ext cx="0" cy="1828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011680" y="4023360"/>
            <a:ext cx="0" cy="1828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291840" y="374904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291840" y="3429000"/>
            <a:ext cx="18288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4720" y="2674620"/>
            <a:ext cx="0" cy="7543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74720" y="2674620"/>
            <a:ext cx="18288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937760" y="4023360"/>
            <a:ext cx="0" cy="1828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217920" y="2674620"/>
            <a:ext cx="18288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2674620"/>
            <a:ext cx="0" cy="4114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0" y="3086100"/>
            <a:ext cx="18288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217920" y="4594860"/>
            <a:ext cx="18288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0" y="4137660"/>
            <a:ext cx="0" cy="4572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0" y="4137660"/>
            <a:ext cx="18288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463040" y="4983480"/>
            <a:ext cx="0" cy="6400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743200" y="4983480"/>
            <a:ext cx="0" cy="4572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743200" y="5440680"/>
            <a:ext cx="21945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0" y="5440680"/>
            <a:ext cx="0" cy="1828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Key card"/>
          <p:cNvSpPr/>
          <p:nvPr/>
        </p:nvSpPr>
        <p:spPr>
          <a:xfrm>
            <a:off x="9326880" y="1828800"/>
            <a:ext cx="2377440" cy="3520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555480" y="1965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Key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555480" y="2468880"/>
            <a:ext cx="228600" cy="2286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921240" y="24231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Mesh request path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555480" y="2880360"/>
            <a:ext cx="228600" cy="2286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921240" y="28346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Observability stack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555480" y="3291840"/>
            <a:ext cx="228600" cy="22860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92124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Outside cluster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9555480" y="3703320"/>
            <a:ext cx="228600" cy="22860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921240" y="36576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Red dot: failing hop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9555480" y="41148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Kiali turns an edge red when its error rate or latency crosses a threshold.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Two telemetry flows, one 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457200" cy="4572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Metrics</a:t>
            </a:r>
            <a:endParaRPr lang="en-US" sz="2000" dirty="0"/>
          </a:p>
        </p:txBody>
      </p:sp>
      <p:sp>
        <p:nvSpPr>
          <p:cNvPr id="5" name="Metrics step 1"/>
          <p:cNvSpPr/>
          <p:nvPr/>
        </p:nvSpPr>
        <p:spPr>
          <a:xfrm>
            <a:off x="457200" y="2148840"/>
            <a:ext cx="242316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6" name="Metrics step 1 text"/>
          <p:cNvSpPr txBox="1"/>
          <p:nvPr/>
        </p:nvSpPr>
        <p:spPr>
          <a:xfrm>
            <a:off x="457200" y="214884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Envoy sidecar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Rate, errors, latency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26080" y="2606040"/>
            <a:ext cx="32004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Metrics step 2"/>
          <p:cNvSpPr/>
          <p:nvPr/>
        </p:nvSpPr>
        <p:spPr>
          <a:xfrm>
            <a:off x="3291840" y="2148840"/>
            <a:ext cx="242316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9" name="Metrics step 2 text"/>
          <p:cNvSpPr txBox="1"/>
          <p:nvPr/>
        </p:nvSpPr>
        <p:spPr>
          <a:xfrm>
            <a:off x="3291840" y="214884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PodMonitor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Per mesh namespace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0" y="2606040"/>
            <a:ext cx="32004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Metrics step 3"/>
          <p:cNvSpPr/>
          <p:nvPr/>
        </p:nvSpPr>
        <p:spPr>
          <a:xfrm>
            <a:off x="6126480" y="2148840"/>
            <a:ext cx="242316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Metrics step 3 text"/>
          <p:cNvSpPr txBox="1"/>
          <p:nvPr/>
        </p:nvSpPr>
        <p:spPr>
          <a:xfrm>
            <a:off x="6126480" y="214884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Prometheus (UWM)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Cluster monitoring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595360" y="2606040"/>
            <a:ext cx="32004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Metrics step 4"/>
          <p:cNvSpPr/>
          <p:nvPr/>
        </p:nvSpPr>
        <p:spPr>
          <a:xfrm>
            <a:off x="8961120" y="2148840"/>
            <a:ext cx="24231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Metrics step 4 text"/>
          <p:cNvSpPr txBox="1"/>
          <p:nvPr/>
        </p:nvSpPr>
        <p:spPr>
          <a:xfrm>
            <a:off x="8961120" y="214884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Kiali + alerts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Graph, dashboards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54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Answers: which hop is failing or slow, right now.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1560" y="3931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Traces</a:t>
            </a:r>
            <a:endParaRPr lang="en-US" sz="2000" dirty="0"/>
          </a:p>
        </p:txBody>
      </p:sp>
      <p:sp>
        <p:nvSpPr>
          <p:cNvPr id="19" name="Traces step 1"/>
          <p:cNvSpPr/>
          <p:nvPr/>
        </p:nvSpPr>
        <p:spPr>
          <a:xfrm>
            <a:off x="457200" y="4709160"/>
            <a:ext cx="24231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0" name="Traces step 1 text"/>
          <p:cNvSpPr txBox="1"/>
          <p:nvPr/>
        </p:nvSpPr>
        <p:spPr>
          <a:xfrm>
            <a:off x="457200" y="470916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Envoy + OTel agent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Spans per hop and call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926080" y="5166360"/>
            <a:ext cx="32004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Traces step 2"/>
          <p:cNvSpPr/>
          <p:nvPr/>
        </p:nvSpPr>
        <p:spPr>
          <a:xfrm>
            <a:off x="3291840" y="4709160"/>
            <a:ext cx="24231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3" name="Traces step 2 text"/>
          <p:cNvSpPr txBox="1"/>
          <p:nvPr/>
        </p:nvSpPr>
        <p:spPr>
          <a:xfrm>
            <a:off x="3291840" y="470916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OTel Collector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OTLP, sampling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760720" y="5166360"/>
            <a:ext cx="32004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Traces step 3"/>
          <p:cNvSpPr/>
          <p:nvPr/>
        </p:nvSpPr>
        <p:spPr>
          <a:xfrm>
            <a:off x="6126480" y="4709160"/>
            <a:ext cx="24231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races step 3 text"/>
          <p:cNvSpPr txBox="1"/>
          <p:nvPr/>
        </p:nvSpPr>
        <p:spPr>
          <a:xfrm>
            <a:off x="6126480" y="470916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Tempo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Trace storage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95360" y="5166360"/>
            <a:ext cx="32004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8" name="Traces step 4"/>
          <p:cNvSpPr/>
          <p:nvPr/>
        </p:nvSpPr>
        <p:spPr>
          <a:xfrm>
            <a:off x="8961120" y="4709160"/>
            <a:ext cx="24231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races step 4 text"/>
          <p:cNvSpPr txBox="1"/>
          <p:nvPr/>
        </p:nvSpPr>
        <p:spPr>
          <a:xfrm>
            <a:off x="8961120" y="4709160"/>
            <a:ext cx="24231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Console tracing UI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Linked from Kiali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715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Answers: where the time went inside one specific transaction, including DB calls.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we see for external systems, with no installs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471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743200"/>
                <a:gridCol w="2194560"/>
                <a:gridCol w="33832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External call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Metrics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Traces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to configure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Legacy VM over HTTP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Full: rate, status codes, latency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Outbound span per call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ServiceEntry with protocol HTTP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Legacy VM over HTTPS (app does TLS)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TCP only: bytes, connections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None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Move TLS to the sidecar (see next row)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Legacy VM over HTTPS (sidecar does TLS)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Full: rate, status codes, latency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Outbound span per call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App calls http://, DestinationRule TLS SIMPLE or MUTUAL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Database (Oracle, PostgreSQL, etc.)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TCP only: connections, failures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None from the mesh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ServiceEntry with protocol TCP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Database via app instrumentation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Query timing in spans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JDBC span per query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OTel auto-instrumentation on app pods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Also enable Envoy access logs: response flags UF, UH and UT separate connection failures from errors returned by the target.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Implementation steps</a:t>
            </a:r>
            <a:endParaRPr lang="en-US" sz="3000" dirty="0"/>
          </a:p>
        </p:txBody>
      </p:sp>
      <p:sp>
        <p:nvSpPr>
          <p:cNvPr id="3" name="Step 1"/>
          <p:cNvSpPr/>
          <p:nvPr/>
        </p:nvSpPr>
        <p:spPr>
          <a:xfrm>
            <a:off x="457200" y="1325880"/>
            <a:ext cx="260604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94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Enable user workload monitoring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432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cluster-monitoring-config: enableUserWorkload</a:t>
            </a:r>
            <a:endParaRPr lang="en-US" sz="1200" dirty="0"/>
          </a:p>
        </p:txBody>
      </p:sp>
      <p:sp>
        <p:nvSpPr>
          <p:cNvPr id="8" name="Step 2"/>
          <p:cNvSpPr/>
          <p:nvPr/>
        </p:nvSpPr>
        <p:spPr>
          <a:xfrm>
            <a:off x="3337560" y="1325880"/>
            <a:ext cx="260604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1554480"/>
            <a:ext cx="502920" cy="50292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194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Scrape the mesh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7432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PodMonitor for sidecars, ServiceMonitor for istiod</a:t>
            </a:r>
            <a:endParaRPr lang="en-US" sz="1200" dirty="0"/>
          </a:p>
        </p:txBody>
      </p:sp>
      <p:sp>
        <p:nvSpPr>
          <p:cNvPr id="13" name="Step 3"/>
          <p:cNvSpPr/>
          <p:nvPr/>
        </p:nvSpPr>
        <p:spPr>
          <a:xfrm>
            <a:off x="6217920" y="1325880"/>
            <a:ext cx="260604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46520" y="1554480"/>
            <a:ext cx="502920" cy="50292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194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Connect Kiali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432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Point to Thanos Querier; service graph live</a:t>
            </a:r>
            <a:endParaRPr lang="en-US" sz="1200" dirty="0"/>
          </a:p>
        </p:txBody>
      </p:sp>
      <p:sp>
        <p:nvSpPr>
          <p:cNvPr id="18" name="Step 4"/>
          <p:cNvSpPr/>
          <p:nvPr/>
        </p:nvSpPr>
        <p:spPr>
          <a:xfrm>
            <a:off x="9098280" y="1325880"/>
            <a:ext cx="260604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26880" y="155448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1945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Deploy tracing backend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27432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Tempo Operator + Red Hat build of OpenTelemetry</a:t>
            </a:r>
            <a:endParaRPr lang="en-US" sz="1200" dirty="0"/>
          </a:p>
        </p:txBody>
      </p:sp>
      <p:sp>
        <p:nvSpPr>
          <p:cNvPr id="23" name="Step 5"/>
          <p:cNvSpPr/>
          <p:nvPr/>
        </p:nvSpPr>
        <p:spPr>
          <a:xfrm>
            <a:off x="457200" y="3749040"/>
            <a:ext cx="2606040" cy="2148840"/>
          </a:xfrm>
          <a:prstGeom prst="roundRect">
            <a:avLst>
              <a:gd name="adj" fmla="val 4255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6177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Send mesh traces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166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Extension provider + Telemetry API, 10% sampling</a:t>
            </a:r>
            <a:endParaRPr lang="en-US" sz="1200" dirty="0"/>
          </a:p>
        </p:txBody>
      </p:sp>
      <p:sp>
        <p:nvSpPr>
          <p:cNvPr id="28" name="Step 6"/>
          <p:cNvSpPr/>
          <p:nvPr/>
        </p:nvSpPr>
        <p:spPr>
          <a:xfrm>
            <a:off x="3337560" y="3749040"/>
            <a:ext cx="2606040" cy="2148840"/>
          </a:xfrm>
          <a:prstGeom prst="roundRect">
            <a:avLst>
              <a:gd name="adj" fmla="val 4255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6160" y="397764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661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46177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Fix trace propagation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566160" y="5166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OTel auto-instrumentation via annotations</a:t>
            </a:r>
            <a:endParaRPr lang="en-US" sz="1200" dirty="0"/>
          </a:p>
        </p:txBody>
      </p:sp>
      <p:sp>
        <p:nvSpPr>
          <p:cNvPr id="33" name="Step 7"/>
          <p:cNvSpPr/>
          <p:nvPr/>
        </p:nvSpPr>
        <p:spPr>
          <a:xfrm>
            <a:off x="6217920" y="3749040"/>
            <a:ext cx="2606040" cy="2148840"/>
          </a:xfrm>
          <a:prstGeom prst="roundRect">
            <a:avLst>
              <a:gd name="adj" fmla="val 4255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46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446520" y="46177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Register externals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5166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ServiceEntries, DestinationRules for TLS</a:t>
            </a:r>
            <a:endParaRPr lang="en-US" sz="1200" dirty="0"/>
          </a:p>
        </p:txBody>
      </p:sp>
      <p:sp>
        <p:nvSpPr>
          <p:cNvPr id="38" name="Step 8"/>
          <p:cNvSpPr/>
          <p:nvPr/>
        </p:nvSpPr>
        <p:spPr>
          <a:xfrm>
            <a:off x="9098280" y="3749040"/>
            <a:ext cx="2606040" cy="2148840"/>
          </a:xfrm>
          <a:prstGeom prst="roundRect">
            <a:avLst>
              <a:gd name="adj" fmla="val 4255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326880" y="3977640"/>
            <a:ext cx="502920" cy="50292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32688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9326880" y="46177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Verify end to end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326880" y="5166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Kiali nodes named, one unbroken trace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Start with one journey, then scale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25880" y="1965960"/>
            <a:ext cx="91440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40280" y="16916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402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34640" y="1965960"/>
            <a:ext cx="91440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49040" y="16916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490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43400" y="1965960"/>
            <a:ext cx="91440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57800" y="16916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5780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377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Pilot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One critical journey, e.g. mobile fund transfer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2377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Validate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Unbroken traces, named external nodes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377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Roll out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Namespace by namespace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774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Tune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Sampling, alert thresholds, dashboards</a:t>
            </a:r>
            <a:endParaRPr lang="en-US" sz="1500" dirty="0"/>
          </a:p>
        </p:txBody>
      </p:sp>
      <p:sp>
        <p:nvSpPr>
          <p:cNvPr id="18" name="Decisions card"/>
          <p:cNvSpPr/>
          <p:nvPr/>
        </p:nvSpPr>
        <p:spPr>
          <a:xfrm>
            <a:off x="7040880" y="1554480"/>
            <a:ext cx="4389120" cy="438912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Decisions needed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2331720"/>
            <a:ext cx="3840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Service Mesh version (2.x or 3.x) and upgrade timing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Tempo storage: monolithic for pilot, object storage for production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Default sampling rate and error-trace retention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Pilot journey and owning team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Who owns dashboards and alert routing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42062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Phase 2: channel-side tracing and agents on VMs and databases.</a:t>
            </a:r>
            <a:endParaRPr lang="en-US" sz="1400" dirty="0"/>
          </a:p>
        </p:txBody>
      </p:sp>
      <p:sp>
        <p:nvSpPr>
          <p:cNvPr id="23" name="Text 0"/>
          <p:cNvSpPr/>
          <p:nvPr>
            <p:ph idx="100" type="title" hasCustomPrompt="1"/>
          </p:nvPr>
        </p:nvSpPr>
        <p:spPr>
          <a:xfrm>
            <a:off x="731520" y="210312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731520" y="370332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2E Observability">
  <a:themeElements>
    <a:clrScheme name="E2E Observability">
      <a:dk1>
        <a:srgbClr val="16232F"/>
      </a:dk1>
      <a:lt1>
        <a:srgbClr val="FFFFFF"/>
      </a:lt1>
      <a:dk2>
        <a:srgbClr val="3E5263"/>
      </a:dk2>
      <a:lt2>
        <a:srgbClr val="EEF3F6"/>
      </a:lt2>
      <a:accent1>
        <a:srgbClr val="0E8A8C"/>
      </a:accent1>
      <a:accent2>
        <a:srgbClr val="5446B0"/>
      </a:accent2>
      <a:accent3>
        <a:srgbClr val="E4572E"/>
      </a:accent3>
      <a:accent4>
        <a:srgbClr val="F2A541"/>
      </a:accent4>
      <a:accent5>
        <a:srgbClr val="8A99A6"/>
      </a:accent5>
      <a:accent6>
        <a:srgbClr val="D7E9EA"/>
      </a:accent6>
      <a:hlink>
        <a:srgbClr val="0E8A8C"/>
      </a:hlink>
      <a:folHlink>
        <a:srgbClr val="5446B0"/>
      </a:folHlink>
    </a:clrScheme>
    <a:fontScheme name="E2E Observabilit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OpenShift end-to-end observability - Phase 1 design</dc:title>
  <dc:subject>PptxGenJS Presentation</dc:subject>
  <dc:creator>PptxGenJS</dc:creator>
  <cp:lastModifiedBy>PptxGenJS</cp:lastModifiedBy>
  <cp:revision>1</cp:revision>
  <dcterms:created xsi:type="dcterms:W3CDTF">2026-10-06T08:00:32Z</dcterms:created>
  <dcterms:modified xsi:type="dcterms:W3CDTF">2026-10-06T08:00:32Z</dcterms:modified>
</cp:coreProperties>
</file>