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61" r:id="rId7"/>
    <p:sldId id="262" r:id="rId8"/>
  </p:sldIdLst>
  <p:notesMasterIdLst>
    <p:notesMasterId r:id="rId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14614718-68cc-4154-4582-a0380da33d8c}">
          <p14:sldIdLst>
            <p14:sldId id="256"/>
            <p14:sldId id="257"/>
          </p14:sldIdLst>
        </p14:section>
        <p14:section name="Design" id="{97f87bb8-6435-24bc-a83b-7447fe05a654}">
          <p14:sldIdLst>
            <p14:sldId id="258"/>
            <p14:sldId id="259"/>
            <p14:sldId id="260"/>
          </p14:sldIdLst>
        </p14:section>
        <p14:section name="Implementation" id="{418bf38b-c3b0-0b07-0812-7eca9546cd53}">
          <p14:sldIdLst>
            <p14:sldId id="261"/>
            <p14:sldId id="26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25.xml"/><Relationship Id="rId8" Type="http://schemas.openxmlformats.org/officeDocument/2006/relationships/slide" Target="slides/slide26.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 Id="rId14" Type="http://schemas.openxmlformats.org/officeDocument/2006/relationships/slide" Target="slides/slide6.xml"/><Relationship Id="rId15" Type="http://schemas.openxmlformats.org/officeDocument/2006/relationships/slide" Target="slides/slide7.xml"/><Relationship Id="rId16" Type="http://schemas.openxmlformats.org/officeDocument/2006/relationships/slide" Target="slides/slide8.xml"/><Relationship Id="rId17" Type="http://schemas.openxmlformats.org/officeDocument/2006/relationships/slide" Target="slides/slide9.xml"/><Relationship Id="rId18" Type="http://schemas.openxmlformats.org/officeDocument/2006/relationships/slide" Target="slides/slide10.xml"/><Relationship Id="rId19" Type="http://schemas.openxmlformats.org/officeDocument/2006/relationships/slide" Target="slides/slide11.xml"/><Relationship Id="rId20" Type="http://schemas.openxmlformats.org/officeDocument/2006/relationships/slide" Target="slides/slide12.xml"/><Relationship Id="rId21" Type="http://schemas.openxmlformats.org/officeDocument/2006/relationships/slide" Target="slides/slide13.xml"/><Relationship Id="rId22" Type="http://schemas.openxmlformats.org/officeDocument/2006/relationships/slide" Target="slides/slide14.xml"/><Relationship Id="rId23" Type="http://schemas.openxmlformats.org/officeDocument/2006/relationships/slide" Target="slides/slide15.xml"/><Relationship Id="rId24" Type="http://schemas.openxmlformats.org/officeDocument/2006/relationships/slide" Target="slides/slide16.xml"/><Relationship Id="rId25" Type="http://schemas.openxmlformats.org/officeDocument/2006/relationships/slide" Target="slides/slide17.xml"/><Relationship Id="rId26" Type="http://schemas.openxmlformats.org/officeDocument/2006/relationships/slide" Target="slides/slide18.xml"/><Relationship Id="rId27" Type="http://schemas.openxmlformats.org/officeDocument/2006/relationships/slide" Target="slides/slide19.xml"/><Relationship Id="rId28" Type="http://schemas.openxmlformats.org/officeDocument/2006/relationships/slide" Target="slides/slide20.xml"/><Relationship Id="rId29" Type="http://schemas.openxmlformats.org/officeDocument/2006/relationships/slide" Target="slides/slide21.xml"/><Relationship Id="rId30" Type="http://schemas.openxmlformats.org/officeDocument/2006/relationships/slide" Target="slides/slide22.xml"/><Relationship Id="rId31" Type="http://schemas.openxmlformats.org/officeDocument/2006/relationships/slide" Target="slides/slide23.xml"/><Relationship Id="rId32" Type="http://schemas.openxmlformats.org/officeDocument/2006/relationships/slide" Target="slides/slide2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Purpose: agree the Phase 1 design for locating failures across the transaction path, starting from the OpenShift integration layer.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Phase 1 stays inside OpenShift. External systems become visible as hops without installing anything on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Purple is what exists today. Teal is what Phase 1 adds. Grey systems need no installation; ServiceEntries make them visible as named nodes. Arrows show where the data goes; the pills say who opens the connection: Prometheus pulls metrics, spans and access logs are pushed over OTLP, Kiali and the console query the stores. Each arrow starts at the caller.</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Metrics find the red dot; traces show where the time went; access logs say why the hop failed. Tail sampling keeps every error trace and about 10 percent of the rest (verified in the POC). Every access log carries the trace ID, so a log line opens its trace.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Without installing anything on VMs or DB servers, we still learn whether the hop to them is the problem. The why needs app instrumentation or agents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Steps 1-3 give metrics and the red-dot graph. Steps 4-6 give traces and access logs. Steps 7-8 bring external systems in and validate. Check field names against the Red Hat docs for the installed Service Mesh version.</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by agreeing the pilot journey and the open decisions.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Deep dive for the technical audience. The POC runs the upstream projects behind the OpenShift observability stack on a local kind cluster, with the same CRDs, so the flows and numbers carry over.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request, three different records. Metrics are cheap aggregates that tell you something is wrong and where. Traces follow one request across every hop and show where the time went. Logs record each event with its detail and tell you why. We use all three and link them by shared keys.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OpenTracing (2016, a tracing API) and OpenCensus (2018, Google, metrics and tracing) merged into OpenTelemetry in 2019 under the CNCF; OpenTracing was archived in 2022. OpenTelemetry defines the API, the SDKs, the OTLP wire protocol, the Collector and the semantic conventions (standard attribute names). Vendors are interchangeable because everything speaks OTLP.</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Real trace from the POC. The trace ID is created once, at the ingress gateway, and copied unchanged to every hop. Every span gets its own 8-byte span ID. When a component calls the next hop it writes its own span ID into the traceparent header; the W3C standard calls that field parent-id because, for the receiver, it is the parent. The receiver creates a new span ID and records the incoming one as its parent. Tempo rebuilds the tree from these IDs.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steps, real IDs from trace f0b98398... Each component reads the parent-id from the incoming traceparent header, creates its own span ID, records the incoming value as the parent, and writes its own span ID into the next call. Step 2 is the one only the application can do: Envoy sees the incoming request and the outgoing call to notify as two unrelated connections. The OTel agent links them by keeping the current span in the request's context and writing it into the outgoing header. Each component sends its own spans to the collector; Tempo joins them by trace ID and parent ID.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traceparent header only ever carries one span ID: the sender's. A component's own span ID is not in the request it receives; it does not exist yet, the component generates it. It then appears in two places: in the span record the component sends to the collector (with the trace ID and its parent's span ID), and in the header of its next outgoing call, where it becomes the next hop's parent.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column is what we deploy on OpenShift; the POC uses the upstream project with the same CRDs. Versions follow OpenShift Service Mesh 3.4 (Istio 1.30, Kiali 2.27).</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arrow starts at the caller, the side that opens the connection; the pill names the mechanism. Metrics are pulled: Prometheus scrapes every sidecar every 15 s. Traces and logs are pushed over OTLP to the collector, which pushes them on to Tempo and Loki. Views query the stores on demand. Prometheus pushes firing alerts to Alertmanager.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ServiceMonitor scrapes endpoints behind a Service; sidecar metrics belong to every pod, so we select pods directly with a PodMonitor. On OpenShift user workload monitoring, a PodMonitor only sees its own namespace, so there is one per mesh namespace.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OpenTelemetryCollector CR, deployed by the operator. Two pipelines share the OTLP receiver. One replica keeps all spans of a trace together for tail sampling; to scale out, add a load-balancing exporter tier that routes by trace ID.</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Head sampling in Envoy decides before the request finishes, so at 10% it drops 9 of 10 error traces. Tail sampling decides after the whole trace is seen. The decision cache matters: spans arrive on different timers, and without it late spans are re-sampled and traces lose hops.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gateway route stamps the journey into W3C baggage and overwrites anything the client sent, so it cannot be spoofed. The OTel agent forwards baggage on every outbound call. The label is computed from a fixed list, so cardinality stays bounded. Never put customer or account IDs in labels.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POC storage is small and local; production moves traces and logs to object storage through TempoStack and LokiStack. Both POC gaps are closed: Prometheus now writes to a 10 Gi persistent volume (a sample read back identically after deleting the pod), and Loki's compactor enforces the 48 h retention.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request is sent to Loki through the OTel access-log provider; errors also go to stdout. The flag separates 'the target answered with an error' from 'we could not reach the target', which decides which team is called.</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Correlation works because every signal carries the same keys. Hop labels (source and destination) link metrics to the spans and access logs of that hop. The trace ID links an access log line to its trace and back. The journey label filters all three. Time narrows the search. Grafana and the red-dot dashboard turn these keys into one-click links.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Kiali for engineers troubleshooting the mesh; Grafana for service owners drilling into one journey; the red-dot dashboard for the NOC, which discovers the topology itself and names the owning team; Alertmanager for on-call.</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Measured in the POC by breaking the mocked external systems for real. Metrics react within a rate window; alerts need the 1-minute 'for' period; the trace and access log give the reason; the owner comes from the observability.bank/owner annotation.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Mesh, OpenTelemetry, Tempo and Kiali resources carry over almost unchanged. What changes is how operators are installed, where metrics live and how things are exposed. Full mapping in docs/openshift-mapping.md.</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Phase 2. The OpenTelemetry SDK for Android (opentelemetry-android) and iOS (opentelemetry-swift) creates a span for each user action and injects the W3C traceparent header into the API call, so the Istio gateway continues the app's trace instead of starting a new one. Every hop in front of OpenShift (CDN, WAF, external API gateway, Route) must forward traceparent. The app's own spans go to a separate, internet-facing collector endpoint with authentication, rate limits, redaction and sampling, which forwards to the internal collector. The journey is still set at the gateway from the route, never from the client. Decisions: whether to trust client-supplied trace IDs, OpenTelemetry versus a commercial RUM product, and consent.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103120"/>
            <a:ext cx="9601200" cy="146304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
        <p:nvSpPr>
          <p:cNvPr id="3" name="Text 0"/>
          <p:cNvSpPr/>
          <p:nvPr>
            <p:ph idx="101" type="body" hasCustomPrompt="1"/>
          </p:nvPr>
        </p:nvSpPr>
        <p:spPr>
          <a:xfrm>
            <a:off x="731520" y="3703320"/>
            <a:ext cx="9601200" cy="914400"/>
          </a:xfrm>
          <a:prstGeom prst="rect">
            <a:avLst/>
          </a:prstGeom>
          <a:noFill/>
          <a:ln/>
        </p:spPr>
        <p:txBody>
          <a:bodyPr wrap="square" rtlCol="0"/>
          <a:lstStyle>
            <a:lvl1pPr indent="0" marL="0">
              <a:buNone/>
              <a:defRPr lang="en-US" sz="1800" dirty="0">
                <a:solidFill>
                  <a:schemeClr val="accent6"/>
                </a:solidFill>
              </a:defRPr>
            </a:lvl1pPr>
          </a:lstStyle>
          <a:p>
            <a:pPr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11247120" cy="731520"/>
          </a:xfrm>
          <a:prstGeom prst="rect">
            <a:avLst/>
          </a:prstGeom>
          <a:noFill/>
          <a:ln/>
        </p:spPr>
        <p:txBody>
          <a:bodyPr wrap="square" rtlCol="0"/>
          <a:lstStyle>
            <a:lvl1pPr algn="l" indent="0" marL="0">
              <a:buNone/>
              <a:defRPr lang="en-US" sz="3000" b="1" dirty="0">
                <a:solidFill>
                  <a:schemeClr val="tx1"/>
                </a:solidFill>
              </a:defRPr>
            </a:lvl1pPr>
          </a:lstStyle>
          <a:p>
            <a:pPr algn="l" indent="0" marL="0">
              <a:buNone/>
            </a:pPr>
            <a:endParaRPr lang="en-US" sz="3000" dirty="0"/>
          </a:p>
        </p:txBody>
      </p:sp>
      <p:sp>
        <p:nvSpPr>
          <p:cNvPr id="3" name="Text 0"/>
          <p:cNvSpPr/>
          <p:nvPr/>
        </p:nvSpPr>
        <p:spPr>
          <a:xfrm>
            <a:off x="457200" y="6400800"/>
            <a:ext cx="5486400" cy="274320"/>
          </a:xfrm>
          <a:prstGeom prst="rect">
            <a:avLst/>
          </a:prstGeom>
          <a:noFill/>
          <a:ln/>
        </p:spPr>
        <p:txBody>
          <a:bodyPr wrap="square" rtlCol="0" anchor="ctr"/>
          <a:lstStyle/>
          <a:p>
            <a:pPr indent="0" marL="0">
              <a:buNone/>
            </a:pPr>
            <a:r>
              <a:rPr lang="en-US" sz="1000" dirty="0">
                <a:solidFill>
                  <a:schemeClr val="accent5"/>
                </a:solidFill>
              </a:rPr>
              <a:t>E2E observability  |  Phase 1 design</a:t>
            </a:r>
            <a:endParaRPr lang="en-US" sz="10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3.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2103120"/>
            <a:ext cx="9601200" cy="1463040"/>
          </a:xfrm>
          <a:prstGeom prst="rect">
            <a:avLst/>
          </a:prstGeom>
          <a:noFill/>
          <a:ln/>
        </p:spPr>
        <p:txBody>
          <a:bodyPr wrap="square" rtlCol="0" anchor="b"/>
          <a:lstStyle/>
          <a:p>
            <a:pPr algn="l" indent="0" marL="0">
              <a:buNone/>
            </a:pPr>
            <a:r>
              <a:rPr lang="en-US" sz="4000" b="1" dirty="0">
                <a:solidFill>
                  <a:schemeClr val="bg1"/>
                </a:solidFill>
              </a:rPr>
              <a:t>Finding the red dot: end-to-end observability on OpenShift</a:t>
            </a:r>
            <a:endParaRPr lang="en-US" sz="4000" dirty="0"/>
          </a:p>
        </p:txBody>
      </p:sp>
      <p:sp>
        <p:nvSpPr>
          <p:cNvPr id="3" name="Text 0"/>
          <p:cNvSpPr/>
          <p:nvPr>
            <p:ph idx="101" type="body" hasCustomPrompt="1"/>
          </p:nvPr>
        </p:nvSpPr>
        <p:spPr>
          <a:xfrm>
            <a:off x="731520" y="3703320"/>
            <a:ext cx="9601200" cy="914400"/>
          </a:xfrm>
          <a:prstGeom prst="rect">
            <a:avLst/>
          </a:prstGeom>
          <a:noFill/>
          <a:ln/>
        </p:spPr>
        <p:txBody>
          <a:bodyPr wrap="square" rtlCol="0" anchor="t"/>
          <a:lstStyle/>
          <a:p>
            <a:pPr indent="0" marL="0">
              <a:buNone/>
            </a:pPr>
            <a:r>
              <a:rPr lang="en-US" sz="1800" dirty="0">
                <a:solidFill>
                  <a:schemeClr val="accent6"/>
                </a:solidFill>
              </a:rPr>
              <a:t>Phase 1 design: mesh metrics, distributed tracing, access logs and external systems via ServiceEntries</a:t>
            </a:r>
            <a:endParaRPr lang="en-US" sz="1800" dirty="0"/>
          </a:p>
        </p:txBody>
      </p:sp>
      <p:sp>
        <p:nvSpPr>
          <p:cNvPr id="4" name="Shape 2"/>
          <p:cNvSpPr/>
          <p:nvPr/>
        </p:nvSpPr>
        <p:spPr>
          <a:xfrm>
            <a:off x="731520" y="1417320"/>
            <a:ext cx="411480" cy="411480"/>
          </a:xfrm>
          <a:prstGeom prst="ellipse">
            <a:avLst/>
          </a:prstGeom>
          <a:solidFill>
            <a:schemeClr val="accent3"/>
          </a:solidFill>
          <a:ln w="6350">
            <a:solidFill>
              <a:schemeClr val="accent3"/>
            </a:solidFill>
            <a:prstDash val="solid"/>
          </a:ln>
        </p:spPr>
        <p:txBody>
          <a:bodyPr/>
          <a:p/>
        </p:txBody>
      </p:sp>
      <p:sp>
        <p:nvSpPr>
          <p:cNvPr id="5" name="Shape 3"/>
          <p:cNvSpPr/>
          <p:nvPr/>
        </p:nvSpPr>
        <p:spPr>
          <a:xfrm>
            <a:off x="1280160" y="1417320"/>
            <a:ext cx="411480" cy="411480"/>
          </a:xfrm>
          <a:prstGeom prst="ellipse">
            <a:avLst/>
          </a:prstGeom>
          <a:solidFill>
            <a:schemeClr val="accent1"/>
          </a:solidFill>
          <a:ln w="6350">
            <a:solidFill>
              <a:schemeClr val="accent1"/>
            </a:solidFill>
            <a:prstDash val="solid"/>
          </a:ln>
        </p:spPr>
        <p:txBody>
          <a:bodyPr/>
          <a:p/>
        </p:txBody>
      </p:sp>
      <p:sp>
        <p:nvSpPr>
          <p:cNvPr id="6" name="Shape 4"/>
          <p:cNvSpPr/>
          <p:nvPr/>
        </p:nvSpPr>
        <p:spPr>
          <a:xfrm>
            <a:off x="1828800" y="1417320"/>
            <a:ext cx="411480" cy="411480"/>
          </a:xfrm>
          <a:prstGeom prst="ellipse">
            <a:avLst/>
          </a:prstGeom>
          <a:solidFill>
            <a:schemeClr val="accent2"/>
          </a:solidFill>
          <a:ln w="6350">
            <a:solidFill>
              <a:schemeClr val="accent2"/>
            </a:solidFill>
            <a:prstDash val="solid"/>
          </a:ln>
        </p:spPr>
        <p:txBody>
          <a:body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11247120" cy="731520"/>
          </a:xfrm>
          <a:prstGeom prst="rect">
            <a:avLst/>
          </a:prstGeom>
          <a:noFill/>
          <a:ln/>
        </p:spPr>
        <p:txBody>
          <a:bodyPr wrap="square" rtlCol="0" anchor="ctr"/>
          <a:lstStyle/>
          <a:p>
            <a:pPr algn="l" indent="0" marL="0">
              <a:buNone/>
            </a:pPr>
            <a:r>
              <a:rPr lang="en-US" sz="3000" b="1" dirty="0">
                <a:solidFill>
                  <a:schemeClr val="tx1"/>
                </a:solidFill>
              </a:rPr>
              <a:t>We can't see where a transaction fails today</a:t>
            </a:r>
            <a:endParaRPr lang="en-US" sz="3000" dirty="0"/>
          </a:p>
        </p:txBody>
      </p:sp>
      <p:sp>
        <p:nvSpPr>
          <p:cNvPr id="3" name="Problem card"/>
          <p:cNvSpPr/>
          <p:nvPr/>
        </p:nvSpPr>
        <p:spPr>
          <a:xfrm>
            <a:off x="457200" y="1371600"/>
            <a:ext cx="5394960" cy="3840480"/>
          </a:xfrm>
          <a:prstGeom prst="roundRect">
            <a:avLst>
              <a:gd name="adj" fmla="val 2381"/>
            </a:avLst>
          </a:prstGeom>
          <a:solidFill>
            <a:schemeClr val="bg2"/>
          </a:solidFill>
          <a:ln w="12700">
            <a:solidFill>
              <a:schemeClr val="bg2"/>
            </a:solidFill>
            <a:prstDash val="solid"/>
          </a:ln>
        </p:spPr>
        <p:txBody>
          <a:bodyPr/>
          <a:p/>
        </p:txBody>
      </p:sp>
      <p:sp>
        <p:nvSpPr>
          <p:cNvPr id="4" name="Shape 2"/>
          <p:cNvSpPr/>
          <p:nvPr/>
        </p:nvSpPr>
        <p:spPr>
          <a:xfrm>
            <a:off x="777240" y="1691640"/>
            <a:ext cx="502920" cy="502920"/>
          </a:xfrm>
          <a:prstGeom prst="ellipse">
            <a:avLst/>
          </a:prstGeom>
          <a:solidFill>
            <a:schemeClr val="accent3"/>
          </a:solidFill>
          <a:ln w="6350">
            <a:solidFill>
              <a:schemeClr val="accent3"/>
            </a:solidFill>
            <a:prstDash val="solid"/>
          </a:ln>
        </p:spPr>
        <p:txBody>
          <a:bodyPr/>
          <a:p/>
        </p:txBody>
      </p:sp>
      <p:sp>
        <p:nvSpPr>
          <p:cNvPr id="5" name="Text 3"/>
          <p:cNvSpPr txBox="1"/>
          <p:nvPr/>
        </p:nvSpPr>
        <p:spPr>
          <a:xfrm>
            <a:off x="777240" y="1691640"/>
            <a:ext cx="502920" cy="502920"/>
          </a:xfrm>
          <a:prstGeom prst="rect">
            <a:avLst/>
          </a:prstGeom>
          <a:noFill/>
          <a:ln/>
        </p:spPr>
        <p:txBody>
          <a:bodyPr wrap="square" lIns="0" tIns="0" rIns="0" bIns="0" rtlCol="0" anchor="ctr"/>
          <a:lstStyle/>
          <a:p>
            <a:pPr algn="ctr" indent="0" marL="0">
              <a:buNone/>
            </a:pPr>
            <a:r>
              <a:rPr lang="en-US" sz="1400" b="1" dirty="0">
                <a:solidFill>
                  <a:schemeClr val="bg1"/>
                </a:solidFill>
              </a:rPr>
              <a:t>!</a:t>
            </a:r>
            <a:endParaRPr lang="en-US" sz="1400" dirty="0"/>
          </a:p>
        </p:txBody>
      </p:sp>
      <p:sp>
        <p:nvSpPr>
          <p:cNvPr id="6" name="Text 4"/>
          <p:cNvSpPr txBox="1"/>
          <p:nvPr/>
        </p:nvSpPr>
        <p:spPr>
          <a:xfrm>
            <a:off x="1463040" y="1691640"/>
            <a:ext cx="4114800" cy="502920"/>
          </a:xfrm>
          <a:prstGeom prst="rect">
            <a:avLst/>
          </a:prstGeom>
          <a:noFill/>
          <a:ln/>
        </p:spPr>
        <p:txBody>
          <a:bodyPr wrap="square" lIns="0" tIns="0" rIns="0" bIns="0" rtlCol="0" anchor="ctr"/>
          <a:lstStyle/>
          <a:p>
            <a:pPr indent="0" marL="0">
              <a:buNone/>
            </a:pPr>
            <a:r>
              <a:rPr lang="en-US" sz="2000" b="1" dirty="0">
                <a:solidFill>
                  <a:schemeClr val="tx1"/>
                </a:solidFill>
              </a:rPr>
              <a:t>The problem</a:t>
            </a:r>
            <a:endParaRPr lang="en-US" sz="2000" dirty="0"/>
          </a:p>
        </p:txBody>
      </p:sp>
      <p:sp>
        <p:nvSpPr>
          <p:cNvPr id="7" name="Text 5"/>
          <p:cNvSpPr txBox="1"/>
          <p:nvPr/>
        </p:nvSpPr>
        <p:spPr>
          <a:xfrm>
            <a:off x="777240" y="2423160"/>
            <a:ext cx="4846320" cy="329184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chemeClr val="tx2"/>
                </a:solidFill>
              </a:rPr>
              <a:t>When a customer journey fails, teams can't pinpoint which hop is responsible.</a:t>
            </a:r>
            <a:endParaRPr lang="en-US" sz="1500" dirty="0"/>
          </a:p>
          <a:p>
            <a:pPr marL="342900" indent="-342900">
              <a:spcAft>
                <a:spcPts val="1000"/>
              </a:spcAft>
              <a:buSzPct val="100000"/>
              <a:buChar char="•"/>
            </a:pPr>
            <a:r>
              <a:rPr lang="en-US" sz="1500" dirty="0">
                <a:solidFill>
                  <a:schemeClr val="tx2"/>
                </a:solidFill>
              </a:rPr>
              <a:t>Every transaction crosses OpenShift, so the integration layer sees the whole path.</a:t>
            </a:r>
            <a:endParaRPr lang="en-US" sz="1500" dirty="0"/>
          </a:p>
          <a:p>
            <a:pPr marL="342900" indent="-342900">
              <a:spcAft>
                <a:spcPts val="1000"/>
              </a:spcAft>
              <a:buSzPct val="100000"/>
              <a:buChar char="•"/>
            </a:pPr>
            <a:r>
              <a:rPr lang="en-US" sz="1500" dirty="0">
                <a:solidFill>
                  <a:schemeClr val="tx2"/>
                </a:solidFill>
              </a:rPr>
              <a:t>The service mesh and sidecars are already in place, but metrics, traces and access logs are not yet collected or connected.</a:t>
            </a:r>
            <a:endParaRPr lang="en-US" sz="1500" dirty="0"/>
          </a:p>
        </p:txBody>
      </p:sp>
      <p:sp>
        <p:nvSpPr>
          <p:cNvPr id="8" name="Scope card"/>
          <p:cNvSpPr/>
          <p:nvPr/>
        </p:nvSpPr>
        <p:spPr>
          <a:xfrm>
            <a:off x="6309360" y="1371600"/>
            <a:ext cx="5394960" cy="3840480"/>
          </a:xfrm>
          <a:prstGeom prst="roundRect">
            <a:avLst>
              <a:gd name="adj" fmla="val 2381"/>
            </a:avLst>
          </a:prstGeom>
          <a:solidFill>
            <a:schemeClr val="accent6"/>
          </a:solidFill>
          <a:ln w="12700">
            <a:solidFill>
              <a:schemeClr val="accent6"/>
            </a:solidFill>
            <a:prstDash val="solid"/>
          </a:ln>
        </p:spPr>
        <p:txBody>
          <a:bodyPr/>
          <a:p/>
        </p:txBody>
      </p:sp>
      <p:sp>
        <p:nvSpPr>
          <p:cNvPr id="9" name="Shape 7"/>
          <p:cNvSpPr/>
          <p:nvPr/>
        </p:nvSpPr>
        <p:spPr>
          <a:xfrm>
            <a:off x="6629400" y="1691640"/>
            <a:ext cx="502920" cy="502920"/>
          </a:xfrm>
          <a:prstGeom prst="ellipse">
            <a:avLst/>
          </a:prstGeom>
          <a:solidFill>
            <a:schemeClr val="accent1"/>
          </a:solidFill>
          <a:ln w="6350">
            <a:solidFill>
              <a:schemeClr val="accent1"/>
            </a:solidFill>
            <a:prstDash val="solid"/>
          </a:ln>
        </p:spPr>
        <p:txBody>
          <a:bodyPr/>
          <a:p/>
        </p:txBody>
      </p:sp>
      <p:sp>
        <p:nvSpPr>
          <p:cNvPr id="10" name="Text 8"/>
          <p:cNvSpPr txBox="1"/>
          <p:nvPr/>
        </p:nvSpPr>
        <p:spPr>
          <a:xfrm>
            <a:off x="6629400" y="1691640"/>
            <a:ext cx="502920" cy="502920"/>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11" name="Text 9"/>
          <p:cNvSpPr txBox="1"/>
          <p:nvPr/>
        </p:nvSpPr>
        <p:spPr>
          <a:xfrm>
            <a:off x="7315200" y="1691640"/>
            <a:ext cx="4114800" cy="502920"/>
          </a:xfrm>
          <a:prstGeom prst="rect">
            <a:avLst/>
          </a:prstGeom>
          <a:noFill/>
          <a:ln/>
        </p:spPr>
        <p:txBody>
          <a:bodyPr wrap="square" lIns="0" tIns="0" rIns="0" bIns="0" rtlCol="0" anchor="ctr"/>
          <a:lstStyle/>
          <a:p>
            <a:pPr indent="0" marL="0">
              <a:buNone/>
            </a:pPr>
            <a:r>
              <a:rPr lang="en-US" sz="2000" b="1" dirty="0">
                <a:solidFill>
                  <a:schemeClr val="tx1"/>
                </a:solidFill>
              </a:rPr>
              <a:t>Phase 1 scope</a:t>
            </a:r>
            <a:endParaRPr lang="en-US" sz="2000" dirty="0"/>
          </a:p>
        </p:txBody>
      </p:sp>
      <p:sp>
        <p:nvSpPr>
          <p:cNvPr id="12" name="Text 10"/>
          <p:cNvSpPr txBox="1"/>
          <p:nvPr/>
        </p:nvSpPr>
        <p:spPr>
          <a:xfrm>
            <a:off x="6629400" y="2423160"/>
            <a:ext cx="4846320" cy="3383280"/>
          </a:xfrm>
          <a:prstGeom prst="rect">
            <a:avLst/>
          </a:prstGeom>
          <a:noFill/>
          <a:ln/>
        </p:spPr>
        <p:txBody>
          <a:bodyPr wrap="square" lIns="0" tIns="0" rIns="0" bIns="0" rtlCol="0" anchor="t"/>
          <a:lstStyle/>
          <a:p>
            <a:pPr indent="0" marL="0">
              <a:spcAft>
                <a:spcPts val="800"/>
              </a:spcAft>
              <a:buNone/>
            </a:pPr>
            <a:r>
              <a:rPr lang="en-US" sz="1500" b="1" dirty="0">
                <a:solidFill>
                  <a:schemeClr val="tx1"/>
                </a:solidFill>
              </a:rPr>
              <a:t>In scope</a:t>
            </a:r>
            <a:endParaRPr lang="en-US" sz="1500" dirty="0"/>
          </a:p>
          <a:p>
            <a:pPr marL="342900" indent="-342900">
              <a:spcAft>
                <a:spcPts val="800"/>
              </a:spcAft>
              <a:buSzPct val="100000"/>
              <a:buChar char="•"/>
            </a:pPr>
            <a:r>
              <a:rPr lang="en-US" sz="1500" dirty="0">
                <a:solidFill>
                  <a:schemeClr val="tx2"/>
                </a:solidFill>
              </a:rPr>
              <a:t>Mesh metrics, Kiali service graph, distributed tracing, Envoy access logs, OTel auto-instrumentation</a:t>
            </a:r>
            <a:endParaRPr lang="en-US" sz="1500" dirty="0"/>
          </a:p>
          <a:p>
            <a:pPr marL="342900" indent="-342900">
              <a:spcAft>
                <a:spcPts val="800"/>
              </a:spcAft>
              <a:buSzPct val="100000"/>
              <a:buChar char="•"/>
            </a:pPr>
            <a:r>
              <a:rPr lang="en-US" sz="1500" dirty="0">
                <a:solidFill>
                  <a:schemeClr val="tx2"/>
                </a:solidFill>
              </a:rPr>
              <a:t>External VMs and databases registered as ServiceEntries</a:t>
            </a:r>
            <a:endParaRPr lang="en-US" sz="1500" dirty="0"/>
          </a:p>
          <a:p>
            <a:pPr indent="0" marL="0">
              <a:spcAft>
                <a:spcPts val="800"/>
              </a:spcAft>
              <a:buNone/>
            </a:pPr>
            <a:r>
              <a:rPr lang="en-US" sz="1500" b="1" dirty="0">
                <a:solidFill>
                  <a:schemeClr val="tx1"/>
                </a:solidFill>
              </a:rPr>
              <a:t>Not in this phase</a:t>
            </a:r>
            <a:endParaRPr lang="en-US" sz="1500" dirty="0"/>
          </a:p>
          <a:p>
            <a:pPr marL="342900" indent="-342900">
              <a:spcAft>
                <a:spcPts val="800"/>
              </a:spcAft>
              <a:buSzPct val="100000"/>
              <a:buChar char="•"/>
            </a:pPr>
            <a:r>
              <a:rPr lang="en-US" sz="1500" dirty="0">
                <a:solidFill>
                  <a:schemeClr val="tx2"/>
                </a:solidFill>
              </a:rPr>
              <a:t>Agents or exporters on VMs and database servers</a:t>
            </a:r>
            <a:endParaRPr lang="en-US" sz="1500" dirty="0"/>
          </a:p>
          <a:p>
            <a:pPr marL="342900" indent="-342900">
              <a:spcAft>
                <a:spcPts val="800"/>
              </a:spcAft>
              <a:buSzPct val="100000"/>
              <a:buChar char="•"/>
            </a:pPr>
            <a:r>
              <a:rPr lang="en-US" sz="1500" dirty="0">
                <a:solidFill>
                  <a:schemeClr val="tx2"/>
                </a:solidFill>
              </a:rPr>
              <a:t>Channel-side tracing (mobile, web, API gateway)</a:t>
            </a:r>
            <a:endParaRPr lang="en-US" sz="15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11247120" cy="731520"/>
          </a:xfrm>
          <a:prstGeom prst="rect">
            <a:avLst/>
          </a:prstGeom>
          <a:noFill/>
          <a:ln/>
        </p:spPr>
        <p:txBody>
          <a:bodyPr wrap="square" rtlCol="0" anchor="ctr"/>
          <a:lstStyle/>
          <a:p>
            <a:pPr algn="l" indent="0" marL="0">
              <a:buNone/>
            </a:pPr>
            <a:r>
              <a:rPr lang="en-US" sz="3000" b="1" dirty="0">
                <a:solidFill>
                  <a:schemeClr val="tx1"/>
                </a:solidFill>
              </a:rPr>
              <a:t>Target architecture</a:t>
            </a:r>
            <a:endParaRPr lang="en-US" sz="3000" dirty="0"/>
          </a:p>
        </p:txBody>
      </p:sp>
      <p:sp>
        <p:nvSpPr>
          <p:cNvPr id="3" name="Channels"/>
          <p:cNvSpPr/>
          <p:nvPr/>
        </p:nvSpPr>
        <p:spPr>
          <a:xfrm>
            <a:off x="731520" y="1188720"/>
            <a:ext cx="2560320" cy="457200"/>
          </a:xfrm>
          <a:prstGeom prst="roundRect">
            <a:avLst>
              <a:gd name="adj" fmla="val 16000"/>
            </a:avLst>
          </a:prstGeom>
          <a:solidFill>
            <a:schemeClr val="bg2"/>
          </a:solidFill>
          <a:ln w="9525">
            <a:solidFill>
              <a:schemeClr val="bg2"/>
            </a:solidFill>
            <a:prstDash val="solid"/>
          </a:ln>
        </p:spPr>
        <p:txBody>
          <a:bodyPr/>
          <a:p/>
        </p:txBody>
      </p:sp>
      <p:sp>
        <p:nvSpPr>
          <p:cNvPr id="4" name="Channels text"/>
          <p:cNvSpPr txBox="1"/>
          <p:nvPr/>
        </p:nvSpPr>
        <p:spPr>
          <a:xfrm>
            <a:off x="731520" y="1188720"/>
            <a:ext cx="2560320" cy="457200"/>
          </a:xfrm>
          <a:prstGeom prst="rect">
            <a:avLst/>
          </a:prstGeom>
          <a:noFill/>
          <a:ln/>
        </p:spPr>
        <p:txBody>
          <a:bodyPr wrap="square" lIns="635" tIns="635" rIns="635" bIns="635" rtlCol="0" anchor="ctr"/>
          <a:lstStyle/>
          <a:p>
            <a:pPr algn="ctr" indent="0" marL="0">
              <a:buNone/>
            </a:pPr>
            <a:r>
              <a:rPr lang="en-US" sz="1400" b="1" dirty="0">
                <a:solidFill>
                  <a:schemeClr val="tx1"/>
                </a:solidFill>
              </a:rPr>
              <a:t>Customer channels</a:t>
            </a:r>
            <a:endParaRPr lang="en-US" sz="1400" dirty="0"/>
          </a:p>
        </p:txBody>
      </p:sp>
      <p:sp>
        <p:nvSpPr>
          <p:cNvPr id="5" name="Cluster boundary"/>
          <p:cNvSpPr/>
          <p:nvPr/>
        </p:nvSpPr>
        <p:spPr>
          <a:xfrm>
            <a:off x="457200" y="1828800"/>
            <a:ext cx="8595360" cy="3520440"/>
          </a:xfrm>
          <a:prstGeom prst="roundRect">
            <a:avLst>
              <a:gd name="adj" fmla="val 3117"/>
            </a:avLst>
          </a:prstGeom>
          <a:solidFill>
            <a:schemeClr val="bg1"/>
          </a:solidFill>
          <a:ln w="12700">
            <a:solidFill>
              <a:schemeClr val="accent5"/>
            </a:solidFill>
            <a:prstDash val="dash"/>
          </a:ln>
        </p:spPr>
        <p:txBody>
          <a:bodyPr/>
          <a:p/>
        </p:txBody>
      </p:sp>
      <p:sp>
        <p:nvSpPr>
          <p:cNvPr id="6" name="Text 4"/>
          <p:cNvSpPr txBox="1"/>
          <p:nvPr/>
        </p:nvSpPr>
        <p:spPr>
          <a:xfrm>
            <a:off x="3657600" y="1874520"/>
            <a:ext cx="5212080" cy="365760"/>
          </a:xfrm>
          <a:prstGeom prst="rect">
            <a:avLst/>
          </a:prstGeom>
          <a:noFill/>
          <a:ln/>
        </p:spPr>
        <p:txBody>
          <a:bodyPr wrap="square" lIns="0" tIns="0" rIns="0" bIns="0" rtlCol="0" anchor="ctr"/>
          <a:lstStyle/>
          <a:p>
            <a:pPr algn="r" indent="0" marL="0">
              <a:buNone/>
            </a:pPr>
            <a:r>
              <a:rPr lang="en-US" sz="1200" b="1" dirty="0">
                <a:solidFill>
                  <a:schemeClr val="tx2"/>
                </a:solidFill>
              </a:rPr>
              <a:t>OpenShift cluster  |  service mesh, sidecars already injected</a:t>
            </a:r>
            <a:endParaRPr lang="en-US" sz="1200" dirty="0"/>
          </a:p>
        </p:txBody>
      </p:sp>
      <p:sp>
        <p:nvSpPr>
          <p:cNvPr id="7" name="Ingress"/>
          <p:cNvSpPr/>
          <p:nvPr/>
        </p:nvSpPr>
        <p:spPr>
          <a:xfrm>
            <a:off x="731520" y="2286000"/>
            <a:ext cx="2560320" cy="777240"/>
          </a:xfrm>
          <a:prstGeom prst="roundRect">
            <a:avLst>
              <a:gd name="adj" fmla="val 9412"/>
            </a:avLst>
          </a:prstGeom>
          <a:solidFill>
            <a:schemeClr val="accent2"/>
          </a:solidFill>
          <a:ln w="9525">
            <a:solidFill>
              <a:schemeClr val="accent2"/>
            </a:solidFill>
            <a:prstDash val="solid"/>
          </a:ln>
        </p:spPr>
        <p:txBody>
          <a:bodyPr/>
          <a:p/>
        </p:txBody>
      </p:sp>
      <p:sp>
        <p:nvSpPr>
          <p:cNvPr id="8" name="Ingress text"/>
          <p:cNvSpPr txBox="1"/>
          <p:nvPr/>
        </p:nvSpPr>
        <p:spPr>
          <a:xfrm>
            <a:off x="731520" y="2286000"/>
            <a:ext cx="2560320" cy="777240"/>
          </a:xfrm>
          <a:prstGeom prst="rect">
            <a:avLst/>
          </a:prstGeom>
          <a:noFill/>
          <a:ln/>
        </p:spPr>
        <p:txBody>
          <a:bodyPr wrap="square" lIns="635" tIns="635" rIns="635" bIns="635" rtlCol="0" anchor="ctr"/>
          <a:lstStyle/>
          <a:p>
            <a:pPr algn="ctr" indent="0" marL="0">
              <a:buNone/>
            </a:pPr>
            <a:r>
              <a:rPr lang="en-US" sz="1400" b="1" dirty="0">
                <a:solidFill>
                  <a:schemeClr val="bg1"/>
                </a:solidFill>
              </a:rPr>
              <a:t>Ingress gateway</a:t>
            </a:r>
            <a:endParaRPr lang="en-US" sz="1400" dirty="0"/>
          </a:p>
          <a:p>
            <a:pPr algn="ctr" indent="0" marL="0">
              <a:buNone/>
            </a:pPr>
            <a:r>
              <a:rPr lang="en-US" sz="1100" dirty="0">
                <a:solidFill>
                  <a:schemeClr val="accent6"/>
                </a:solidFill>
              </a:rPr>
              <a:t>Trace starts here</a:t>
            </a:r>
            <a:endParaRPr lang="en-US" sz="1400" dirty="0"/>
          </a:p>
        </p:txBody>
      </p:sp>
      <p:sp>
        <p:nvSpPr>
          <p:cNvPr id="9" name="App pods"/>
          <p:cNvSpPr/>
          <p:nvPr/>
        </p:nvSpPr>
        <p:spPr>
          <a:xfrm>
            <a:off x="731520" y="3246120"/>
            <a:ext cx="2560320" cy="777240"/>
          </a:xfrm>
          <a:prstGeom prst="roundRect">
            <a:avLst>
              <a:gd name="adj" fmla="val 9412"/>
            </a:avLst>
          </a:prstGeom>
          <a:solidFill>
            <a:schemeClr val="accent2"/>
          </a:solidFill>
          <a:ln w="9525">
            <a:solidFill>
              <a:schemeClr val="accent2"/>
            </a:solidFill>
            <a:prstDash val="solid"/>
          </a:ln>
        </p:spPr>
        <p:txBody>
          <a:bodyPr/>
          <a:p/>
        </p:txBody>
      </p:sp>
      <p:sp>
        <p:nvSpPr>
          <p:cNvPr id="10" name="App pods text"/>
          <p:cNvSpPr txBox="1"/>
          <p:nvPr/>
        </p:nvSpPr>
        <p:spPr>
          <a:xfrm>
            <a:off x="731520" y="3246120"/>
            <a:ext cx="2560320" cy="777240"/>
          </a:xfrm>
          <a:prstGeom prst="rect">
            <a:avLst/>
          </a:prstGeom>
          <a:noFill/>
          <a:ln/>
        </p:spPr>
        <p:txBody>
          <a:bodyPr wrap="square" lIns="635" tIns="635" rIns="635" bIns="635" rtlCol="0" anchor="ctr"/>
          <a:lstStyle/>
          <a:p>
            <a:pPr algn="ctr" indent="0" marL="0">
              <a:buNone/>
            </a:pPr>
            <a:r>
              <a:rPr lang="en-US" sz="1400" b="1" dirty="0">
                <a:solidFill>
                  <a:schemeClr val="bg1"/>
                </a:solidFill>
              </a:rPr>
              <a:t>App pods</a:t>
            </a:r>
            <a:endParaRPr lang="en-US" sz="1400" dirty="0"/>
          </a:p>
          <a:p>
            <a:pPr algn="ctr" indent="0" marL="0">
              <a:buNone/>
            </a:pPr>
            <a:r>
              <a:rPr lang="en-US" sz="1100" dirty="0">
                <a:solidFill>
                  <a:schemeClr val="accent6"/>
                </a:solidFill>
              </a:rPr>
              <a:t>Envoy sidecar + OTel agent</a:t>
            </a:r>
            <a:endParaRPr lang="en-US" sz="1400" dirty="0"/>
          </a:p>
        </p:txBody>
      </p:sp>
      <p:sp>
        <p:nvSpPr>
          <p:cNvPr id="11" name="ServiceEntry"/>
          <p:cNvSpPr/>
          <p:nvPr/>
        </p:nvSpPr>
        <p:spPr>
          <a:xfrm>
            <a:off x="731520" y="4206240"/>
            <a:ext cx="2560320" cy="777240"/>
          </a:xfrm>
          <a:prstGeom prst="roundRect">
            <a:avLst>
              <a:gd name="adj" fmla="val 9412"/>
            </a:avLst>
          </a:prstGeom>
          <a:solidFill>
            <a:schemeClr val="accent2"/>
          </a:solidFill>
          <a:ln w="9525">
            <a:solidFill>
              <a:schemeClr val="accent2"/>
            </a:solidFill>
            <a:prstDash val="solid"/>
          </a:ln>
        </p:spPr>
        <p:txBody>
          <a:bodyPr/>
          <a:p/>
        </p:txBody>
      </p:sp>
      <p:sp>
        <p:nvSpPr>
          <p:cNvPr id="12" name="ServiceEntry text"/>
          <p:cNvSpPr txBox="1"/>
          <p:nvPr/>
        </p:nvSpPr>
        <p:spPr>
          <a:xfrm>
            <a:off x="731520" y="4206240"/>
            <a:ext cx="2560320" cy="777240"/>
          </a:xfrm>
          <a:prstGeom prst="rect">
            <a:avLst/>
          </a:prstGeom>
          <a:noFill/>
          <a:ln/>
        </p:spPr>
        <p:txBody>
          <a:bodyPr wrap="square" lIns="635" tIns="635" rIns="635" bIns="635" rtlCol="0" anchor="ctr"/>
          <a:lstStyle/>
          <a:p>
            <a:pPr algn="ctr" indent="0" marL="0">
              <a:buNone/>
            </a:pPr>
            <a:r>
              <a:rPr lang="en-US" sz="1400" b="1" dirty="0">
                <a:solidFill>
                  <a:schemeClr val="bg1"/>
                </a:solidFill>
              </a:rPr>
              <a:t>ServiceEntry + DR</a:t>
            </a:r>
            <a:endParaRPr lang="en-US" sz="1400" dirty="0"/>
          </a:p>
          <a:p>
            <a:pPr algn="ctr" indent="0" marL="0">
              <a:buNone/>
            </a:pPr>
            <a:r>
              <a:rPr lang="en-US" sz="1100" dirty="0">
                <a:solidFill>
                  <a:schemeClr val="accent6"/>
                </a:solidFill>
              </a:rPr>
              <a:t>Registers VMs and DBs</a:t>
            </a:r>
            <a:endParaRPr lang="en-US" sz="1400" dirty="0"/>
          </a:p>
        </p:txBody>
      </p:sp>
      <p:sp>
        <p:nvSpPr>
          <p:cNvPr id="13" name="Prometheus"/>
          <p:cNvSpPr/>
          <p:nvPr/>
        </p:nvSpPr>
        <p:spPr>
          <a:xfrm>
            <a:off x="4069080" y="2286000"/>
            <a:ext cx="2331720" cy="777240"/>
          </a:xfrm>
          <a:prstGeom prst="roundRect">
            <a:avLst>
              <a:gd name="adj" fmla="val 9412"/>
            </a:avLst>
          </a:prstGeom>
          <a:solidFill>
            <a:schemeClr val="accent1"/>
          </a:solidFill>
          <a:ln w="9525">
            <a:solidFill>
              <a:schemeClr val="accent1"/>
            </a:solidFill>
            <a:prstDash val="solid"/>
          </a:ln>
        </p:spPr>
        <p:txBody>
          <a:bodyPr/>
          <a:p/>
        </p:txBody>
      </p:sp>
      <p:sp>
        <p:nvSpPr>
          <p:cNvPr id="14" name="Prometheus text"/>
          <p:cNvSpPr txBox="1"/>
          <p:nvPr/>
        </p:nvSpPr>
        <p:spPr>
          <a:xfrm>
            <a:off x="4069080" y="2286000"/>
            <a:ext cx="2331720" cy="777240"/>
          </a:xfrm>
          <a:prstGeom prst="rect">
            <a:avLst/>
          </a:prstGeom>
          <a:noFill/>
          <a:ln/>
        </p:spPr>
        <p:txBody>
          <a:bodyPr wrap="square" lIns="635" tIns="635" rIns="635" bIns="635" rtlCol="0" anchor="ctr"/>
          <a:lstStyle/>
          <a:p>
            <a:pPr algn="ctr" indent="0" marL="0">
              <a:buNone/>
            </a:pPr>
            <a:r>
              <a:rPr lang="en-US" sz="1400" b="1" dirty="0">
                <a:solidFill>
                  <a:schemeClr val="bg1"/>
                </a:solidFill>
              </a:rPr>
              <a:t>Prometheus (UWM)</a:t>
            </a:r>
            <a:endParaRPr lang="en-US" sz="1400" dirty="0"/>
          </a:p>
          <a:p>
            <a:pPr algn="ctr" indent="0" marL="0">
              <a:buNone/>
            </a:pPr>
            <a:r>
              <a:rPr lang="en-US" sz="1100" dirty="0">
                <a:solidFill>
                  <a:schemeClr val="accent6"/>
                </a:solidFill>
              </a:rPr>
              <a:t>Scrapes Envoy metrics</a:t>
            </a:r>
            <a:endParaRPr lang="en-US" sz="1400" dirty="0"/>
          </a:p>
        </p:txBody>
      </p:sp>
      <p:sp>
        <p:nvSpPr>
          <p:cNvPr id="15" name="Collector"/>
          <p:cNvSpPr/>
          <p:nvPr/>
        </p:nvSpPr>
        <p:spPr>
          <a:xfrm>
            <a:off x="4069080" y="3246120"/>
            <a:ext cx="2331720" cy="777240"/>
          </a:xfrm>
          <a:prstGeom prst="roundRect">
            <a:avLst>
              <a:gd name="adj" fmla="val 9412"/>
            </a:avLst>
          </a:prstGeom>
          <a:solidFill>
            <a:schemeClr val="accent1"/>
          </a:solidFill>
          <a:ln w="9525">
            <a:solidFill>
              <a:schemeClr val="accent1"/>
            </a:solidFill>
            <a:prstDash val="solid"/>
          </a:ln>
        </p:spPr>
        <p:txBody>
          <a:bodyPr/>
          <a:p/>
        </p:txBody>
      </p:sp>
      <p:sp>
        <p:nvSpPr>
          <p:cNvPr id="16" name="Collector text"/>
          <p:cNvSpPr txBox="1"/>
          <p:nvPr/>
        </p:nvSpPr>
        <p:spPr>
          <a:xfrm>
            <a:off x="4069080" y="3246120"/>
            <a:ext cx="2331720" cy="777240"/>
          </a:xfrm>
          <a:prstGeom prst="rect">
            <a:avLst/>
          </a:prstGeom>
          <a:noFill/>
          <a:ln/>
        </p:spPr>
        <p:txBody>
          <a:bodyPr wrap="square" lIns="635" tIns="635" rIns="635" bIns="635" rtlCol="0" anchor="ctr"/>
          <a:lstStyle/>
          <a:p>
            <a:pPr algn="ctr" indent="0" marL="0">
              <a:buNone/>
            </a:pPr>
            <a:r>
              <a:rPr lang="en-US" sz="1400" b="1" dirty="0">
                <a:solidFill>
                  <a:schemeClr val="bg1"/>
                </a:solidFill>
              </a:rPr>
              <a:t>OTel Collector</a:t>
            </a:r>
            <a:endParaRPr lang="en-US" sz="1400" dirty="0"/>
          </a:p>
          <a:p>
            <a:pPr algn="ctr" indent="0" marL="0">
              <a:buNone/>
            </a:pPr>
            <a:r>
              <a:rPr lang="en-US" sz="1100" dirty="0">
                <a:solidFill>
                  <a:schemeClr val="accent6"/>
                </a:solidFill>
              </a:rPr>
              <a:t>Spans and access logs (OTLP)</a:t>
            </a:r>
            <a:endParaRPr lang="en-US" sz="1400" dirty="0"/>
          </a:p>
        </p:txBody>
      </p:sp>
      <p:sp>
        <p:nvSpPr>
          <p:cNvPr id="17" name="Tempo"/>
          <p:cNvSpPr/>
          <p:nvPr/>
        </p:nvSpPr>
        <p:spPr>
          <a:xfrm>
            <a:off x="4069080" y="4206240"/>
            <a:ext cx="2331720" cy="777240"/>
          </a:xfrm>
          <a:prstGeom prst="roundRect">
            <a:avLst>
              <a:gd name="adj" fmla="val 9412"/>
            </a:avLst>
          </a:prstGeom>
          <a:solidFill>
            <a:schemeClr val="accent1"/>
          </a:solidFill>
          <a:ln w="9525">
            <a:solidFill>
              <a:schemeClr val="accent1"/>
            </a:solidFill>
            <a:prstDash val="solid"/>
          </a:ln>
        </p:spPr>
        <p:txBody>
          <a:bodyPr/>
          <a:p/>
        </p:txBody>
      </p:sp>
      <p:sp>
        <p:nvSpPr>
          <p:cNvPr id="18" name="Tempo text"/>
          <p:cNvSpPr txBox="1"/>
          <p:nvPr/>
        </p:nvSpPr>
        <p:spPr>
          <a:xfrm>
            <a:off x="4069080" y="4206240"/>
            <a:ext cx="2331720" cy="777240"/>
          </a:xfrm>
          <a:prstGeom prst="rect">
            <a:avLst/>
          </a:prstGeom>
          <a:noFill/>
          <a:ln/>
        </p:spPr>
        <p:txBody>
          <a:bodyPr wrap="square" lIns="635" tIns="635" rIns="635" bIns="635" rtlCol="0" anchor="ctr"/>
          <a:lstStyle/>
          <a:p>
            <a:pPr algn="ctr" indent="0" marL="0">
              <a:buNone/>
            </a:pPr>
            <a:r>
              <a:rPr lang="en-US" sz="1400" b="1" dirty="0">
                <a:solidFill>
                  <a:schemeClr val="bg1"/>
                </a:solidFill>
              </a:rPr>
              <a:t>Tempo + Loki</a:t>
            </a:r>
            <a:endParaRPr lang="en-US" sz="1400" dirty="0"/>
          </a:p>
          <a:p>
            <a:pPr algn="ctr" indent="0" marL="0">
              <a:buNone/>
            </a:pPr>
            <a:r>
              <a:rPr lang="en-US" sz="1100" dirty="0">
                <a:solidFill>
                  <a:schemeClr val="accent6"/>
                </a:solidFill>
              </a:rPr>
              <a:t>Traces and access logs</a:t>
            </a:r>
            <a:endParaRPr lang="en-US" sz="1400" dirty="0"/>
          </a:p>
        </p:txBody>
      </p:sp>
      <p:sp>
        <p:nvSpPr>
          <p:cNvPr id="19" name="Kiali"/>
          <p:cNvSpPr/>
          <p:nvPr/>
        </p:nvSpPr>
        <p:spPr>
          <a:xfrm>
            <a:off x="6995160" y="2697480"/>
            <a:ext cx="2011680" cy="777240"/>
          </a:xfrm>
          <a:prstGeom prst="roundRect">
            <a:avLst>
              <a:gd name="adj" fmla="val 9412"/>
            </a:avLst>
          </a:prstGeom>
          <a:solidFill>
            <a:schemeClr val="accent6"/>
          </a:solidFill>
          <a:ln w="12700">
            <a:solidFill>
              <a:schemeClr val="accent1"/>
            </a:solidFill>
            <a:prstDash val="solid"/>
          </a:ln>
        </p:spPr>
        <p:txBody>
          <a:bodyPr/>
          <a:p/>
        </p:txBody>
      </p:sp>
      <p:sp>
        <p:nvSpPr>
          <p:cNvPr id="20" name="Kiali text"/>
          <p:cNvSpPr txBox="1"/>
          <p:nvPr/>
        </p:nvSpPr>
        <p:spPr>
          <a:xfrm>
            <a:off x="6995160" y="2697480"/>
            <a:ext cx="2011680" cy="777240"/>
          </a:xfrm>
          <a:prstGeom prst="rect">
            <a:avLst/>
          </a:prstGeom>
          <a:noFill/>
          <a:ln/>
        </p:spPr>
        <p:txBody>
          <a:bodyPr wrap="square" lIns="635" tIns="635" rIns="635" bIns="635" rtlCol="0" anchor="ctr"/>
          <a:lstStyle/>
          <a:p>
            <a:pPr algn="ctr" indent="0" marL="0">
              <a:buNone/>
            </a:pPr>
            <a:r>
              <a:rPr lang="en-US" sz="1400" b="1" dirty="0">
                <a:solidFill>
                  <a:schemeClr val="tx1"/>
                </a:solidFill>
              </a:rPr>
              <a:t>Kiali</a:t>
            </a:r>
            <a:endParaRPr lang="en-US" sz="1400" dirty="0"/>
          </a:p>
          <a:p>
            <a:pPr algn="ctr" indent="0" marL="0">
              <a:buNone/>
            </a:pPr>
            <a:r>
              <a:rPr lang="en-US" sz="1100" dirty="0">
                <a:solidFill>
                  <a:schemeClr val="tx2"/>
                </a:solidFill>
              </a:rPr>
              <a:t>Live service graph</a:t>
            </a:r>
            <a:endParaRPr lang="en-US" sz="1400" dirty="0"/>
          </a:p>
        </p:txBody>
      </p:sp>
      <p:sp>
        <p:nvSpPr>
          <p:cNvPr id="21" name="Console"/>
          <p:cNvSpPr/>
          <p:nvPr/>
        </p:nvSpPr>
        <p:spPr>
          <a:xfrm>
            <a:off x="6995160" y="3749040"/>
            <a:ext cx="2011680" cy="777240"/>
          </a:xfrm>
          <a:prstGeom prst="roundRect">
            <a:avLst>
              <a:gd name="adj" fmla="val 9412"/>
            </a:avLst>
          </a:prstGeom>
          <a:solidFill>
            <a:schemeClr val="accent6"/>
          </a:solidFill>
          <a:ln w="12700">
            <a:solidFill>
              <a:schemeClr val="accent1"/>
            </a:solidFill>
            <a:prstDash val="solid"/>
          </a:ln>
        </p:spPr>
        <p:txBody>
          <a:bodyPr/>
          <a:p/>
        </p:txBody>
      </p:sp>
      <p:sp>
        <p:nvSpPr>
          <p:cNvPr id="22" name="Console text"/>
          <p:cNvSpPr txBox="1"/>
          <p:nvPr/>
        </p:nvSpPr>
        <p:spPr>
          <a:xfrm>
            <a:off x="6995160" y="3749040"/>
            <a:ext cx="2011680" cy="777240"/>
          </a:xfrm>
          <a:prstGeom prst="rect">
            <a:avLst/>
          </a:prstGeom>
          <a:noFill/>
          <a:ln/>
        </p:spPr>
        <p:txBody>
          <a:bodyPr wrap="square" lIns="635" tIns="635" rIns="635" bIns="635" rtlCol="0" anchor="ctr"/>
          <a:lstStyle/>
          <a:p>
            <a:pPr algn="ctr" indent="0" marL="0">
              <a:buNone/>
            </a:pPr>
            <a:r>
              <a:rPr lang="en-US" sz="1400" b="1" dirty="0">
                <a:solidFill>
                  <a:schemeClr val="tx1"/>
                </a:solidFill>
              </a:rPr>
              <a:t>OpenShift console</a:t>
            </a:r>
            <a:endParaRPr lang="en-US" sz="1400" dirty="0"/>
          </a:p>
          <a:p>
            <a:pPr algn="ctr" indent="0" marL="0">
              <a:buNone/>
            </a:pPr>
            <a:r>
              <a:rPr lang="en-US" sz="1100" dirty="0">
                <a:solidFill>
                  <a:schemeClr val="tx2"/>
                </a:solidFill>
              </a:rPr>
              <a:t>Dashboards, traces, logs</a:t>
            </a:r>
            <a:endParaRPr lang="en-US" sz="1400" dirty="0"/>
          </a:p>
        </p:txBody>
      </p:sp>
      <p:sp>
        <p:nvSpPr>
          <p:cNvPr id="23" name="Legacy VMs"/>
          <p:cNvSpPr/>
          <p:nvPr/>
        </p:nvSpPr>
        <p:spPr>
          <a:xfrm>
            <a:off x="731520" y="5623560"/>
            <a:ext cx="2560320" cy="685800"/>
          </a:xfrm>
          <a:prstGeom prst="roundRect">
            <a:avLst>
              <a:gd name="adj" fmla="val 10667"/>
            </a:avLst>
          </a:prstGeom>
          <a:solidFill>
            <a:schemeClr val="bg2"/>
          </a:solidFill>
          <a:ln w="9525">
            <a:solidFill>
              <a:schemeClr val="bg2"/>
            </a:solidFill>
            <a:prstDash val="solid"/>
          </a:ln>
        </p:spPr>
        <p:txBody>
          <a:bodyPr/>
          <a:p/>
        </p:txBody>
      </p:sp>
      <p:sp>
        <p:nvSpPr>
          <p:cNvPr id="24" name="Legacy VMs text"/>
          <p:cNvSpPr txBox="1"/>
          <p:nvPr/>
        </p:nvSpPr>
        <p:spPr>
          <a:xfrm>
            <a:off x="731520" y="5623560"/>
            <a:ext cx="2560320" cy="685800"/>
          </a:xfrm>
          <a:prstGeom prst="rect">
            <a:avLst/>
          </a:prstGeom>
          <a:noFill/>
          <a:ln/>
        </p:spPr>
        <p:txBody>
          <a:bodyPr wrap="square" lIns="635" tIns="635" rIns="635" bIns="635" rtlCol="0" anchor="ctr"/>
          <a:lstStyle/>
          <a:p>
            <a:pPr algn="ctr" indent="0" marL="0">
              <a:buNone/>
            </a:pPr>
            <a:r>
              <a:rPr lang="en-US" sz="1400" b="1" dirty="0">
                <a:solidFill>
                  <a:schemeClr val="tx1"/>
                </a:solidFill>
              </a:rPr>
              <a:t>Legacy apps (VMs)</a:t>
            </a:r>
            <a:endParaRPr lang="en-US" sz="1400" dirty="0"/>
          </a:p>
          <a:p>
            <a:pPr algn="ctr" indent="0" marL="0">
              <a:buNone/>
            </a:pPr>
            <a:r>
              <a:rPr lang="en-US" sz="1100" dirty="0">
                <a:solidFill>
                  <a:schemeClr val="tx2"/>
                </a:solidFill>
              </a:rPr>
              <a:t>HTTP: full metrics + spans</a:t>
            </a:r>
            <a:endParaRPr lang="en-US" sz="1400" dirty="0"/>
          </a:p>
        </p:txBody>
      </p:sp>
      <p:sp>
        <p:nvSpPr>
          <p:cNvPr id="25" name="Databases"/>
          <p:cNvSpPr/>
          <p:nvPr/>
        </p:nvSpPr>
        <p:spPr>
          <a:xfrm>
            <a:off x="4069080" y="5623560"/>
            <a:ext cx="2331720" cy="685800"/>
          </a:xfrm>
          <a:prstGeom prst="roundRect">
            <a:avLst>
              <a:gd name="adj" fmla="val 10667"/>
            </a:avLst>
          </a:prstGeom>
          <a:solidFill>
            <a:schemeClr val="bg2"/>
          </a:solidFill>
          <a:ln w="9525">
            <a:solidFill>
              <a:schemeClr val="bg2"/>
            </a:solidFill>
            <a:prstDash val="solid"/>
          </a:ln>
        </p:spPr>
        <p:txBody>
          <a:bodyPr/>
          <a:p/>
        </p:txBody>
      </p:sp>
      <p:sp>
        <p:nvSpPr>
          <p:cNvPr id="26" name="Databases text"/>
          <p:cNvSpPr txBox="1"/>
          <p:nvPr/>
        </p:nvSpPr>
        <p:spPr>
          <a:xfrm>
            <a:off x="4069080" y="5623560"/>
            <a:ext cx="2331720" cy="685800"/>
          </a:xfrm>
          <a:prstGeom prst="rect">
            <a:avLst/>
          </a:prstGeom>
          <a:noFill/>
          <a:ln/>
        </p:spPr>
        <p:txBody>
          <a:bodyPr wrap="square" lIns="635" tIns="635" rIns="635" bIns="635" rtlCol="0" anchor="ctr"/>
          <a:lstStyle/>
          <a:p>
            <a:pPr algn="ctr" indent="0" marL="0">
              <a:buNone/>
            </a:pPr>
            <a:r>
              <a:rPr lang="en-US" sz="1400" b="1" dirty="0">
                <a:solidFill>
                  <a:schemeClr val="tx1"/>
                </a:solidFill>
              </a:rPr>
              <a:t>Databases</a:t>
            </a:r>
            <a:endParaRPr lang="en-US" sz="1400" dirty="0"/>
          </a:p>
          <a:p>
            <a:pPr algn="ctr" indent="0" marL="0">
              <a:buNone/>
            </a:pPr>
            <a:r>
              <a:rPr lang="en-US" sz="1100" dirty="0">
                <a:solidFill>
                  <a:schemeClr val="tx2"/>
                </a:solidFill>
              </a:rPr>
              <a:t>TCP: connections only</a:t>
            </a:r>
            <a:endParaRPr lang="en-US" sz="1400" dirty="0"/>
          </a:p>
        </p:txBody>
      </p:sp>
      <p:sp>
        <p:nvSpPr>
          <p:cNvPr id="27" name="Shape 25"/>
          <p:cNvSpPr/>
          <p:nvPr/>
        </p:nvSpPr>
        <p:spPr>
          <a:xfrm>
            <a:off x="2011680" y="1645920"/>
            <a:ext cx="0" cy="640080"/>
          </a:xfrm>
          <a:prstGeom prst="line">
            <a:avLst/>
          </a:prstGeom>
          <a:noFill/>
          <a:ln w="15875">
            <a:solidFill>
              <a:schemeClr val="tx2"/>
            </a:solidFill>
            <a:prstDash val="solid"/>
            <a:tailEnd type="triangle"/>
          </a:ln>
        </p:spPr>
        <p:txBody>
          <a:bodyPr/>
          <a:p/>
        </p:txBody>
      </p:sp>
      <p:sp>
        <p:nvSpPr>
          <p:cNvPr id="28" name="Shape 26"/>
          <p:cNvSpPr/>
          <p:nvPr/>
        </p:nvSpPr>
        <p:spPr>
          <a:xfrm>
            <a:off x="2011680" y="3063240"/>
            <a:ext cx="0" cy="182880"/>
          </a:xfrm>
          <a:prstGeom prst="line">
            <a:avLst/>
          </a:prstGeom>
          <a:noFill/>
          <a:ln w="15875">
            <a:solidFill>
              <a:schemeClr val="tx2"/>
            </a:solidFill>
            <a:prstDash val="solid"/>
            <a:tailEnd type="triangle"/>
          </a:ln>
        </p:spPr>
        <p:txBody>
          <a:bodyPr/>
          <a:p/>
        </p:txBody>
      </p:sp>
      <p:sp>
        <p:nvSpPr>
          <p:cNvPr id="29" name="Shape 27"/>
          <p:cNvSpPr/>
          <p:nvPr/>
        </p:nvSpPr>
        <p:spPr>
          <a:xfrm>
            <a:off x="2011680" y="4023360"/>
            <a:ext cx="0" cy="182880"/>
          </a:xfrm>
          <a:prstGeom prst="line">
            <a:avLst/>
          </a:prstGeom>
          <a:noFill/>
          <a:ln w="15875">
            <a:solidFill>
              <a:schemeClr val="tx2"/>
            </a:solidFill>
            <a:prstDash val="solid"/>
            <a:tailEnd type="triangle"/>
          </a:ln>
        </p:spPr>
        <p:txBody>
          <a:bodyPr/>
          <a:p/>
        </p:txBody>
      </p:sp>
      <p:sp>
        <p:nvSpPr>
          <p:cNvPr id="30" name="Shape 28"/>
          <p:cNvSpPr/>
          <p:nvPr/>
        </p:nvSpPr>
        <p:spPr>
          <a:xfrm>
            <a:off x="3291840" y="3749040"/>
            <a:ext cx="777240" cy="0"/>
          </a:xfrm>
          <a:prstGeom prst="line">
            <a:avLst/>
          </a:prstGeom>
          <a:noFill/>
          <a:ln w="15875">
            <a:solidFill>
              <a:schemeClr val="tx2"/>
            </a:solidFill>
            <a:prstDash val="solid"/>
            <a:tailEnd type="triangle"/>
          </a:ln>
        </p:spPr>
        <p:txBody>
          <a:bodyPr/>
          <a:p/>
        </p:txBody>
      </p:sp>
      <p:sp>
        <p:nvSpPr>
          <p:cNvPr id="31" name="Shape 29"/>
          <p:cNvSpPr/>
          <p:nvPr/>
        </p:nvSpPr>
        <p:spPr>
          <a:xfrm>
            <a:off x="3291840" y="3429000"/>
            <a:ext cx="182880" cy="0"/>
          </a:xfrm>
          <a:prstGeom prst="line">
            <a:avLst/>
          </a:prstGeom>
          <a:noFill/>
          <a:ln w="15875">
            <a:solidFill>
              <a:schemeClr val="tx2"/>
            </a:solidFill>
            <a:prstDash val="solid"/>
            <a:headEnd type="triangle"/>
          </a:ln>
        </p:spPr>
        <p:txBody>
          <a:bodyPr/>
          <a:p/>
        </p:txBody>
      </p:sp>
      <p:sp>
        <p:nvSpPr>
          <p:cNvPr id="32" name="Shape 30"/>
          <p:cNvSpPr/>
          <p:nvPr/>
        </p:nvSpPr>
        <p:spPr>
          <a:xfrm>
            <a:off x="3474720" y="2674620"/>
            <a:ext cx="0" cy="754380"/>
          </a:xfrm>
          <a:prstGeom prst="line">
            <a:avLst/>
          </a:prstGeom>
          <a:noFill/>
          <a:ln w="15875">
            <a:solidFill>
              <a:schemeClr val="tx2"/>
            </a:solidFill>
            <a:prstDash val="solid"/>
          </a:ln>
        </p:spPr>
        <p:txBody>
          <a:bodyPr/>
          <a:p/>
        </p:txBody>
      </p:sp>
      <p:sp>
        <p:nvSpPr>
          <p:cNvPr id="33" name="Shape 31"/>
          <p:cNvSpPr/>
          <p:nvPr/>
        </p:nvSpPr>
        <p:spPr>
          <a:xfrm>
            <a:off x="3474720" y="2674620"/>
            <a:ext cx="594360" cy="0"/>
          </a:xfrm>
          <a:prstGeom prst="line">
            <a:avLst/>
          </a:prstGeom>
          <a:noFill/>
          <a:ln w="15875">
            <a:solidFill>
              <a:schemeClr val="tx2"/>
            </a:solidFill>
            <a:prstDash val="solid"/>
          </a:ln>
        </p:spPr>
        <p:txBody>
          <a:bodyPr/>
          <a:p/>
        </p:txBody>
      </p:sp>
      <p:sp>
        <p:nvSpPr>
          <p:cNvPr id="34" name="Shape 32"/>
          <p:cNvSpPr/>
          <p:nvPr/>
        </p:nvSpPr>
        <p:spPr>
          <a:xfrm>
            <a:off x="5234940" y="4023360"/>
            <a:ext cx="0" cy="182880"/>
          </a:xfrm>
          <a:prstGeom prst="line">
            <a:avLst/>
          </a:prstGeom>
          <a:noFill/>
          <a:ln w="15875">
            <a:solidFill>
              <a:schemeClr val="tx2"/>
            </a:solidFill>
            <a:prstDash val="solid"/>
            <a:tailEnd type="triangle"/>
          </a:ln>
        </p:spPr>
        <p:txBody>
          <a:bodyPr/>
          <a:p/>
        </p:txBody>
      </p:sp>
      <p:sp>
        <p:nvSpPr>
          <p:cNvPr id="35" name="Shape 33"/>
          <p:cNvSpPr/>
          <p:nvPr/>
        </p:nvSpPr>
        <p:spPr>
          <a:xfrm>
            <a:off x="6400800" y="2674620"/>
            <a:ext cx="274320" cy="0"/>
          </a:xfrm>
          <a:prstGeom prst="line">
            <a:avLst/>
          </a:prstGeom>
          <a:noFill/>
          <a:ln w="15875">
            <a:solidFill>
              <a:schemeClr val="tx2"/>
            </a:solidFill>
            <a:prstDash val="solid"/>
            <a:headEnd type="triangle"/>
          </a:ln>
        </p:spPr>
        <p:txBody>
          <a:bodyPr/>
          <a:p/>
        </p:txBody>
      </p:sp>
      <p:sp>
        <p:nvSpPr>
          <p:cNvPr id="36" name="Shape 34"/>
          <p:cNvSpPr/>
          <p:nvPr/>
        </p:nvSpPr>
        <p:spPr>
          <a:xfrm>
            <a:off x="6675120" y="2674620"/>
            <a:ext cx="0" cy="411480"/>
          </a:xfrm>
          <a:prstGeom prst="line">
            <a:avLst/>
          </a:prstGeom>
          <a:noFill/>
          <a:ln w="15875">
            <a:solidFill>
              <a:schemeClr val="tx2"/>
            </a:solidFill>
            <a:prstDash val="solid"/>
          </a:ln>
        </p:spPr>
        <p:txBody>
          <a:bodyPr/>
          <a:p/>
        </p:txBody>
      </p:sp>
      <p:sp>
        <p:nvSpPr>
          <p:cNvPr id="37" name="Shape 35"/>
          <p:cNvSpPr/>
          <p:nvPr/>
        </p:nvSpPr>
        <p:spPr>
          <a:xfrm>
            <a:off x="6675120" y="3086100"/>
            <a:ext cx="320040" cy="0"/>
          </a:xfrm>
          <a:prstGeom prst="line">
            <a:avLst/>
          </a:prstGeom>
          <a:noFill/>
          <a:ln w="15875">
            <a:solidFill>
              <a:schemeClr val="tx2"/>
            </a:solidFill>
            <a:prstDash val="solid"/>
          </a:ln>
        </p:spPr>
        <p:txBody>
          <a:bodyPr/>
          <a:p/>
        </p:txBody>
      </p:sp>
      <p:sp>
        <p:nvSpPr>
          <p:cNvPr id="38" name="Shape 36"/>
          <p:cNvSpPr/>
          <p:nvPr/>
        </p:nvSpPr>
        <p:spPr>
          <a:xfrm>
            <a:off x="6400800" y="4594860"/>
            <a:ext cx="274320" cy="0"/>
          </a:xfrm>
          <a:prstGeom prst="line">
            <a:avLst/>
          </a:prstGeom>
          <a:noFill/>
          <a:ln w="15875">
            <a:solidFill>
              <a:schemeClr val="tx2"/>
            </a:solidFill>
            <a:prstDash val="solid"/>
            <a:headEnd type="triangle"/>
          </a:ln>
        </p:spPr>
        <p:txBody>
          <a:bodyPr/>
          <a:p/>
        </p:txBody>
      </p:sp>
      <p:sp>
        <p:nvSpPr>
          <p:cNvPr id="39" name="Shape 37"/>
          <p:cNvSpPr/>
          <p:nvPr/>
        </p:nvSpPr>
        <p:spPr>
          <a:xfrm>
            <a:off x="6675120" y="4137660"/>
            <a:ext cx="0" cy="457200"/>
          </a:xfrm>
          <a:prstGeom prst="line">
            <a:avLst/>
          </a:prstGeom>
          <a:noFill/>
          <a:ln w="15875">
            <a:solidFill>
              <a:schemeClr val="tx2"/>
            </a:solidFill>
            <a:prstDash val="solid"/>
          </a:ln>
        </p:spPr>
        <p:txBody>
          <a:bodyPr/>
          <a:p/>
        </p:txBody>
      </p:sp>
      <p:sp>
        <p:nvSpPr>
          <p:cNvPr id="40" name="Shape 38"/>
          <p:cNvSpPr/>
          <p:nvPr/>
        </p:nvSpPr>
        <p:spPr>
          <a:xfrm>
            <a:off x="6675120" y="4137660"/>
            <a:ext cx="320040" cy="0"/>
          </a:xfrm>
          <a:prstGeom prst="line">
            <a:avLst/>
          </a:prstGeom>
          <a:noFill/>
          <a:ln w="15875">
            <a:solidFill>
              <a:schemeClr val="tx2"/>
            </a:solidFill>
            <a:prstDash val="solid"/>
          </a:ln>
        </p:spPr>
        <p:txBody>
          <a:bodyPr/>
          <a:p/>
        </p:txBody>
      </p:sp>
      <p:sp>
        <p:nvSpPr>
          <p:cNvPr id="41" name="Shape 39"/>
          <p:cNvSpPr/>
          <p:nvPr/>
        </p:nvSpPr>
        <p:spPr>
          <a:xfrm>
            <a:off x="1463040" y="4983480"/>
            <a:ext cx="0" cy="640080"/>
          </a:xfrm>
          <a:prstGeom prst="line">
            <a:avLst/>
          </a:prstGeom>
          <a:noFill/>
          <a:ln w="15875">
            <a:solidFill>
              <a:schemeClr val="tx2"/>
            </a:solidFill>
            <a:prstDash val="solid"/>
            <a:tailEnd type="triangle"/>
          </a:ln>
        </p:spPr>
        <p:txBody>
          <a:bodyPr/>
          <a:p/>
        </p:txBody>
      </p:sp>
      <p:sp>
        <p:nvSpPr>
          <p:cNvPr id="42" name="Shape 40"/>
          <p:cNvSpPr/>
          <p:nvPr/>
        </p:nvSpPr>
        <p:spPr>
          <a:xfrm>
            <a:off x="2743200" y="4983480"/>
            <a:ext cx="0" cy="457200"/>
          </a:xfrm>
          <a:prstGeom prst="line">
            <a:avLst/>
          </a:prstGeom>
          <a:noFill/>
          <a:ln w="15875">
            <a:solidFill>
              <a:schemeClr val="tx2"/>
            </a:solidFill>
            <a:prstDash val="solid"/>
          </a:ln>
        </p:spPr>
        <p:txBody>
          <a:bodyPr/>
          <a:p/>
        </p:txBody>
      </p:sp>
      <p:sp>
        <p:nvSpPr>
          <p:cNvPr id="43" name="Shape 41"/>
          <p:cNvSpPr/>
          <p:nvPr/>
        </p:nvSpPr>
        <p:spPr>
          <a:xfrm>
            <a:off x="2743200" y="5440680"/>
            <a:ext cx="2491739" cy="0"/>
          </a:xfrm>
          <a:prstGeom prst="line">
            <a:avLst/>
          </a:prstGeom>
          <a:noFill/>
          <a:ln w="15875">
            <a:solidFill>
              <a:schemeClr val="tx2"/>
            </a:solidFill>
            <a:prstDash val="solid"/>
          </a:ln>
        </p:spPr>
        <p:txBody>
          <a:bodyPr/>
          <a:p/>
        </p:txBody>
      </p:sp>
      <p:sp>
        <p:nvSpPr>
          <p:cNvPr id="44" name="Shape 42"/>
          <p:cNvSpPr/>
          <p:nvPr/>
        </p:nvSpPr>
        <p:spPr>
          <a:xfrm>
            <a:off x="5234940" y="5440680"/>
            <a:ext cx="0" cy="182880"/>
          </a:xfrm>
          <a:prstGeom prst="line">
            <a:avLst/>
          </a:prstGeom>
          <a:noFill/>
          <a:ln w="15875">
            <a:solidFill>
              <a:schemeClr val="tx2"/>
            </a:solidFill>
            <a:prstDash val="solid"/>
            <a:tailEnd type="triangle"/>
          </a:ln>
        </p:spPr>
        <p:txBody>
          <a:bodyPr/>
          <a:p/>
        </p:txBody>
      </p:sp>
      <p:sp>
        <p:nvSpPr>
          <p:cNvPr id="45" name="Key card"/>
          <p:cNvSpPr/>
          <p:nvPr/>
        </p:nvSpPr>
        <p:spPr>
          <a:xfrm>
            <a:off x="9326880" y="1828800"/>
            <a:ext cx="2377440" cy="3886200"/>
          </a:xfrm>
          <a:prstGeom prst="roundRect">
            <a:avLst>
              <a:gd name="adj" fmla="val 3846"/>
            </a:avLst>
          </a:prstGeom>
          <a:solidFill>
            <a:schemeClr val="bg2"/>
          </a:solidFill>
          <a:ln w="12700">
            <a:solidFill>
              <a:schemeClr val="bg2"/>
            </a:solidFill>
            <a:prstDash val="solid"/>
          </a:ln>
        </p:spPr>
        <p:txBody>
          <a:bodyPr/>
          <a:p/>
        </p:txBody>
      </p:sp>
      <p:sp>
        <p:nvSpPr>
          <p:cNvPr id="46" name="Text 44"/>
          <p:cNvSpPr txBox="1"/>
          <p:nvPr/>
        </p:nvSpPr>
        <p:spPr>
          <a:xfrm>
            <a:off x="9555480" y="1965960"/>
            <a:ext cx="2011680" cy="365760"/>
          </a:xfrm>
          <a:prstGeom prst="rect">
            <a:avLst/>
          </a:prstGeom>
          <a:noFill/>
          <a:ln/>
        </p:spPr>
        <p:txBody>
          <a:bodyPr wrap="square" lIns="0" tIns="0" rIns="0" bIns="0" rtlCol="0" anchor="ctr"/>
          <a:lstStyle/>
          <a:p>
            <a:pPr indent="0" marL="0">
              <a:buNone/>
            </a:pPr>
            <a:r>
              <a:rPr lang="en-US" sz="1400" b="1" dirty="0">
                <a:solidFill>
                  <a:schemeClr val="tx1"/>
                </a:solidFill>
              </a:rPr>
              <a:t>Key</a:t>
            </a:r>
            <a:endParaRPr lang="en-US" sz="1400" dirty="0"/>
          </a:p>
        </p:txBody>
      </p:sp>
      <p:sp>
        <p:nvSpPr>
          <p:cNvPr id="47" name="Shape 45"/>
          <p:cNvSpPr/>
          <p:nvPr/>
        </p:nvSpPr>
        <p:spPr>
          <a:xfrm>
            <a:off x="9555480" y="2468880"/>
            <a:ext cx="228600" cy="228600"/>
          </a:xfrm>
          <a:prstGeom prst="ellipse">
            <a:avLst/>
          </a:prstGeom>
          <a:solidFill>
            <a:schemeClr val="accent2"/>
          </a:solidFill>
          <a:ln w="6350">
            <a:solidFill>
              <a:schemeClr val="accent2"/>
            </a:solidFill>
            <a:prstDash val="solid"/>
          </a:ln>
        </p:spPr>
        <p:txBody>
          <a:bodyPr/>
          <a:p/>
        </p:txBody>
      </p:sp>
      <p:sp>
        <p:nvSpPr>
          <p:cNvPr id="48" name="Text 46"/>
          <p:cNvSpPr txBox="1"/>
          <p:nvPr/>
        </p:nvSpPr>
        <p:spPr>
          <a:xfrm>
            <a:off x="9921240" y="2423160"/>
            <a:ext cx="1691640" cy="320040"/>
          </a:xfrm>
          <a:prstGeom prst="rect">
            <a:avLst/>
          </a:prstGeom>
          <a:noFill/>
          <a:ln/>
        </p:spPr>
        <p:txBody>
          <a:bodyPr wrap="square" lIns="0" tIns="0" rIns="0" bIns="0" rtlCol="0" anchor="ctr"/>
          <a:lstStyle/>
          <a:p>
            <a:pPr indent="0" marL="0">
              <a:buNone/>
            </a:pPr>
            <a:r>
              <a:rPr lang="en-US" sz="1100" dirty="0">
                <a:solidFill>
                  <a:schemeClr val="tx2"/>
                </a:solidFill>
              </a:rPr>
              <a:t>Mesh request path</a:t>
            </a:r>
            <a:endParaRPr lang="en-US" sz="1100" dirty="0"/>
          </a:p>
        </p:txBody>
      </p:sp>
      <p:sp>
        <p:nvSpPr>
          <p:cNvPr id="49" name="Shape 47"/>
          <p:cNvSpPr/>
          <p:nvPr/>
        </p:nvSpPr>
        <p:spPr>
          <a:xfrm>
            <a:off x="9555480" y="2880360"/>
            <a:ext cx="228600" cy="228600"/>
          </a:xfrm>
          <a:prstGeom prst="ellipse">
            <a:avLst/>
          </a:prstGeom>
          <a:solidFill>
            <a:schemeClr val="accent1"/>
          </a:solidFill>
          <a:ln w="6350">
            <a:solidFill>
              <a:schemeClr val="accent1"/>
            </a:solidFill>
            <a:prstDash val="solid"/>
          </a:ln>
        </p:spPr>
        <p:txBody>
          <a:bodyPr/>
          <a:p/>
        </p:txBody>
      </p:sp>
      <p:sp>
        <p:nvSpPr>
          <p:cNvPr id="50" name="Text 48"/>
          <p:cNvSpPr txBox="1"/>
          <p:nvPr/>
        </p:nvSpPr>
        <p:spPr>
          <a:xfrm>
            <a:off x="9921240" y="2834640"/>
            <a:ext cx="1691640" cy="320040"/>
          </a:xfrm>
          <a:prstGeom prst="rect">
            <a:avLst/>
          </a:prstGeom>
          <a:noFill/>
          <a:ln/>
        </p:spPr>
        <p:txBody>
          <a:bodyPr wrap="square" lIns="0" tIns="0" rIns="0" bIns="0" rtlCol="0" anchor="ctr"/>
          <a:lstStyle/>
          <a:p>
            <a:pPr indent="0" marL="0">
              <a:buNone/>
            </a:pPr>
            <a:r>
              <a:rPr lang="en-US" sz="1100" dirty="0">
                <a:solidFill>
                  <a:schemeClr val="tx2"/>
                </a:solidFill>
              </a:rPr>
              <a:t>Observability stack</a:t>
            </a:r>
            <a:endParaRPr lang="en-US" sz="1100" dirty="0"/>
          </a:p>
        </p:txBody>
      </p:sp>
      <p:sp>
        <p:nvSpPr>
          <p:cNvPr id="51" name="Shape 49"/>
          <p:cNvSpPr/>
          <p:nvPr/>
        </p:nvSpPr>
        <p:spPr>
          <a:xfrm>
            <a:off x="9555480" y="3291840"/>
            <a:ext cx="228600" cy="228600"/>
          </a:xfrm>
          <a:prstGeom prst="ellipse">
            <a:avLst/>
          </a:prstGeom>
          <a:solidFill>
            <a:schemeClr val="accent5"/>
          </a:solidFill>
          <a:ln w="6350">
            <a:solidFill>
              <a:schemeClr val="accent5"/>
            </a:solidFill>
            <a:prstDash val="solid"/>
          </a:ln>
        </p:spPr>
        <p:txBody>
          <a:bodyPr/>
          <a:p/>
        </p:txBody>
      </p:sp>
      <p:sp>
        <p:nvSpPr>
          <p:cNvPr id="52" name="Text 50"/>
          <p:cNvSpPr txBox="1"/>
          <p:nvPr/>
        </p:nvSpPr>
        <p:spPr>
          <a:xfrm>
            <a:off x="9921240" y="3246120"/>
            <a:ext cx="1691640" cy="320040"/>
          </a:xfrm>
          <a:prstGeom prst="rect">
            <a:avLst/>
          </a:prstGeom>
          <a:noFill/>
          <a:ln/>
        </p:spPr>
        <p:txBody>
          <a:bodyPr wrap="square" lIns="0" tIns="0" rIns="0" bIns="0" rtlCol="0" anchor="ctr"/>
          <a:lstStyle/>
          <a:p>
            <a:pPr indent="0" marL="0">
              <a:buNone/>
            </a:pPr>
            <a:r>
              <a:rPr lang="en-US" sz="1100" dirty="0">
                <a:solidFill>
                  <a:schemeClr val="tx2"/>
                </a:solidFill>
              </a:rPr>
              <a:t>Outside cluster</a:t>
            </a:r>
            <a:endParaRPr lang="en-US" sz="1100" dirty="0"/>
          </a:p>
        </p:txBody>
      </p:sp>
      <p:sp>
        <p:nvSpPr>
          <p:cNvPr id="53" name="Shape 51"/>
          <p:cNvSpPr/>
          <p:nvPr/>
        </p:nvSpPr>
        <p:spPr>
          <a:xfrm>
            <a:off x="9555480" y="3703320"/>
            <a:ext cx="228600" cy="228600"/>
          </a:xfrm>
          <a:prstGeom prst="ellipse">
            <a:avLst/>
          </a:prstGeom>
          <a:solidFill>
            <a:schemeClr val="accent3"/>
          </a:solidFill>
          <a:ln w="6350">
            <a:solidFill>
              <a:schemeClr val="accent3"/>
            </a:solidFill>
            <a:prstDash val="solid"/>
          </a:ln>
        </p:spPr>
        <p:txBody>
          <a:bodyPr/>
          <a:p/>
        </p:txBody>
      </p:sp>
      <p:sp>
        <p:nvSpPr>
          <p:cNvPr id="54" name="Text 52"/>
          <p:cNvSpPr txBox="1"/>
          <p:nvPr/>
        </p:nvSpPr>
        <p:spPr>
          <a:xfrm>
            <a:off x="9921240" y="3657600"/>
            <a:ext cx="1691640" cy="320040"/>
          </a:xfrm>
          <a:prstGeom prst="rect">
            <a:avLst/>
          </a:prstGeom>
          <a:noFill/>
          <a:ln/>
        </p:spPr>
        <p:txBody>
          <a:bodyPr wrap="square" lIns="0" tIns="0" rIns="0" bIns="0" rtlCol="0" anchor="ctr"/>
          <a:lstStyle/>
          <a:p>
            <a:pPr indent="0" marL="0">
              <a:buNone/>
            </a:pPr>
            <a:r>
              <a:rPr lang="en-US" sz="1100" dirty="0">
                <a:solidFill>
                  <a:schemeClr val="tx2"/>
                </a:solidFill>
              </a:rPr>
              <a:t>Red dot: failing hop</a:t>
            </a:r>
            <a:endParaRPr lang="en-US" sz="1100" dirty="0"/>
          </a:p>
        </p:txBody>
      </p:sp>
      <p:sp>
        <p:nvSpPr>
          <p:cNvPr id="55" name="Text 53"/>
          <p:cNvSpPr txBox="1"/>
          <p:nvPr/>
        </p:nvSpPr>
        <p:spPr>
          <a:xfrm>
            <a:off x="9555480" y="4114800"/>
            <a:ext cx="2011680" cy="566928"/>
          </a:xfrm>
          <a:prstGeom prst="rect">
            <a:avLst/>
          </a:prstGeom>
          <a:noFill/>
          <a:ln/>
        </p:spPr>
        <p:txBody>
          <a:bodyPr wrap="square" lIns="0" tIns="0" rIns="0" bIns="0" rtlCol="0" anchor="t"/>
          <a:lstStyle/>
          <a:p>
            <a:pPr indent="0" marL="0">
              <a:buNone/>
            </a:pPr>
            <a:r>
              <a:rPr lang="en-US" sz="1100" i="1" dirty="0">
                <a:solidFill>
                  <a:schemeClr val="tx2"/>
                </a:solidFill>
              </a:rPr>
              <a:t>Kiali turns an edge red when its error rate or latency crosses a threshold.</a:t>
            </a:r>
            <a:endParaRPr lang="en-US" sz="11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a:t>
            </a:fld>
            <a:endParaRPr lang="en-US"/>
          </a:p>
        </p:txBody>
      </p:sp>
      <p:sp>
        <p:nvSpPr>
          <p:cNvPr id="56" name="Rounded Rectangle 55"/>
          <p:cNvSpPr/>
          <p:nvPr/>
        </p:nvSpPr>
        <p:spPr>
          <a:xfrm>
            <a:off x="3561587" y="2368296"/>
            <a:ext cx="457200" cy="237744"/>
          </a:xfrm>
          <a:prstGeom prst="roundRect">
            <a:avLst>
              <a:gd name="adj" fmla="val 50000"/>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a:solidFill>
                  <a:schemeClr val="bg1"/>
                </a:solidFill>
              </a:rPr>
              <a:t>PULL</a:t>
            </a:r>
          </a:p>
        </p:txBody>
      </p:sp>
      <p:sp>
        <p:nvSpPr>
          <p:cNvPr id="57" name="Rounded Rectangle 56"/>
          <p:cNvSpPr/>
          <p:nvPr/>
        </p:nvSpPr>
        <p:spPr>
          <a:xfrm>
            <a:off x="3451860" y="3447287"/>
            <a:ext cx="457200" cy="237744"/>
          </a:xfrm>
          <a:prstGeom prst="roundRect">
            <a:avLst>
              <a:gd name="adj" fmla="val 50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a:solidFill>
                  <a:schemeClr val="bg1"/>
                </a:solidFill>
              </a:rPr>
              <a:t>PUSH</a:t>
            </a:r>
          </a:p>
        </p:txBody>
      </p:sp>
      <p:sp>
        <p:nvSpPr>
          <p:cNvPr id="58" name="Rounded Rectangle 57"/>
          <p:cNvSpPr/>
          <p:nvPr/>
        </p:nvSpPr>
        <p:spPr>
          <a:xfrm>
            <a:off x="5372100" y="4027932"/>
            <a:ext cx="457200" cy="173736"/>
          </a:xfrm>
          <a:prstGeom prst="roundRect">
            <a:avLst>
              <a:gd name="adj" fmla="val 50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a:solidFill>
                  <a:schemeClr val="bg1"/>
                </a:solidFill>
              </a:rPr>
              <a:t>PUSH</a:t>
            </a:r>
          </a:p>
        </p:txBody>
      </p:sp>
      <p:sp>
        <p:nvSpPr>
          <p:cNvPr id="59" name="Rounded Rectangle 58"/>
          <p:cNvSpPr/>
          <p:nvPr/>
        </p:nvSpPr>
        <p:spPr>
          <a:xfrm>
            <a:off x="6446520" y="2350008"/>
            <a:ext cx="512064" cy="237744"/>
          </a:xfrm>
          <a:prstGeom prst="roundRect">
            <a:avLst>
              <a:gd name="adj" fmla="val 50000"/>
            </a:avLst>
          </a:prstGeom>
          <a:solidFill>
            <a:schemeClr val="accent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a:solidFill>
                  <a:schemeClr val="bg1"/>
                </a:solidFill>
              </a:rPr>
              <a:t>QUERY</a:t>
            </a:r>
          </a:p>
        </p:txBody>
      </p:sp>
      <p:sp>
        <p:nvSpPr>
          <p:cNvPr id="60" name="Rounded Rectangle 59"/>
          <p:cNvSpPr/>
          <p:nvPr/>
        </p:nvSpPr>
        <p:spPr>
          <a:xfrm>
            <a:off x="6446520" y="4681728"/>
            <a:ext cx="512064" cy="237744"/>
          </a:xfrm>
          <a:prstGeom prst="roundRect">
            <a:avLst>
              <a:gd name="adj" fmla="val 50000"/>
            </a:avLst>
          </a:prstGeom>
          <a:solidFill>
            <a:schemeClr val="accent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a:solidFill>
                  <a:schemeClr val="bg1"/>
                </a:solidFill>
              </a:rPr>
              <a:t>QUERY</a:t>
            </a:r>
          </a:p>
        </p:txBody>
      </p:sp>
      <p:sp>
        <p:nvSpPr>
          <p:cNvPr id="61" name="TextBox 60"/>
          <p:cNvSpPr txBox="1"/>
          <p:nvPr/>
        </p:nvSpPr>
        <p:spPr>
          <a:xfrm>
            <a:off x="9555480" y="4690872"/>
            <a:ext cx="2103120" cy="201168"/>
          </a:xfrm>
          <a:prstGeom prst="rect">
            <a:avLst/>
          </a:prstGeom>
          <a:noFill/>
        </p:spPr>
        <p:txBody>
          <a:bodyPr wrap="square" lIns="0" rIns="0" tIns="0" bIns="0">
            <a:spAutoFit/>
          </a:bodyPr>
          <a:lstStyle/>
          <a:p>
            <a:pPr algn="l"/>
            <a:r>
              <a:rPr sz="950" i="1">
                <a:solidFill>
                  <a:schemeClr val="tx2"/>
                </a:solidFill>
              </a:rPr>
              <a:t>Arrow = caller to callee</a:t>
            </a:r>
          </a:p>
        </p:txBody>
      </p:sp>
      <p:sp>
        <p:nvSpPr>
          <p:cNvPr id="62" name="Rounded Rectangle 61"/>
          <p:cNvSpPr/>
          <p:nvPr/>
        </p:nvSpPr>
        <p:spPr>
          <a:xfrm>
            <a:off x="9555480" y="4928616"/>
            <a:ext cx="475488" cy="237744"/>
          </a:xfrm>
          <a:prstGeom prst="roundRect">
            <a:avLst>
              <a:gd name="adj" fmla="val 50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a:solidFill>
                  <a:schemeClr val="bg1"/>
                </a:solidFill>
              </a:rPr>
              <a:t>PUSH</a:t>
            </a:r>
          </a:p>
        </p:txBody>
      </p:sp>
      <p:sp>
        <p:nvSpPr>
          <p:cNvPr id="63" name="TextBox 62"/>
          <p:cNvSpPr txBox="1"/>
          <p:nvPr/>
        </p:nvSpPr>
        <p:spPr>
          <a:xfrm>
            <a:off x="10104120" y="4956048"/>
            <a:ext cx="1554480" cy="201168"/>
          </a:xfrm>
          <a:prstGeom prst="rect">
            <a:avLst/>
          </a:prstGeom>
          <a:noFill/>
        </p:spPr>
        <p:txBody>
          <a:bodyPr wrap="square" lIns="0" rIns="0" tIns="0" bIns="0">
            <a:spAutoFit/>
          </a:bodyPr>
          <a:lstStyle/>
          <a:p>
            <a:pPr algn="l"/>
            <a:r>
              <a:rPr sz="900" i="0">
                <a:solidFill>
                  <a:schemeClr val="tx2"/>
                </a:solidFill>
              </a:rPr>
              <a:t>sender sends (OTLP)</a:t>
            </a:r>
          </a:p>
        </p:txBody>
      </p:sp>
      <p:sp>
        <p:nvSpPr>
          <p:cNvPr id="64" name="Rounded Rectangle 63"/>
          <p:cNvSpPr/>
          <p:nvPr/>
        </p:nvSpPr>
        <p:spPr>
          <a:xfrm>
            <a:off x="9555480" y="5157216"/>
            <a:ext cx="475488" cy="237744"/>
          </a:xfrm>
          <a:prstGeom prst="roundRect">
            <a:avLst>
              <a:gd name="adj" fmla="val 50000"/>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a:solidFill>
                  <a:schemeClr val="bg1"/>
                </a:solidFill>
              </a:rPr>
              <a:t>PULL</a:t>
            </a:r>
          </a:p>
        </p:txBody>
      </p:sp>
      <p:sp>
        <p:nvSpPr>
          <p:cNvPr id="65" name="TextBox 64"/>
          <p:cNvSpPr txBox="1"/>
          <p:nvPr/>
        </p:nvSpPr>
        <p:spPr>
          <a:xfrm>
            <a:off x="10104120" y="5184648"/>
            <a:ext cx="1554480" cy="201168"/>
          </a:xfrm>
          <a:prstGeom prst="rect">
            <a:avLst/>
          </a:prstGeom>
          <a:noFill/>
        </p:spPr>
        <p:txBody>
          <a:bodyPr wrap="square" lIns="0" rIns="0" tIns="0" bIns="0">
            <a:spAutoFit/>
          </a:bodyPr>
          <a:lstStyle/>
          <a:p>
            <a:pPr algn="l"/>
            <a:r>
              <a:rPr sz="900" i="0">
                <a:solidFill>
                  <a:schemeClr val="tx2"/>
                </a:solidFill>
              </a:rPr>
              <a:t>Prometheus calls the pod</a:t>
            </a:r>
          </a:p>
        </p:txBody>
      </p:sp>
      <p:sp>
        <p:nvSpPr>
          <p:cNvPr id="66" name="Rounded Rectangle 65"/>
          <p:cNvSpPr/>
          <p:nvPr/>
        </p:nvSpPr>
        <p:spPr>
          <a:xfrm>
            <a:off x="9555480" y="5385816"/>
            <a:ext cx="475488" cy="237744"/>
          </a:xfrm>
          <a:prstGeom prst="roundRect">
            <a:avLst>
              <a:gd name="adj" fmla="val 50000"/>
            </a:avLst>
          </a:prstGeom>
          <a:solidFill>
            <a:schemeClr val="accent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a:solidFill>
                  <a:schemeClr val="bg1"/>
                </a:solidFill>
              </a:rPr>
              <a:t>QUERY</a:t>
            </a:r>
          </a:p>
        </p:txBody>
      </p:sp>
      <p:sp>
        <p:nvSpPr>
          <p:cNvPr id="67" name="TextBox 66"/>
          <p:cNvSpPr txBox="1"/>
          <p:nvPr/>
        </p:nvSpPr>
        <p:spPr>
          <a:xfrm>
            <a:off x="10104120" y="5413248"/>
            <a:ext cx="1554480" cy="201168"/>
          </a:xfrm>
          <a:prstGeom prst="rect">
            <a:avLst/>
          </a:prstGeom>
          <a:noFill/>
        </p:spPr>
        <p:txBody>
          <a:bodyPr wrap="square" lIns="0" rIns="0" tIns="0" bIns="0">
            <a:spAutoFit/>
          </a:bodyPr>
          <a:lstStyle/>
          <a:p>
            <a:pPr algn="l"/>
            <a:r>
              <a:rPr sz="900" i="0">
                <a:solidFill>
                  <a:schemeClr val="tx2"/>
                </a:solidFill>
              </a:rPr>
              <a:t>view calls the store</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11247120" cy="731520"/>
          </a:xfrm>
          <a:prstGeom prst="rect">
            <a:avLst/>
          </a:prstGeom>
          <a:noFill/>
          <a:ln/>
        </p:spPr>
        <p:txBody>
          <a:bodyPr wrap="square" rtlCol="0" anchor="ctr"/>
          <a:lstStyle/>
          <a:p>
            <a:pPr algn="l" indent="0" marL="0">
              <a:buNone/>
            </a:pPr>
            <a:r>
              <a:rPr lang="en-US" sz="3000" b="1" dirty="0">
                <a:solidFill>
                  <a:schemeClr val="tx1"/>
                </a:solidFill>
              </a:rPr>
              <a:t>Three telemetry flows, one view</a:t>
            </a:r>
            <a:endParaRPr lang="en-US" sz="3000" dirty="0"/>
          </a:p>
        </p:txBody>
      </p:sp>
      <p:sp>
        <p:nvSpPr>
          <p:cNvPr id="3" name="Shape 1"/>
          <p:cNvSpPr/>
          <p:nvPr/>
        </p:nvSpPr>
        <p:spPr>
          <a:xfrm>
            <a:off x="457200" y="1234440"/>
            <a:ext cx="457200" cy="457200"/>
          </a:xfrm>
          <a:prstGeom prst="ellipse">
            <a:avLst/>
          </a:prstGeom>
          <a:solidFill>
            <a:schemeClr val="accent2"/>
          </a:solidFill>
          <a:ln w="6350">
            <a:solidFill>
              <a:schemeClr val="accent2"/>
            </a:solidFill>
            <a:prstDash val="solid"/>
          </a:ln>
        </p:spPr>
        <p:txBody>
          <a:bodyPr/>
          <a:p/>
        </p:txBody>
      </p:sp>
      <p:sp>
        <p:nvSpPr>
          <p:cNvPr id="4" name="Text 2"/>
          <p:cNvSpPr txBox="1"/>
          <p:nvPr/>
        </p:nvSpPr>
        <p:spPr>
          <a:xfrm>
            <a:off x="1051560" y="1188720"/>
            <a:ext cx="2743200" cy="548640"/>
          </a:xfrm>
          <a:prstGeom prst="rect">
            <a:avLst/>
          </a:prstGeom>
          <a:noFill/>
          <a:ln/>
        </p:spPr>
        <p:txBody>
          <a:bodyPr wrap="square" lIns="0" tIns="0" rIns="0" bIns="0" rtlCol="0" anchor="ctr"/>
          <a:lstStyle/>
          <a:p>
            <a:pPr indent="0" marL="0">
              <a:buNone/>
            </a:pPr>
            <a:r>
              <a:rPr lang="en-US" sz="2000" b="1" dirty="0">
                <a:solidFill>
                  <a:schemeClr val="tx1"/>
                </a:solidFill>
              </a:rPr>
              <a:t>Metrics</a:t>
            </a:r>
            <a:endParaRPr lang="en-US" sz="2000" dirty="0"/>
          </a:p>
        </p:txBody>
      </p:sp>
      <p:sp>
        <p:nvSpPr>
          <p:cNvPr id="5" name="Metrics step 1"/>
          <p:cNvSpPr/>
          <p:nvPr/>
        </p:nvSpPr>
        <p:spPr>
          <a:xfrm>
            <a:off x="457200" y="1755648"/>
            <a:ext cx="2148840" cy="777240"/>
          </a:xfrm>
          <a:prstGeom prst="roundRect">
            <a:avLst>
              <a:gd name="adj" fmla="val 8000"/>
            </a:avLst>
          </a:prstGeom>
          <a:solidFill>
            <a:schemeClr val="accent2"/>
          </a:solidFill>
          <a:ln w="9525">
            <a:solidFill>
              <a:schemeClr val="accent2"/>
            </a:solidFill>
            <a:prstDash val="solid"/>
          </a:ln>
        </p:spPr>
        <p:txBody>
          <a:bodyPr/>
          <a:p/>
        </p:txBody>
      </p:sp>
      <p:sp>
        <p:nvSpPr>
          <p:cNvPr id="6" name="Metrics step 1 text"/>
          <p:cNvSpPr txBox="1"/>
          <p:nvPr/>
        </p:nvSpPr>
        <p:spPr>
          <a:xfrm>
            <a:off x="457200" y="1755648"/>
            <a:ext cx="2148840" cy="777240"/>
          </a:xfrm>
          <a:prstGeom prst="rect">
            <a:avLst/>
          </a:prstGeom>
          <a:noFill/>
          <a:ln/>
        </p:spPr>
        <p:txBody>
          <a:bodyPr wrap="square" lIns="635" tIns="635" rIns="635" bIns="635" rtlCol="0" anchor="ctr"/>
          <a:lstStyle/>
          <a:p>
            <a:pPr algn="ctr" indent="0" marL="0">
              <a:buNone/>
            </a:pPr>
            <a:r>
              <a:rPr lang="en-US" sz="1400" b="1" dirty="0">
                <a:solidFill>
                  <a:schemeClr val="bg1"/>
                </a:solidFill>
              </a:rPr>
              <a:t>Envoy sidecar</a:t>
            </a:r>
            <a:endParaRPr lang="en-US" sz="1400" dirty="0"/>
          </a:p>
          <a:p>
            <a:pPr algn="ctr" indent="0" marL="0">
              <a:buNone/>
            </a:pPr>
            <a:r>
              <a:rPr lang="en-US" sz="1100" dirty="0">
                <a:solidFill>
                  <a:schemeClr val="accent6"/>
                </a:solidFill>
              </a:rPr>
              <a:t>Rate, errors, latency</a:t>
            </a:r>
            <a:endParaRPr lang="en-US" sz="1400" dirty="0"/>
          </a:p>
        </p:txBody>
      </p:sp>
      <p:sp>
        <p:nvSpPr>
          <p:cNvPr id="7" name="Shape 5"/>
          <p:cNvSpPr/>
          <p:nvPr/>
        </p:nvSpPr>
        <p:spPr>
          <a:xfrm>
            <a:off x="2679192" y="2144268"/>
            <a:ext cx="737616" cy="0"/>
          </a:xfrm>
          <a:prstGeom prst="line">
            <a:avLst/>
          </a:prstGeom>
          <a:noFill/>
          <a:ln w="15875">
            <a:solidFill>
              <a:schemeClr val="tx2"/>
            </a:solidFill>
            <a:prstDash val="solid"/>
            <a:headEnd type="triangle"/>
          </a:ln>
        </p:spPr>
        <p:txBody>
          <a:bodyPr/>
          <a:p/>
        </p:txBody>
      </p:sp>
      <p:sp>
        <p:nvSpPr>
          <p:cNvPr id="8" name="Metrics step 2"/>
          <p:cNvSpPr/>
          <p:nvPr/>
        </p:nvSpPr>
        <p:spPr>
          <a:xfrm>
            <a:off x="3489960" y="1755648"/>
            <a:ext cx="2148840" cy="777240"/>
          </a:xfrm>
          <a:prstGeom prst="roundRect">
            <a:avLst>
              <a:gd name="adj" fmla="val 8000"/>
            </a:avLst>
          </a:prstGeom>
          <a:solidFill>
            <a:schemeClr val="accent2"/>
          </a:solidFill>
          <a:ln w="9525">
            <a:solidFill>
              <a:schemeClr val="accent2"/>
            </a:solidFill>
            <a:prstDash val="solid"/>
          </a:ln>
        </p:spPr>
        <p:txBody>
          <a:bodyPr/>
          <a:p/>
        </p:txBody>
      </p:sp>
      <p:sp>
        <p:nvSpPr>
          <p:cNvPr id="9" name="Metrics step 2 text"/>
          <p:cNvSpPr txBox="1"/>
          <p:nvPr/>
        </p:nvSpPr>
        <p:spPr>
          <a:xfrm>
            <a:off x="3489960" y="1755648"/>
            <a:ext cx="2148840" cy="777240"/>
          </a:xfrm>
          <a:prstGeom prst="rect">
            <a:avLst/>
          </a:prstGeom>
          <a:noFill/>
          <a:ln/>
        </p:spPr>
        <p:txBody>
          <a:bodyPr wrap="square" lIns="635" tIns="635" rIns="635" bIns="635" rtlCol="0" anchor="ctr"/>
          <a:lstStyle/>
          <a:p>
            <a:pPr algn="ctr" indent="0" marL="0">
              <a:buNone/>
            </a:pPr>
            <a:r>
              <a:rPr lang="en-US" sz="1400" b="1" dirty="0">
                <a:solidFill>
                  <a:schemeClr val="bg1"/>
                </a:solidFill>
              </a:rPr>
              <a:t>Prometheus (UWM)</a:t>
            </a:r>
            <a:endParaRPr lang="en-US" sz="1400" dirty="0"/>
          </a:p>
          <a:p>
            <a:pPr algn="ctr" indent="0" marL="0">
              <a:buNone/>
            </a:pPr>
            <a:r>
              <a:rPr lang="en-US" sz="1100" dirty="0">
                <a:solidFill>
                  <a:schemeClr val="accent6"/>
                </a:solidFill>
              </a:rPr>
              <a:t>Targets from PodMonitor</a:t>
            </a:r>
            <a:endParaRPr lang="en-US" sz="1400" dirty="0"/>
          </a:p>
        </p:txBody>
      </p:sp>
      <p:sp>
        <p:nvSpPr>
          <p:cNvPr id="10" name="Shape 8"/>
          <p:cNvSpPr/>
          <p:nvPr/>
        </p:nvSpPr>
        <p:spPr>
          <a:xfrm>
            <a:off x="5711952" y="2144268"/>
            <a:ext cx="737616" cy="0"/>
          </a:xfrm>
          <a:prstGeom prst="line">
            <a:avLst/>
          </a:prstGeom>
          <a:noFill/>
          <a:ln w="15875">
            <a:solidFill>
              <a:schemeClr val="tx2"/>
            </a:solidFill>
            <a:prstDash val="solid"/>
            <a:headEnd type="triangle"/>
          </a:ln>
        </p:spPr>
        <p:txBody>
          <a:bodyPr/>
          <a:p/>
        </p:txBody>
      </p:sp>
      <p:sp>
        <p:nvSpPr>
          <p:cNvPr id="11" name="Metrics step 3"/>
          <p:cNvSpPr/>
          <p:nvPr/>
        </p:nvSpPr>
        <p:spPr>
          <a:xfrm>
            <a:off x="6522720" y="1755648"/>
            <a:ext cx="2148840" cy="777240"/>
          </a:xfrm>
          <a:prstGeom prst="roundRect">
            <a:avLst>
              <a:gd name="adj" fmla="val 8000"/>
            </a:avLst>
          </a:prstGeom>
          <a:solidFill>
            <a:schemeClr val="accent2"/>
          </a:solidFill>
          <a:ln w="9525">
            <a:solidFill>
              <a:schemeClr val="accent2"/>
            </a:solidFill>
            <a:prstDash val="solid"/>
          </a:ln>
        </p:spPr>
        <p:txBody>
          <a:bodyPr/>
          <a:p/>
        </p:txBody>
      </p:sp>
      <p:sp>
        <p:nvSpPr>
          <p:cNvPr id="12" name="Metrics step 3 text"/>
          <p:cNvSpPr txBox="1"/>
          <p:nvPr/>
        </p:nvSpPr>
        <p:spPr>
          <a:xfrm>
            <a:off x="6522720" y="1755648"/>
            <a:ext cx="2148840" cy="777240"/>
          </a:xfrm>
          <a:prstGeom prst="rect">
            <a:avLst/>
          </a:prstGeom>
          <a:noFill/>
          <a:ln/>
        </p:spPr>
        <p:txBody>
          <a:bodyPr wrap="square" lIns="635" tIns="635" rIns="635" bIns="635" rtlCol="0" anchor="ctr"/>
          <a:lstStyle/>
          <a:p>
            <a:pPr algn="ctr" indent="0" marL="0">
              <a:buNone/>
            </a:pPr>
            <a:r>
              <a:rPr lang="en-US" sz="1400" b="1" dirty="0">
                <a:solidFill>
                  <a:schemeClr val="bg1"/>
                </a:solidFill>
              </a:rPr>
              <a:t>Thanos Querier</a:t>
            </a:r>
            <a:endParaRPr lang="en-US" sz="1400" dirty="0"/>
          </a:p>
          <a:p>
            <a:pPr algn="ctr" indent="0" marL="0">
              <a:buNone/>
            </a:pPr>
            <a:r>
              <a:rPr lang="en-US" sz="1100" dirty="0">
                <a:solidFill>
                  <a:schemeClr val="accent6"/>
                </a:solidFill>
              </a:rPr>
              <a:t>Query front for UWM</a:t>
            </a:r>
            <a:endParaRPr lang="en-US" sz="1400" dirty="0"/>
          </a:p>
        </p:txBody>
      </p:sp>
      <p:sp>
        <p:nvSpPr>
          <p:cNvPr id="13" name="Shape 11"/>
          <p:cNvSpPr/>
          <p:nvPr/>
        </p:nvSpPr>
        <p:spPr>
          <a:xfrm>
            <a:off x="8744712" y="2144268"/>
            <a:ext cx="737616" cy="0"/>
          </a:xfrm>
          <a:prstGeom prst="line">
            <a:avLst/>
          </a:prstGeom>
          <a:noFill/>
          <a:ln w="15875">
            <a:solidFill>
              <a:schemeClr val="tx2"/>
            </a:solidFill>
            <a:prstDash val="solid"/>
            <a:headEnd type="triangle"/>
          </a:ln>
        </p:spPr>
        <p:txBody>
          <a:bodyPr/>
          <a:p/>
        </p:txBody>
      </p:sp>
      <p:sp>
        <p:nvSpPr>
          <p:cNvPr id="14" name="Metrics step 4"/>
          <p:cNvSpPr/>
          <p:nvPr/>
        </p:nvSpPr>
        <p:spPr>
          <a:xfrm>
            <a:off x="9555480" y="1755648"/>
            <a:ext cx="2148840" cy="777240"/>
          </a:xfrm>
          <a:prstGeom prst="roundRect">
            <a:avLst>
              <a:gd name="adj" fmla="val 8000"/>
            </a:avLst>
          </a:prstGeom>
          <a:solidFill>
            <a:schemeClr val="accent6"/>
          </a:solidFill>
          <a:ln w="12700">
            <a:solidFill>
              <a:schemeClr val="accent2"/>
            </a:solidFill>
            <a:prstDash val="solid"/>
          </a:ln>
        </p:spPr>
        <p:txBody>
          <a:bodyPr/>
          <a:p/>
        </p:txBody>
      </p:sp>
      <p:sp>
        <p:nvSpPr>
          <p:cNvPr id="15" name="Metrics step 4 text"/>
          <p:cNvSpPr txBox="1"/>
          <p:nvPr/>
        </p:nvSpPr>
        <p:spPr>
          <a:xfrm>
            <a:off x="9555480" y="1755648"/>
            <a:ext cx="2148840" cy="777240"/>
          </a:xfrm>
          <a:prstGeom prst="rect">
            <a:avLst/>
          </a:prstGeom>
          <a:noFill/>
          <a:ln/>
        </p:spPr>
        <p:txBody>
          <a:bodyPr wrap="square" lIns="635" tIns="635" rIns="635" bIns="635" rtlCol="0" anchor="ctr"/>
          <a:lstStyle/>
          <a:p>
            <a:pPr algn="ctr" indent="0" marL="0">
              <a:buNone/>
            </a:pPr>
            <a:r>
              <a:rPr lang="en-US" sz="1400" b="1" dirty="0">
                <a:solidFill>
                  <a:schemeClr val="tx1"/>
                </a:solidFill>
              </a:rPr>
              <a:t>Kiali + Grafana</a:t>
            </a:r>
            <a:endParaRPr lang="en-US" sz="1400" dirty="0"/>
          </a:p>
          <a:p>
            <a:pPr algn="ctr" indent="0" marL="0">
              <a:buNone/>
            </a:pPr>
            <a:r>
              <a:rPr lang="en-US" sz="1100" dirty="0">
                <a:solidFill>
                  <a:schemeClr val="tx2"/>
                </a:solidFill>
              </a:rPr>
              <a:t>Graph, dashboards</a:t>
            </a:r>
            <a:endParaRPr lang="en-US" sz="1400" dirty="0"/>
          </a:p>
        </p:txBody>
      </p:sp>
      <p:sp>
        <p:nvSpPr>
          <p:cNvPr id="16" name="Text 14"/>
          <p:cNvSpPr txBox="1"/>
          <p:nvPr/>
        </p:nvSpPr>
        <p:spPr>
          <a:xfrm>
            <a:off x="457200" y="2606040"/>
            <a:ext cx="11247120" cy="320040"/>
          </a:xfrm>
          <a:prstGeom prst="rect">
            <a:avLst/>
          </a:prstGeom>
          <a:noFill/>
          <a:ln/>
        </p:spPr>
        <p:txBody>
          <a:bodyPr wrap="square" lIns="0" tIns="0" rIns="0" bIns="0" rtlCol="0" anchor="ctr"/>
          <a:lstStyle/>
          <a:p>
            <a:pPr indent="0" marL="0">
              <a:buNone/>
            </a:pPr>
            <a:r>
              <a:rPr lang="en-US" sz="1300" i="1" dirty="0">
                <a:solidFill>
                  <a:schemeClr val="tx2"/>
                </a:solidFill>
              </a:rPr>
              <a:t>Answers: which hop is failing or slow, right now.</a:t>
            </a:r>
            <a:endParaRPr lang="en-US" sz="1300" dirty="0"/>
          </a:p>
        </p:txBody>
      </p:sp>
      <p:sp>
        <p:nvSpPr>
          <p:cNvPr id="17" name="Shape 15"/>
          <p:cNvSpPr/>
          <p:nvPr/>
        </p:nvSpPr>
        <p:spPr>
          <a:xfrm>
            <a:off x="457200" y="2926079"/>
            <a:ext cx="457200" cy="457200"/>
          </a:xfrm>
          <a:prstGeom prst="ellipse">
            <a:avLst/>
          </a:prstGeom>
          <a:solidFill>
            <a:schemeClr val="accent1"/>
          </a:solidFill>
          <a:ln w="6350">
            <a:solidFill>
              <a:schemeClr val="accent1"/>
            </a:solidFill>
            <a:prstDash val="solid"/>
          </a:ln>
        </p:spPr>
        <p:txBody>
          <a:bodyPr/>
          <a:p/>
        </p:txBody>
      </p:sp>
      <p:sp>
        <p:nvSpPr>
          <p:cNvPr id="18" name="Text 16"/>
          <p:cNvSpPr txBox="1"/>
          <p:nvPr/>
        </p:nvSpPr>
        <p:spPr>
          <a:xfrm>
            <a:off x="1051560" y="2880360"/>
            <a:ext cx="2743200" cy="548640"/>
          </a:xfrm>
          <a:prstGeom prst="rect">
            <a:avLst/>
          </a:prstGeom>
          <a:noFill/>
          <a:ln/>
        </p:spPr>
        <p:txBody>
          <a:bodyPr wrap="square" lIns="0" tIns="0" rIns="0" bIns="0" rtlCol="0" anchor="ctr"/>
          <a:lstStyle/>
          <a:p>
            <a:pPr indent="0" marL="0">
              <a:buNone/>
            </a:pPr>
            <a:r>
              <a:rPr lang="en-US" sz="2000" b="1" dirty="0">
                <a:solidFill>
                  <a:schemeClr val="tx1"/>
                </a:solidFill>
              </a:rPr>
              <a:t>Traces</a:t>
            </a:r>
            <a:endParaRPr lang="en-US" sz="2000" dirty="0"/>
          </a:p>
        </p:txBody>
      </p:sp>
      <p:sp>
        <p:nvSpPr>
          <p:cNvPr id="19" name="Traces step 1"/>
          <p:cNvSpPr/>
          <p:nvPr/>
        </p:nvSpPr>
        <p:spPr>
          <a:xfrm>
            <a:off x="457200" y="3447288"/>
            <a:ext cx="2148840" cy="777240"/>
          </a:xfrm>
          <a:prstGeom prst="roundRect">
            <a:avLst>
              <a:gd name="adj" fmla="val 8000"/>
            </a:avLst>
          </a:prstGeom>
          <a:solidFill>
            <a:schemeClr val="accent1"/>
          </a:solidFill>
          <a:ln w="9525">
            <a:solidFill>
              <a:schemeClr val="accent1"/>
            </a:solidFill>
            <a:prstDash val="solid"/>
          </a:ln>
        </p:spPr>
        <p:txBody>
          <a:bodyPr/>
          <a:p/>
        </p:txBody>
      </p:sp>
      <p:sp>
        <p:nvSpPr>
          <p:cNvPr id="20" name="Traces step 1 text"/>
          <p:cNvSpPr txBox="1"/>
          <p:nvPr/>
        </p:nvSpPr>
        <p:spPr>
          <a:xfrm>
            <a:off x="457200" y="3447288"/>
            <a:ext cx="2148840" cy="777240"/>
          </a:xfrm>
          <a:prstGeom prst="rect">
            <a:avLst/>
          </a:prstGeom>
          <a:noFill/>
          <a:ln/>
        </p:spPr>
        <p:txBody>
          <a:bodyPr wrap="square" lIns="635" tIns="635" rIns="635" bIns="635" rtlCol="0" anchor="ctr"/>
          <a:lstStyle/>
          <a:p>
            <a:pPr algn="ctr" indent="0" marL="0">
              <a:buNone/>
            </a:pPr>
            <a:r>
              <a:rPr lang="en-US" sz="1400" b="1" dirty="0">
                <a:solidFill>
                  <a:schemeClr val="bg1"/>
                </a:solidFill>
              </a:rPr>
              <a:t>Envoy + OTel agent</a:t>
            </a:r>
            <a:endParaRPr lang="en-US" sz="1400" dirty="0"/>
          </a:p>
          <a:p>
            <a:pPr algn="ctr" indent="0" marL="0">
              <a:buNone/>
            </a:pPr>
            <a:r>
              <a:rPr lang="en-US" sz="1100" dirty="0">
                <a:solidFill>
                  <a:schemeClr val="accent6"/>
                </a:solidFill>
              </a:rPr>
              <a:t>Spans per hop and call</a:t>
            </a:r>
            <a:endParaRPr lang="en-US" sz="1400" dirty="0"/>
          </a:p>
        </p:txBody>
      </p:sp>
      <p:sp>
        <p:nvSpPr>
          <p:cNvPr id="21" name="Shape 19"/>
          <p:cNvSpPr/>
          <p:nvPr/>
        </p:nvSpPr>
        <p:spPr>
          <a:xfrm>
            <a:off x="2679192" y="3835908"/>
            <a:ext cx="737616" cy="0"/>
          </a:xfrm>
          <a:prstGeom prst="line">
            <a:avLst/>
          </a:prstGeom>
          <a:noFill/>
          <a:ln w="15875">
            <a:solidFill>
              <a:schemeClr val="tx2"/>
            </a:solidFill>
            <a:prstDash val="solid"/>
            <a:tailEnd type="triangle"/>
          </a:ln>
        </p:spPr>
        <p:txBody>
          <a:bodyPr/>
          <a:p/>
        </p:txBody>
      </p:sp>
      <p:sp>
        <p:nvSpPr>
          <p:cNvPr id="22" name="Traces step 2"/>
          <p:cNvSpPr/>
          <p:nvPr/>
        </p:nvSpPr>
        <p:spPr>
          <a:xfrm>
            <a:off x="3489960" y="3447288"/>
            <a:ext cx="2148840" cy="777240"/>
          </a:xfrm>
          <a:prstGeom prst="roundRect">
            <a:avLst>
              <a:gd name="adj" fmla="val 8000"/>
            </a:avLst>
          </a:prstGeom>
          <a:solidFill>
            <a:schemeClr val="accent1"/>
          </a:solidFill>
          <a:ln w="9525">
            <a:solidFill>
              <a:schemeClr val="accent1"/>
            </a:solidFill>
            <a:prstDash val="solid"/>
          </a:ln>
        </p:spPr>
        <p:txBody>
          <a:bodyPr/>
          <a:p/>
        </p:txBody>
      </p:sp>
      <p:sp>
        <p:nvSpPr>
          <p:cNvPr id="23" name="Traces step 2 text"/>
          <p:cNvSpPr txBox="1"/>
          <p:nvPr/>
        </p:nvSpPr>
        <p:spPr>
          <a:xfrm>
            <a:off x="3489960" y="3447288"/>
            <a:ext cx="2148840" cy="777240"/>
          </a:xfrm>
          <a:prstGeom prst="rect">
            <a:avLst/>
          </a:prstGeom>
          <a:noFill/>
          <a:ln/>
        </p:spPr>
        <p:txBody>
          <a:bodyPr wrap="square" lIns="635" tIns="635" rIns="635" bIns="635" rtlCol="0" anchor="ctr"/>
          <a:lstStyle/>
          <a:p>
            <a:pPr algn="ctr" indent="0" marL="0">
              <a:buNone/>
            </a:pPr>
            <a:r>
              <a:rPr lang="en-US" sz="1400" b="1" dirty="0">
                <a:solidFill>
                  <a:schemeClr val="bg1"/>
                </a:solidFill>
              </a:rPr>
              <a:t>OTel Collector</a:t>
            </a:r>
            <a:endParaRPr lang="en-US" sz="1400" dirty="0"/>
          </a:p>
          <a:p>
            <a:pPr algn="ctr" indent="0" marL="0">
              <a:buNone/>
            </a:pPr>
            <a:r>
              <a:rPr lang="en-US" sz="1100" dirty="0">
                <a:solidFill>
                  <a:schemeClr val="accent6"/>
                </a:solidFill>
              </a:rPr>
              <a:t>OTLP, tail sampling</a:t>
            </a:r>
            <a:endParaRPr lang="en-US" sz="1400" dirty="0"/>
          </a:p>
        </p:txBody>
      </p:sp>
      <p:sp>
        <p:nvSpPr>
          <p:cNvPr id="24" name="Shape 22"/>
          <p:cNvSpPr/>
          <p:nvPr/>
        </p:nvSpPr>
        <p:spPr>
          <a:xfrm>
            <a:off x="5711952" y="3835908"/>
            <a:ext cx="737616" cy="0"/>
          </a:xfrm>
          <a:prstGeom prst="line">
            <a:avLst/>
          </a:prstGeom>
          <a:noFill/>
          <a:ln w="15875">
            <a:solidFill>
              <a:schemeClr val="tx2"/>
            </a:solidFill>
            <a:prstDash val="solid"/>
            <a:tailEnd type="triangle"/>
          </a:ln>
        </p:spPr>
        <p:txBody>
          <a:bodyPr/>
          <a:p/>
        </p:txBody>
      </p:sp>
      <p:sp>
        <p:nvSpPr>
          <p:cNvPr id="25" name="Traces step 3"/>
          <p:cNvSpPr/>
          <p:nvPr/>
        </p:nvSpPr>
        <p:spPr>
          <a:xfrm>
            <a:off x="6522720" y="3447288"/>
            <a:ext cx="2148840" cy="777240"/>
          </a:xfrm>
          <a:prstGeom prst="roundRect">
            <a:avLst>
              <a:gd name="adj" fmla="val 8000"/>
            </a:avLst>
          </a:prstGeom>
          <a:solidFill>
            <a:schemeClr val="accent1"/>
          </a:solidFill>
          <a:ln w="9525">
            <a:solidFill>
              <a:schemeClr val="accent1"/>
            </a:solidFill>
            <a:prstDash val="solid"/>
          </a:ln>
        </p:spPr>
        <p:txBody>
          <a:bodyPr/>
          <a:p/>
        </p:txBody>
      </p:sp>
      <p:sp>
        <p:nvSpPr>
          <p:cNvPr id="26" name="Traces step 3 text"/>
          <p:cNvSpPr txBox="1"/>
          <p:nvPr/>
        </p:nvSpPr>
        <p:spPr>
          <a:xfrm>
            <a:off x="6522720" y="3447288"/>
            <a:ext cx="2148840" cy="777240"/>
          </a:xfrm>
          <a:prstGeom prst="rect">
            <a:avLst/>
          </a:prstGeom>
          <a:noFill/>
          <a:ln/>
        </p:spPr>
        <p:txBody>
          <a:bodyPr wrap="square" lIns="635" tIns="635" rIns="635" bIns="635" rtlCol="0" anchor="ctr"/>
          <a:lstStyle/>
          <a:p>
            <a:pPr algn="ctr" indent="0" marL="0">
              <a:buNone/>
            </a:pPr>
            <a:r>
              <a:rPr lang="en-US" sz="1400" b="1" dirty="0">
                <a:solidFill>
                  <a:schemeClr val="bg1"/>
                </a:solidFill>
              </a:rPr>
              <a:t>Tempo</a:t>
            </a:r>
            <a:endParaRPr lang="en-US" sz="1400" dirty="0"/>
          </a:p>
          <a:p>
            <a:pPr algn="ctr" indent="0" marL="0">
              <a:buNone/>
            </a:pPr>
            <a:r>
              <a:rPr lang="en-US" sz="1100" dirty="0">
                <a:solidFill>
                  <a:schemeClr val="accent6"/>
                </a:solidFill>
              </a:rPr>
              <a:t>Trace storage</a:t>
            </a:r>
            <a:endParaRPr lang="en-US" sz="1400" dirty="0"/>
          </a:p>
        </p:txBody>
      </p:sp>
      <p:sp>
        <p:nvSpPr>
          <p:cNvPr id="27" name="Shape 25"/>
          <p:cNvSpPr/>
          <p:nvPr/>
        </p:nvSpPr>
        <p:spPr>
          <a:xfrm>
            <a:off x="8744712" y="3835908"/>
            <a:ext cx="737616" cy="0"/>
          </a:xfrm>
          <a:prstGeom prst="line">
            <a:avLst/>
          </a:prstGeom>
          <a:noFill/>
          <a:ln w="15875">
            <a:solidFill>
              <a:schemeClr val="tx2"/>
            </a:solidFill>
            <a:prstDash val="solid"/>
            <a:headEnd type="triangle"/>
          </a:ln>
        </p:spPr>
        <p:txBody>
          <a:bodyPr/>
          <a:p/>
        </p:txBody>
      </p:sp>
      <p:sp>
        <p:nvSpPr>
          <p:cNvPr id="28" name="Traces step 4"/>
          <p:cNvSpPr/>
          <p:nvPr/>
        </p:nvSpPr>
        <p:spPr>
          <a:xfrm>
            <a:off x="9555480" y="3447288"/>
            <a:ext cx="2148840" cy="777240"/>
          </a:xfrm>
          <a:prstGeom prst="roundRect">
            <a:avLst>
              <a:gd name="adj" fmla="val 8000"/>
            </a:avLst>
          </a:prstGeom>
          <a:solidFill>
            <a:schemeClr val="accent6"/>
          </a:solidFill>
          <a:ln w="12700">
            <a:solidFill>
              <a:schemeClr val="accent1"/>
            </a:solidFill>
            <a:prstDash val="solid"/>
          </a:ln>
        </p:spPr>
        <p:txBody>
          <a:bodyPr/>
          <a:p/>
        </p:txBody>
      </p:sp>
      <p:sp>
        <p:nvSpPr>
          <p:cNvPr id="29" name="Traces step 4 text"/>
          <p:cNvSpPr txBox="1"/>
          <p:nvPr/>
        </p:nvSpPr>
        <p:spPr>
          <a:xfrm>
            <a:off x="9555480" y="3447288"/>
            <a:ext cx="2148840" cy="777240"/>
          </a:xfrm>
          <a:prstGeom prst="rect">
            <a:avLst/>
          </a:prstGeom>
          <a:noFill/>
          <a:ln/>
        </p:spPr>
        <p:txBody>
          <a:bodyPr wrap="square" lIns="635" tIns="635" rIns="635" bIns="635" rtlCol="0" anchor="ctr"/>
          <a:lstStyle/>
          <a:p>
            <a:pPr algn="ctr" indent="0" marL="0">
              <a:buNone/>
            </a:pPr>
            <a:r>
              <a:rPr lang="en-US" sz="1400" b="1" dirty="0">
                <a:solidFill>
                  <a:schemeClr val="tx1"/>
                </a:solidFill>
              </a:rPr>
              <a:t>Console tracing UI</a:t>
            </a:r>
            <a:endParaRPr lang="en-US" sz="1400" dirty="0"/>
          </a:p>
          <a:p>
            <a:pPr algn="ctr" indent="0" marL="0">
              <a:buNone/>
            </a:pPr>
            <a:r>
              <a:rPr lang="en-US" sz="1100" dirty="0">
                <a:solidFill>
                  <a:schemeClr val="tx2"/>
                </a:solidFill>
              </a:rPr>
              <a:t>Linked from Kiali</a:t>
            </a:r>
            <a:endParaRPr lang="en-US" sz="1400" dirty="0"/>
          </a:p>
        </p:txBody>
      </p:sp>
      <p:sp>
        <p:nvSpPr>
          <p:cNvPr id="30" name="Text 28"/>
          <p:cNvSpPr txBox="1"/>
          <p:nvPr/>
        </p:nvSpPr>
        <p:spPr>
          <a:xfrm>
            <a:off x="457200" y="4297680"/>
            <a:ext cx="11247120" cy="320040"/>
          </a:xfrm>
          <a:prstGeom prst="rect">
            <a:avLst/>
          </a:prstGeom>
          <a:noFill/>
          <a:ln/>
        </p:spPr>
        <p:txBody>
          <a:bodyPr wrap="square" lIns="0" tIns="0" rIns="0" bIns="0" rtlCol="0" anchor="ctr"/>
          <a:lstStyle/>
          <a:p>
            <a:pPr indent="0" marL="0">
              <a:buNone/>
            </a:pPr>
            <a:r>
              <a:rPr lang="en-US" sz="1300" i="1" dirty="0">
                <a:solidFill>
                  <a:schemeClr val="tx2"/>
                </a:solidFill>
              </a:rPr>
              <a:t>Answers: where the time went inside one specific transaction, including DB calls.</a:t>
            </a:r>
            <a:endParaRPr lang="en-US" sz="13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4</a:t>
            </a:fld>
            <a:endParaRPr lang="en-US"/>
          </a:p>
        </p:txBody>
      </p:sp>
      <p:sp>
        <p:nvSpPr>
          <p:cNvPr id="31" name="Rounded Rectangle 30"/>
          <p:cNvSpPr/>
          <p:nvPr/>
        </p:nvSpPr>
        <p:spPr>
          <a:xfrm>
            <a:off x="2764536" y="1842515"/>
            <a:ext cx="566928" cy="237744"/>
          </a:xfrm>
          <a:prstGeom prst="roundRect">
            <a:avLst>
              <a:gd name="adj" fmla="val 50000"/>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a:solidFill>
                  <a:schemeClr val="bg1"/>
                </a:solidFill>
              </a:rPr>
              <a:t>PULL</a:t>
            </a:r>
          </a:p>
        </p:txBody>
      </p:sp>
      <p:sp>
        <p:nvSpPr>
          <p:cNvPr id="32" name="TextBox 31"/>
          <p:cNvSpPr txBox="1"/>
          <p:nvPr/>
        </p:nvSpPr>
        <p:spPr>
          <a:xfrm>
            <a:off x="2624328" y="2208275"/>
            <a:ext cx="847344" cy="292608"/>
          </a:xfrm>
          <a:prstGeom prst="rect">
            <a:avLst/>
          </a:prstGeom>
          <a:noFill/>
        </p:spPr>
        <p:txBody>
          <a:bodyPr wrap="square" lIns="0" rIns="0" tIns="0" bIns="0">
            <a:spAutoFit/>
          </a:bodyPr>
          <a:lstStyle/>
          <a:p>
            <a:pPr algn="ctr"/>
            <a:r>
              <a:rPr sz="850" i="0">
                <a:solidFill>
                  <a:schemeClr val="tx2"/>
                </a:solidFill>
              </a:rPr>
              <a:t>scrapes :15020</a:t>
            </a:r>
          </a:p>
        </p:txBody>
      </p:sp>
      <p:sp>
        <p:nvSpPr>
          <p:cNvPr id="33" name="Rounded Rectangle 32"/>
          <p:cNvSpPr/>
          <p:nvPr/>
        </p:nvSpPr>
        <p:spPr>
          <a:xfrm>
            <a:off x="5797296" y="1842515"/>
            <a:ext cx="566928" cy="237744"/>
          </a:xfrm>
          <a:prstGeom prst="roundRect">
            <a:avLst>
              <a:gd name="adj" fmla="val 50000"/>
            </a:avLst>
          </a:prstGeom>
          <a:solidFill>
            <a:schemeClr val="accent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a:solidFill>
                  <a:schemeClr val="bg1"/>
                </a:solidFill>
              </a:rPr>
              <a:t>QUERY</a:t>
            </a:r>
          </a:p>
        </p:txBody>
      </p:sp>
      <p:sp>
        <p:nvSpPr>
          <p:cNvPr id="34" name="TextBox 33"/>
          <p:cNvSpPr txBox="1"/>
          <p:nvPr/>
        </p:nvSpPr>
        <p:spPr>
          <a:xfrm>
            <a:off x="5657088" y="2208275"/>
            <a:ext cx="847344" cy="292608"/>
          </a:xfrm>
          <a:prstGeom prst="rect">
            <a:avLst/>
          </a:prstGeom>
          <a:noFill/>
        </p:spPr>
        <p:txBody>
          <a:bodyPr wrap="square" lIns="0" rIns="0" tIns="0" bIns="0">
            <a:spAutoFit/>
          </a:bodyPr>
          <a:lstStyle/>
          <a:p>
            <a:pPr algn="ctr"/>
            <a:r>
              <a:rPr sz="850" i="0">
                <a:solidFill>
                  <a:schemeClr val="tx2"/>
                </a:solidFill>
              </a:rPr>
              <a:t>fans out</a:t>
            </a:r>
          </a:p>
        </p:txBody>
      </p:sp>
      <p:sp>
        <p:nvSpPr>
          <p:cNvPr id="35" name="Rounded Rectangle 34"/>
          <p:cNvSpPr/>
          <p:nvPr/>
        </p:nvSpPr>
        <p:spPr>
          <a:xfrm>
            <a:off x="8830056" y="1842515"/>
            <a:ext cx="566928" cy="237744"/>
          </a:xfrm>
          <a:prstGeom prst="roundRect">
            <a:avLst>
              <a:gd name="adj" fmla="val 50000"/>
            </a:avLst>
          </a:prstGeom>
          <a:solidFill>
            <a:schemeClr val="accent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a:solidFill>
                  <a:schemeClr val="bg1"/>
                </a:solidFill>
              </a:rPr>
              <a:t>QUERY</a:t>
            </a:r>
          </a:p>
        </p:txBody>
      </p:sp>
      <p:sp>
        <p:nvSpPr>
          <p:cNvPr id="36" name="TextBox 35"/>
          <p:cNvSpPr txBox="1"/>
          <p:nvPr/>
        </p:nvSpPr>
        <p:spPr>
          <a:xfrm>
            <a:off x="8689848" y="2208275"/>
            <a:ext cx="847344" cy="292608"/>
          </a:xfrm>
          <a:prstGeom prst="rect">
            <a:avLst/>
          </a:prstGeom>
          <a:noFill/>
        </p:spPr>
        <p:txBody>
          <a:bodyPr wrap="square" lIns="0" rIns="0" tIns="0" bIns="0">
            <a:spAutoFit/>
          </a:bodyPr>
          <a:lstStyle/>
          <a:p>
            <a:pPr algn="ctr"/>
            <a:r>
              <a:rPr sz="850" i="0">
                <a:solidFill>
                  <a:schemeClr val="tx2"/>
                </a:solidFill>
              </a:rPr>
              <a:t>PromQL :9091</a:t>
            </a:r>
          </a:p>
        </p:txBody>
      </p:sp>
      <p:sp>
        <p:nvSpPr>
          <p:cNvPr id="37" name="Rounded Rectangle 36"/>
          <p:cNvSpPr/>
          <p:nvPr/>
        </p:nvSpPr>
        <p:spPr>
          <a:xfrm>
            <a:off x="2764536" y="3534156"/>
            <a:ext cx="566928" cy="237744"/>
          </a:xfrm>
          <a:prstGeom prst="roundRect">
            <a:avLst>
              <a:gd name="adj" fmla="val 50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a:solidFill>
                  <a:schemeClr val="bg1"/>
                </a:solidFill>
              </a:rPr>
              <a:t>PUSH</a:t>
            </a:r>
          </a:p>
        </p:txBody>
      </p:sp>
      <p:sp>
        <p:nvSpPr>
          <p:cNvPr id="38" name="TextBox 37"/>
          <p:cNvSpPr txBox="1"/>
          <p:nvPr/>
        </p:nvSpPr>
        <p:spPr>
          <a:xfrm>
            <a:off x="2624328" y="3899916"/>
            <a:ext cx="847344" cy="292608"/>
          </a:xfrm>
          <a:prstGeom prst="rect">
            <a:avLst/>
          </a:prstGeom>
          <a:noFill/>
        </p:spPr>
        <p:txBody>
          <a:bodyPr wrap="square" lIns="0" rIns="0" tIns="0" bIns="0">
            <a:spAutoFit/>
          </a:bodyPr>
          <a:lstStyle/>
          <a:p>
            <a:pPr algn="ctr"/>
            <a:r>
              <a:rPr sz="850" i="0">
                <a:solidFill>
                  <a:schemeClr val="tx2"/>
                </a:solidFill>
              </a:rPr>
              <a:t>OTLP</a:t>
            </a:r>
          </a:p>
        </p:txBody>
      </p:sp>
      <p:sp>
        <p:nvSpPr>
          <p:cNvPr id="39" name="Rounded Rectangle 38"/>
          <p:cNvSpPr/>
          <p:nvPr/>
        </p:nvSpPr>
        <p:spPr>
          <a:xfrm>
            <a:off x="5797296" y="3534156"/>
            <a:ext cx="566928" cy="237744"/>
          </a:xfrm>
          <a:prstGeom prst="roundRect">
            <a:avLst>
              <a:gd name="adj" fmla="val 50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a:solidFill>
                  <a:schemeClr val="bg1"/>
                </a:solidFill>
              </a:rPr>
              <a:t>PUSH</a:t>
            </a:r>
          </a:p>
        </p:txBody>
      </p:sp>
      <p:sp>
        <p:nvSpPr>
          <p:cNvPr id="40" name="TextBox 39"/>
          <p:cNvSpPr txBox="1"/>
          <p:nvPr/>
        </p:nvSpPr>
        <p:spPr>
          <a:xfrm>
            <a:off x="5657088" y="3899916"/>
            <a:ext cx="847344" cy="292608"/>
          </a:xfrm>
          <a:prstGeom prst="rect">
            <a:avLst/>
          </a:prstGeom>
          <a:noFill/>
        </p:spPr>
        <p:txBody>
          <a:bodyPr wrap="square" lIns="0" rIns="0" tIns="0" bIns="0">
            <a:spAutoFit/>
          </a:bodyPr>
          <a:lstStyle/>
          <a:p>
            <a:pPr algn="ctr"/>
            <a:r>
              <a:rPr sz="850" i="0">
                <a:solidFill>
                  <a:schemeClr val="tx2"/>
                </a:solidFill>
              </a:rPr>
              <a:t>OTLP</a:t>
            </a:r>
          </a:p>
        </p:txBody>
      </p:sp>
      <p:sp>
        <p:nvSpPr>
          <p:cNvPr id="41" name="Rounded Rectangle 40"/>
          <p:cNvSpPr/>
          <p:nvPr/>
        </p:nvSpPr>
        <p:spPr>
          <a:xfrm>
            <a:off x="8830056" y="3534156"/>
            <a:ext cx="566928" cy="237744"/>
          </a:xfrm>
          <a:prstGeom prst="roundRect">
            <a:avLst>
              <a:gd name="adj" fmla="val 50000"/>
            </a:avLst>
          </a:prstGeom>
          <a:solidFill>
            <a:schemeClr val="accent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a:solidFill>
                  <a:schemeClr val="bg1"/>
                </a:solidFill>
              </a:rPr>
              <a:t>QUERY</a:t>
            </a:r>
          </a:p>
        </p:txBody>
      </p:sp>
      <p:sp>
        <p:nvSpPr>
          <p:cNvPr id="42" name="TextBox 41"/>
          <p:cNvSpPr txBox="1"/>
          <p:nvPr/>
        </p:nvSpPr>
        <p:spPr>
          <a:xfrm>
            <a:off x="8689848" y="3899916"/>
            <a:ext cx="847344" cy="292608"/>
          </a:xfrm>
          <a:prstGeom prst="rect">
            <a:avLst/>
          </a:prstGeom>
          <a:noFill/>
        </p:spPr>
        <p:txBody>
          <a:bodyPr wrap="square" lIns="0" rIns="0" tIns="0" bIns="0">
            <a:spAutoFit/>
          </a:bodyPr>
          <a:lstStyle/>
          <a:p>
            <a:pPr algn="ctr"/>
            <a:r>
              <a:rPr sz="850" i="0">
                <a:solidFill>
                  <a:schemeClr val="tx2"/>
                </a:solidFill>
              </a:rPr>
              <a:t>TraceQL</a:t>
            </a:r>
          </a:p>
        </p:txBody>
      </p:sp>
      <p:sp>
        <p:nvSpPr>
          <p:cNvPr id="43" name="Logs icon"/>
          <p:cNvSpPr/>
          <p:nvPr/>
        </p:nvSpPr>
        <p:spPr>
          <a:xfrm>
            <a:off x="457200" y="4617720"/>
            <a:ext cx="457200" cy="457200"/>
          </a:xfrm>
          <a:prstGeom prst="ellipse">
            <a:avLst/>
          </a:prstGeom>
          <a:solidFill>
            <a:schemeClr val="tx2"/>
          </a:solidFill>
          <a:ln w="6350">
            <a:solidFill>
              <a:schemeClr val="tx2"/>
            </a:solidFill>
            <a:prstDash val="solid"/>
          </a:ln>
        </p:spPr>
        <p:txBody>
          <a:bodyPr/>
          <a:p/>
        </p:txBody>
      </p:sp>
      <p:sp>
        <p:nvSpPr>
          <p:cNvPr id="44" name="Logs label"/>
          <p:cNvSpPr txBox="1"/>
          <p:nvPr/>
        </p:nvSpPr>
        <p:spPr>
          <a:xfrm>
            <a:off x="1051560" y="4572000"/>
            <a:ext cx="2743200" cy="548640"/>
          </a:xfrm>
          <a:prstGeom prst="rect">
            <a:avLst/>
          </a:prstGeom>
          <a:noFill/>
          <a:ln/>
        </p:spPr>
        <p:txBody>
          <a:bodyPr wrap="square" lIns="0" tIns="0" rIns="0" bIns="0" rtlCol="0" anchor="ctr"/>
          <a:lstStyle/>
          <a:p>
            <a:pPr indent="0" marL="0">
              <a:buNone/>
            </a:pPr>
            <a:r>
              <a:rPr lang="en-US" sz="2000" b="1" dirty="0">
                <a:solidFill>
                  <a:schemeClr val="tx1"/>
                </a:solidFill>
              </a:rPr>
              <a:t>Logs</a:t>
            </a:r>
            <a:endParaRPr lang="en-US" sz="2000" dirty="0"/>
          </a:p>
        </p:txBody>
      </p:sp>
      <p:sp>
        <p:nvSpPr>
          <p:cNvPr id="45" name="Logs answer"/>
          <p:cNvSpPr txBox="1"/>
          <p:nvPr/>
        </p:nvSpPr>
        <p:spPr>
          <a:xfrm>
            <a:off x="457200" y="5989320"/>
            <a:ext cx="11247120" cy="320040"/>
          </a:xfrm>
          <a:prstGeom prst="rect">
            <a:avLst/>
          </a:prstGeom>
          <a:noFill/>
          <a:ln/>
        </p:spPr>
        <p:txBody>
          <a:bodyPr wrap="square" lIns="0" tIns="0" rIns="0" bIns="0" rtlCol="0" anchor="ctr"/>
          <a:lstStyle/>
          <a:p>
            <a:pPr indent="0" marL="0">
              <a:buNone/>
            </a:pPr>
            <a:r>
              <a:rPr lang="en-US" sz="1300" i="1" dirty="0">
                <a:solidFill>
                  <a:schemeClr val="tx2"/>
                </a:solidFill>
              </a:rPr>
              <a:t>Answers: why the hop failed: timeout, refused connection or no healthy upstream (Envoy flags UT, UF, UH).</a:t>
            </a:r>
            <a:endParaRPr lang="en-US" sz="1300" dirty="0"/>
          </a:p>
        </p:txBody>
      </p:sp>
      <p:sp>
        <p:nvSpPr>
          <p:cNvPr id="46" name="Logs arrow 1"/>
          <p:cNvSpPr/>
          <p:nvPr/>
        </p:nvSpPr>
        <p:spPr>
          <a:xfrm>
            <a:off x="2679192" y="5527548"/>
            <a:ext cx="737616" cy="0"/>
          </a:xfrm>
          <a:prstGeom prst="line">
            <a:avLst/>
          </a:prstGeom>
          <a:noFill/>
          <a:ln w="15875">
            <a:solidFill>
              <a:schemeClr val="tx2"/>
            </a:solidFill>
            <a:prstDash val="solid"/>
            <a:tailEnd type="triangle"/>
          </a:ln>
        </p:spPr>
        <p:txBody>
          <a:bodyPr/>
          <a:p/>
        </p:txBody>
      </p:sp>
      <p:sp>
        <p:nvSpPr>
          <p:cNvPr id="47" name="Logs arrow 2"/>
          <p:cNvSpPr/>
          <p:nvPr/>
        </p:nvSpPr>
        <p:spPr>
          <a:xfrm>
            <a:off x="5711952" y="5527548"/>
            <a:ext cx="737616" cy="0"/>
          </a:xfrm>
          <a:prstGeom prst="line">
            <a:avLst/>
          </a:prstGeom>
          <a:noFill/>
          <a:ln w="15875">
            <a:solidFill>
              <a:schemeClr val="tx2"/>
            </a:solidFill>
            <a:prstDash val="solid"/>
            <a:tailEnd type="triangle"/>
          </a:ln>
        </p:spPr>
        <p:txBody>
          <a:bodyPr/>
          <a:p/>
        </p:txBody>
      </p:sp>
      <p:sp>
        <p:nvSpPr>
          <p:cNvPr id="48" name="Logs arrow 3"/>
          <p:cNvSpPr/>
          <p:nvPr/>
        </p:nvSpPr>
        <p:spPr>
          <a:xfrm>
            <a:off x="8744712" y="5527548"/>
            <a:ext cx="737616" cy="0"/>
          </a:xfrm>
          <a:prstGeom prst="line">
            <a:avLst/>
          </a:prstGeom>
          <a:noFill/>
          <a:ln w="15875">
            <a:solidFill>
              <a:schemeClr val="tx2"/>
            </a:solidFill>
            <a:prstDash val="solid"/>
            <a:headEnd type="triangle"/>
          </a:ln>
        </p:spPr>
        <p:txBody>
          <a:bodyPr/>
          <a:p/>
        </p:txBody>
      </p:sp>
      <p:sp>
        <p:nvSpPr>
          <p:cNvPr id="49" name="Logs step 1"/>
          <p:cNvSpPr/>
          <p:nvPr/>
        </p:nvSpPr>
        <p:spPr>
          <a:xfrm>
            <a:off x="457200" y="5138928"/>
            <a:ext cx="2148840" cy="777240"/>
          </a:xfrm>
          <a:prstGeom prst="roundRect">
            <a:avLst>
              <a:gd name="adj" fmla="val 8000"/>
            </a:avLst>
          </a:prstGeom>
          <a:solidFill>
            <a:schemeClr val="tx2"/>
          </a:solidFill>
          <a:ln w="9525">
            <a:solidFill>
              <a:schemeClr val="tx2"/>
            </a:solidFill>
            <a:prstDash val="solid"/>
          </a:ln>
        </p:spPr>
        <p:txBody>
          <a:bodyPr/>
          <a:p/>
        </p:txBody>
      </p:sp>
      <p:sp>
        <p:nvSpPr>
          <p:cNvPr id="50" name="Logs step 1 text"/>
          <p:cNvSpPr txBox="1"/>
          <p:nvPr/>
        </p:nvSpPr>
        <p:spPr>
          <a:xfrm>
            <a:off x="457200" y="5138928"/>
            <a:ext cx="2148840" cy="777240"/>
          </a:xfrm>
          <a:prstGeom prst="rect">
            <a:avLst/>
          </a:prstGeom>
          <a:noFill/>
          <a:ln/>
        </p:spPr>
        <p:txBody>
          <a:bodyPr wrap="square" lIns="635" tIns="635" rIns="635" bIns="635" rtlCol="0" anchor="ctr"/>
          <a:lstStyle/>
          <a:p>
            <a:pPr algn="ctr" indent="0" marL="0">
              <a:buNone/>
            </a:pPr>
            <a:r>
              <a:rPr lang="en-US" sz="1400" b="1" dirty="0">
                <a:solidFill>
                  <a:schemeClr val="bg1"/>
                </a:solidFill>
              </a:rPr>
              <a:t>Envoy access log</a:t>
            </a:r>
            <a:endParaRPr lang="en-US" sz="1400" dirty="0"/>
          </a:p>
          <a:p>
            <a:pPr algn="ctr" indent="0" marL="0">
              <a:buNone/>
            </a:pPr>
            <a:r>
              <a:rPr lang="en-US" sz="1100" dirty="0">
                <a:solidFill>
                  <a:schemeClr val="accent6"/>
                </a:solidFill>
              </a:rPr>
              <a:t>Every request, response flags</a:t>
            </a:r>
            <a:endParaRPr lang="en-US" sz="1400" dirty="0"/>
          </a:p>
        </p:txBody>
      </p:sp>
      <p:sp>
        <p:nvSpPr>
          <p:cNvPr id="51" name="Logs step 2"/>
          <p:cNvSpPr/>
          <p:nvPr/>
        </p:nvSpPr>
        <p:spPr>
          <a:xfrm>
            <a:off x="3489960" y="5138928"/>
            <a:ext cx="2148840" cy="777240"/>
          </a:xfrm>
          <a:prstGeom prst="roundRect">
            <a:avLst>
              <a:gd name="adj" fmla="val 8000"/>
            </a:avLst>
          </a:prstGeom>
          <a:solidFill>
            <a:schemeClr val="tx2"/>
          </a:solidFill>
          <a:ln w="9525">
            <a:solidFill>
              <a:schemeClr val="tx2"/>
            </a:solidFill>
            <a:prstDash val="solid"/>
          </a:ln>
        </p:spPr>
        <p:txBody>
          <a:bodyPr/>
          <a:p/>
        </p:txBody>
      </p:sp>
      <p:sp>
        <p:nvSpPr>
          <p:cNvPr id="52" name="Logs step 2 text"/>
          <p:cNvSpPr txBox="1"/>
          <p:nvPr/>
        </p:nvSpPr>
        <p:spPr>
          <a:xfrm>
            <a:off x="3489960" y="5138928"/>
            <a:ext cx="2148840" cy="777240"/>
          </a:xfrm>
          <a:prstGeom prst="rect">
            <a:avLst/>
          </a:prstGeom>
          <a:noFill/>
          <a:ln/>
        </p:spPr>
        <p:txBody>
          <a:bodyPr wrap="square" lIns="635" tIns="635" rIns="635" bIns="635" rtlCol="0" anchor="ctr"/>
          <a:lstStyle/>
          <a:p>
            <a:pPr algn="ctr" indent="0" marL="0">
              <a:buNone/>
            </a:pPr>
            <a:r>
              <a:rPr lang="en-US" sz="1400" b="1" dirty="0">
                <a:solidFill>
                  <a:schemeClr val="bg1"/>
                </a:solidFill>
              </a:rPr>
              <a:t>OTel Collector</a:t>
            </a:r>
            <a:endParaRPr lang="en-US" sz="1400" dirty="0"/>
          </a:p>
          <a:p>
            <a:pPr algn="ctr" indent="0" marL="0">
              <a:buNone/>
            </a:pPr>
            <a:r>
              <a:rPr lang="en-US" sz="1100" dirty="0">
                <a:solidFill>
                  <a:schemeClr val="accent6"/>
                </a:solidFill>
              </a:rPr>
              <a:t>OTLP, journey tagging</a:t>
            </a:r>
            <a:endParaRPr lang="en-US" sz="1400" dirty="0"/>
          </a:p>
        </p:txBody>
      </p:sp>
      <p:sp>
        <p:nvSpPr>
          <p:cNvPr id="53" name="Logs step 3"/>
          <p:cNvSpPr/>
          <p:nvPr/>
        </p:nvSpPr>
        <p:spPr>
          <a:xfrm>
            <a:off x="6522720" y="5138928"/>
            <a:ext cx="2148840" cy="777240"/>
          </a:xfrm>
          <a:prstGeom prst="roundRect">
            <a:avLst>
              <a:gd name="adj" fmla="val 8000"/>
            </a:avLst>
          </a:prstGeom>
          <a:solidFill>
            <a:schemeClr val="tx2"/>
          </a:solidFill>
          <a:ln w="9525">
            <a:solidFill>
              <a:schemeClr val="tx2"/>
            </a:solidFill>
            <a:prstDash val="solid"/>
          </a:ln>
        </p:spPr>
        <p:txBody>
          <a:bodyPr/>
          <a:p/>
        </p:txBody>
      </p:sp>
      <p:sp>
        <p:nvSpPr>
          <p:cNvPr id="54" name="Logs step 3 text"/>
          <p:cNvSpPr txBox="1"/>
          <p:nvPr/>
        </p:nvSpPr>
        <p:spPr>
          <a:xfrm>
            <a:off x="6522720" y="5138928"/>
            <a:ext cx="2148840" cy="777240"/>
          </a:xfrm>
          <a:prstGeom prst="rect">
            <a:avLst/>
          </a:prstGeom>
          <a:noFill/>
          <a:ln/>
        </p:spPr>
        <p:txBody>
          <a:bodyPr wrap="square" lIns="635" tIns="635" rIns="635" bIns="635" rtlCol="0" anchor="ctr"/>
          <a:lstStyle/>
          <a:p>
            <a:pPr algn="ctr" indent="0" marL="0">
              <a:buNone/>
            </a:pPr>
            <a:r>
              <a:rPr lang="en-US" sz="1400" b="1" dirty="0">
                <a:solidFill>
                  <a:schemeClr val="bg1"/>
                </a:solidFill>
              </a:rPr>
              <a:t>Loki</a:t>
            </a:r>
            <a:endParaRPr lang="en-US" sz="1400" dirty="0"/>
          </a:p>
          <a:p>
            <a:pPr algn="ctr" indent="0" marL="0">
              <a:buNone/>
            </a:pPr>
            <a:r>
              <a:rPr lang="en-US" sz="1100" dirty="0">
                <a:solidFill>
                  <a:schemeClr val="accent6"/>
                </a:solidFill>
              </a:rPr>
              <a:t>Log storage</a:t>
            </a:r>
            <a:endParaRPr lang="en-US" sz="1400" dirty="0"/>
          </a:p>
        </p:txBody>
      </p:sp>
      <p:sp>
        <p:nvSpPr>
          <p:cNvPr id="55" name="Logs step 4"/>
          <p:cNvSpPr/>
          <p:nvPr/>
        </p:nvSpPr>
        <p:spPr>
          <a:xfrm>
            <a:off x="9555480" y="5138928"/>
            <a:ext cx="2148840" cy="777240"/>
          </a:xfrm>
          <a:prstGeom prst="roundRect">
            <a:avLst>
              <a:gd name="adj" fmla="val 8000"/>
            </a:avLst>
          </a:prstGeom>
          <a:solidFill>
            <a:schemeClr val="accent6"/>
          </a:solidFill>
          <a:ln w="12700">
            <a:solidFill>
              <a:schemeClr val="tx2"/>
            </a:solidFill>
            <a:prstDash val="solid"/>
          </a:ln>
        </p:spPr>
        <p:txBody>
          <a:bodyPr/>
          <a:p/>
        </p:txBody>
      </p:sp>
      <p:sp>
        <p:nvSpPr>
          <p:cNvPr id="56" name="Logs step 4 text"/>
          <p:cNvSpPr txBox="1"/>
          <p:nvPr/>
        </p:nvSpPr>
        <p:spPr>
          <a:xfrm>
            <a:off x="9555480" y="5138928"/>
            <a:ext cx="2148840" cy="777240"/>
          </a:xfrm>
          <a:prstGeom prst="rect">
            <a:avLst/>
          </a:prstGeom>
          <a:noFill/>
          <a:ln/>
        </p:spPr>
        <p:txBody>
          <a:bodyPr wrap="square" lIns="635" tIns="635" rIns="635" bIns="635" rtlCol="0" anchor="ctr"/>
          <a:lstStyle/>
          <a:p>
            <a:pPr algn="ctr" indent="0" marL="0">
              <a:buNone/>
            </a:pPr>
            <a:r>
              <a:rPr lang="en-US" sz="1400" b="1" dirty="0">
                <a:solidFill>
                  <a:schemeClr val="tx1"/>
                </a:solidFill>
              </a:rPr>
              <a:t>Grafana + dashboard</a:t>
            </a:r>
            <a:endParaRPr lang="en-US" sz="1400" dirty="0"/>
          </a:p>
          <a:p>
            <a:pPr algn="ctr" indent="0" marL="0">
              <a:buNone/>
            </a:pPr>
            <a:r>
              <a:rPr lang="en-US" sz="1100" dirty="0">
                <a:solidFill>
                  <a:schemeClr val="tx2"/>
                </a:solidFill>
              </a:rPr>
              <a:t>Linked to traces by trace ID</a:t>
            </a:r>
            <a:endParaRPr lang="en-US" sz="1400" dirty="0"/>
          </a:p>
        </p:txBody>
      </p:sp>
      <p:sp>
        <p:nvSpPr>
          <p:cNvPr id="57" name="Rounded Rectangle 56"/>
          <p:cNvSpPr/>
          <p:nvPr/>
        </p:nvSpPr>
        <p:spPr>
          <a:xfrm>
            <a:off x="2764536" y="5225796"/>
            <a:ext cx="566928" cy="237744"/>
          </a:xfrm>
          <a:prstGeom prst="roundRect">
            <a:avLst>
              <a:gd name="adj" fmla="val 50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a:solidFill>
                  <a:schemeClr val="bg1"/>
                </a:solidFill>
              </a:rPr>
              <a:t>PUSH</a:t>
            </a:r>
          </a:p>
        </p:txBody>
      </p:sp>
      <p:sp>
        <p:nvSpPr>
          <p:cNvPr id="58" name="TextBox 57"/>
          <p:cNvSpPr txBox="1"/>
          <p:nvPr/>
        </p:nvSpPr>
        <p:spPr>
          <a:xfrm>
            <a:off x="2624328" y="5591556"/>
            <a:ext cx="847344" cy="292608"/>
          </a:xfrm>
          <a:prstGeom prst="rect">
            <a:avLst/>
          </a:prstGeom>
          <a:noFill/>
        </p:spPr>
        <p:txBody>
          <a:bodyPr wrap="square" lIns="0" rIns="0" tIns="0" bIns="0">
            <a:spAutoFit/>
          </a:bodyPr>
          <a:lstStyle/>
          <a:p>
            <a:pPr algn="ctr"/>
            <a:r>
              <a:rPr sz="850" i="0">
                <a:solidFill>
                  <a:schemeClr val="tx2"/>
                </a:solidFill>
              </a:rPr>
              <a:t>OTLP (access log)</a:t>
            </a:r>
          </a:p>
        </p:txBody>
      </p:sp>
      <p:sp>
        <p:nvSpPr>
          <p:cNvPr id="59" name="Rounded Rectangle 58"/>
          <p:cNvSpPr/>
          <p:nvPr/>
        </p:nvSpPr>
        <p:spPr>
          <a:xfrm>
            <a:off x="5797296" y="5225796"/>
            <a:ext cx="566928" cy="237744"/>
          </a:xfrm>
          <a:prstGeom prst="roundRect">
            <a:avLst>
              <a:gd name="adj" fmla="val 50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a:solidFill>
                  <a:schemeClr val="bg1"/>
                </a:solidFill>
              </a:rPr>
              <a:t>PUSH</a:t>
            </a:r>
          </a:p>
        </p:txBody>
      </p:sp>
      <p:sp>
        <p:nvSpPr>
          <p:cNvPr id="60" name="TextBox 59"/>
          <p:cNvSpPr txBox="1"/>
          <p:nvPr/>
        </p:nvSpPr>
        <p:spPr>
          <a:xfrm>
            <a:off x="5657088" y="5591556"/>
            <a:ext cx="847344" cy="292608"/>
          </a:xfrm>
          <a:prstGeom prst="rect">
            <a:avLst/>
          </a:prstGeom>
          <a:noFill/>
        </p:spPr>
        <p:txBody>
          <a:bodyPr wrap="square" lIns="0" rIns="0" tIns="0" bIns="0">
            <a:spAutoFit/>
          </a:bodyPr>
          <a:lstStyle/>
          <a:p>
            <a:pPr algn="ctr"/>
            <a:r>
              <a:rPr sz="850" i="0">
                <a:solidFill>
                  <a:schemeClr val="tx2"/>
                </a:solidFill>
              </a:rPr>
              <a:t>OTLP over HTTP</a:t>
            </a:r>
          </a:p>
        </p:txBody>
      </p:sp>
      <p:sp>
        <p:nvSpPr>
          <p:cNvPr id="61" name="Rounded Rectangle 60"/>
          <p:cNvSpPr/>
          <p:nvPr/>
        </p:nvSpPr>
        <p:spPr>
          <a:xfrm>
            <a:off x="8830056" y="5225796"/>
            <a:ext cx="566928" cy="237744"/>
          </a:xfrm>
          <a:prstGeom prst="roundRect">
            <a:avLst>
              <a:gd name="adj" fmla="val 50000"/>
            </a:avLst>
          </a:prstGeom>
          <a:solidFill>
            <a:schemeClr val="accent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a:solidFill>
                  <a:schemeClr val="bg1"/>
                </a:solidFill>
              </a:rPr>
              <a:t>QUERY</a:t>
            </a:r>
          </a:p>
        </p:txBody>
      </p:sp>
      <p:sp>
        <p:nvSpPr>
          <p:cNvPr id="62" name="TextBox 61"/>
          <p:cNvSpPr txBox="1"/>
          <p:nvPr/>
        </p:nvSpPr>
        <p:spPr>
          <a:xfrm>
            <a:off x="8689848" y="5591556"/>
            <a:ext cx="847344" cy="292608"/>
          </a:xfrm>
          <a:prstGeom prst="rect">
            <a:avLst/>
          </a:prstGeom>
          <a:noFill/>
        </p:spPr>
        <p:txBody>
          <a:bodyPr wrap="square" lIns="0" rIns="0" tIns="0" bIns="0">
            <a:spAutoFit/>
          </a:bodyPr>
          <a:lstStyle/>
          <a:p>
            <a:pPr algn="ctr"/>
            <a:r>
              <a:rPr sz="850" i="0">
                <a:solidFill>
                  <a:schemeClr val="tx2"/>
                </a:solidFill>
              </a:rPr>
              <a:t>LogQL</a:t>
            </a:r>
          </a:p>
        </p:txBody>
      </p:sp>
      <p:sp>
        <p:nvSpPr>
          <p:cNvPr id="63" name="TextBox 62"/>
          <p:cNvSpPr txBox="1"/>
          <p:nvPr/>
        </p:nvSpPr>
        <p:spPr>
          <a:xfrm>
            <a:off x="2240280" y="1243584"/>
            <a:ext cx="1600200" cy="228600"/>
          </a:xfrm>
          <a:prstGeom prst="rect">
            <a:avLst/>
          </a:prstGeom>
          <a:noFill/>
        </p:spPr>
        <p:txBody>
          <a:bodyPr wrap="square" lIns="0" rIns="0" tIns="0" bIns="0">
            <a:spAutoFit/>
          </a:bodyPr>
          <a:lstStyle/>
          <a:p>
            <a:pPr algn="l"/>
            <a:r>
              <a:rPr sz="1000" i="1">
                <a:solidFill>
                  <a:schemeClr val="tx2"/>
                </a:solidFill>
              </a:rPr>
              <a:t>Arrow = caller to callee</a:t>
            </a:r>
          </a:p>
        </p:txBody>
      </p:sp>
      <p:sp>
        <p:nvSpPr>
          <p:cNvPr id="64" name="Rounded Rectangle 63"/>
          <p:cNvSpPr/>
          <p:nvPr/>
        </p:nvSpPr>
        <p:spPr>
          <a:xfrm>
            <a:off x="3840480" y="1225295"/>
            <a:ext cx="566928" cy="237744"/>
          </a:xfrm>
          <a:prstGeom prst="roundRect">
            <a:avLst>
              <a:gd name="adj" fmla="val 50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a:solidFill>
                  <a:schemeClr val="bg1"/>
                </a:solidFill>
              </a:rPr>
              <a:t>PUSH</a:t>
            </a:r>
          </a:p>
        </p:txBody>
      </p:sp>
      <p:sp>
        <p:nvSpPr>
          <p:cNvPr id="65" name="TextBox 64"/>
          <p:cNvSpPr txBox="1"/>
          <p:nvPr/>
        </p:nvSpPr>
        <p:spPr>
          <a:xfrm>
            <a:off x="4498848" y="1243584"/>
            <a:ext cx="2011680" cy="228600"/>
          </a:xfrm>
          <a:prstGeom prst="rect">
            <a:avLst/>
          </a:prstGeom>
          <a:noFill/>
        </p:spPr>
        <p:txBody>
          <a:bodyPr wrap="square" lIns="0" rIns="0" tIns="0" bIns="0">
            <a:spAutoFit/>
          </a:bodyPr>
          <a:lstStyle/>
          <a:p>
            <a:pPr algn="l"/>
            <a:r>
              <a:rPr sz="1000" i="0">
                <a:solidFill>
                  <a:schemeClr val="tx2"/>
                </a:solidFill>
              </a:rPr>
              <a:t>sender sends the data</a:t>
            </a:r>
          </a:p>
        </p:txBody>
      </p:sp>
      <p:sp>
        <p:nvSpPr>
          <p:cNvPr id="66" name="Rounded Rectangle 65"/>
          <p:cNvSpPr/>
          <p:nvPr/>
        </p:nvSpPr>
        <p:spPr>
          <a:xfrm>
            <a:off x="6537960" y="1225295"/>
            <a:ext cx="566928" cy="237744"/>
          </a:xfrm>
          <a:prstGeom prst="roundRect">
            <a:avLst>
              <a:gd name="adj" fmla="val 50000"/>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a:solidFill>
                  <a:schemeClr val="bg1"/>
                </a:solidFill>
              </a:rPr>
              <a:t>PULL</a:t>
            </a:r>
          </a:p>
        </p:txBody>
      </p:sp>
      <p:sp>
        <p:nvSpPr>
          <p:cNvPr id="67" name="TextBox 66"/>
          <p:cNvSpPr txBox="1"/>
          <p:nvPr/>
        </p:nvSpPr>
        <p:spPr>
          <a:xfrm>
            <a:off x="7196328" y="1243584"/>
            <a:ext cx="2011680" cy="228600"/>
          </a:xfrm>
          <a:prstGeom prst="rect">
            <a:avLst/>
          </a:prstGeom>
          <a:noFill/>
        </p:spPr>
        <p:txBody>
          <a:bodyPr wrap="square" lIns="0" rIns="0" tIns="0" bIns="0">
            <a:spAutoFit/>
          </a:bodyPr>
          <a:lstStyle/>
          <a:p>
            <a:pPr algn="l"/>
            <a:r>
              <a:rPr sz="1000" i="0">
                <a:solidFill>
                  <a:schemeClr val="tx2"/>
                </a:solidFill>
              </a:rPr>
              <a:t>Prometheus calls, data returns</a:t>
            </a:r>
          </a:p>
        </p:txBody>
      </p:sp>
      <p:sp>
        <p:nvSpPr>
          <p:cNvPr id="68" name="Rounded Rectangle 67"/>
          <p:cNvSpPr/>
          <p:nvPr/>
        </p:nvSpPr>
        <p:spPr>
          <a:xfrm>
            <a:off x="9235440" y="1225295"/>
            <a:ext cx="566928" cy="237744"/>
          </a:xfrm>
          <a:prstGeom prst="roundRect">
            <a:avLst>
              <a:gd name="adj" fmla="val 50000"/>
            </a:avLst>
          </a:prstGeom>
          <a:solidFill>
            <a:schemeClr val="accent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a:solidFill>
                  <a:schemeClr val="bg1"/>
                </a:solidFill>
              </a:rPr>
              <a:t>QUERY</a:t>
            </a:r>
          </a:p>
        </p:txBody>
      </p:sp>
      <p:sp>
        <p:nvSpPr>
          <p:cNvPr id="69" name="TextBox 68"/>
          <p:cNvSpPr txBox="1"/>
          <p:nvPr/>
        </p:nvSpPr>
        <p:spPr>
          <a:xfrm>
            <a:off x="9893808" y="1243584"/>
            <a:ext cx="2011680" cy="228600"/>
          </a:xfrm>
          <a:prstGeom prst="rect">
            <a:avLst/>
          </a:prstGeom>
          <a:noFill/>
        </p:spPr>
        <p:txBody>
          <a:bodyPr wrap="square" lIns="0" rIns="0" tIns="0" bIns="0">
            <a:spAutoFit/>
          </a:bodyPr>
          <a:lstStyle/>
          <a:p>
            <a:pPr algn="l"/>
            <a:r>
              <a:rPr sz="1000" i="0">
                <a:solidFill>
                  <a:schemeClr val="tx2"/>
                </a:solidFill>
              </a:rPr>
              <a:t>view calls, results return</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11247120" cy="731520"/>
          </a:xfrm>
          <a:prstGeom prst="rect">
            <a:avLst/>
          </a:prstGeom>
          <a:noFill/>
          <a:ln/>
        </p:spPr>
        <p:txBody>
          <a:bodyPr wrap="square" rtlCol="0" anchor="ctr"/>
          <a:lstStyle/>
          <a:p>
            <a:pPr algn="l" indent="0" marL="0">
              <a:buNone/>
            </a:pPr>
            <a:r>
              <a:rPr lang="en-US" sz="3000" b="1" dirty="0">
                <a:solidFill>
                  <a:schemeClr val="tx1"/>
                </a:solidFill>
              </a:rPr>
              <a:t>What we see for external systems, with no installs</a:t>
            </a:r>
            <a:endParaRPr lang="en-US" sz="30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457200" y="1325880"/>
          <a:ext cx="11247120" cy="914400"/>
        </p:xfrm>
        <a:graphic>
          <a:graphicData uri="http://schemas.openxmlformats.org/drawingml/2006/table">
            <a:tbl>
              <a:tblPr/>
              <a:tblGrid>
                <a:gridCol w="2926080"/>
                <a:gridCol w="2743200"/>
                <a:gridCol w="2194560"/>
                <a:gridCol w="3383280"/>
              </a:tblGrid>
              <a:tr h="685800">
                <a:tc>
                  <a:txBody>
                    <a:bodyPr/>
                    <a:lstStyle/>
                    <a:p>
                      <a:pPr indent="0" marL="0">
                        <a:buNone/>
                      </a:pPr>
                      <a:r>
                        <a:rPr lang="en-US" sz="1400" b="1" dirty="0">
                          <a:solidFill>
                            <a:schemeClr val="bg1"/>
                          </a:solidFill>
                        </a:rPr>
                        <a:t>External call</a:t>
                      </a:r>
                      <a:endParaRPr lang="en-US" sz="1400" dirty="0"/>
                    </a:p>
                  </a:txBody>
                  <a:tcPr marL="91440" marR="91440" marT="91440" marB="91440" anchor="ctr">
                    <a:lnL w="9525" cap="flat" cmpd="sng" algn="ctr">
                      <a:solidFill>
                        <a:srgbClr val="EEF3F6"/>
                      </a:solidFill>
                      <a:prstDash val="solid"/>
                      <a:round/>
                      <a:headEnd type="none" w="med" len="med"/>
                      <a:tailEnd type="none" w="med" len="med"/>
                    </a:lnL>
                    <a:lnR w="9525" cap="flat" cmpd="sng" algn="ctr">
                      <a:solidFill>
                        <a:srgbClr val="EEF3F6"/>
                      </a:solidFill>
                      <a:prstDash val="solid"/>
                      <a:round/>
                      <a:headEnd type="none" w="med" len="med"/>
                      <a:tailEnd type="none" w="med" len="med"/>
                    </a:lnR>
                    <a:lnT w="9525" cap="flat" cmpd="sng" algn="ctr">
                      <a:solidFill>
                        <a:srgbClr val="EEF3F6"/>
                      </a:solidFill>
                      <a:prstDash val="solid"/>
                      <a:round/>
                      <a:headEnd type="none" w="med" len="med"/>
                      <a:tailEnd type="none" w="med" len="med"/>
                    </a:lnT>
                    <a:lnB w="9525" cap="flat" cmpd="sng" algn="ctr">
                      <a:solidFill>
                        <a:srgbClr val="EEF3F6"/>
                      </a:solidFill>
                      <a:prstDash val="solid"/>
                      <a:round/>
                      <a:headEnd type="none" w="med" len="med"/>
                      <a:tailEnd type="none" w="med" len="med"/>
                    </a:lnB>
                    <a:solidFill>
                      <a:schemeClr val="tx1"/>
                    </a:solidFill>
                  </a:tcPr>
                </a:tc>
                <a:tc>
                  <a:txBody>
                    <a:bodyPr/>
                    <a:lstStyle/>
                    <a:p>
                      <a:pPr indent="0" marL="0">
                        <a:buNone/>
                      </a:pPr>
                      <a:r>
                        <a:rPr lang="en-US" sz="1400" b="1" dirty="0">
                          <a:solidFill>
                            <a:schemeClr val="bg1"/>
                          </a:solidFill>
                        </a:rPr>
                        <a:t>Metrics</a:t>
                      </a:r>
                      <a:endParaRPr lang="en-US" sz="1400" dirty="0"/>
                    </a:p>
                  </a:txBody>
                  <a:tcPr marL="91440" marR="91440" marT="91440" marB="91440" anchor="ctr">
                    <a:lnL w="9525" cap="flat" cmpd="sng" algn="ctr">
                      <a:solidFill>
                        <a:srgbClr val="EEF3F6"/>
                      </a:solidFill>
                      <a:prstDash val="solid"/>
                      <a:round/>
                      <a:headEnd type="none" w="med" len="med"/>
                      <a:tailEnd type="none" w="med" len="med"/>
                    </a:lnL>
                    <a:lnR w="9525" cap="flat" cmpd="sng" algn="ctr">
                      <a:solidFill>
                        <a:srgbClr val="EEF3F6"/>
                      </a:solidFill>
                      <a:prstDash val="solid"/>
                      <a:round/>
                      <a:headEnd type="none" w="med" len="med"/>
                      <a:tailEnd type="none" w="med" len="med"/>
                    </a:lnR>
                    <a:lnT w="9525" cap="flat" cmpd="sng" algn="ctr">
                      <a:solidFill>
                        <a:srgbClr val="EEF3F6"/>
                      </a:solidFill>
                      <a:prstDash val="solid"/>
                      <a:round/>
                      <a:headEnd type="none" w="med" len="med"/>
                      <a:tailEnd type="none" w="med" len="med"/>
                    </a:lnT>
                    <a:lnB w="9525" cap="flat" cmpd="sng" algn="ctr">
                      <a:solidFill>
                        <a:srgbClr val="EEF3F6"/>
                      </a:solidFill>
                      <a:prstDash val="solid"/>
                      <a:round/>
                      <a:headEnd type="none" w="med" len="med"/>
                      <a:tailEnd type="none" w="med" len="med"/>
                    </a:lnB>
                    <a:solidFill>
                      <a:schemeClr val="tx1"/>
                    </a:solidFill>
                  </a:tcPr>
                </a:tc>
                <a:tc>
                  <a:txBody>
                    <a:bodyPr/>
                    <a:lstStyle/>
                    <a:p>
                      <a:pPr indent="0" marL="0">
                        <a:buNone/>
                      </a:pPr>
                      <a:r>
                        <a:rPr lang="en-US" sz="1400" b="1" dirty="0">
                          <a:solidFill>
                            <a:schemeClr val="bg1"/>
                          </a:solidFill>
                        </a:rPr>
                        <a:t>Traces</a:t>
                      </a:r>
                      <a:endParaRPr lang="en-US" sz="1400" dirty="0"/>
                    </a:p>
                  </a:txBody>
                  <a:tcPr marL="91440" marR="91440" marT="91440" marB="91440" anchor="ctr">
                    <a:lnL w="9525" cap="flat" cmpd="sng" algn="ctr">
                      <a:solidFill>
                        <a:srgbClr val="EEF3F6"/>
                      </a:solidFill>
                      <a:prstDash val="solid"/>
                      <a:round/>
                      <a:headEnd type="none" w="med" len="med"/>
                      <a:tailEnd type="none" w="med" len="med"/>
                    </a:lnL>
                    <a:lnR w="9525" cap="flat" cmpd="sng" algn="ctr">
                      <a:solidFill>
                        <a:srgbClr val="EEF3F6"/>
                      </a:solidFill>
                      <a:prstDash val="solid"/>
                      <a:round/>
                      <a:headEnd type="none" w="med" len="med"/>
                      <a:tailEnd type="none" w="med" len="med"/>
                    </a:lnR>
                    <a:lnT w="9525" cap="flat" cmpd="sng" algn="ctr">
                      <a:solidFill>
                        <a:srgbClr val="EEF3F6"/>
                      </a:solidFill>
                      <a:prstDash val="solid"/>
                      <a:round/>
                      <a:headEnd type="none" w="med" len="med"/>
                      <a:tailEnd type="none" w="med" len="med"/>
                    </a:lnT>
                    <a:lnB w="9525" cap="flat" cmpd="sng" algn="ctr">
                      <a:solidFill>
                        <a:srgbClr val="EEF3F6"/>
                      </a:solidFill>
                      <a:prstDash val="solid"/>
                      <a:round/>
                      <a:headEnd type="none" w="med" len="med"/>
                      <a:tailEnd type="none" w="med" len="med"/>
                    </a:lnB>
                    <a:solidFill>
                      <a:schemeClr val="tx1"/>
                    </a:solidFill>
                  </a:tcPr>
                </a:tc>
                <a:tc>
                  <a:txBody>
                    <a:bodyPr/>
                    <a:lstStyle/>
                    <a:p>
                      <a:pPr indent="0" marL="0">
                        <a:buNone/>
                      </a:pPr>
                      <a:r>
                        <a:rPr lang="en-US" sz="1400" b="1" dirty="0">
                          <a:solidFill>
                            <a:schemeClr val="bg1"/>
                          </a:solidFill>
                        </a:rPr>
                        <a:t>What to configure</a:t>
                      </a:r>
                      <a:endParaRPr lang="en-US" sz="1400" dirty="0"/>
                    </a:p>
                  </a:txBody>
                  <a:tcPr marL="91440" marR="91440" marT="91440" marB="91440" anchor="ctr">
                    <a:lnL w="9525" cap="flat" cmpd="sng" algn="ctr">
                      <a:solidFill>
                        <a:srgbClr val="EEF3F6"/>
                      </a:solidFill>
                      <a:prstDash val="solid"/>
                      <a:round/>
                      <a:headEnd type="none" w="med" len="med"/>
                      <a:tailEnd type="none" w="med" len="med"/>
                    </a:lnL>
                    <a:lnR w="9525" cap="flat" cmpd="sng" algn="ctr">
                      <a:solidFill>
                        <a:srgbClr val="EEF3F6"/>
                      </a:solidFill>
                      <a:prstDash val="solid"/>
                      <a:round/>
                      <a:headEnd type="none" w="med" len="med"/>
                      <a:tailEnd type="none" w="med" len="med"/>
                    </a:lnR>
                    <a:lnT w="9525" cap="flat" cmpd="sng" algn="ctr">
                      <a:solidFill>
                        <a:srgbClr val="EEF3F6"/>
                      </a:solidFill>
                      <a:prstDash val="solid"/>
                      <a:round/>
                      <a:headEnd type="none" w="med" len="med"/>
                      <a:tailEnd type="none" w="med" len="med"/>
                    </a:lnT>
                    <a:lnB w="9525" cap="flat" cmpd="sng" algn="ctr">
                      <a:solidFill>
                        <a:srgbClr val="EEF3F6"/>
                      </a:solidFill>
                      <a:prstDash val="solid"/>
                      <a:round/>
                      <a:headEnd type="none" w="med" len="med"/>
                      <a:tailEnd type="none" w="med" len="med"/>
                    </a:lnB>
                    <a:solidFill>
                      <a:schemeClr val="tx1"/>
                    </a:solidFill>
                  </a:tcPr>
                </a:tc>
              </a:tr>
              <a:tr h="685800">
                <a:tc>
                  <a:txBody>
                    <a:bodyPr/>
                    <a:lstStyle/>
                    <a:p>
                      <a:pPr indent="0" marL="0">
                        <a:buNone/>
                      </a:pPr>
                      <a:r>
                        <a:rPr lang="en-US" sz="1300" b="1" dirty="0">
                          <a:solidFill>
                            <a:schemeClr val="tx1"/>
                          </a:solidFill>
                        </a:rPr>
                        <a:t>Legacy VM over HTTP</a:t>
                      </a:r>
                      <a:endParaRPr lang="en-US" sz="1300" dirty="0"/>
                    </a:p>
                  </a:txBody>
                  <a:tcPr marL="91440" marR="91440" marT="91440" marB="91440" anchor="ctr">
                    <a:lnL w="9525" cap="flat" cmpd="sng" algn="ctr">
                      <a:solidFill>
                        <a:srgbClr val="EEF3F6"/>
                      </a:solidFill>
                      <a:prstDash val="solid"/>
                      <a:round/>
                      <a:headEnd type="none" w="med" len="med"/>
                      <a:tailEnd type="none" w="med" len="med"/>
                    </a:lnL>
                    <a:lnR w="9525" cap="flat" cmpd="sng" algn="ctr">
                      <a:solidFill>
                        <a:srgbClr val="EEF3F6"/>
                      </a:solidFill>
                      <a:prstDash val="solid"/>
                      <a:round/>
                      <a:headEnd type="none" w="med" len="med"/>
                      <a:tailEnd type="none" w="med" len="med"/>
                    </a:lnR>
                    <a:lnT w="9525" cap="flat" cmpd="sng" algn="ctr">
                      <a:solidFill>
                        <a:srgbClr val="EEF3F6"/>
                      </a:solidFill>
                      <a:prstDash val="solid"/>
                      <a:round/>
                      <a:headEnd type="none" w="med" len="med"/>
                      <a:tailEnd type="none" w="med" len="med"/>
                    </a:lnT>
                    <a:lnB w="9525" cap="flat" cmpd="sng" algn="ctr">
                      <a:solidFill>
                        <a:srgbClr val="EEF3F6"/>
                      </a:solidFill>
                      <a:prstDash val="solid"/>
                      <a:round/>
                      <a:headEnd type="none" w="med" len="med"/>
                      <a:tailEnd type="none" w="med" len="med"/>
                    </a:lnB>
                    <a:solidFill>
                      <a:schemeClr val="bg1"/>
                    </a:solidFill>
                  </a:tcPr>
                </a:tc>
                <a:tc>
                  <a:txBody>
                    <a:bodyPr/>
                    <a:lstStyle/>
                    <a:p>
                      <a:pPr indent="0" marL="0">
                        <a:buNone/>
                      </a:pPr>
                      <a:r>
                        <a:rPr lang="en-US" sz="1300" b="1" dirty="0">
                          <a:solidFill>
                            <a:schemeClr val="accent1"/>
                          </a:solidFill>
                        </a:rPr>
                        <a:t>Full: rate, status codes, latency</a:t>
                      </a:r>
                      <a:endParaRPr lang="en-US" sz="1300" dirty="0"/>
                    </a:p>
                  </a:txBody>
                  <a:tcPr marL="91440" marR="91440" marT="91440" marB="91440" anchor="ctr">
                    <a:lnL w="9525" cap="flat" cmpd="sng" algn="ctr">
                      <a:solidFill>
                        <a:srgbClr val="EEF3F6"/>
                      </a:solidFill>
                      <a:prstDash val="solid"/>
                      <a:round/>
                      <a:headEnd type="none" w="med" len="med"/>
                      <a:tailEnd type="none" w="med" len="med"/>
                    </a:lnL>
                    <a:lnR w="9525" cap="flat" cmpd="sng" algn="ctr">
                      <a:solidFill>
                        <a:srgbClr val="EEF3F6"/>
                      </a:solidFill>
                      <a:prstDash val="solid"/>
                      <a:round/>
                      <a:headEnd type="none" w="med" len="med"/>
                      <a:tailEnd type="none" w="med" len="med"/>
                    </a:lnR>
                    <a:lnT w="9525" cap="flat" cmpd="sng" algn="ctr">
                      <a:solidFill>
                        <a:srgbClr val="EEF3F6"/>
                      </a:solidFill>
                      <a:prstDash val="solid"/>
                      <a:round/>
                      <a:headEnd type="none" w="med" len="med"/>
                      <a:tailEnd type="none" w="med" len="med"/>
                    </a:lnT>
                    <a:lnB w="9525" cap="flat" cmpd="sng" algn="ctr">
                      <a:solidFill>
                        <a:srgbClr val="EEF3F6"/>
                      </a:solidFill>
                      <a:prstDash val="solid"/>
                      <a:round/>
                      <a:headEnd type="none" w="med" len="med"/>
                      <a:tailEnd type="none" w="med" len="med"/>
                    </a:lnB>
                    <a:solidFill>
                      <a:schemeClr val="bg1"/>
                    </a:solidFill>
                  </a:tcPr>
                </a:tc>
                <a:tc>
                  <a:txBody>
                    <a:bodyPr/>
                    <a:lstStyle/>
                    <a:p>
                      <a:pPr indent="0" marL="0">
                        <a:buNone/>
                      </a:pPr>
                      <a:r>
                        <a:rPr lang="en-US" sz="1300" b="1" dirty="0">
                          <a:solidFill>
                            <a:schemeClr val="accent1"/>
                          </a:solidFill>
                        </a:rPr>
                        <a:t>Outbound span per call</a:t>
                      </a:r>
                      <a:endParaRPr lang="en-US" sz="1300" dirty="0"/>
                    </a:p>
                  </a:txBody>
                  <a:tcPr marL="91440" marR="91440" marT="91440" marB="91440" anchor="ctr">
                    <a:lnL w="9525" cap="flat" cmpd="sng" algn="ctr">
                      <a:solidFill>
                        <a:srgbClr val="EEF3F6"/>
                      </a:solidFill>
                      <a:prstDash val="solid"/>
                      <a:round/>
                      <a:headEnd type="none" w="med" len="med"/>
                      <a:tailEnd type="none" w="med" len="med"/>
                    </a:lnL>
                    <a:lnR w="9525" cap="flat" cmpd="sng" algn="ctr">
                      <a:solidFill>
                        <a:srgbClr val="EEF3F6"/>
                      </a:solidFill>
                      <a:prstDash val="solid"/>
                      <a:round/>
                      <a:headEnd type="none" w="med" len="med"/>
                      <a:tailEnd type="none" w="med" len="med"/>
                    </a:lnR>
                    <a:lnT w="9525" cap="flat" cmpd="sng" algn="ctr">
                      <a:solidFill>
                        <a:srgbClr val="EEF3F6"/>
                      </a:solidFill>
                      <a:prstDash val="solid"/>
                      <a:round/>
                      <a:headEnd type="none" w="med" len="med"/>
                      <a:tailEnd type="none" w="med" len="med"/>
                    </a:lnT>
                    <a:lnB w="9525" cap="flat" cmpd="sng" algn="ctr">
                      <a:solidFill>
                        <a:srgbClr val="EEF3F6"/>
                      </a:solidFill>
                      <a:prstDash val="solid"/>
                      <a:round/>
                      <a:headEnd type="none" w="med" len="med"/>
                      <a:tailEnd type="none" w="med" len="med"/>
                    </a:lnB>
                    <a:solidFill>
                      <a:schemeClr val="bg1"/>
                    </a:solidFill>
                  </a:tcPr>
                </a:tc>
                <a:tc>
                  <a:txBody>
                    <a:bodyPr/>
                    <a:lstStyle/>
                    <a:p>
                      <a:pPr indent="0" marL="0">
                        <a:buNone/>
                      </a:pPr>
                      <a:r>
                        <a:rPr lang="en-US" sz="1300" dirty="0">
                          <a:solidFill>
                            <a:schemeClr val="tx2"/>
                          </a:solidFill>
                        </a:rPr>
                        <a:t>ServiceEntry with protocol HTTP</a:t>
                      </a:r>
                      <a:endParaRPr lang="en-US" sz="1300" dirty="0"/>
                    </a:p>
                  </a:txBody>
                  <a:tcPr marL="91440" marR="91440" marT="91440" marB="91440" anchor="ctr">
                    <a:lnL w="9525" cap="flat" cmpd="sng" algn="ctr">
                      <a:solidFill>
                        <a:srgbClr val="EEF3F6"/>
                      </a:solidFill>
                      <a:prstDash val="solid"/>
                      <a:round/>
                      <a:headEnd type="none" w="med" len="med"/>
                      <a:tailEnd type="none" w="med" len="med"/>
                    </a:lnL>
                    <a:lnR w="9525" cap="flat" cmpd="sng" algn="ctr">
                      <a:solidFill>
                        <a:srgbClr val="EEF3F6"/>
                      </a:solidFill>
                      <a:prstDash val="solid"/>
                      <a:round/>
                      <a:headEnd type="none" w="med" len="med"/>
                      <a:tailEnd type="none" w="med" len="med"/>
                    </a:lnR>
                    <a:lnT w="9525" cap="flat" cmpd="sng" algn="ctr">
                      <a:solidFill>
                        <a:srgbClr val="EEF3F6"/>
                      </a:solidFill>
                      <a:prstDash val="solid"/>
                      <a:round/>
                      <a:headEnd type="none" w="med" len="med"/>
                      <a:tailEnd type="none" w="med" len="med"/>
                    </a:lnT>
                    <a:lnB w="9525" cap="flat" cmpd="sng" algn="ctr">
                      <a:solidFill>
                        <a:srgbClr val="EEF3F6"/>
                      </a:solidFill>
                      <a:prstDash val="solid"/>
                      <a:round/>
                      <a:headEnd type="none" w="med" len="med"/>
                      <a:tailEnd type="none" w="med" len="med"/>
                    </a:lnB>
                    <a:solidFill>
                      <a:schemeClr val="bg1"/>
                    </a:solidFill>
                  </a:tcPr>
                </a:tc>
              </a:tr>
              <a:tr h="685800">
                <a:tc>
                  <a:txBody>
                    <a:bodyPr/>
                    <a:lstStyle/>
                    <a:p>
                      <a:pPr indent="0" marL="0">
                        <a:buNone/>
                      </a:pPr>
                      <a:r>
                        <a:rPr lang="en-US" sz="1300" b="1" dirty="0">
                          <a:solidFill>
                            <a:schemeClr val="tx1"/>
                          </a:solidFill>
                        </a:rPr>
                        <a:t>Legacy VM over HTTPS (app does TLS)</a:t>
                      </a:r>
                      <a:endParaRPr lang="en-US" sz="1300" dirty="0"/>
                    </a:p>
                  </a:txBody>
                  <a:tcPr marL="91440" marR="91440" marT="91440" marB="91440" anchor="ctr">
                    <a:lnL w="9525" cap="flat" cmpd="sng" algn="ctr">
                      <a:solidFill>
                        <a:srgbClr val="EEF3F6"/>
                      </a:solidFill>
                      <a:prstDash val="solid"/>
                      <a:round/>
                      <a:headEnd type="none" w="med" len="med"/>
                      <a:tailEnd type="none" w="med" len="med"/>
                    </a:lnL>
                    <a:lnR w="9525" cap="flat" cmpd="sng" algn="ctr">
                      <a:solidFill>
                        <a:srgbClr val="EEF3F6"/>
                      </a:solidFill>
                      <a:prstDash val="solid"/>
                      <a:round/>
                      <a:headEnd type="none" w="med" len="med"/>
                      <a:tailEnd type="none" w="med" len="med"/>
                    </a:lnR>
                    <a:lnT w="9525" cap="flat" cmpd="sng" algn="ctr">
                      <a:solidFill>
                        <a:srgbClr val="EEF3F6"/>
                      </a:solidFill>
                      <a:prstDash val="solid"/>
                      <a:round/>
                      <a:headEnd type="none" w="med" len="med"/>
                      <a:tailEnd type="none" w="med" len="med"/>
                    </a:lnT>
                    <a:lnB w="9525" cap="flat" cmpd="sng" algn="ctr">
                      <a:solidFill>
                        <a:srgbClr val="EEF3F6"/>
                      </a:solidFill>
                      <a:prstDash val="solid"/>
                      <a:round/>
                      <a:headEnd type="none" w="med" len="med"/>
                      <a:tailEnd type="none" w="med" len="med"/>
                    </a:lnB>
                    <a:solidFill>
                      <a:schemeClr val="bg1"/>
                    </a:solidFill>
                  </a:tcPr>
                </a:tc>
                <a:tc>
                  <a:txBody>
                    <a:bodyPr/>
                    <a:lstStyle/>
                    <a:p>
                      <a:pPr indent="0" marL="0">
                        <a:buNone/>
                      </a:pPr>
                      <a:r>
                        <a:rPr lang="en-US" sz="1300" b="1" dirty="0">
                          <a:solidFill>
                            <a:schemeClr val="accent3"/>
                          </a:solidFill>
                        </a:rPr>
                        <a:t>TCP only: bytes, connections</a:t>
                      </a:r>
                      <a:endParaRPr lang="en-US" sz="1300" dirty="0"/>
                    </a:p>
                  </a:txBody>
                  <a:tcPr marL="91440" marR="91440" marT="91440" marB="91440" anchor="ctr">
                    <a:lnL w="9525" cap="flat" cmpd="sng" algn="ctr">
                      <a:solidFill>
                        <a:srgbClr val="EEF3F6"/>
                      </a:solidFill>
                      <a:prstDash val="solid"/>
                      <a:round/>
                      <a:headEnd type="none" w="med" len="med"/>
                      <a:tailEnd type="none" w="med" len="med"/>
                    </a:lnL>
                    <a:lnR w="9525" cap="flat" cmpd="sng" algn="ctr">
                      <a:solidFill>
                        <a:srgbClr val="EEF3F6"/>
                      </a:solidFill>
                      <a:prstDash val="solid"/>
                      <a:round/>
                      <a:headEnd type="none" w="med" len="med"/>
                      <a:tailEnd type="none" w="med" len="med"/>
                    </a:lnR>
                    <a:lnT w="9525" cap="flat" cmpd="sng" algn="ctr">
                      <a:solidFill>
                        <a:srgbClr val="EEF3F6"/>
                      </a:solidFill>
                      <a:prstDash val="solid"/>
                      <a:round/>
                      <a:headEnd type="none" w="med" len="med"/>
                      <a:tailEnd type="none" w="med" len="med"/>
                    </a:lnT>
                    <a:lnB w="9525" cap="flat" cmpd="sng" algn="ctr">
                      <a:solidFill>
                        <a:srgbClr val="EEF3F6"/>
                      </a:solidFill>
                      <a:prstDash val="solid"/>
                      <a:round/>
                      <a:headEnd type="none" w="med" len="med"/>
                      <a:tailEnd type="none" w="med" len="med"/>
                    </a:lnB>
                    <a:solidFill>
                      <a:schemeClr val="bg1"/>
                    </a:solidFill>
                  </a:tcPr>
                </a:tc>
                <a:tc>
                  <a:txBody>
                    <a:bodyPr/>
                    <a:lstStyle/>
                    <a:p>
                      <a:pPr indent="0" marL="0">
                        <a:buNone/>
                      </a:pPr>
                      <a:r>
                        <a:rPr lang="en-US" sz="1300" b="1" dirty="0">
                          <a:solidFill>
                            <a:schemeClr val="accent3"/>
                          </a:solidFill>
                        </a:rPr>
                        <a:t>None</a:t>
                      </a:r>
                      <a:endParaRPr lang="en-US" sz="1300" dirty="0"/>
                    </a:p>
                  </a:txBody>
                  <a:tcPr marL="91440" marR="91440" marT="91440" marB="91440" anchor="ctr">
                    <a:lnL w="9525" cap="flat" cmpd="sng" algn="ctr">
                      <a:solidFill>
                        <a:srgbClr val="EEF3F6"/>
                      </a:solidFill>
                      <a:prstDash val="solid"/>
                      <a:round/>
                      <a:headEnd type="none" w="med" len="med"/>
                      <a:tailEnd type="none" w="med" len="med"/>
                    </a:lnL>
                    <a:lnR w="9525" cap="flat" cmpd="sng" algn="ctr">
                      <a:solidFill>
                        <a:srgbClr val="EEF3F6"/>
                      </a:solidFill>
                      <a:prstDash val="solid"/>
                      <a:round/>
                      <a:headEnd type="none" w="med" len="med"/>
                      <a:tailEnd type="none" w="med" len="med"/>
                    </a:lnR>
                    <a:lnT w="9525" cap="flat" cmpd="sng" algn="ctr">
                      <a:solidFill>
                        <a:srgbClr val="EEF3F6"/>
                      </a:solidFill>
                      <a:prstDash val="solid"/>
                      <a:round/>
                      <a:headEnd type="none" w="med" len="med"/>
                      <a:tailEnd type="none" w="med" len="med"/>
                    </a:lnT>
                    <a:lnB w="9525" cap="flat" cmpd="sng" algn="ctr">
                      <a:solidFill>
                        <a:srgbClr val="EEF3F6"/>
                      </a:solidFill>
                      <a:prstDash val="solid"/>
                      <a:round/>
                      <a:headEnd type="none" w="med" len="med"/>
                      <a:tailEnd type="none" w="med" len="med"/>
                    </a:lnB>
                    <a:solidFill>
                      <a:schemeClr val="bg1"/>
                    </a:solidFill>
                  </a:tcPr>
                </a:tc>
                <a:tc>
                  <a:txBody>
                    <a:bodyPr/>
                    <a:lstStyle/>
                    <a:p>
                      <a:pPr indent="0" marL="0">
                        <a:buNone/>
                      </a:pPr>
                      <a:r>
                        <a:rPr lang="en-US" sz="1300" dirty="0">
                          <a:solidFill>
                            <a:schemeClr val="tx2"/>
                          </a:solidFill>
                        </a:rPr>
                        <a:t>Move TLS to the sidecar (see next row)</a:t>
                      </a:r>
                      <a:endParaRPr lang="en-US" sz="1300" dirty="0"/>
                    </a:p>
                  </a:txBody>
                  <a:tcPr marL="91440" marR="91440" marT="91440" marB="91440" anchor="ctr">
                    <a:lnL w="9525" cap="flat" cmpd="sng" algn="ctr">
                      <a:solidFill>
                        <a:srgbClr val="EEF3F6"/>
                      </a:solidFill>
                      <a:prstDash val="solid"/>
                      <a:round/>
                      <a:headEnd type="none" w="med" len="med"/>
                      <a:tailEnd type="none" w="med" len="med"/>
                    </a:lnL>
                    <a:lnR w="9525" cap="flat" cmpd="sng" algn="ctr">
                      <a:solidFill>
                        <a:srgbClr val="EEF3F6"/>
                      </a:solidFill>
                      <a:prstDash val="solid"/>
                      <a:round/>
                      <a:headEnd type="none" w="med" len="med"/>
                      <a:tailEnd type="none" w="med" len="med"/>
                    </a:lnR>
                    <a:lnT w="9525" cap="flat" cmpd="sng" algn="ctr">
                      <a:solidFill>
                        <a:srgbClr val="EEF3F6"/>
                      </a:solidFill>
                      <a:prstDash val="solid"/>
                      <a:round/>
                      <a:headEnd type="none" w="med" len="med"/>
                      <a:tailEnd type="none" w="med" len="med"/>
                    </a:lnT>
                    <a:lnB w="9525" cap="flat" cmpd="sng" algn="ctr">
                      <a:solidFill>
                        <a:srgbClr val="EEF3F6"/>
                      </a:solidFill>
                      <a:prstDash val="solid"/>
                      <a:round/>
                      <a:headEnd type="none" w="med" len="med"/>
                      <a:tailEnd type="none" w="med" len="med"/>
                    </a:lnB>
                    <a:solidFill>
                      <a:schemeClr val="bg1"/>
                    </a:solidFill>
                  </a:tcPr>
                </a:tc>
              </a:tr>
              <a:tr h="685800">
                <a:tc>
                  <a:txBody>
                    <a:bodyPr/>
                    <a:lstStyle/>
                    <a:p>
                      <a:pPr indent="0" marL="0">
                        <a:buNone/>
                      </a:pPr>
                      <a:r>
                        <a:rPr lang="en-US" sz="1300" b="1" dirty="0">
                          <a:solidFill>
                            <a:schemeClr val="tx1"/>
                          </a:solidFill>
                        </a:rPr>
                        <a:t>Legacy VM over HTTPS (sidecar does TLS)</a:t>
                      </a:r>
                      <a:endParaRPr lang="en-US" sz="1300" dirty="0"/>
                    </a:p>
                  </a:txBody>
                  <a:tcPr marL="91440" marR="91440" marT="91440" marB="91440" anchor="ctr">
                    <a:lnL w="9525" cap="flat" cmpd="sng" algn="ctr">
                      <a:solidFill>
                        <a:srgbClr val="EEF3F6"/>
                      </a:solidFill>
                      <a:prstDash val="solid"/>
                      <a:round/>
                      <a:headEnd type="none" w="med" len="med"/>
                      <a:tailEnd type="none" w="med" len="med"/>
                    </a:lnL>
                    <a:lnR w="9525" cap="flat" cmpd="sng" algn="ctr">
                      <a:solidFill>
                        <a:srgbClr val="EEF3F6"/>
                      </a:solidFill>
                      <a:prstDash val="solid"/>
                      <a:round/>
                      <a:headEnd type="none" w="med" len="med"/>
                      <a:tailEnd type="none" w="med" len="med"/>
                    </a:lnR>
                    <a:lnT w="9525" cap="flat" cmpd="sng" algn="ctr">
                      <a:solidFill>
                        <a:srgbClr val="EEF3F6"/>
                      </a:solidFill>
                      <a:prstDash val="solid"/>
                      <a:round/>
                      <a:headEnd type="none" w="med" len="med"/>
                      <a:tailEnd type="none" w="med" len="med"/>
                    </a:lnT>
                    <a:lnB w="9525" cap="flat" cmpd="sng" algn="ctr">
                      <a:solidFill>
                        <a:srgbClr val="EEF3F6"/>
                      </a:solidFill>
                      <a:prstDash val="solid"/>
                      <a:round/>
                      <a:headEnd type="none" w="med" len="med"/>
                      <a:tailEnd type="none" w="med" len="med"/>
                    </a:lnB>
                    <a:solidFill>
                      <a:schemeClr val="bg1"/>
                    </a:solidFill>
                  </a:tcPr>
                </a:tc>
                <a:tc>
                  <a:txBody>
                    <a:bodyPr/>
                    <a:lstStyle/>
                    <a:p>
                      <a:pPr indent="0" marL="0">
                        <a:buNone/>
                      </a:pPr>
                      <a:r>
                        <a:rPr lang="en-US" sz="1300" b="1" dirty="0">
                          <a:solidFill>
                            <a:schemeClr val="accent1"/>
                          </a:solidFill>
                        </a:rPr>
                        <a:t>Full: rate, status codes, latency</a:t>
                      </a:r>
                      <a:endParaRPr lang="en-US" sz="1300" dirty="0"/>
                    </a:p>
                  </a:txBody>
                  <a:tcPr marL="91440" marR="91440" marT="91440" marB="91440" anchor="ctr">
                    <a:lnL w="9525" cap="flat" cmpd="sng" algn="ctr">
                      <a:solidFill>
                        <a:srgbClr val="EEF3F6"/>
                      </a:solidFill>
                      <a:prstDash val="solid"/>
                      <a:round/>
                      <a:headEnd type="none" w="med" len="med"/>
                      <a:tailEnd type="none" w="med" len="med"/>
                    </a:lnL>
                    <a:lnR w="9525" cap="flat" cmpd="sng" algn="ctr">
                      <a:solidFill>
                        <a:srgbClr val="EEF3F6"/>
                      </a:solidFill>
                      <a:prstDash val="solid"/>
                      <a:round/>
                      <a:headEnd type="none" w="med" len="med"/>
                      <a:tailEnd type="none" w="med" len="med"/>
                    </a:lnR>
                    <a:lnT w="9525" cap="flat" cmpd="sng" algn="ctr">
                      <a:solidFill>
                        <a:srgbClr val="EEF3F6"/>
                      </a:solidFill>
                      <a:prstDash val="solid"/>
                      <a:round/>
                      <a:headEnd type="none" w="med" len="med"/>
                      <a:tailEnd type="none" w="med" len="med"/>
                    </a:lnT>
                    <a:lnB w="9525" cap="flat" cmpd="sng" algn="ctr">
                      <a:solidFill>
                        <a:srgbClr val="EEF3F6"/>
                      </a:solidFill>
                      <a:prstDash val="solid"/>
                      <a:round/>
                      <a:headEnd type="none" w="med" len="med"/>
                      <a:tailEnd type="none" w="med" len="med"/>
                    </a:lnB>
                    <a:solidFill>
                      <a:schemeClr val="bg1"/>
                    </a:solidFill>
                  </a:tcPr>
                </a:tc>
                <a:tc>
                  <a:txBody>
                    <a:bodyPr/>
                    <a:lstStyle/>
                    <a:p>
                      <a:pPr indent="0" marL="0">
                        <a:buNone/>
                      </a:pPr>
                      <a:r>
                        <a:rPr lang="en-US" sz="1300" b="1" dirty="0">
                          <a:solidFill>
                            <a:schemeClr val="accent1"/>
                          </a:solidFill>
                        </a:rPr>
                        <a:t>Outbound span per call</a:t>
                      </a:r>
                      <a:endParaRPr lang="en-US" sz="1300" dirty="0"/>
                    </a:p>
                  </a:txBody>
                  <a:tcPr marL="91440" marR="91440" marT="91440" marB="91440" anchor="ctr">
                    <a:lnL w="9525" cap="flat" cmpd="sng" algn="ctr">
                      <a:solidFill>
                        <a:srgbClr val="EEF3F6"/>
                      </a:solidFill>
                      <a:prstDash val="solid"/>
                      <a:round/>
                      <a:headEnd type="none" w="med" len="med"/>
                      <a:tailEnd type="none" w="med" len="med"/>
                    </a:lnL>
                    <a:lnR w="9525" cap="flat" cmpd="sng" algn="ctr">
                      <a:solidFill>
                        <a:srgbClr val="EEF3F6"/>
                      </a:solidFill>
                      <a:prstDash val="solid"/>
                      <a:round/>
                      <a:headEnd type="none" w="med" len="med"/>
                      <a:tailEnd type="none" w="med" len="med"/>
                    </a:lnR>
                    <a:lnT w="9525" cap="flat" cmpd="sng" algn="ctr">
                      <a:solidFill>
                        <a:srgbClr val="EEF3F6"/>
                      </a:solidFill>
                      <a:prstDash val="solid"/>
                      <a:round/>
                      <a:headEnd type="none" w="med" len="med"/>
                      <a:tailEnd type="none" w="med" len="med"/>
                    </a:lnT>
                    <a:lnB w="9525" cap="flat" cmpd="sng" algn="ctr">
                      <a:solidFill>
                        <a:srgbClr val="EEF3F6"/>
                      </a:solidFill>
                      <a:prstDash val="solid"/>
                      <a:round/>
                      <a:headEnd type="none" w="med" len="med"/>
                      <a:tailEnd type="none" w="med" len="med"/>
                    </a:lnB>
                    <a:solidFill>
                      <a:schemeClr val="bg1"/>
                    </a:solidFill>
                  </a:tcPr>
                </a:tc>
                <a:tc>
                  <a:txBody>
                    <a:bodyPr/>
                    <a:lstStyle/>
                    <a:p>
                      <a:pPr indent="0" marL="0">
                        <a:buNone/>
                      </a:pPr>
                      <a:r>
                        <a:rPr lang="en-US" sz="1300" dirty="0">
                          <a:solidFill>
                            <a:schemeClr val="tx2"/>
                          </a:solidFill>
                        </a:rPr>
                        <a:t>App calls http://, DestinationRule TLS SIMPLE or MUTUAL</a:t>
                      </a:r>
                      <a:endParaRPr lang="en-US" sz="1300" dirty="0"/>
                    </a:p>
                  </a:txBody>
                  <a:tcPr marL="91440" marR="91440" marT="91440" marB="91440" anchor="ctr">
                    <a:lnL w="9525" cap="flat" cmpd="sng" algn="ctr">
                      <a:solidFill>
                        <a:srgbClr val="EEF3F6"/>
                      </a:solidFill>
                      <a:prstDash val="solid"/>
                      <a:round/>
                      <a:headEnd type="none" w="med" len="med"/>
                      <a:tailEnd type="none" w="med" len="med"/>
                    </a:lnL>
                    <a:lnR w="9525" cap="flat" cmpd="sng" algn="ctr">
                      <a:solidFill>
                        <a:srgbClr val="EEF3F6"/>
                      </a:solidFill>
                      <a:prstDash val="solid"/>
                      <a:round/>
                      <a:headEnd type="none" w="med" len="med"/>
                      <a:tailEnd type="none" w="med" len="med"/>
                    </a:lnR>
                    <a:lnT w="9525" cap="flat" cmpd="sng" algn="ctr">
                      <a:solidFill>
                        <a:srgbClr val="EEF3F6"/>
                      </a:solidFill>
                      <a:prstDash val="solid"/>
                      <a:round/>
                      <a:headEnd type="none" w="med" len="med"/>
                      <a:tailEnd type="none" w="med" len="med"/>
                    </a:lnT>
                    <a:lnB w="9525" cap="flat" cmpd="sng" algn="ctr">
                      <a:solidFill>
                        <a:srgbClr val="EEF3F6"/>
                      </a:solidFill>
                      <a:prstDash val="solid"/>
                      <a:round/>
                      <a:headEnd type="none" w="med" len="med"/>
                      <a:tailEnd type="none" w="med" len="med"/>
                    </a:lnB>
                    <a:solidFill>
                      <a:schemeClr val="bg1"/>
                    </a:solidFill>
                  </a:tcPr>
                </a:tc>
              </a:tr>
              <a:tr h="685800">
                <a:tc>
                  <a:txBody>
                    <a:bodyPr/>
                    <a:lstStyle/>
                    <a:p>
                      <a:pPr indent="0" marL="0">
                        <a:buNone/>
                      </a:pPr>
                      <a:r>
                        <a:rPr lang="en-US" sz="1300" b="1" dirty="0">
                          <a:solidFill>
                            <a:schemeClr val="tx1"/>
                          </a:solidFill>
                        </a:rPr>
                        <a:t>Database (Oracle, PostgreSQL, etc.)</a:t>
                      </a:r>
                      <a:endParaRPr lang="en-US" sz="1300" dirty="0"/>
                    </a:p>
                  </a:txBody>
                  <a:tcPr marL="91440" marR="91440" marT="91440" marB="91440" anchor="ctr">
                    <a:lnL w="9525" cap="flat" cmpd="sng" algn="ctr">
                      <a:solidFill>
                        <a:srgbClr val="EEF3F6"/>
                      </a:solidFill>
                      <a:prstDash val="solid"/>
                      <a:round/>
                      <a:headEnd type="none" w="med" len="med"/>
                      <a:tailEnd type="none" w="med" len="med"/>
                    </a:lnL>
                    <a:lnR w="9525" cap="flat" cmpd="sng" algn="ctr">
                      <a:solidFill>
                        <a:srgbClr val="EEF3F6"/>
                      </a:solidFill>
                      <a:prstDash val="solid"/>
                      <a:round/>
                      <a:headEnd type="none" w="med" len="med"/>
                      <a:tailEnd type="none" w="med" len="med"/>
                    </a:lnR>
                    <a:lnT w="9525" cap="flat" cmpd="sng" algn="ctr">
                      <a:solidFill>
                        <a:srgbClr val="EEF3F6"/>
                      </a:solidFill>
                      <a:prstDash val="solid"/>
                      <a:round/>
                      <a:headEnd type="none" w="med" len="med"/>
                      <a:tailEnd type="none" w="med" len="med"/>
                    </a:lnT>
                    <a:lnB w="9525" cap="flat" cmpd="sng" algn="ctr">
                      <a:solidFill>
                        <a:srgbClr val="EEF3F6"/>
                      </a:solidFill>
                      <a:prstDash val="solid"/>
                      <a:round/>
                      <a:headEnd type="none" w="med" len="med"/>
                      <a:tailEnd type="none" w="med" len="med"/>
                    </a:lnB>
                    <a:solidFill>
                      <a:schemeClr val="bg1"/>
                    </a:solidFill>
                  </a:tcPr>
                </a:tc>
                <a:tc>
                  <a:txBody>
                    <a:bodyPr/>
                    <a:lstStyle/>
                    <a:p>
                      <a:pPr indent="0" marL="0">
                        <a:buNone/>
                      </a:pPr>
                      <a:r>
                        <a:rPr lang="en-US" sz="1300" b="1" dirty="0">
                          <a:solidFill>
                            <a:schemeClr val="accent3"/>
                          </a:solidFill>
                        </a:rPr>
                        <a:t>TCP only: connections, failures</a:t>
                      </a:r>
                      <a:endParaRPr lang="en-US" sz="1300" dirty="0"/>
                    </a:p>
                  </a:txBody>
                  <a:tcPr marL="91440" marR="91440" marT="91440" marB="91440" anchor="ctr">
                    <a:lnL w="9525" cap="flat" cmpd="sng" algn="ctr">
                      <a:solidFill>
                        <a:srgbClr val="EEF3F6"/>
                      </a:solidFill>
                      <a:prstDash val="solid"/>
                      <a:round/>
                      <a:headEnd type="none" w="med" len="med"/>
                      <a:tailEnd type="none" w="med" len="med"/>
                    </a:lnL>
                    <a:lnR w="9525" cap="flat" cmpd="sng" algn="ctr">
                      <a:solidFill>
                        <a:srgbClr val="EEF3F6"/>
                      </a:solidFill>
                      <a:prstDash val="solid"/>
                      <a:round/>
                      <a:headEnd type="none" w="med" len="med"/>
                      <a:tailEnd type="none" w="med" len="med"/>
                    </a:lnR>
                    <a:lnT w="9525" cap="flat" cmpd="sng" algn="ctr">
                      <a:solidFill>
                        <a:srgbClr val="EEF3F6"/>
                      </a:solidFill>
                      <a:prstDash val="solid"/>
                      <a:round/>
                      <a:headEnd type="none" w="med" len="med"/>
                      <a:tailEnd type="none" w="med" len="med"/>
                    </a:lnT>
                    <a:lnB w="9525" cap="flat" cmpd="sng" algn="ctr">
                      <a:solidFill>
                        <a:srgbClr val="EEF3F6"/>
                      </a:solidFill>
                      <a:prstDash val="solid"/>
                      <a:round/>
                      <a:headEnd type="none" w="med" len="med"/>
                      <a:tailEnd type="none" w="med" len="med"/>
                    </a:lnB>
                    <a:solidFill>
                      <a:schemeClr val="bg1"/>
                    </a:solidFill>
                  </a:tcPr>
                </a:tc>
                <a:tc>
                  <a:txBody>
                    <a:bodyPr/>
                    <a:lstStyle/>
                    <a:p>
                      <a:pPr indent="0" marL="0">
                        <a:buNone/>
                      </a:pPr>
                      <a:r>
                        <a:rPr lang="en-US" sz="1300" b="1" dirty="0">
                          <a:solidFill>
                            <a:schemeClr val="accent3"/>
                          </a:solidFill>
                        </a:rPr>
                        <a:t>None from the mesh</a:t>
                      </a:r>
                      <a:endParaRPr lang="en-US" sz="1300" dirty="0"/>
                    </a:p>
                  </a:txBody>
                  <a:tcPr marL="91440" marR="91440" marT="91440" marB="91440" anchor="ctr">
                    <a:lnL w="9525" cap="flat" cmpd="sng" algn="ctr">
                      <a:solidFill>
                        <a:srgbClr val="EEF3F6"/>
                      </a:solidFill>
                      <a:prstDash val="solid"/>
                      <a:round/>
                      <a:headEnd type="none" w="med" len="med"/>
                      <a:tailEnd type="none" w="med" len="med"/>
                    </a:lnL>
                    <a:lnR w="9525" cap="flat" cmpd="sng" algn="ctr">
                      <a:solidFill>
                        <a:srgbClr val="EEF3F6"/>
                      </a:solidFill>
                      <a:prstDash val="solid"/>
                      <a:round/>
                      <a:headEnd type="none" w="med" len="med"/>
                      <a:tailEnd type="none" w="med" len="med"/>
                    </a:lnR>
                    <a:lnT w="9525" cap="flat" cmpd="sng" algn="ctr">
                      <a:solidFill>
                        <a:srgbClr val="EEF3F6"/>
                      </a:solidFill>
                      <a:prstDash val="solid"/>
                      <a:round/>
                      <a:headEnd type="none" w="med" len="med"/>
                      <a:tailEnd type="none" w="med" len="med"/>
                    </a:lnT>
                    <a:lnB w="9525" cap="flat" cmpd="sng" algn="ctr">
                      <a:solidFill>
                        <a:srgbClr val="EEF3F6"/>
                      </a:solidFill>
                      <a:prstDash val="solid"/>
                      <a:round/>
                      <a:headEnd type="none" w="med" len="med"/>
                      <a:tailEnd type="none" w="med" len="med"/>
                    </a:lnB>
                    <a:solidFill>
                      <a:schemeClr val="bg1"/>
                    </a:solidFill>
                  </a:tcPr>
                </a:tc>
                <a:tc>
                  <a:txBody>
                    <a:bodyPr/>
                    <a:lstStyle/>
                    <a:p>
                      <a:pPr indent="0" marL="0">
                        <a:buNone/>
                      </a:pPr>
                      <a:r>
                        <a:rPr lang="en-US" sz="1300" dirty="0">
                          <a:solidFill>
                            <a:schemeClr val="tx2"/>
                          </a:solidFill>
                        </a:rPr>
                        <a:t>ServiceEntry with protocol TCP</a:t>
                      </a:r>
                      <a:endParaRPr lang="en-US" sz="1300" dirty="0"/>
                    </a:p>
                  </a:txBody>
                  <a:tcPr marL="91440" marR="91440" marT="91440" marB="91440" anchor="ctr">
                    <a:lnL w="9525" cap="flat" cmpd="sng" algn="ctr">
                      <a:solidFill>
                        <a:srgbClr val="EEF3F6"/>
                      </a:solidFill>
                      <a:prstDash val="solid"/>
                      <a:round/>
                      <a:headEnd type="none" w="med" len="med"/>
                      <a:tailEnd type="none" w="med" len="med"/>
                    </a:lnL>
                    <a:lnR w="9525" cap="flat" cmpd="sng" algn="ctr">
                      <a:solidFill>
                        <a:srgbClr val="EEF3F6"/>
                      </a:solidFill>
                      <a:prstDash val="solid"/>
                      <a:round/>
                      <a:headEnd type="none" w="med" len="med"/>
                      <a:tailEnd type="none" w="med" len="med"/>
                    </a:lnR>
                    <a:lnT w="9525" cap="flat" cmpd="sng" algn="ctr">
                      <a:solidFill>
                        <a:srgbClr val="EEF3F6"/>
                      </a:solidFill>
                      <a:prstDash val="solid"/>
                      <a:round/>
                      <a:headEnd type="none" w="med" len="med"/>
                      <a:tailEnd type="none" w="med" len="med"/>
                    </a:lnT>
                    <a:lnB w="9525" cap="flat" cmpd="sng" algn="ctr">
                      <a:solidFill>
                        <a:srgbClr val="EEF3F6"/>
                      </a:solidFill>
                      <a:prstDash val="solid"/>
                      <a:round/>
                      <a:headEnd type="none" w="med" len="med"/>
                      <a:tailEnd type="none" w="med" len="med"/>
                    </a:lnB>
                    <a:solidFill>
                      <a:schemeClr val="bg1"/>
                    </a:solidFill>
                  </a:tcPr>
                </a:tc>
              </a:tr>
              <a:tr h="685800">
                <a:tc>
                  <a:txBody>
                    <a:bodyPr/>
                    <a:lstStyle/>
                    <a:p>
                      <a:pPr indent="0" marL="0">
                        <a:buNone/>
                      </a:pPr>
                      <a:r>
                        <a:rPr lang="en-US" sz="1300" b="1" dirty="0">
                          <a:solidFill>
                            <a:schemeClr val="tx1"/>
                          </a:solidFill>
                        </a:rPr>
                        <a:t>Database via app instrumentation</a:t>
                      </a:r>
                      <a:endParaRPr lang="en-US" sz="1300" dirty="0"/>
                    </a:p>
                  </a:txBody>
                  <a:tcPr marL="91440" marR="91440" marT="91440" marB="91440" anchor="ctr">
                    <a:lnL w="9525" cap="flat" cmpd="sng" algn="ctr">
                      <a:solidFill>
                        <a:srgbClr val="EEF3F6"/>
                      </a:solidFill>
                      <a:prstDash val="solid"/>
                      <a:round/>
                      <a:headEnd type="none" w="med" len="med"/>
                      <a:tailEnd type="none" w="med" len="med"/>
                    </a:lnL>
                    <a:lnR w="9525" cap="flat" cmpd="sng" algn="ctr">
                      <a:solidFill>
                        <a:srgbClr val="EEF3F6"/>
                      </a:solidFill>
                      <a:prstDash val="solid"/>
                      <a:round/>
                      <a:headEnd type="none" w="med" len="med"/>
                      <a:tailEnd type="none" w="med" len="med"/>
                    </a:lnR>
                    <a:lnT w="9525" cap="flat" cmpd="sng" algn="ctr">
                      <a:solidFill>
                        <a:srgbClr val="EEF3F6"/>
                      </a:solidFill>
                      <a:prstDash val="solid"/>
                      <a:round/>
                      <a:headEnd type="none" w="med" len="med"/>
                      <a:tailEnd type="none" w="med" len="med"/>
                    </a:lnT>
                    <a:lnB w="9525" cap="flat" cmpd="sng" algn="ctr">
                      <a:solidFill>
                        <a:srgbClr val="EEF3F6"/>
                      </a:solidFill>
                      <a:prstDash val="solid"/>
                      <a:round/>
                      <a:headEnd type="none" w="med" len="med"/>
                      <a:tailEnd type="none" w="med" len="med"/>
                    </a:lnB>
                    <a:solidFill>
                      <a:schemeClr val="bg1"/>
                    </a:solidFill>
                  </a:tcPr>
                </a:tc>
                <a:tc>
                  <a:txBody>
                    <a:bodyPr/>
                    <a:lstStyle/>
                    <a:p>
                      <a:pPr indent="0" marL="0">
                        <a:buNone/>
                      </a:pPr>
                      <a:r>
                        <a:rPr lang="en-US" sz="1300" dirty="0">
                          <a:solidFill>
                            <a:schemeClr val="tx2"/>
                          </a:solidFill>
                        </a:rPr>
                        <a:t>Query timing in spans</a:t>
                      </a:r>
                      <a:endParaRPr lang="en-US" sz="1300" dirty="0"/>
                    </a:p>
                  </a:txBody>
                  <a:tcPr marL="91440" marR="91440" marT="91440" marB="91440" anchor="ctr">
                    <a:lnL w="9525" cap="flat" cmpd="sng" algn="ctr">
                      <a:solidFill>
                        <a:srgbClr val="EEF3F6"/>
                      </a:solidFill>
                      <a:prstDash val="solid"/>
                      <a:round/>
                      <a:headEnd type="none" w="med" len="med"/>
                      <a:tailEnd type="none" w="med" len="med"/>
                    </a:lnL>
                    <a:lnR w="9525" cap="flat" cmpd="sng" algn="ctr">
                      <a:solidFill>
                        <a:srgbClr val="EEF3F6"/>
                      </a:solidFill>
                      <a:prstDash val="solid"/>
                      <a:round/>
                      <a:headEnd type="none" w="med" len="med"/>
                      <a:tailEnd type="none" w="med" len="med"/>
                    </a:lnR>
                    <a:lnT w="9525" cap="flat" cmpd="sng" algn="ctr">
                      <a:solidFill>
                        <a:srgbClr val="EEF3F6"/>
                      </a:solidFill>
                      <a:prstDash val="solid"/>
                      <a:round/>
                      <a:headEnd type="none" w="med" len="med"/>
                      <a:tailEnd type="none" w="med" len="med"/>
                    </a:lnT>
                    <a:lnB w="9525" cap="flat" cmpd="sng" algn="ctr">
                      <a:solidFill>
                        <a:srgbClr val="EEF3F6"/>
                      </a:solidFill>
                      <a:prstDash val="solid"/>
                      <a:round/>
                      <a:headEnd type="none" w="med" len="med"/>
                      <a:tailEnd type="none" w="med" len="med"/>
                    </a:lnB>
                    <a:solidFill>
                      <a:schemeClr val="bg1"/>
                    </a:solidFill>
                  </a:tcPr>
                </a:tc>
                <a:tc>
                  <a:txBody>
                    <a:bodyPr/>
                    <a:lstStyle/>
                    <a:p>
                      <a:pPr indent="0" marL="0">
                        <a:buNone/>
                      </a:pPr>
                      <a:r>
                        <a:rPr lang="en-US" sz="1300" b="1" dirty="0">
                          <a:solidFill>
                            <a:schemeClr val="accent1"/>
                          </a:solidFill>
                        </a:rPr>
                        <a:t>JDBC span per query</a:t>
                      </a:r>
                      <a:endParaRPr lang="en-US" sz="1300" dirty="0"/>
                    </a:p>
                  </a:txBody>
                  <a:tcPr marL="91440" marR="91440" marT="91440" marB="91440" anchor="ctr">
                    <a:lnL w="9525" cap="flat" cmpd="sng" algn="ctr">
                      <a:solidFill>
                        <a:srgbClr val="EEF3F6"/>
                      </a:solidFill>
                      <a:prstDash val="solid"/>
                      <a:round/>
                      <a:headEnd type="none" w="med" len="med"/>
                      <a:tailEnd type="none" w="med" len="med"/>
                    </a:lnL>
                    <a:lnR w="9525" cap="flat" cmpd="sng" algn="ctr">
                      <a:solidFill>
                        <a:srgbClr val="EEF3F6"/>
                      </a:solidFill>
                      <a:prstDash val="solid"/>
                      <a:round/>
                      <a:headEnd type="none" w="med" len="med"/>
                      <a:tailEnd type="none" w="med" len="med"/>
                    </a:lnR>
                    <a:lnT w="9525" cap="flat" cmpd="sng" algn="ctr">
                      <a:solidFill>
                        <a:srgbClr val="EEF3F6"/>
                      </a:solidFill>
                      <a:prstDash val="solid"/>
                      <a:round/>
                      <a:headEnd type="none" w="med" len="med"/>
                      <a:tailEnd type="none" w="med" len="med"/>
                    </a:lnT>
                    <a:lnB w="9525" cap="flat" cmpd="sng" algn="ctr">
                      <a:solidFill>
                        <a:srgbClr val="EEF3F6"/>
                      </a:solidFill>
                      <a:prstDash val="solid"/>
                      <a:round/>
                      <a:headEnd type="none" w="med" len="med"/>
                      <a:tailEnd type="none" w="med" len="med"/>
                    </a:lnB>
                    <a:solidFill>
                      <a:schemeClr val="bg1"/>
                    </a:solidFill>
                  </a:tcPr>
                </a:tc>
                <a:tc>
                  <a:txBody>
                    <a:bodyPr/>
                    <a:lstStyle/>
                    <a:p>
                      <a:pPr indent="0" marL="0">
                        <a:buNone/>
                      </a:pPr>
                      <a:r>
                        <a:rPr lang="en-US" sz="1300" dirty="0">
                          <a:solidFill>
                            <a:schemeClr val="tx2"/>
                          </a:solidFill>
                        </a:rPr>
                        <a:t>OTel auto-instrumentation on app pods</a:t>
                      </a:r>
                      <a:endParaRPr lang="en-US" sz="1300" dirty="0"/>
                    </a:p>
                  </a:txBody>
                  <a:tcPr marL="91440" marR="91440" marT="91440" marB="91440" anchor="ctr">
                    <a:lnL w="9525" cap="flat" cmpd="sng" algn="ctr">
                      <a:solidFill>
                        <a:srgbClr val="EEF3F6"/>
                      </a:solidFill>
                      <a:prstDash val="solid"/>
                      <a:round/>
                      <a:headEnd type="none" w="med" len="med"/>
                      <a:tailEnd type="none" w="med" len="med"/>
                    </a:lnL>
                    <a:lnR w="9525" cap="flat" cmpd="sng" algn="ctr">
                      <a:solidFill>
                        <a:srgbClr val="EEF3F6"/>
                      </a:solidFill>
                      <a:prstDash val="solid"/>
                      <a:round/>
                      <a:headEnd type="none" w="med" len="med"/>
                      <a:tailEnd type="none" w="med" len="med"/>
                    </a:lnR>
                    <a:lnT w="9525" cap="flat" cmpd="sng" algn="ctr">
                      <a:solidFill>
                        <a:srgbClr val="EEF3F6"/>
                      </a:solidFill>
                      <a:prstDash val="solid"/>
                      <a:round/>
                      <a:headEnd type="none" w="med" len="med"/>
                      <a:tailEnd type="none" w="med" len="med"/>
                    </a:lnT>
                    <a:lnB w="9525" cap="flat" cmpd="sng" algn="ctr">
                      <a:solidFill>
                        <a:srgbClr val="EEF3F6"/>
                      </a:solidFill>
                      <a:prstDash val="solid"/>
                      <a:round/>
                      <a:headEnd type="none" w="med" len="med"/>
                      <a:tailEnd type="none" w="med" len="med"/>
                    </a:lnB>
                    <a:solidFill>
                      <a:schemeClr val="bg1"/>
                    </a:solidFill>
                  </a:tcPr>
                </a:tc>
              </a:tr>
            </a:tbl>
          </a:graphicData>
        </a:graphic>
      </p:graphicFrame>
      <p:sp>
        <p:nvSpPr>
          <p:cNvPr id="4" name="Text 1"/>
          <p:cNvSpPr txBox="1"/>
          <p:nvPr/>
        </p:nvSpPr>
        <p:spPr>
          <a:xfrm>
            <a:off x="457200" y="5669280"/>
            <a:ext cx="11247120" cy="457200"/>
          </a:xfrm>
          <a:prstGeom prst="rect">
            <a:avLst/>
          </a:prstGeom>
          <a:noFill/>
          <a:ln/>
        </p:spPr>
        <p:txBody>
          <a:bodyPr wrap="square" lIns="0" tIns="0" rIns="0" bIns="0" rtlCol="0" anchor="ctr"/>
          <a:lstStyle/>
          <a:p>
            <a:pPr indent="0" marL="0">
              <a:buNone/>
            </a:pPr>
            <a:r>
              <a:rPr lang="en-US" sz="1300" i="1" dirty="0">
                <a:solidFill>
                  <a:schemeClr val="tx2"/>
                </a:solidFill>
              </a:rPr>
              <a:t>Also enable Envoy access logs: response flags UF, UH and UT separate connection failures from errors returned by the target.</a:t>
            </a:r>
            <a:endParaRPr lang="en-US" sz="13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0"/>
          </p:nvPr>
        </p:nvSpPr>
        <p:spPr/>
        <p:txBody>
          <a:bodyPr/>
          <a:lstStyle/>
          <a:p>
            <a:r>
              <a:t>How the telemetry pipeline works</a:t>
            </a:r>
          </a:p>
        </p:txBody>
      </p:sp>
      <p:sp>
        <p:nvSpPr>
          <p:cNvPr id="3" name="Text Placeholder 2"/>
          <p:cNvSpPr>
            <a:spLocks noGrp="1"/>
          </p:cNvSpPr>
          <p:nvPr>
            <p:ph type="body" idx="101"/>
          </p:nvPr>
        </p:nvSpPr>
        <p:spPr/>
        <p:txBody>
          <a:bodyPr/>
          <a:lstStyle/>
          <a:p>
            <a:r>
              <a:t>Collection, processing, storage and visualization in detail. Every number in this section was measured in the local POC that mirrors this design.</a:t>
            </a:r>
          </a:p>
        </p:txBody>
      </p:sp>
      <p:sp>
        <p:nvSpPr>
          <p:cNvPr id="4" name="Oval 3"/>
          <p:cNvSpPr/>
          <p:nvPr/>
        </p:nvSpPr>
        <p:spPr>
          <a:xfrm>
            <a:off x="731520" y="1417320"/>
            <a:ext cx="411480" cy="411480"/>
          </a:xfrm>
          <a:prstGeom prst="ellipse">
            <a:avLst/>
          </a:prstGeom>
          <a:solidFill>
            <a:schemeClr val="accent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1280160" y="1417320"/>
            <a:ext cx="411480" cy="41148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828800" y="1417320"/>
            <a:ext cx="411480" cy="411480"/>
          </a:xfrm>
          <a:prstGeom prst="ellipse">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0"/>
          </p:nvPr>
        </p:nvSpPr>
        <p:spPr/>
        <p:txBody>
          <a:bodyPr/>
          <a:lstStyle/>
          <a:p>
            <a:r>
              <a:t>Metrics, logs and traces: three views of one request</a:t>
            </a:r>
          </a:p>
        </p:txBody>
      </p:sp>
      <p:sp>
        <p:nvSpPr>
          <p:cNvPr id="3"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sp>
        <p:nvSpPr>
          <p:cNvPr id="4" name="Rounded Rectangle 3"/>
          <p:cNvSpPr/>
          <p:nvPr/>
        </p:nvSpPr>
        <p:spPr>
          <a:xfrm>
            <a:off x="457200" y="1280160"/>
            <a:ext cx="3566160" cy="4617720"/>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85800" y="1481328"/>
            <a:ext cx="384048" cy="384048"/>
          </a:xfrm>
          <a:prstGeom prst="ellipse">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88720" y="1463040"/>
            <a:ext cx="2651760" cy="411480"/>
          </a:xfrm>
          <a:prstGeom prst="rect">
            <a:avLst/>
          </a:prstGeom>
          <a:noFill/>
        </p:spPr>
        <p:txBody>
          <a:bodyPr wrap="square" lIns="0" rIns="0" tIns="0" bIns="0" anchor="ctr">
            <a:spAutoFit/>
          </a:bodyPr>
          <a:lstStyle/>
          <a:p>
            <a:pPr algn="l">
              <a:spcAft>
                <a:spcPts val="400"/>
              </a:spcAft>
            </a:pPr>
            <a:r>
              <a:rPr sz="2000" b="1" i="0">
                <a:solidFill>
                  <a:schemeClr val="tx1"/>
                </a:solidFill>
              </a:rPr>
              <a:t>Metrics</a:t>
            </a:r>
          </a:p>
        </p:txBody>
      </p:sp>
      <p:sp>
        <p:nvSpPr>
          <p:cNvPr id="7" name="TextBox 6"/>
          <p:cNvSpPr txBox="1"/>
          <p:nvPr/>
        </p:nvSpPr>
        <p:spPr>
          <a:xfrm>
            <a:off x="685800" y="1965960"/>
            <a:ext cx="3154680" cy="320040"/>
          </a:xfrm>
          <a:prstGeom prst="rect">
            <a:avLst/>
          </a:prstGeom>
          <a:noFill/>
        </p:spPr>
        <p:txBody>
          <a:bodyPr wrap="square" lIns="0" rIns="0" tIns="0" bIns="0" anchor="t">
            <a:spAutoFit/>
          </a:bodyPr>
          <a:lstStyle/>
          <a:p>
            <a:pPr algn="l">
              <a:spcAft>
                <a:spcPts val="400"/>
              </a:spcAft>
            </a:pPr>
            <a:r>
              <a:rPr sz="1300" b="1" i="0">
                <a:solidFill>
                  <a:schemeClr val="accent2"/>
                </a:solidFill>
              </a:rPr>
              <a:t>Numbers aggregated over time</a:t>
            </a:r>
          </a:p>
        </p:txBody>
      </p:sp>
      <p:sp>
        <p:nvSpPr>
          <p:cNvPr id="8" name="TextBox 7"/>
          <p:cNvSpPr txBox="1"/>
          <p:nvPr/>
        </p:nvSpPr>
        <p:spPr>
          <a:xfrm>
            <a:off x="685800" y="2331720"/>
            <a:ext cx="3154680" cy="1691640"/>
          </a:xfrm>
          <a:prstGeom prst="rect">
            <a:avLst/>
          </a:prstGeom>
          <a:noFill/>
        </p:spPr>
        <p:txBody>
          <a:bodyPr wrap="square" lIns="0" rIns="0" tIns="0" bIns="0" anchor="t">
            <a:spAutoFit/>
          </a:bodyPr>
          <a:lstStyle/>
          <a:p>
            <a:pPr algn="l" marL="164592" indent="-146304">
              <a:spcAft>
                <a:spcPts val="500"/>
              </a:spcAft>
              <a:buChar char="•"/>
            </a:pPr>
            <a:r>
              <a:rPr sz="1200" b="0" i="0">
                <a:solidFill>
                  <a:schemeClr val="tx1"/>
                </a:solidFill>
              </a:rPr>
              <a:t>A counter or histogram with labels, sampled every 15 s.</a:t>
            </a:r>
          </a:p>
          <a:p>
            <a:pPr algn="l" marL="164592" indent="-146304">
              <a:spcAft>
                <a:spcPts val="500"/>
              </a:spcAft>
              <a:buChar char="•"/>
            </a:pPr>
            <a:r>
              <a:rPr sz="1200" b="0" i="0">
                <a:solidFill>
                  <a:schemeClr val="tx1"/>
                </a:solidFill>
              </a:rPr>
              <a:t>Cheap: one series per label combination, not per request.</a:t>
            </a:r>
          </a:p>
          <a:p>
            <a:pPr algn="l" marL="164592" indent="-146304">
              <a:spcAft>
                <a:spcPts val="500"/>
              </a:spcAft>
              <a:buChar char="•"/>
            </a:pPr>
            <a:r>
              <a:rPr sz="1200" b="0" i="0">
                <a:solidFill>
                  <a:schemeClr val="tx1"/>
                </a:solidFill>
              </a:rPr>
              <a:t>Tells you THAT something is wrong, and on which hop.</a:t>
            </a:r>
          </a:p>
        </p:txBody>
      </p:sp>
      <p:sp>
        <p:nvSpPr>
          <p:cNvPr id="9" name="Rounded Rectangle 8"/>
          <p:cNvSpPr/>
          <p:nvPr/>
        </p:nvSpPr>
        <p:spPr>
          <a:xfrm>
            <a:off x="685800" y="4069080"/>
            <a:ext cx="3154680" cy="1051560"/>
          </a:xfrm>
          <a:prstGeom prst="roundRect">
            <a:avLst>
              <a:gd name="adj" fmla="val 8000"/>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5836" bIns="65836"/>
          <a:lstStyle/>
          <a:p>
            <a:pPr algn="l">
              <a:spcAft>
                <a:spcPts val="400"/>
              </a:spcAft>
            </a:pPr>
            <a:r>
              <a:rPr sz="950" b="0" i="0">
                <a:solidFill>
                  <a:schemeClr val="bg1"/>
                </a:solidFill>
                <a:latin typeface="Courier New"/>
              </a:rPr>
              <a:t>istio_requests_total{source="payments",
  dest="core-banking", code="504"} 1234</a:t>
            </a:r>
          </a:p>
        </p:txBody>
      </p:sp>
      <p:sp>
        <p:nvSpPr>
          <p:cNvPr id="10" name="TextBox 9"/>
          <p:cNvSpPr txBox="1"/>
          <p:nvPr/>
        </p:nvSpPr>
        <p:spPr>
          <a:xfrm>
            <a:off x="685800" y="5257800"/>
            <a:ext cx="3154680" cy="365760"/>
          </a:xfrm>
          <a:prstGeom prst="rect">
            <a:avLst/>
          </a:prstGeom>
          <a:noFill/>
        </p:spPr>
        <p:txBody>
          <a:bodyPr wrap="square" lIns="0" rIns="0" tIns="0" bIns="0" anchor="t">
            <a:spAutoFit/>
          </a:bodyPr>
          <a:lstStyle/>
          <a:p>
            <a:pPr algn="l">
              <a:spcAft>
                <a:spcPts val="400"/>
              </a:spcAft>
            </a:pPr>
            <a:r>
              <a:rPr sz="1200" b="1" i="0">
                <a:solidFill>
                  <a:schemeClr val="tx2"/>
                </a:solidFill>
              </a:rPr>
              <a:t>Stored in Prometheus · PromQL</a:t>
            </a:r>
          </a:p>
        </p:txBody>
      </p:sp>
      <p:sp>
        <p:nvSpPr>
          <p:cNvPr id="11" name="Rounded Rectangle 10"/>
          <p:cNvSpPr/>
          <p:nvPr/>
        </p:nvSpPr>
        <p:spPr>
          <a:xfrm>
            <a:off x="4251960" y="1280160"/>
            <a:ext cx="3566160" cy="4617720"/>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4480560" y="1481328"/>
            <a:ext cx="384048" cy="384048"/>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983480" y="1463040"/>
            <a:ext cx="2651760" cy="411480"/>
          </a:xfrm>
          <a:prstGeom prst="rect">
            <a:avLst/>
          </a:prstGeom>
          <a:noFill/>
        </p:spPr>
        <p:txBody>
          <a:bodyPr wrap="square" lIns="0" rIns="0" tIns="0" bIns="0" anchor="ctr">
            <a:spAutoFit/>
          </a:bodyPr>
          <a:lstStyle/>
          <a:p>
            <a:pPr algn="l">
              <a:spcAft>
                <a:spcPts val="400"/>
              </a:spcAft>
            </a:pPr>
            <a:r>
              <a:rPr sz="2000" b="1" i="0">
                <a:solidFill>
                  <a:schemeClr val="tx1"/>
                </a:solidFill>
              </a:rPr>
              <a:t>Traces</a:t>
            </a:r>
          </a:p>
        </p:txBody>
      </p:sp>
      <p:sp>
        <p:nvSpPr>
          <p:cNvPr id="14" name="TextBox 13"/>
          <p:cNvSpPr txBox="1"/>
          <p:nvPr/>
        </p:nvSpPr>
        <p:spPr>
          <a:xfrm>
            <a:off x="4480560" y="1965960"/>
            <a:ext cx="3154680" cy="320040"/>
          </a:xfrm>
          <a:prstGeom prst="rect">
            <a:avLst/>
          </a:prstGeom>
          <a:noFill/>
        </p:spPr>
        <p:txBody>
          <a:bodyPr wrap="square" lIns="0" rIns="0" tIns="0" bIns="0" anchor="t">
            <a:spAutoFit/>
          </a:bodyPr>
          <a:lstStyle/>
          <a:p>
            <a:pPr algn="l">
              <a:spcAft>
                <a:spcPts val="400"/>
              </a:spcAft>
            </a:pPr>
            <a:r>
              <a:rPr sz="1300" b="1" i="0">
                <a:solidFill>
                  <a:schemeClr val="accent1"/>
                </a:solidFill>
              </a:rPr>
              <a:t>One request, end to end</a:t>
            </a:r>
          </a:p>
        </p:txBody>
      </p:sp>
      <p:sp>
        <p:nvSpPr>
          <p:cNvPr id="15" name="TextBox 14"/>
          <p:cNvSpPr txBox="1"/>
          <p:nvPr/>
        </p:nvSpPr>
        <p:spPr>
          <a:xfrm>
            <a:off x="4480560" y="2331720"/>
            <a:ext cx="3154680" cy="1691640"/>
          </a:xfrm>
          <a:prstGeom prst="rect">
            <a:avLst/>
          </a:prstGeom>
          <a:noFill/>
        </p:spPr>
        <p:txBody>
          <a:bodyPr wrap="square" lIns="0" rIns="0" tIns="0" bIns="0" anchor="t">
            <a:spAutoFit/>
          </a:bodyPr>
          <a:lstStyle/>
          <a:p>
            <a:pPr algn="l" marL="164592" indent="-146304">
              <a:spcAft>
                <a:spcPts val="500"/>
              </a:spcAft>
              <a:buChar char="•"/>
            </a:pPr>
            <a:r>
              <a:rPr sz="1200" b="0" i="0">
                <a:solidFill>
                  <a:schemeClr val="tx1"/>
                </a:solidFill>
              </a:rPr>
              <a:t>A tree of spans sharing one trace ID; each span is one operation with start, duration and status.</a:t>
            </a:r>
          </a:p>
          <a:p>
            <a:pPr algn="l" marL="164592" indent="-146304">
              <a:spcAft>
                <a:spcPts val="500"/>
              </a:spcAft>
              <a:buChar char="•"/>
            </a:pPr>
            <a:r>
              <a:rPr sz="1200" b="0" i="0">
                <a:solidFill>
                  <a:schemeClr val="tx1"/>
                </a:solidFill>
              </a:rPr>
              <a:t>Sampled: we keep errors and about 10%.</a:t>
            </a:r>
          </a:p>
          <a:p>
            <a:pPr algn="l" marL="164592" indent="-146304">
              <a:spcAft>
                <a:spcPts val="500"/>
              </a:spcAft>
              <a:buChar char="•"/>
            </a:pPr>
            <a:r>
              <a:rPr sz="1200" b="0" i="0">
                <a:solidFill>
                  <a:schemeClr val="tx1"/>
                </a:solidFill>
              </a:rPr>
              <a:t>Tells you WHERE the time went.</a:t>
            </a:r>
          </a:p>
        </p:txBody>
      </p:sp>
      <p:sp>
        <p:nvSpPr>
          <p:cNvPr id="16" name="Rounded Rectangle 15"/>
          <p:cNvSpPr/>
          <p:nvPr/>
        </p:nvSpPr>
        <p:spPr>
          <a:xfrm>
            <a:off x="4480560" y="4069080"/>
            <a:ext cx="3154680" cy="1051560"/>
          </a:xfrm>
          <a:prstGeom prst="roundRect">
            <a:avLst>
              <a:gd name="adj" fmla="val 8000"/>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5836" bIns="65836"/>
          <a:lstStyle/>
          <a:p>
            <a:pPr algn="l">
              <a:spcAft>
                <a:spcPts val="400"/>
              </a:spcAft>
            </a:pPr>
            <a:r>
              <a:rPr sz="950" b="0" i="0">
                <a:solidFill>
                  <a:schemeClr val="bg1"/>
                </a:solidFill>
                <a:latin typeface="Courier New"/>
              </a:rPr>
              <a:t>gateway  ████████████ 3.0 s
 payments ███████████ 3.0 s
  core banking ██████████ 3.0 s</a:t>
            </a:r>
          </a:p>
        </p:txBody>
      </p:sp>
      <p:sp>
        <p:nvSpPr>
          <p:cNvPr id="17" name="TextBox 16"/>
          <p:cNvSpPr txBox="1"/>
          <p:nvPr/>
        </p:nvSpPr>
        <p:spPr>
          <a:xfrm>
            <a:off x="4480560" y="5257800"/>
            <a:ext cx="3154680" cy="365760"/>
          </a:xfrm>
          <a:prstGeom prst="rect">
            <a:avLst/>
          </a:prstGeom>
          <a:noFill/>
        </p:spPr>
        <p:txBody>
          <a:bodyPr wrap="square" lIns="0" rIns="0" tIns="0" bIns="0" anchor="t">
            <a:spAutoFit/>
          </a:bodyPr>
          <a:lstStyle/>
          <a:p>
            <a:pPr algn="l">
              <a:spcAft>
                <a:spcPts val="400"/>
              </a:spcAft>
            </a:pPr>
            <a:r>
              <a:rPr sz="1200" b="1" i="0">
                <a:solidFill>
                  <a:schemeClr val="tx2"/>
                </a:solidFill>
              </a:rPr>
              <a:t>Stored in Tempo · TraceQL</a:t>
            </a:r>
          </a:p>
        </p:txBody>
      </p:sp>
      <p:sp>
        <p:nvSpPr>
          <p:cNvPr id="18" name="Rounded Rectangle 17"/>
          <p:cNvSpPr/>
          <p:nvPr/>
        </p:nvSpPr>
        <p:spPr>
          <a:xfrm>
            <a:off x="8046720" y="1280160"/>
            <a:ext cx="3566160" cy="4617720"/>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275320" y="1481328"/>
            <a:ext cx="384048" cy="384048"/>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778240" y="1463040"/>
            <a:ext cx="2651760" cy="411480"/>
          </a:xfrm>
          <a:prstGeom prst="rect">
            <a:avLst/>
          </a:prstGeom>
          <a:noFill/>
        </p:spPr>
        <p:txBody>
          <a:bodyPr wrap="square" lIns="0" rIns="0" tIns="0" bIns="0" anchor="ctr">
            <a:spAutoFit/>
          </a:bodyPr>
          <a:lstStyle/>
          <a:p>
            <a:pPr algn="l">
              <a:spcAft>
                <a:spcPts val="400"/>
              </a:spcAft>
            </a:pPr>
            <a:r>
              <a:rPr sz="2000" b="1" i="0">
                <a:solidFill>
                  <a:schemeClr val="tx1"/>
                </a:solidFill>
              </a:rPr>
              <a:t>Logs</a:t>
            </a:r>
          </a:p>
        </p:txBody>
      </p:sp>
      <p:sp>
        <p:nvSpPr>
          <p:cNvPr id="21" name="TextBox 20"/>
          <p:cNvSpPr txBox="1"/>
          <p:nvPr/>
        </p:nvSpPr>
        <p:spPr>
          <a:xfrm>
            <a:off x="8275320" y="1965960"/>
            <a:ext cx="3154680" cy="320040"/>
          </a:xfrm>
          <a:prstGeom prst="rect">
            <a:avLst/>
          </a:prstGeom>
          <a:noFill/>
        </p:spPr>
        <p:txBody>
          <a:bodyPr wrap="square" lIns="0" rIns="0" tIns="0" bIns="0" anchor="t">
            <a:spAutoFit/>
          </a:bodyPr>
          <a:lstStyle/>
          <a:p>
            <a:pPr algn="l">
              <a:spcAft>
                <a:spcPts val="400"/>
              </a:spcAft>
            </a:pPr>
            <a:r>
              <a:rPr sz="1300" b="1" i="0">
                <a:solidFill>
                  <a:schemeClr val="tx2"/>
                </a:solidFill>
              </a:rPr>
              <a:t>One record per event</a:t>
            </a:r>
          </a:p>
        </p:txBody>
      </p:sp>
      <p:sp>
        <p:nvSpPr>
          <p:cNvPr id="22" name="TextBox 21"/>
          <p:cNvSpPr txBox="1"/>
          <p:nvPr/>
        </p:nvSpPr>
        <p:spPr>
          <a:xfrm>
            <a:off x="8275320" y="2331720"/>
            <a:ext cx="3154680" cy="1691640"/>
          </a:xfrm>
          <a:prstGeom prst="rect">
            <a:avLst/>
          </a:prstGeom>
          <a:noFill/>
        </p:spPr>
        <p:txBody>
          <a:bodyPr wrap="square" lIns="0" rIns="0" tIns="0" bIns="0" anchor="t">
            <a:spAutoFit/>
          </a:bodyPr>
          <a:lstStyle/>
          <a:p>
            <a:pPr algn="l" marL="164592" indent="-146304">
              <a:spcAft>
                <a:spcPts val="500"/>
              </a:spcAft>
              <a:buChar char="•"/>
            </a:pPr>
            <a:r>
              <a:rPr sz="1200" b="0" i="0">
                <a:solidFill>
                  <a:schemeClr val="tx1"/>
                </a:solidFill>
              </a:rPr>
              <a:t>Timestamped text plus fields, here one Envoy access log per request.</a:t>
            </a:r>
          </a:p>
          <a:p>
            <a:pPr algn="l" marL="164592" indent="-146304">
              <a:spcAft>
                <a:spcPts val="500"/>
              </a:spcAft>
              <a:buChar char="•"/>
            </a:pPr>
            <a:r>
              <a:rPr sz="1200" b="0" i="0">
                <a:solidFill>
                  <a:schemeClr val="tx1"/>
                </a:solidFill>
              </a:rPr>
              <a:t>Detailed and higher volume.</a:t>
            </a:r>
          </a:p>
          <a:p>
            <a:pPr algn="l" marL="164592" indent="-146304">
              <a:spcAft>
                <a:spcPts val="500"/>
              </a:spcAft>
              <a:buChar char="•"/>
            </a:pPr>
            <a:r>
              <a:rPr sz="1200" b="0" i="0">
                <a:solidFill>
                  <a:schemeClr val="tx1"/>
                </a:solidFill>
              </a:rPr>
              <a:t>Tells you WHY: response flag, upstream, error detail.</a:t>
            </a:r>
          </a:p>
        </p:txBody>
      </p:sp>
      <p:sp>
        <p:nvSpPr>
          <p:cNvPr id="23" name="Rounded Rectangle 22"/>
          <p:cNvSpPr/>
          <p:nvPr/>
        </p:nvSpPr>
        <p:spPr>
          <a:xfrm>
            <a:off x="8275320" y="4069080"/>
            <a:ext cx="3154680" cy="1051560"/>
          </a:xfrm>
          <a:prstGeom prst="roundRect">
            <a:avLst>
              <a:gd name="adj" fmla="val 8000"/>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5836" bIns="65836"/>
          <a:lstStyle/>
          <a:p>
            <a:pPr algn="l">
              <a:spcAft>
                <a:spcPts val="400"/>
              </a:spcAft>
            </a:pPr>
            <a:r>
              <a:rPr sz="950" b="0" i="0">
                <a:solidFill>
                  <a:schemeClr val="bg1"/>
                </a:solidFill>
                <a:latin typeface="Courier New"/>
              </a:rPr>
              <a:t>"POST /ledger" 504 UT
  upstream=core-banking 3001ms
  trace_id=2ba91a03eb16...</a:t>
            </a:r>
          </a:p>
        </p:txBody>
      </p:sp>
      <p:sp>
        <p:nvSpPr>
          <p:cNvPr id="24" name="TextBox 23"/>
          <p:cNvSpPr txBox="1"/>
          <p:nvPr/>
        </p:nvSpPr>
        <p:spPr>
          <a:xfrm>
            <a:off x="8275320" y="5257800"/>
            <a:ext cx="3154680" cy="365760"/>
          </a:xfrm>
          <a:prstGeom prst="rect">
            <a:avLst/>
          </a:prstGeom>
          <a:noFill/>
        </p:spPr>
        <p:txBody>
          <a:bodyPr wrap="square" lIns="0" rIns="0" tIns="0" bIns="0" anchor="t">
            <a:spAutoFit/>
          </a:bodyPr>
          <a:lstStyle/>
          <a:p>
            <a:pPr algn="l">
              <a:spcAft>
                <a:spcPts val="400"/>
              </a:spcAft>
            </a:pPr>
            <a:r>
              <a:rPr sz="1200" b="1" i="0">
                <a:solidFill>
                  <a:schemeClr val="tx2"/>
                </a:solidFill>
              </a:rPr>
              <a:t>Stored in Loki · LogQL</a:t>
            </a:r>
          </a:p>
        </p:txBody>
      </p:sp>
      <p:sp>
        <p:nvSpPr>
          <p:cNvPr id="25" name="TextBox 24"/>
          <p:cNvSpPr txBox="1"/>
          <p:nvPr/>
        </p:nvSpPr>
        <p:spPr>
          <a:xfrm>
            <a:off x="457200" y="6035040"/>
            <a:ext cx="11247120" cy="365760"/>
          </a:xfrm>
          <a:prstGeom prst="rect">
            <a:avLst/>
          </a:prstGeom>
          <a:noFill/>
        </p:spPr>
        <p:txBody>
          <a:bodyPr wrap="square" lIns="0" rIns="0" tIns="0" bIns="0" anchor="t">
            <a:spAutoFit/>
          </a:bodyPr>
          <a:lstStyle/>
          <a:p>
            <a:pPr algn="l">
              <a:spcAft>
                <a:spcPts val="400"/>
              </a:spcAft>
            </a:pPr>
            <a:r>
              <a:rPr sz="1100" b="0" i="1">
                <a:solidFill>
                  <a:schemeClr val="tx2"/>
                </a:solidFill>
              </a:rPr>
              <a:t>Metrics find the red dot, traces show where the time went, logs say why. One trace ID ties a log line to its trace.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0"/>
          </p:nvPr>
        </p:nvSpPr>
        <p:spPr/>
        <p:txBody>
          <a:bodyPr/>
          <a:lstStyle/>
          <a:p>
            <a:r>
              <a:t>OpenTelemetry: one open standard for all three signals</a:t>
            </a:r>
          </a:p>
        </p:txBody>
      </p:sp>
      <p:sp>
        <p:nvSpPr>
          <p:cNvPr id="3"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sp>
        <p:nvSpPr>
          <p:cNvPr id="4" name="TextBox 3"/>
          <p:cNvSpPr txBox="1"/>
          <p:nvPr/>
        </p:nvSpPr>
        <p:spPr>
          <a:xfrm>
            <a:off x="457200" y="1188720"/>
            <a:ext cx="3657600" cy="274320"/>
          </a:xfrm>
          <a:prstGeom prst="rect">
            <a:avLst/>
          </a:prstGeom>
          <a:noFill/>
        </p:spPr>
        <p:txBody>
          <a:bodyPr wrap="square" lIns="0" rIns="0" tIns="0" bIns="0" anchor="t">
            <a:spAutoFit/>
          </a:bodyPr>
          <a:lstStyle/>
          <a:p>
            <a:pPr algn="l">
              <a:spcAft>
                <a:spcPts val="400"/>
              </a:spcAft>
            </a:pPr>
            <a:r>
              <a:rPr sz="1100" b="1" i="0">
                <a:solidFill>
                  <a:schemeClr val="tx2"/>
                </a:solidFill>
              </a:rPr>
              <a:t>WHERE IT CAME FROM</a:t>
            </a:r>
          </a:p>
        </p:txBody>
      </p:sp>
      <p:sp>
        <p:nvSpPr>
          <p:cNvPr id="5" name="Rounded Rectangle 4"/>
          <p:cNvSpPr/>
          <p:nvPr/>
        </p:nvSpPr>
        <p:spPr>
          <a:xfrm>
            <a:off x="457200" y="1554480"/>
            <a:ext cx="868680" cy="384048"/>
          </a:xfrm>
          <a:prstGeom prst="roundRect">
            <a:avLst>
              <a:gd name="adj" fmla="val 8000"/>
            </a:avLst>
          </a:prstGeom>
          <a:solidFill>
            <a:schemeClr val="accent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0972" bIns="10972"/>
          <a:lstStyle/>
          <a:p>
            <a:pPr algn="ctr">
              <a:spcAft>
                <a:spcPts val="400"/>
              </a:spcAft>
            </a:pPr>
            <a:r>
              <a:rPr sz="1100" b="1" i="0">
                <a:solidFill>
                  <a:schemeClr val="bg1"/>
                </a:solidFill>
              </a:rPr>
              <a:t>2016</a:t>
            </a:r>
          </a:p>
        </p:txBody>
      </p:sp>
      <p:sp>
        <p:nvSpPr>
          <p:cNvPr id="6" name="TextBox 5"/>
          <p:cNvSpPr txBox="1"/>
          <p:nvPr/>
        </p:nvSpPr>
        <p:spPr>
          <a:xfrm>
            <a:off x="1463040" y="1508760"/>
            <a:ext cx="2651760" cy="320040"/>
          </a:xfrm>
          <a:prstGeom prst="rect">
            <a:avLst/>
          </a:prstGeom>
          <a:noFill/>
        </p:spPr>
        <p:txBody>
          <a:bodyPr wrap="square" lIns="0" rIns="0" tIns="0" bIns="0" anchor="t">
            <a:spAutoFit/>
          </a:bodyPr>
          <a:lstStyle/>
          <a:p>
            <a:pPr algn="l">
              <a:spcAft>
                <a:spcPts val="400"/>
              </a:spcAft>
            </a:pPr>
            <a:r>
              <a:rPr sz="1350" b="1" i="0">
                <a:solidFill>
                  <a:schemeClr val="tx1"/>
                </a:solidFill>
              </a:rPr>
              <a:t>OpenTracing</a:t>
            </a:r>
          </a:p>
        </p:txBody>
      </p:sp>
      <p:sp>
        <p:nvSpPr>
          <p:cNvPr id="7" name="TextBox 6"/>
          <p:cNvSpPr txBox="1"/>
          <p:nvPr/>
        </p:nvSpPr>
        <p:spPr>
          <a:xfrm>
            <a:off x="1463040" y="1810512"/>
            <a:ext cx="2651760" cy="320040"/>
          </a:xfrm>
          <a:prstGeom prst="rect">
            <a:avLst/>
          </a:prstGeom>
          <a:noFill/>
        </p:spPr>
        <p:txBody>
          <a:bodyPr wrap="square" lIns="0" rIns="0" tIns="0" bIns="0" anchor="t">
            <a:spAutoFit/>
          </a:bodyPr>
          <a:lstStyle/>
          <a:p>
            <a:pPr algn="l">
              <a:spcAft>
                <a:spcPts val="400"/>
              </a:spcAft>
            </a:pPr>
            <a:r>
              <a:rPr sz="1100" b="0" i="0">
                <a:solidFill>
                  <a:schemeClr val="tx2"/>
                </a:solidFill>
              </a:rPr>
              <a:t>Vendor-neutral tracing API</a:t>
            </a:r>
          </a:p>
        </p:txBody>
      </p:sp>
      <p:sp>
        <p:nvSpPr>
          <p:cNvPr id="8" name="Rounded Rectangle 7"/>
          <p:cNvSpPr/>
          <p:nvPr/>
        </p:nvSpPr>
        <p:spPr>
          <a:xfrm>
            <a:off x="457200" y="2578608"/>
            <a:ext cx="868680" cy="384048"/>
          </a:xfrm>
          <a:prstGeom prst="roundRect">
            <a:avLst>
              <a:gd name="adj" fmla="val 8000"/>
            </a:avLst>
          </a:prstGeom>
          <a:solidFill>
            <a:schemeClr val="accent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0972" bIns="10972"/>
          <a:lstStyle/>
          <a:p>
            <a:pPr algn="ctr">
              <a:spcAft>
                <a:spcPts val="400"/>
              </a:spcAft>
            </a:pPr>
            <a:r>
              <a:rPr sz="1100" b="1" i="0">
                <a:solidFill>
                  <a:schemeClr val="bg1"/>
                </a:solidFill>
              </a:rPr>
              <a:t>2018</a:t>
            </a:r>
          </a:p>
        </p:txBody>
      </p:sp>
      <p:sp>
        <p:nvSpPr>
          <p:cNvPr id="9" name="TextBox 8"/>
          <p:cNvSpPr txBox="1"/>
          <p:nvPr/>
        </p:nvSpPr>
        <p:spPr>
          <a:xfrm>
            <a:off x="1463040" y="2532888"/>
            <a:ext cx="2651760" cy="320040"/>
          </a:xfrm>
          <a:prstGeom prst="rect">
            <a:avLst/>
          </a:prstGeom>
          <a:noFill/>
        </p:spPr>
        <p:txBody>
          <a:bodyPr wrap="square" lIns="0" rIns="0" tIns="0" bIns="0" anchor="t">
            <a:spAutoFit/>
          </a:bodyPr>
          <a:lstStyle/>
          <a:p>
            <a:pPr algn="l">
              <a:spcAft>
                <a:spcPts val="400"/>
              </a:spcAft>
            </a:pPr>
            <a:r>
              <a:rPr sz="1350" b="1" i="0">
                <a:solidFill>
                  <a:schemeClr val="tx1"/>
                </a:solidFill>
              </a:rPr>
              <a:t>OpenCensus</a:t>
            </a:r>
          </a:p>
        </p:txBody>
      </p:sp>
      <p:sp>
        <p:nvSpPr>
          <p:cNvPr id="10" name="TextBox 9"/>
          <p:cNvSpPr txBox="1"/>
          <p:nvPr/>
        </p:nvSpPr>
        <p:spPr>
          <a:xfrm>
            <a:off x="1463040" y="2834640"/>
            <a:ext cx="2651760" cy="320040"/>
          </a:xfrm>
          <a:prstGeom prst="rect">
            <a:avLst/>
          </a:prstGeom>
          <a:noFill/>
        </p:spPr>
        <p:txBody>
          <a:bodyPr wrap="square" lIns="0" rIns="0" tIns="0" bIns="0" anchor="t">
            <a:spAutoFit/>
          </a:bodyPr>
          <a:lstStyle/>
          <a:p>
            <a:pPr algn="l">
              <a:spcAft>
                <a:spcPts val="400"/>
              </a:spcAft>
            </a:pPr>
            <a:r>
              <a:rPr sz="1100" b="0" i="0">
                <a:solidFill>
                  <a:schemeClr val="tx2"/>
                </a:solidFill>
              </a:rPr>
              <a:t>Google: metrics + traces</a:t>
            </a:r>
          </a:p>
        </p:txBody>
      </p:sp>
      <p:cxnSp>
        <p:nvCxnSpPr>
          <p:cNvPr id="11" name="Connector 10"/>
          <p:cNvCxnSpPr/>
          <p:nvPr/>
        </p:nvCxnSpPr>
        <p:spPr>
          <a:xfrm>
            <a:off x="891540" y="1938528"/>
            <a:ext cx="0" cy="640080"/>
          </a:xfrm>
          <a:prstGeom prst="line">
            <a:avLst/>
          </a:prstGeom>
          <a:ln w="15875">
            <a:solidFill>
              <a:schemeClr val="accent5"/>
            </a:solidFill>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457200" y="3602736"/>
            <a:ext cx="868680" cy="384048"/>
          </a:xfrm>
          <a:prstGeom prst="roundRect">
            <a:avLst>
              <a:gd name="adj" fmla="val 8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0972" bIns="10972"/>
          <a:lstStyle/>
          <a:p>
            <a:pPr algn="ctr">
              <a:spcAft>
                <a:spcPts val="400"/>
              </a:spcAft>
            </a:pPr>
            <a:r>
              <a:rPr sz="1100" b="1" i="0">
                <a:solidFill>
                  <a:schemeClr val="bg1"/>
                </a:solidFill>
              </a:rPr>
              <a:t>2019</a:t>
            </a:r>
          </a:p>
        </p:txBody>
      </p:sp>
      <p:sp>
        <p:nvSpPr>
          <p:cNvPr id="13" name="TextBox 12"/>
          <p:cNvSpPr txBox="1"/>
          <p:nvPr/>
        </p:nvSpPr>
        <p:spPr>
          <a:xfrm>
            <a:off x="1463040" y="3557016"/>
            <a:ext cx="2651760" cy="320040"/>
          </a:xfrm>
          <a:prstGeom prst="rect">
            <a:avLst/>
          </a:prstGeom>
          <a:noFill/>
        </p:spPr>
        <p:txBody>
          <a:bodyPr wrap="square" lIns="0" rIns="0" tIns="0" bIns="0" anchor="t">
            <a:spAutoFit/>
          </a:bodyPr>
          <a:lstStyle/>
          <a:p>
            <a:pPr algn="l">
              <a:spcAft>
                <a:spcPts val="400"/>
              </a:spcAft>
            </a:pPr>
            <a:r>
              <a:rPr sz="1350" b="1" i="0">
                <a:solidFill>
                  <a:schemeClr val="tx1"/>
                </a:solidFill>
              </a:rPr>
              <a:t>OpenTelemetry</a:t>
            </a:r>
          </a:p>
        </p:txBody>
      </p:sp>
      <p:sp>
        <p:nvSpPr>
          <p:cNvPr id="14" name="TextBox 13"/>
          <p:cNvSpPr txBox="1"/>
          <p:nvPr/>
        </p:nvSpPr>
        <p:spPr>
          <a:xfrm>
            <a:off x="1463040" y="3858768"/>
            <a:ext cx="2651760" cy="320040"/>
          </a:xfrm>
          <a:prstGeom prst="rect">
            <a:avLst/>
          </a:prstGeom>
          <a:noFill/>
        </p:spPr>
        <p:txBody>
          <a:bodyPr wrap="square" lIns="0" rIns="0" tIns="0" bIns="0" anchor="t">
            <a:spAutoFit/>
          </a:bodyPr>
          <a:lstStyle/>
          <a:p>
            <a:pPr algn="l">
              <a:spcAft>
                <a:spcPts val="400"/>
              </a:spcAft>
            </a:pPr>
            <a:r>
              <a:rPr sz="1100" b="0" i="0">
                <a:solidFill>
                  <a:schemeClr val="tx2"/>
                </a:solidFill>
              </a:rPr>
              <a:t>Merger under the CNCF</a:t>
            </a:r>
          </a:p>
        </p:txBody>
      </p:sp>
      <p:cxnSp>
        <p:nvCxnSpPr>
          <p:cNvPr id="15" name="Connector 14"/>
          <p:cNvCxnSpPr/>
          <p:nvPr/>
        </p:nvCxnSpPr>
        <p:spPr>
          <a:xfrm>
            <a:off x="891540" y="2962656"/>
            <a:ext cx="0" cy="640080"/>
          </a:xfrm>
          <a:prstGeom prst="line">
            <a:avLst/>
          </a:prstGeom>
          <a:ln w="15875">
            <a:solidFill>
              <a:schemeClr val="accent5"/>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457200" y="4626864"/>
            <a:ext cx="868680" cy="384048"/>
          </a:xfrm>
          <a:prstGeom prst="roundRect">
            <a:avLst>
              <a:gd name="adj" fmla="val 8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0972" bIns="10972"/>
          <a:lstStyle/>
          <a:p>
            <a:pPr algn="ctr">
              <a:spcAft>
                <a:spcPts val="400"/>
              </a:spcAft>
            </a:pPr>
            <a:r>
              <a:rPr sz="1100" b="1" i="0">
                <a:solidFill>
                  <a:schemeClr val="bg1"/>
                </a:solidFill>
              </a:rPr>
              <a:t>Today</a:t>
            </a:r>
          </a:p>
        </p:txBody>
      </p:sp>
      <p:sp>
        <p:nvSpPr>
          <p:cNvPr id="17" name="TextBox 16"/>
          <p:cNvSpPr txBox="1"/>
          <p:nvPr/>
        </p:nvSpPr>
        <p:spPr>
          <a:xfrm>
            <a:off x="1463040" y="4581144"/>
            <a:ext cx="2651760" cy="320040"/>
          </a:xfrm>
          <a:prstGeom prst="rect">
            <a:avLst/>
          </a:prstGeom>
          <a:noFill/>
        </p:spPr>
        <p:txBody>
          <a:bodyPr wrap="square" lIns="0" rIns="0" tIns="0" bIns="0" anchor="t">
            <a:spAutoFit/>
          </a:bodyPr>
          <a:lstStyle/>
          <a:p>
            <a:pPr algn="l">
              <a:spcAft>
                <a:spcPts val="400"/>
              </a:spcAft>
            </a:pPr>
            <a:r>
              <a:rPr sz="1350" b="1" i="0">
                <a:solidFill>
                  <a:schemeClr val="tx1"/>
                </a:solidFill>
              </a:rPr>
              <a:t>OTel 1.x</a:t>
            </a:r>
          </a:p>
        </p:txBody>
      </p:sp>
      <p:sp>
        <p:nvSpPr>
          <p:cNvPr id="18" name="TextBox 17"/>
          <p:cNvSpPr txBox="1"/>
          <p:nvPr/>
        </p:nvSpPr>
        <p:spPr>
          <a:xfrm>
            <a:off x="1463040" y="4882896"/>
            <a:ext cx="2651760" cy="320040"/>
          </a:xfrm>
          <a:prstGeom prst="rect">
            <a:avLst/>
          </a:prstGeom>
          <a:noFill/>
        </p:spPr>
        <p:txBody>
          <a:bodyPr wrap="square" lIns="0" rIns="0" tIns="0" bIns="0" anchor="t">
            <a:spAutoFit/>
          </a:bodyPr>
          <a:lstStyle/>
          <a:p>
            <a:pPr algn="l">
              <a:spcAft>
                <a:spcPts val="400"/>
              </a:spcAft>
            </a:pPr>
            <a:r>
              <a:rPr sz="1100" b="0" i="0">
                <a:solidFill>
                  <a:schemeClr val="tx2"/>
                </a:solidFill>
              </a:rPr>
              <a:t>Traces, metrics, logs stable</a:t>
            </a:r>
          </a:p>
        </p:txBody>
      </p:sp>
      <p:cxnSp>
        <p:nvCxnSpPr>
          <p:cNvPr id="19" name="Connector 18"/>
          <p:cNvCxnSpPr/>
          <p:nvPr/>
        </p:nvCxnSpPr>
        <p:spPr>
          <a:xfrm>
            <a:off x="891540" y="3986784"/>
            <a:ext cx="0" cy="640080"/>
          </a:xfrm>
          <a:prstGeom prst="line">
            <a:avLst/>
          </a:prstGeom>
          <a:ln w="15875">
            <a:solidFill>
              <a:schemeClr val="accent5"/>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4572000" y="1188720"/>
            <a:ext cx="7132320" cy="274320"/>
          </a:xfrm>
          <a:prstGeom prst="rect">
            <a:avLst/>
          </a:prstGeom>
          <a:noFill/>
        </p:spPr>
        <p:txBody>
          <a:bodyPr wrap="square" lIns="0" rIns="0" tIns="0" bIns="0" anchor="t">
            <a:spAutoFit/>
          </a:bodyPr>
          <a:lstStyle/>
          <a:p>
            <a:pPr algn="l">
              <a:spcAft>
                <a:spcPts val="400"/>
              </a:spcAft>
            </a:pPr>
            <a:r>
              <a:rPr sz="1100" b="1" i="0">
                <a:solidFill>
                  <a:schemeClr val="tx2"/>
                </a:solidFill>
              </a:rPr>
              <a:t>BUILDING BLOCKS AND HOW WE USE THEM</a:t>
            </a:r>
          </a:p>
        </p:txBody>
      </p:sp>
      <p:sp>
        <p:nvSpPr>
          <p:cNvPr id="21" name="Rounded Rectangle 20"/>
          <p:cNvSpPr/>
          <p:nvPr/>
        </p:nvSpPr>
        <p:spPr>
          <a:xfrm>
            <a:off x="4572000" y="1554480"/>
            <a:ext cx="2377440" cy="713232"/>
          </a:xfrm>
          <a:prstGeom prst="roundRect">
            <a:avLst>
              <a:gd name="adj" fmla="val 8000"/>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ctr">
              <a:spcAft>
                <a:spcPts val="400"/>
              </a:spcAft>
            </a:pPr>
            <a:r>
              <a:rPr sz="1250" b="1" i="0">
                <a:solidFill>
                  <a:schemeClr val="bg1"/>
                </a:solidFill>
              </a:rPr>
              <a:t>API + SDK</a:t>
            </a:r>
          </a:p>
        </p:txBody>
      </p:sp>
      <p:sp>
        <p:nvSpPr>
          <p:cNvPr id="22" name="TextBox 21"/>
          <p:cNvSpPr txBox="1"/>
          <p:nvPr/>
        </p:nvSpPr>
        <p:spPr>
          <a:xfrm>
            <a:off x="7132320" y="1536192"/>
            <a:ext cx="4572000" cy="384048"/>
          </a:xfrm>
          <a:prstGeom prst="rect">
            <a:avLst/>
          </a:prstGeom>
          <a:noFill/>
        </p:spPr>
        <p:txBody>
          <a:bodyPr wrap="square" lIns="0" rIns="0" tIns="0" bIns="0" anchor="t">
            <a:spAutoFit/>
          </a:bodyPr>
          <a:lstStyle/>
          <a:p>
            <a:pPr algn="l">
              <a:spcAft>
                <a:spcPts val="400"/>
              </a:spcAft>
            </a:pPr>
            <a:r>
              <a:rPr sz="1150" b="0" i="0">
                <a:solidFill>
                  <a:schemeClr val="tx1"/>
                </a:solidFill>
              </a:rPr>
              <a:t>Create spans, metrics, logs; the SDK samples, batches and exports</a:t>
            </a:r>
          </a:p>
        </p:txBody>
      </p:sp>
      <p:sp>
        <p:nvSpPr>
          <p:cNvPr id="23" name="TextBox 22"/>
          <p:cNvSpPr txBox="1"/>
          <p:nvPr/>
        </p:nvSpPr>
        <p:spPr>
          <a:xfrm>
            <a:off x="7132320" y="1920240"/>
            <a:ext cx="4572000" cy="320040"/>
          </a:xfrm>
          <a:prstGeom prst="rect">
            <a:avLst/>
          </a:prstGeom>
          <a:noFill/>
        </p:spPr>
        <p:txBody>
          <a:bodyPr wrap="square" lIns="0" rIns="0" tIns="0" bIns="0" anchor="t">
            <a:spAutoFit/>
          </a:bodyPr>
          <a:lstStyle/>
          <a:p>
            <a:pPr algn="l">
              <a:spcAft>
                <a:spcPts val="400"/>
              </a:spcAft>
            </a:pPr>
            <a:r>
              <a:rPr sz="1100" b="0" i="1">
                <a:solidFill>
                  <a:schemeClr val="accent1"/>
                </a:solidFill>
              </a:rPr>
              <a:t>In the app process</a:t>
            </a:r>
          </a:p>
        </p:txBody>
      </p:sp>
      <p:sp>
        <p:nvSpPr>
          <p:cNvPr id="24" name="Rounded Rectangle 23"/>
          <p:cNvSpPr/>
          <p:nvPr/>
        </p:nvSpPr>
        <p:spPr>
          <a:xfrm>
            <a:off x="4572000" y="2423160"/>
            <a:ext cx="2377440" cy="713232"/>
          </a:xfrm>
          <a:prstGeom prst="roundRect">
            <a:avLst>
              <a:gd name="adj" fmla="val 8000"/>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ctr">
              <a:spcAft>
                <a:spcPts val="400"/>
              </a:spcAft>
            </a:pPr>
            <a:r>
              <a:rPr sz="1250" b="1" i="0">
                <a:solidFill>
                  <a:schemeClr val="bg1"/>
                </a:solidFill>
              </a:rPr>
              <a:t>Auto-instrumentation agent</a:t>
            </a:r>
          </a:p>
        </p:txBody>
      </p:sp>
      <p:sp>
        <p:nvSpPr>
          <p:cNvPr id="25" name="TextBox 24"/>
          <p:cNvSpPr txBox="1"/>
          <p:nvPr/>
        </p:nvSpPr>
        <p:spPr>
          <a:xfrm>
            <a:off x="7132320" y="2404872"/>
            <a:ext cx="4572000" cy="384048"/>
          </a:xfrm>
          <a:prstGeom prst="rect">
            <a:avLst/>
          </a:prstGeom>
          <a:noFill/>
        </p:spPr>
        <p:txBody>
          <a:bodyPr wrap="square" lIns="0" rIns="0" tIns="0" bIns="0" anchor="t">
            <a:spAutoFit/>
          </a:bodyPr>
          <a:lstStyle/>
          <a:p>
            <a:pPr algn="l">
              <a:spcAft>
                <a:spcPts val="400"/>
              </a:spcAft>
            </a:pPr>
            <a:r>
              <a:rPr sz="1150" b="0" i="0">
                <a:solidFill>
                  <a:schemeClr val="tx1"/>
                </a:solidFill>
              </a:rPr>
              <a:t>Wraps frameworks (Flask, requests, JDBC) with no code change; propagates context</a:t>
            </a:r>
          </a:p>
        </p:txBody>
      </p:sp>
      <p:sp>
        <p:nvSpPr>
          <p:cNvPr id="26" name="TextBox 25"/>
          <p:cNvSpPr txBox="1"/>
          <p:nvPr/>
        </p:nvSpPr>
        <p:spPr>
          <a:xfrm>
            <a:off x="7132320" y="2788920"/>
            <a:ext cx="4572000" cy="320040"/>
          </a:xfrm>
          <a:prstGeom prst="rect">
            <a:avLst/>
          </a:prstGeom>
          <a:noFill/>
        </p:spPr>
        <p:txBody>
          <a:bodyPr wrap="square" lIns="0" rIns="0" tIns="0" bIns="0" anchor="t">
            <a:spAutoFit/>
          </a:bodyPr>
          <a:lstStyle/>
          <a:p>
            <a:pPr algn="l">
              <a:spcAft>
                <a:spcPts val="400"/>
              </a:spcAft>
            </a:pPr>
            <a:r>
              <a:rPr sz="1100" b="0" i="1">
                <a:solidFill>
                  <a:schemeClr val="accent1"/>
                </a:solidFill>
              </a:rPr>
              <a:t>Injected by the Instrumentation CR</a:t>
            </a:r>
          </a:p>
        </p:txBody>
      </p:sp>
      <p:sp>
        <p:nvSpPr>
          <p:cNvPr id="27" name="Rounded Rectangle 26"/>
          <p:cNvSpPr/>
          <p:nvPr/>
        </p:nvSpPr>
        <p:spPr>
          <a:xfrm>
            <a:off x="4572000" y="3291839"/>
            <a:ext cx="2377440" cy="713232"/>
          </a:xfrm>
          <a:prstGeom prst="roundRect">
            <a:avLst>
              <a:gd name="adj" fmla="val 8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ctr">
              <a:spcAft>
                <a:spcPts val="400"/>
              </a:spcAft>
            </a:pPr>
            <a:r>
              <a:rPr sz="1250" b="1" i="0">
                <a:solidFill>
                  <a:schemeClr val="bg1"/>
                </a:solidFill>
              </a:rPr>
              <a:t>OTLP</a:t>
            </a:r>
          </a:p>
        </p:txBody>
      </p:sp>
      <p:sp>
        <p:nvSpPr>
          <p:cNvPr id="28" name="TextBox 27"/>
          <p:cNvSpPr txBox="1"/>
          <p:nvPr/>
        </p:nvSpPr>
        <p:spPr>
          <a:xfrm>
            <a:off x="7132320" y="3273551"/>
            <a:ext cx="4572000" cy="384048"/>
          </a:xfrm>
          <a:prstGeom prst="rect">
            <a:avLst/>
          </a:prstGeom>
          <a:noFill/>
        </p:spPr>
        <p:txBody>
          <a:bodyPr wrap="square" lIns="0" rIns="0" tIns="0" bIns="0" anchor="t">
            <a:spAutoFit/>
          </a:bodyPr>
          <a:lstStyle/>
          <a:p>
            <a:pPr algn="l">
              <a:spcAft>
                <a:spcPts val="400"/>
              </a:spcAft>
            </a:pPr>
            <a:r>
              <a:rPr sz="1150" b="0" i="0">
                <a:solidFill>
                  <a:schemeClr val="tx1"/>
                </a:solidFill>
              </a:rPr>
              <a:t>Wire protocol for all three signals, over gRPC (4317) or HTTP (4318)</a:t>
            </a:r>
          </a:p>
        </p:txBody>
      </p:sp>
      <p:sp>
        <p:nvSpPr>
          <p:cNvPr id="29" name="TextBox 28"/>
          <p:cNvSpPr txBox="1"/>
          <p:nvPr/>
        </p:nvSpPr>
        <p:spPr>
          <a:xfrm>
            <a:off x="7132320" y="3657599"/>
            <a:ext cx="4572000" cy="320040"/>
          </a:xfrm>
          <a:prstGeom prst="rect">
            <a:avLst/>
          </a:prstGeom>
          <a:noFill/>
        </p:spPr>
        <p:txBody>
          <a:bodyPr wrap="square" lIns="0" rIns="0" tIns="0" bIns="0" anchor="t">
            <a:spAutoFit/>
          </a:bodyPr>
          <a:lstStyle/>
          <a:p>
            <a:pPr algn="l">
              <a:spcAft>
                <a:spcPts val="400"/>
              </a:spcAft>
            </a:pPr>
            <a:r>
              <a:rPr sz="1100" b="0" i="1">
                <a:solidFill>
                  <a:schemeClr val="accent1"/>
                </a:solidFill>
              </a:rPr>
              <a:t>Spoken by Envoy, the agent, the Collector, Tempo, Loki</a:t>
            </a:r>
          </a:p>
        </p:txBody>
      </p:sp>
      <p:sp>
        <p:nvSpPr>
          <p:cNvPr id="30" name="Rounded Rectangle 29"/>
          <p:cNvSpPr/>
          <p:nvPr/>
        </p:nvSpPr>
        <p:spPr>
          <a:xfrm>
            <a:off x="4572000" y="4160520"/>
            <a:ext cx="2377440" cy="713232"/>
          </a:xfrm>
          <a:prstGeom prst="roundRect">
            <a:avLst>
              <a:gd name="adj" fmla="val 8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ctr">
              <a:spcAft>
                <a:spcPts val="400"/>
              </a:spcAft>
            </a:pPr>
            <a:r>
              <a:rPr sz="1250" b="1" i="0">
                <a:solidFill>
                  <a:schemeClr val="bg1"/>
                </a:solidFill>
              </a:rPr>
              <a:t>Collector</a:t>
            </a:r>
          </a:p>
        </p:txBody>
      </p:sp>
      <p:sp>
        <p:nvSpPr>
          <p:cNvPr id="31" name="TextBox 30"/>
          <p:cNvSpPr txBox="1"/>
          <p:nvPr/>
        </p:nvSpPr>
        <p:spPr>
          <a:xfrm>
            <a:off x="7132320" y="4142232"/>
            <a:ext cx="4572000" cy="384048"/>
          </a:xfrm>
          <a:prstGeom prst="rect">
            <a:avLst/>
          </a:prstGeom>
          <a:noFill/>
        </p:spPr>
        <p:txBody>
          <a:bodyPr wrap="square" lIns="0" rIns="0" tIns="0" bIns="0" anchor="t">
            <a:spAutoFit/>
          </a:bodyPr>
          <a:lstStyle/>
          <a:p>
            <a:pPr algn="l">
              <a:spcAft>
                <a:spcPts val="400"/>
              </a:spcAft>
            </a:pPr>
            <a:r>
              <a:rPr sz="1150" b="0" i="0">
                <a:solidFill>
                  <a:schemeClr val="tx1"/>
                </a:solidFill>
              </a:rPr>
              <a:t>Receivers, processors, exporters: tags, samples and routes data</a:t>
            </a:r>
          </a:p>
        </p:txBody>
      </p:sp>
      <p:sp>
        <p:nvSpPr>
          <p:cNvPr id="32" name="TextBox 31"/>
          <p:cNvSpPr txBox="1"/>
          <p:nvPr/>
        </p:nvSpPr>
        <p:spPr>
          <a:xfrm>
            <a:off x="7132320" y="4526280"/>
            <a:ext cx="4572000" cy="320040"/>
          </a:xfrm>
          <a:prstGeom prst="rect">
            <a:avLst/>
          </a:prstGeom>
          <a:noFill/>
        </p:spPr>
        <p:txBody>
          <a:bodyPr wrap="square" lIns="0" rIns="0" tIns="0" bIns="0" anchor="t">
            <a:spAutoFit/>
          </a:bodyPr>
          <a:lstStyle/>
          <a:p>
            <a:pPr algn="l">
              <a:spcAft>
                <a:spcPts val="400"/>
              </a:spcAft>
            </a:pPr>
            <a:r>
              <a:rPr sz="1100" b="0" i="1">
                <a:solidFill>
                  <a:schemeClr val="accent1"/>
                </a:solidFill>
              </a:rPr>
              <a:t>Red Hat build of OpenTelemetry Collector</a:t>
            </a:r>
          </a:p>
        </p:txBody>
      </p:sp>
      <p:sp>
        <p:nvSpPr>
          <p:cNvPr id="33" name="Rounded Rectangle 32"/>
          <p:cNvSpPr/>
          <p:nvPr/>
        </p:nvSpPr>
        <p:spPr>
          <a:xfrm>
            <a:off x="4572000" y="5029200"/>
            <a:ext cx="2377440" cy="713232"/>
          </a:xfrm>
          <a:prstGeom prst="roundRect">
            <a:avLst>
              <a:gd name="adj" fmla="val 8000"/>
            </a:avLst>
          </a:prstGeom>
          <a:solidFill>
            <a:schemeClr val="accent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ctr">
              <a:spcAft>
                <a:spcPts val="400"/>
              </a:spcAft>
            </a:pPr>
            <a:r>
              <a:rPr sz="1250" b="1" i="0">
                <a:solidFill>
                  <a:schemeClr val="bg1"/>
                </a:solidFill>
              </a:rPr>
              <a:t>Semantic conventions</a:t>
            </a:r>
          </a:p>
        </p:txBody>
      </p:sp>
      <p:sp>
        <p:nvSpPr>
          <p:cNvPr id="34" name="TextBox 33"/>
          <p:cNvSpPr txBox="1"/>
          <p:nvPr/>
        </p:nvSpPr>
        <p:spPr>
          <a:xfrm>
            <a:off x="7132320" y="5010912"/>
            <a:ext cx="4572000" cy="384048"/>
          </a:xfrm>
          <a:prstGeom prst="rect">
            <a:avLst/>
          </a:prstGeom>
          <a:noFill/>
        </p:spPr>
        <p:txBody>
          <a:bodyPr wrap="square" lIns="0" rIns="0" tIns="0" bIns="0" anchor="t">
            <a:spAutoFit/>
          </a:bodyPr>
          <a:lstStyle/>
          <a:p>
            <a:pPr algn="l">
              <a:spcAft>
                <a:spcPts val="400"/>
              </a:spcAft>
            </a:pPr>
            <a:r>
              <a:rPr sz="1150" b="0" i="0">
                <a:solidFill>
                  <a:schemeClr val="tx1"/>
                </a:solidFill>
              </a:rPr>
              <a:t>Standard attribute names: http.status_code, service.name, db.system</a:t>
            </a:r>
          </a:p>
        </p:txBody>
      </p:sp>
      <p:sp>
        <p:nvSpPr>
          <p:cNvPr id="35" name="TextBox 34"/>
          <p:cNvSpPr txBox="1"/>
          <p:nvPr/>
        </p:nvSpPr>
        <p:spPr>
          <a:xfrm>
            <a:off x="7132320" y="5394960"/>
            <a:ext cx="4572000" cy="320040"/>
          </a:xfrm>
          <a:prstGeom prst="rect">
            <a:avLst/>
          </a:prstGeom>
          <a:noFill/>
        </p:spPr>
        <p:txBody>
          <a:bodyPr wrap="square" lIns="0" rIns="0" tIns="0" bIns="0" anchor="t">
            <a:spAutoFit/>
          </a:bodyPr>
          <a:lstStyle/>
          <a:p>
            <a:pPr algn="l">
              <a:spcAft>
                <a:spcPts val="400"/>
              </a:spcAft>
            </a:pPr>
            <a:r>
              <a:rPr sz="1100" b="0" i="1">
                <a:solidFill>
                  <a:schemeClr val="accent1"/>
                </a:solidFill>
              </a:rPr>
              <a:t>Same names in every tool</a:t>
            </a:r>
          </a:p>
        </p:txBody>
      </p:sp>
      <p:sp>
        <p:nvSpPr>
          <p:cNvPr id="36" name="TextBox 35"/>
          <p:cNvSpPr txBox="1"/>
          <p:nvPr/>
        </p:nvSpPr>
        <p:spPr>
          <a:xfrm>
            <a:off x="457200" y="5989320"/>
            <a:ext cx="11247120" cy="365760"/>
          </a:xfrm>
          <a:prstGeom prst="rect">
            <a:avLst/>
          </a:prstGeom>
          <a:noFill/>
        </p:spPr>
        <p:txBody>
          <a:bodyPr wrap="square" lIns="0" rIns="0" tIns="0" bIns="0" anchor="t">
            <a:spAutoFit/>
          </a:bodyPr>
          <a:lstStyle/>
          <a:p>
            <a:pPr algn="l">
              <a:spcAft>
                <a:spcPts val="400"/>
              </a:spcAft>
            </a:pPr>
            <a:r>
              <a:rPr sz="1100" b="0" i="1">
                <a:solidFill>
                  <a:schemeClr val="tx2"/>
                </a:solidFill>
              </a:rPr>
              <a:t>Envoy in the mesh speaks OTLP natively, so mesh spans and app spans land in the same trace.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0"/>
          </p:nvPr>
        </p:nvSpPr>
        <p:spPr/>
        <p:txBody>
          <a:bodyPr/>
          <a:lstStyle/>
          <a:p>
            <a:r>
              <a:t>Anatomy of a trace: trace ID, span ID and context propagation</a:t>
            </a:r>
          </a:p>
        </p:txBody>
      </p:sp>
      <p:sp>
        <p:nvSpPr>
          <p:cNvPr id="3"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sp>
        <p:nvSpPr>
          <p:cNvPr id="4" name="TextBox 3"/>
          <p:cNvSpPr txBox="1"/>
          <p:nvPr/>
        </p:nvSpPr>
        <p:spPr>
          <a:xfrm>
            <a:off x="457200" y="1188720"/>
            <a:ext cx="11247120" cy="274320"/>
          </a:xfrm>
          <a:prstGeom prst="rect">
            <a:avLst/>
          </a:prstGeom>
          <a:noFill/>
        </p:spPr>
        <p:txBody>
          <a:bodyPr wrap="square" lIns="0" rIns="0" tIns="0" bIns="0" anchor="t">
            <a:spAutoFit/>
          </a:bodyPr>
          <a:lstStyle/>
          <a:p>
            <a:pPr algn="l">
              <a:spcAft>
                <a:spcPts val="400"/>
              </a:spcAft>
            </a:pPr>
            <a:r>
              <a:rPr sz="1100" b="1" i="0">
                <a:solidFill>
                  <a:schemeClr val="tx2"/>
                </a:solidFill>
              </a:rPr>
              <a:t>THE traceparent HEADER THE payments APP SENDS WHEN IT CALLS notify-svc</a:t>
            </a:r>
          </a:p>
        </p:txBody>
      </p:sp>
      <p:sp>
        <p:nvSpPr>
          <p:cNvPr id="5" name="Rounded Rectangle 4"/>
          <p:cNvSpPr/>
          <p:nvPr/>
        </p:nvSpPr>
        <p:spPr>
          <a:xfrm>
            <a:off x="457200" y="1508760"/>
            <a:ext cx="548640" cy="457200"/>
          </a:xfrm>
          <a:prstGeom prst="roundRect">
            <a:avLst>
              <a:gd name="adj" fmla="val 8000"/>
            </a:avLst>
          </a:prstGeom>
          <a:solidFill>
            <a:schemeClr val="accent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21945" bIns="21945"/>
          <a:lstStyle/>
          <a:p>
            <a:pPr algn="ctr">
              <a:spcAft>
                <a:spcPts val="400"/>
              </a:spcAft>
            </a:pPr>
            <a:r>
              <a:rPr sz="1300" b="1" i="0">
                <a:solidFill>
                  <a:schemeClr val="bg1"/>
                </a:solidFill>
                <a:latin typeface="Courier New"/>
              </a:rPr>
              <a:t>00</a:t>
            </a:r>
          </a:p>
        </p:txBody>
      </p:sp>
      <p:sp>
        <p:nvSpPr>
          <p:cNvPr id="6" name="TextBox 5"/>
          <p:cNvSpPr txBox="1"/>
          <p:nvPr/>
        </p:nvSpPr>
        <p:spPr>
          <a:xfrm>
            <a:off x="457200" y="2011680"/>
            <a:ext cx="548640" cy="274320"/>
          </a:xfrm>
          <a:prstGeom prst="rect">
            <a:avLst/>
          </a:prstGeom>
          <a:noFill/>
        </p:spPr>
        <p:txBody>
          <a:bodyPr wrap="square" lIns="0" rIns="0" tIns="0" bIns="0" anchor="t">
            <a:spAutoFit/>
          </a:bodyPr>
          <a:lstStyle/>
          <a:p>
            <a:pPr algn="ctr">
              <a:spcAft>
                <a:spcPts val="400"/>
              </a:spcAft>
            </a:pPr>
            <a:r>
              <a:rPr sz="1050" b="0" i="0">
                <a:solidFill>
                  <a:schemeClr val="tx2"/>
                </a:solidFill>
              </a:rPr>
              <a:t>version</a:t>
            </a:r>
          </a:p>
        </p:txBody>
      </p:sp>
      <p:sp>
        <p:nvSpPr>
          <p:cNvPr id="7" name="TextBox 6"/>
          <p:cNvSpPr txBox="1"/>
          <p:nvPr/>
        </p:nvSpPr>
        <p:spPr>
          <a:xfrm>
            <a:off x="1033272" y="1508760"/>
            <a:ext cx="182880" cy="457200"/>
          </a:xfrm>
          <a:prstGeom prst="rect">
            <a:avLst/>
          </a:prstGeom>
          <a:noFill/>
        </p:spPr>
        <p:txBody>
          <a:bodyPr wrap="square" lIns="0" rIns="0" tIns="0" bIns="0" anchor="ctr">
            <a:spAutoFit/>
          </a:bodyPr>
          <a:lstStyle/>
          <a:p>
            <a:pPr algn="ctr">
              <a:spcAft>
                <a:spcPts val="400"/>
              </a:spcAft>
            </a:pPr>
            <a:r>
              <a:rPr sz="1600" b="1" i="0">
                <a:solidFill>
                  <a:schemeClr val="tx1"/>
                </a:solidFill>
              </a:rPr>
              <a:t>-</a:t>
            </a:r>
          </a:p>
        </p:txBody>
      </p:sp>
      <p:sp>
        <p:nvSpPr>
          <p:cNvPr id="8" name="Rounded Rectangle 7"/>
          <p:cNvSpPr/>
          <p:nvPr/>
        </p:nvSpPr>
        <p:spPr>
          <a:xfrm>
            <a:off x="1234440" y="1508760"/>
            <a:ext cx="4846320" cy="457200"/>
          </a:xfrm>
          <a:prstGeom prst="roundRect">
            <a:avLst>
              <a:gd name="adj" fmla="val 8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21945" bIns="21945"/>
          <a:lstStyle/>
          <a:p>
            <a:pPr algn="ctr">
              <a:spcAft>
                <a:spcPts val="400"/>
              </a:spcAft>
            </a:pPr>
            <a:r>
              <a:rPr sz="1300" b="1" i="0">
                <a:solidFill>
                  <a:schemeClr val="bg1"/>
                </a:solidFill>
                <a:latin typeface="Courier New"/>
              </a:rPr>
              <a:t>f0b9839816c71c1a6d5cf853fd44ea44</a:t>
            </a:r>
          </a:p>
        </p:txBody>
      </p:sp>
      <p:sp>
        <p:nvSpPr>
          <p:cNvPr id="9" name="TextBox 8"/>
          <p:cNvSpPr txBox="1"/>
          <p:nvPr/>
        </p:nvSpPr>
        <p:spPr>
          <a:xfrm>
            <a:off x="1234440" y="2011680"/>
            <a:ext cx="4846320" cy="274320"/>
          </a:xfrm>
          <a:prstGeom prst="rect">
            <a:avLst/>
          </a:prstGeom>
          <a:noFill/>
        </p:spPr>
        <p:txBody>
          <a:bodyPr wrap="square" lIns="0" rIns="0" tIns="0" bIns="0" anchor="t">
            <a:spAutoFit/>
          </a:bodyPr>
          <a:lstStyle/>
          <a:p>
            <a:pPr algn="ctr">
              <a:spcAft>
                <a:spcPts val="400"/>
              </a:spcAft>
            </a:pPr>
            <a:r>
              <a:rPr sz="1050" b="0" i="0">
                <a:solidFill>
                  <a:schemeClr val="tx2"/>
                </a:solidFill>
              </a:rPr>
              <a:t>trace-id: 16 bytes, same on every hop</a:t>
            </a:r>
          </a:p>
        </p:txBody>
      </p:sp>
      <p:sp>
        <p:nvSpPr>
          <p:cNvPr id="10" name="TextBox 9"/>
          <p:cNvSpPr txBox="1"/>
          <p:nvPr/>
        </p:nvSpPr>
        <p:spPr>
          <a:xfrm>
            <a:off x="6108192" y="1508760"/>
            <a:ext cx="182880" cy="457200"/>
          </a:xfrm>
          <a:prstGeom prst="rect">
            <a:avLst/>
          </a:prstGeom>
          <a:noFill/>
        </p:spPr>
        <p:txBody>
          <a:bodyPr wrap="square" lIns="0" rIns="0" tIns="0" bIns="0" anchor="ctr">
            <a:spAutoFit/>
          </a:bodyPr>
          <a:lstStyle/>
          <a:p>
            <a:pPr algn="ctr">
              <a:spcAft>
                <a:spcPts val="400"/>
              </a:spcAft>
            </a:pPr>
            <a:r>
              <a:rPr sz="1600" b="1" i="0">
                <a:solidFill>
                  <a:schemeClr val="tx1"/>
                </a:solidFill>
              </a:rPr>
              <a:t>-</a:t>
            </a:r>
          </a:p>
        </p:txBody>
      </p:sp>
      <p:sp>
        <p:nvSpPr>
          <p:cNvPr id="11" name="Rounded Rectangle 10"/>
          <p:cNvSpPr/>
          <p:nvPr/>
        </p:nvSpPr>
        <p:spPr>
          <a:xfrm>
            <a:off x="6309360" y="1508760"/>
            <a:ext cx="2834640" cy="457200"/>
          </a:xfrm>
          <a:prstGeom prst="roundRect">
            <a:avLst>
              <a:gd name="adj" fmla="val 8000"/>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21945" bIns="21945"/>
          <a:lstStyle/>
          <a:p>
            <a:pPr algn="ctr">
              <a:spcAft>
                <a:spcPts val="400"/>
              </a:spcAft>
            </a:pPr>
            <a:r>
              <a:rPr sz="1300" b="1" i="0">
                <a:solidFill>
                  <a:schemeClr val="bg1"/>
                </a:solidFill>
                <a:latin typeface="Courier New"/>
              </a:rPr>
              <a:t>c5a7545b5b936a12</a:t>
            </a:r>
          </a:p>
        </p:txBody>
      </p:sp>
      <p:sp>
        <p:nvSpPr>
          <p:cNvPr id="12" name="TextBox 11"/>
          <p:cNvSpPr txBox="1"/>
          <p:nvPr/>
        </p:nvSpPr>
        <p:spPr>
          <a:xfrm>
            <a:off x="6309360" y="2011680"/>
            <a:ext cx="2834640" cy="274320"/>
          </a:xfrm>
          <a:prstGeom prst="rect">
            <a:avLst/>
          </a:prstGeom>
          <a:noFill/>
        </p:spPr>
        <p:txBody>
          <a:bodyPr wrap="square" lIns="0" rIns="0" tIns="0" bIns="0" anchor="t">
            <a:spAutoFit/>
          </a:bodyPr>
          <a:lstStyle/>
          <a:p>
            <a:pPr algn="ctr">
              <a:spcAft>
                <a:spcPts val="400"/>
              </a:spcAft>
            </a:pPr>
            <a:r>
              <a:rPr sz="1050" b="1" i="0">
                <a:solidFill>
                  <a:schemeClr val="accent2"/>
                </a:solidFill>
              </a:rPr>
              <a:t>parent-id = the CALLER's span ID (row 7)</a:t>
            </a:r>
          </a:p>
        </p:txBody>
      </p:sp>
      <p:sp>
        <p:nvSpPr>
          <p:cNvPr id="13" name="TextBox 12"/>
          <p:cNvSpPr txBox="1"/>
          <p:nvPr/>
        </p:nvSpPr>
        <p:spPr>
          <a:xfrm>
            <a:off x="9171432" y="1508760"/>
            <a:ext cx="182880" cy="457200"/>
          </a:xfrm>
          <a:prstGeom prst="rect">
            <a:avLst/>
          </a:prstGeom>
          <a:noFill/>
        </p:spPr>
        <p:txBody>
          <a:bodyPr wrap="square" lIns="0" rIns="0" tIns="0" bIns="0" anchor="ctr">
            <a:spAutoFit/>
          </a:bodyPr>
          <a:lstStyle/>
          <a:p>
            <a:pPr algn="ctr">
              <a:spcAft>
                <a:spcPts val="400"/>
              </a:spcAft>
            </a:pPr>
            <a:r>
              <a:rPr sz="1600" b="1" i="0">
                <a:solidFill>
                  <a:schemeClr val="tx1"/>
                </a:solidFill>
              </a:rPr>
              <a:t>-</a:t>
            </a:r>
          </a:p>
        </p:txBody>
      </p:sp>
      <p:sp>
        <p:nvSpPr>
          <p:cNvPr id="14" name="Rounded Rectangle 13"/>
          <p:cNvSpPr/>
          <p:nvPr/>
        </p:nvSpPr>
        <p:spPr>
          <a:xfrm>
            <a:off x="9372600" y="1508760"/>
            <a:ext cx="1188720" cy="457200"/>
          </a:xfrm>
          <a:prstGeom prst="roundRect">
            <a:avLst>
              <a:gd name="adj" fmla="val 8000"/>
            </a:avLst>
          </a:prstGeom>
          <a:solidFill>
            <a:schemeClr val="accent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21945" bIns="21945"/>
          <a:lstStyle/>
          <a:p>
            <a:pPr algn="ctr">
              <a:spcAft>
                <a:spcPts val="400"/>
              </a:spcAft>
            </a:pPr>
            <a:r>
              <a:rPr sz="1300" b="1" i="0">
                <a:solidFill>
                  <a:schemeClr val="tx1"/>
                </a:solidFill>
                <a:latin typeface="Courier New"/>
              </a:rPr>
              <a:t>01</a:t>
            </a:r>
          </a:p>
        </p:txBody>
      </p:sp>
      <p:sp>
        <p:nvSpPr>
          <p:cNvPr id="15" name="TextBox 14"/>
          <p:cNvSpPr txBox="1"/>
          <p:nvPr/>
        </p:nvSpPr>
        <p:spPr>
          <a:xfrm>
            <a:off x="9372600" y="2011680"/>
            <a:ext cx="1188720" cy="274320"/>
          </a:xfrm>
          <a:prstGeom prst="rect">
            <a:avLst/>
          </a:prstGeom>
          <a:noFill/>
        </p:spPr>
        <p:txBody>
          <a:bodyPr wrap="square" lIns="0" rIns="0" tIns="0" bIns="0" anchor="t">
            <a:spAutoFit/>
          </a:bodyPr>
          <a:lstStyle/>
          <a:p>
            <a:pPr algn="ctr">
              <a:spcAft>
                <a:spcPts val="400"/>
              </a:spcAft>
            </a:pPr>
            <a:r>
              <a:rPr sz="1050" b="0" i="0">
                <a:solidFill>
                  <a:schemeClr val="tx2"/>
                </a:solidFill>
              </a:rPr>
              <a:t>flags: 01 = sampled</a:t>
            </a:r>
          </a:p>
        </p:txBody>
      </p:sp>
      <p:sp>
        <p:nvSpPr>
          <p:cNvPr id="16" name="TextBox 15"/>
          <p:cNvSpPr txBox="1"/>
          <p:nvPr/>
        </p:nvSpPr>
        <p:spPr>
          <a:xfrm>
            <a:off x="457200" y="2514600"/>
            <a:ext cx="2377440" cy="256032"/>
          </a:xfrm>
          <a:prstGeom prst="rect">
            <a:avLst/>
          </a:prstGeom>
          <a:noFill/>
        </p:spPr>
        <p:txBody>
          <a:bodyPr wrap="square" lIns="0" rIns="0" tIns="0" bIns="0" anchor="t">
            <a:spAutoFit/>
          </a:bodyPr>
          <a:lstStyle/>
          <a:p>
            <a:pPr algn="l">
              <a:spcAft>
                <a:spcPts val="400"/>
              </a:spcAft>
            </a:pPr>
            <a:r>
              <a:rPr sz="1000" b="1" i="0">
                <a:solidFill>
                  <a:schemeClr val="tx2"/>
                </a:solidFill>
              </a:rPr>
              <a:t>#  span (who records it)</a:t>
            </a:r>
          </a:p>
        </p:txBody>
      </p:sp>
      <p:sp>
        <p:nvSpPr>
          <p:cNvPr id="17" name="TextBox 16"/>
          <p:cNvSpPr txBox="1"/>
          <p:nvPr/>
        </p:nvSpPr>
        <p:spPr>
          <a:xfrm>
            <a:off x="3063240" y="2514600"/>
            <a:ext cx="1463040" cy="256032"/>
          </a:xfrm>
          <a:prstGeom prst="rect">
            <a:avLst/>
          </a:prstGeom>
          <a:noFill/>
        </p:spPr>
        <p:txBody>
          <a:bodyPr wrap="square" lIns="0" rIns="0" tIns="0" bIns="0" anchor="t">
            <a:spAutoFit/>
          </a:bodyPr>
          <a:lstStyle/>
          <a:p>
            <a:pPr algn="l">
              <a:spcAft>
                <a:spcPts val="400"/>
              </a:spcAft>
            </a:pPr>
            <a:r>
              <a:rPr sz="1000" b="1" i="0">
                <a:solidFill>
                  <a:schemeClr val="tx2"/>
                </a:solidFill>
              </a:rPr>
              <a:t>span ID</a:t>
            </a:r>
          </a:p>
        </p:txBody>
      </p:sp>
      <p:sp>
        <p:nvSpPr>
          <p:cNvPr id="18" name="TextBox 17"/>
          <p:cNvSpPr txBox="1"/>
          <p:nvPr/>
        </p:nvSpPr>
        <p:spPr>
          <a:xfrm>
            <a:off x="4526280" y="2514600"/>
            <a:ext cx="1463040" cy="256032"/>
          </a:xfrm>
          <a:prstGeom prst="rect">
            <a:avLst/>
          </a:prstGeom>
          <a:noFill/>
        </p:spPr>
        <p:txBody>
          <a:bodyPr wrap="square" lIns="0" rIns="0" tIns="0" bIns="0" anchor="t">
            <a:spAutoFit/>
          </a:bodyPr>
          <a:lstStyle/>
          <a:p>
            <a:pPr algn="l">
              <a:spcAft>
                <a:spcPts val="400"/>
              </a:spcAft>
            </a:pPr>
            <a:r>
              <a:rPr sz="1000" b="1" i="0">
                <a:solidFill>
                  <a:schemeClr val="tx2"/>
                </a:solidFill>
              </a:rPr>
              <a:t>parent span ID</a:t>
            </a:r>
          </a:p>
        </p:txBody>
      </p:sp>
      <p:sp>
        <p:nvSpPr>
          <p:cNvPr id="19" name="TextBox 18"/>
          <p:cNvSpPr txBox="1"/>
          <p:nvPr/>
        </p:nvSpPr>
        <p:spPr>
          <a:xfrm>
            <a:off x="5989320" y="2514600"/>
            <a:ext cx="3108960" cy="256032"/>
          </a:xfrm>
          <a:prstGeom prst="rect">
            <a:avLst/>
          </a:prstGeom>
          <a:noFill/>
        </p:spPr>
        <p:txBody>
          <a:bodyPr wrap="square" lIns="0" rIns="0" tIns="0" bIns="0" anchor="t">
            <a:spAutoFit/>
          </a:bodyPr>
          <a:lstStyle/>
          <a:p>
            <a:pPr algn="l">
              <a:spcAft>
                <a:spcPts val="400"/>
              </a:spcAft>
            </a:pPr>
            <a:r>
              <a:rPr sz="1000" b="1" i="0">
                <a:solidFill>
                  <a:schemeClr val="tx2"/>
                </a:solidFill>
              </a:rPr>
              <a:t>time: 0 to 200 ms</a:t>
            </a:r>
          </a:p>
        </p:txBody>
      </p:sp>
      <p:sp>
        <p:nvSpPr>
          <p:cNvPr id="20" name="TextBox 19"/>
          <p:cNvSpPr txBox="1"/>
          <p:nvPr/>
        </p:nvSpPr>
        <p:spPr>
          <a:xfrm>
            <a:off x="457200" y="2807208"/>
            <a:ext cx="2606040" cy="274320"/>
          </a:xfrm>
          <a:prstGeom prst="rect">
            <a:avLst/>
          </a:prstGeom>
          <a:noFill/>
        </p:spPr>
        <p:txBody>
          <a:bodyPr wrap="square" lIns="0" rIns="0" tIns="0" bIns="0" anchor="t">
            <a:spAutoFit/>
          </a:bodyPr>
          <a:lstStyle/>
          <a:p>
            <a:pPr algn="l">
              <a:spcAft>
                <a:spcPts val="400"/>
              </a:spcAft>
            </a:pPr>
            <a:r>
              <a:rPr sz="1050" b="1" i="0">
                <a:solidFill>
                  <a:schemeClr val="tx1"/>
                </a:solidFill>
              </a:rPr>
              <a:t>1  </a:t>
            </a:r>
            <a:r>
              <a:rPr sz="1050" b="0" i="0">
                <a:solidFill>
                  <a:schemeClr val="tx1"/>
                </a:solidFill>
              </a:rPr>
              <a:t>ingress gateway</a:t>
            </a:r>
            <a:r>
              <a:rPr sz="900" b="0" i="0">
                <a:solidFill>
                  <a:schemeClr val="tx2"/>
                </a:solidFill>
              </a:rPr>
              <a:t>  server</a:t>
            </a:r>
          </a:p>
        </p:txBody>
      </p:sp>
      <p:sp>
        <p:nvSpPr>
          <p:cNvPr id="21" name="TextBox 20"/>
          <p:cNvSpPr txBox="1"/>
          <p:nvPr/>
        </p:nvSpPr>
        <p:spPr>
          <a:xfrm>
            <a:off x="3063240" y="2807208"/>
            <a:ext cx="1463040" cy="274320"/>
          </a:xfrm>
          <a:prstGeom prst="rect">
            <a:avLst/>
          </a:prstGeom>
          <a:noFill/>
        </p:spPr>
        <p:txBody>
          <a:bodyPr wrap="square" lIns="0" rIns="0" tIns="0" bIns="0" anchor="t">
            <a:spAutoFit/>
          </a:bodyPr>
          <a:lstStyle/>
          <a:p>
            <a:pPr algn="l">
              <a:spcAft>
                <a:spcPts val="400"/>
              </a:spcAft>
            </a:pPr>
            <a:r>
              <a:rPr sz="1000" b="0" i="0">
                <a:solidFill>
                  <a:schemeClr val="tx1"/>
                </a:solidFill>
                <a:latin typeface="Courier New"/>
              </a:rPr>
              <a:t>3883effb70da8a5c</a:t>
            </a:r>
          </a:p>
        </p:txBody>
      </p:sp>
      <p:sp>
        <p:nvSpPr>
          <p:cNvPr id="22" name="TextBox 21"/>
          <p:cNvSpPr txBox="1"/>
          <p:nvPr/>
        </p:nvSpPr>
        <p:spPr>
          <a:xfrm>
            <a:off x="4526280" y="2807208"/>
            <a:ext cx="1463040" cy="274320"/>
          </a:xfrm>
          <a:prstGeom prst="rect">
            <a:avLst/>
          </a:prstGeom>
          <a:noFill/>
        </p:spPr>
        <p:txBody>
          <a:bodyPr wrap="square" lIns="0" rIns="0" tIns="0" bIns="0" anchor="t">
            <a:spAutoFit/>
          </a:bodyPr>
          <a:lstStyle/>
          <a:p>
            <a:pPr algn="l">
              <a:spcAft>
                <a:spcPts val="400"/>
              </a:spcAft>
            </a:pPr>
            <a:r>
              <a:rPr sz="1000" b="0" i="0">
                <a:solidFill>
                  <a:schemeClr val="tx2"/>
                </a:solidFill>
                <a:latin typeface="Courier New"/>
              </a:rPr>
              <a:t>-</a:t>
            </a:r>
          </a:p>
        </p:txBody>
      </p:sp>
      <p:sp>
        <p:nvSpPr>
          <p:cNvPr id="23" name="Rounded Rectangle 22"/>
          <p:cNvSpPr/>
          <p:nvPr/>
        </p:nvSpPr>
        <p:spPr>
          <a:xfrm>
            <a:off x="5989320" y="2852927"/>
            <a:ext cx="3108960" cy="196596"/>
          </a:xfrm>
          <a:prstGeom prst="roundRect">
            <a:avLst>
              <a:gd name="adj" fmla="val 30000"/>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57200" y="3140963"/>
            <a:ext cx="2606040" cy="274320"/>
          </a:xfrm>
          <a:prstGeom prst="rect">
            <a:avLst/>
          </a:prstGeom>
          <a:noFill/>
        </p:spPr>
        <p:txBody>
          <a:bodyPr wrap="square" lIns="0" rIns="0" tIns="0" bIns="0" anchor="t">
            <a:spAutoFit/>
          </a:bodyPr>
          <a:lstStyle/>
          <a:p>
            <a:pPr algn="l">
              <a:spcAft>
                <a:spcPts val="400"/>
              </a:spcAft>
            </a:pPr>
            <a:r>
              <a:rPr sz="1050" b="1" i="0">
                <a:solidFill>
                  <a:schemeClr val="tx1"/>
                </a:solidFill>
              </a:rPr>
              <a:t>2  </a:t>
            </a:r>
            <a:r>
              <a:rPr sz="1050" b="0" i="0">
                <a:solidFill>
                  <a:schemeClr val="tx1"/>
                </a:solidFill>
              </a:rPr>
              <a:t>ingress gateway</a:t>
            </a:r>
            <a:r>
              <a:rPr sz="900" b="0" i="0">
                <a:solidFill>
                  <a:schemeClr val="tx2"/>
                </a:solidFill>
              </a:rPr>
              <a:t>  client</a:t>
            </a:r>
          </a:p>
        </p:txBody>
      </p:sp>
      <p:sp>
        <p:nvSpPr>
          <p:cNvPr id="25" name="TextBox 24"/>
          <p:cNvSpPr txBox="1"/>
          <p:nvPr/>
        </p:nvSpPr>
        <p:spPr>
          <a:xfrm>
            <a:off x="3063240" y="3140963"/>
            <a:ext cx="1463040" cy="274320"/>
          </a:xfrm>
          <a:prstGeom prst="rect">
            <a:avLst/>
          </a:prstGeom>
          <a:noFill/>
        </p:spPr>
        <p:txBody>
          <a:bodyPr wrap="square" lIns="0" rIns="0" tIns="0" bIns="0" anchor="t">
            <a:spAutoFit/>
          </a:bodyPr>
          <a:lstStyle/>
          <a:p>
            <a:pPr algn="l">
              <a:spcAft>
                <a:spcPts val="400"/>
              </a:spcAft>
            </a:pPr>
            <a:r>
              <a:rPr sz="1000" b="0" i="0">
                <a:solidFill>
                  <a:schemeClr val="tx1"/>
                </a:solidFill>
                <a:latin typeface="Courier New"/>
              </a:rPr>
              <a:t>e9c757822d8649cc</a:t>
            </a:r>
          </a:p>
        </p:txBody>
      </p:sp>
      <p:sp>
        <p:nvSpPr>
          <p:cNvPr id="26" name="TextBox 25"/>
          <p:cNvSpPr txBox="1"/>
          <p:nvPr/>
        </p:nvSpPr>
        <p:spPr>
          <a:xfrm>
            <a:off x="4526280" y="3140963"/>
            <a:ext cx="1463040" cy="274320"/>
          </a:xfrm>
          <a:prstGeom prst="rect">
            <a:avLst/>
          </a:prstGeom>
          <a:noFill/>
        </p:spPr>
        <p:txBody>
          <a:bodyPr wrap="square" lIns="0" rIns="0" tIns="0" bIns="0" anchor="t">
            <a:spAutoFit/>
          </a:bodyPr>
          <a:lstStyle/>
          <a:p>
            <a:pPr algn="l">
              <a:spcAft>
                <a:spcPts val="400"/>
              </a:spcAft>
            </a:pPr>
            <a:r>
              <a:rPr sz="1000" b="0" i="0">
                <a:solidFill>
                  <a:schemeClr val="tx2"/>
                </a:solidFill>
                <a:latin typeface="Courier New"/>
              </a:rPr>
              <a:t>3883effb70da8a5c</a:t>
            </a:r>
          </a:p>
        </p:txBody>
      </p:sp>
      <p:sp>
        <p:nvSpPr>
          <p:cNvPr id="27" name="Rounded Rectangle 26"/>
          <p:cNvSpPr/>
          <p:nvPr/>
        </p:nvSpPr>
        <p:spPr>
          <a:xfrm>
            <a:off x="5992425" y="3186683"/>
            <a:ext cx="3105854" cy="196596"/>
          </a:xfrm>
          <a:prstGeom prst="roundRect">
            <a:avLst>
              <a:gd name="adj" fmla="val 30000"/>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57200" y="3474720"/>
            <a:ext cx="2606040" cy="274320"/>
          </a:xfrm>
          <a:prstGeom prst="rect">
            <a:avLst/>
          </a:prstGeom>
          <a:noFill/>
        </p:spPr>
        <p:txBody>
          <a:bodyPr wrap="square" lIns="0" rIns="0" tIns="0" bIns="0" anchor="t">
            <a:spAutoFit/>
          </a:bodyPr>
          <a:lstStyle/>
          <a:p>
            <a:pPr algn="l">
              <a:spcAft>
                <a:spcPts val="400"/>
              </a:spcAft>
            </a:pPr>
            <a:r>
              <a:rPr sz="1050" b="1" i="0">
                <a:solidFill>
                  <a:schemeClr val="tx1"/>
                </a:solidFill>
              </a:rPr>
              <a:t>3  </a:t>
            </a:r>
            <a:r>
              <a:rPr sz="1050" b="0" i="0">
                <a:solidFill>
                  <a:schemeClr val="tx1"/>
                </a:solidFill>
              </a:rPr>
              <a:t>payments sidecar</a:t>
            </a:r>
            <a:r>
              <a:rPr sz="900" b="0" i="0">
                <a:solidFill>
                  <a:schemeClr val="tx2"/>
                </a:solidFill>
              </a:rPr>
              <a:t>  server</a:t>
            </a:r>
          </a:p>
        </p:txBody>
      </p:sp>
      <p:sp>
        <p:nvSpPr>
          <p:cNvPr id="29" name="TextBox 28"/>
          <p:cNvSpPr txBox="1"/>
          <p:nvPr/>
        </p:nvSpPr>
        <p:spPr>
          <a:xfrm>
            <a:off x="3063240" y="3474720"/>
            <a:ext cx="1463040" cy="274320"/>
          </a:xfrm>
          <a:prstGeom prst="rect">
            <a:avLst/>
          </a:prstGeom>
          <a:noFill/>
        </p:spPr>
        <p:txBody>
          <a:bodyPr wrap="square" lIns="0" rIns="0" tIns="0" bIns="0" anchor="t">
            <a:spAutoFit/>
          </a:bodyPr>
          <a:lstStyle/>
          <a:p>
            <a:pPr algn="l">
              <a:spcAft>
                <a:spcPts val="400"/>
              </a:spcAft>
            </a:pPr>
            <a:r>
              <a:rPr sz="1000" b="0" i="0">
                <a:solidFill>
                  <a:schemeClr val="tx1"/>
                </a:solidFill>
                <a:latin typeface="Courier New"/>
              </a:rPr>
              <a:t>55692cc06a0eeb9e</a:t>
            </a:r>
          </a:p>
        </p:txBody>
      </p:sp>
      <p:sp>
        <p:nvSpPr>
          <p:cNvPr id="30" name="TextBox 29"/>
          <p:cNvSpPr txBox="1"/>
          <p:nvPr/>
        </p:nvSpPr>
        <p:spPr>
          <a:xfrm>
            <a:off x="4526280" y="3474720"/>
            <a:ext cx="1463040" cy="274320"/>
          </a:xfrm>
          <a:prstGeom prst="rect">
            <a:avLst/>
          </a:prstGeom>
          <a:noFill/>
        </p:spPr>
        <p:txBody>
          <a:bodyPr wrap="square" lIns="0" rIns="0" tIns="0" bIns="0" anchor="t">
            <a:spAutoFit/>
          </a:bodyPr>
          <a:lstStyle/>
          <a:p>
            <a:pPr algn="l">
              <a:spcAft>
                <a:spcPts val="400"/>
              </a:spcAft>
            </a:pPr>
            <a:r>
              <a:rPr sz="1000" b="0" i="0">
                <a:solidFill>
                  <a:schemeClr val="tx2"/>
                </a:solidFill>
                <a:latin typeface="Courier New"/>
              </a:rPr>
              <a:t>e9c757822d8649cc</a:t>
            </a:r>
          </a:p>
        </p:txBody>
      </p:sp>
      <p:sp>
        <p:nvSpPr>
          <p:cNvPr id="31" name="Rounded Rectangle 30"/>
          <p:cNvSpPr/>
          <p:nvPr/>
        </p:nvSpPr>
        <p:spPr>
          <a:xfrm>
            <a:off x="5993978" y="3520439"/>
            <a:ext cx="3098089" cy="196596"/>
          </a:xfrm>
          <a:prstGeom prst="roundRect">
            <a:avLst>
              <a:gd name="adj" fmla="val 30000"/>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57200" y="3808476"/>
            <a:ext cx="2606040" cy="274320"/>
          </a:xfrm>
          <a:prstGeom prst="rect">
            <a:avLst/>
          </a:prstGeom>
          <a:noFill/>
        </p:spPr>
        <p:txBody>
          <a:bodyPr wrap="square" lIns="0" rIns="0" tIns="0" bIns="0" anchor="t">
            <a:spAutoFit/>
          </a:bodyPr>
          <a:lstStyle/>
          <a:p>
            <a:pPr algn="l">
              <a:spcAft>
                <a:spcPts val="400"/>
              </a:spcAft>
            </a:pPr>
            <a:r>
              <a:rPr sz="1050" b="1" i="0">
                <a:solidFill>
                  <a:schemeClr val="tx1"/>
                </a:solidFill>
              </a:rPr>
              <a:t>4  </a:t>
            </a:r>
            <a:r>
              <a:rPr sz="1050" b="0" i="0">
                <a:solidFill>
                  <a:schemeClr val="tx1"/>
                </a:solidFill>
              </a:rPr>
              <a:t>payments app: POST /transfer</a:t>
            </a:r>
            <a:r>
              <a:rPr sz="900" b="0" i="0">
                <a:solidFill>
                  <a:schemeClr val="tx2"/>
                </a:solidFill>
              </a:rPr>
              <a:t>  agent</a:t>
            </a:r>
          </a:p>
        </p:txBody>
      </p:sp>
      <p:sp>
        <p:nvSpPr>
          <p:cNvPr id="33" name="TextBox 32"/>
          <p:cNvSpPr txBox="1"/>
          <p:nvPr/>
        </p:nvSpPr>
        <p:spPr>
          <a:xfrm>
            <a:off x="3063240" y="3808476"/>
            <a:ext cx="1463040" cy="274320"/>
          </a:xfrm>
          <a:prstGeom prst="rect">
            <a:avLst/>
          </a:prstGeom>
          <a:noFill/>
        </p:spPr>
        <p:txBody>
          <a:bodyPr wrap="square" lIns="0" rIns="0" tIns="0" bIns="0" anchor="t">
            <a:spAutoFit/>
          </a:bodyPr>
          <a:lstStyle/>
          <a:p>
            <a:pPr algn="l">
              <a:spcAft>
                <a:spcPts val="400"/>
              </a:spcAft>
            </a:pPr>
            <a:r>
              <a:rPr sz="1000" b="0" i="0">
                <a:solidFill>
                  <a:schemeClr val="tx1"/>
                </a:solidFill>
                <a:latin typeface="Courier New"/>
              </a:rPr>
              <a:t>f8fea851cf1486e0</a:t>
            </a:r>
          </a:p>
        </p:txBody>
      </p:sp>
      <p:sp>
        <p:nvSpPr>
          <p:cNvPr id="34" name="TextBox 33"/>
          <p:cNvSpPr txBox="1"/>
          <p:nvPr/>
        </p:nvSpPr>
        <p:spPr>
          <a:xfrm>
            <a:off x="4526280" y="3808476"/>
            <a:ext cx="1463040" cy="274320"/>
          </a:xfrm>
          <a:prstGeom prst="rect">
            <a:avLst/>
          </a:prstGeom>
          <a:noFill/>
        </p:spPr>
        <p:txBody>
          <a:bodyPr wrap="square" lIns="0" rIns="0" tIns="0" bIns="0" anchor="t">
            <a:spAutoFit/>
          </a:bodyPr>
          <a:lstStyle/>
          <a:p>
            <a:pPr algn="l">
              <a:spcAft>
                <a:spcPts val="400"/>
              </a:spcAft>
            </a:pPr>
            <a:r>
              <a:rPr sz="1000" b="0" i="0">
                <a:solidFill>
                  <a:schemeClr val="tx2"/>
                </a:solidFill>
                <a:latin typeface="Courier New"/>
              </a:rPr>
              <a:t>55692cc06a0eeb9e</a:t>
            </a:r>
          </a:p>
        </p:txBody>
      </p:sp>
      <p:sp>
        <p:nvSpPr>
          <p:cNvPr id="35" name="Rounded Rectangle 34"/>
          <p:cNvSpPr/>
          <p:nvPr/>
        </p:nvSpPr>
        <p:spPr>
          <a:xfrm>
            <a:off x="6006402" y="3854196"/>
            <a:ext cx="3082560" cy="196596"/>
          </a:xfrm>
          <a:prstGeom prst="roundRect">
            <a:avLst>
              <a:gd name="adj" fmla="val 30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57200" y="4142231"/>
            <a:ext cx="2606040" cy="274320"/>
          </a:xfrm>
          <a:prstGeom prst="rect">
            <a:avLst/>
          </a:prstGeom>
          <a:noFill/>
        </p:spPr>
        <p:txBody>
          <a:bodyPr wrap="square" lIns="0" rIns="0" tIns="0" bIns="0" anchor="t">
            <a:spAutoFit/>
          </a:bodyPr>
          <a:lstStyle/>
          <a:p>
            <a:pPr algn="l">
              <a:spcAft>
                <a:spcPts val="400"/>
              </a:spcAft>
            </a:pPr>
            <a:r>
              <a:rPr sz="1050" b="1" i="0">
                <a:solidFill>
                  <a:schemeClr val="tx1"/>
                </a:solidFill>
              </a:rPr>
              <a:t>5  </a:t>
            </a:r>
            <a:r>
              <a:rPr sz="1050" b="0" i="0">
                <a:solidFill>
                  <a:schemeClr val="tx1"/>
                </a:solidFill>
              </a:rPr>
              <a:t>payments app: call core banking</a:t>
            </a:r>
            <a:r>
              <a:rPr sz="900" b="0" i="0">
                <a:solidFill>
                  <a:schemeClr val="tx2"/>
                </a:solidFill>
              </a:rPr>
              <a:t>  agent</a:t>
            </a:r>
          </a:p>
        </p:txBody>
      </p:sp>
      <p:sp>
        <p:nvSpPr>
          <p:cNvPr id="37" name="TextBox 36"/>
          <p:cNvSpPr txBox="1"/>
          <p:nvPr/>
        </p:nvSpPr>
        <p:spPr>
          <a:xfrm>
            <a:off x="3063240" y="4142231"/>
            <a:ext cx="1463040" cy="274320"/>
          </a:xfrm>
          <a:prstGeom prst="rect">
            <a:avLst/>
          </a:prstGeom>
          <a:noFill/>
        </p:spPr>
        <p:txBody>
          <a:bodyPr wrap="square" lIns="0" rIns="0" tIns="0" bIns="0" anchor="t">
            <a:spAutoFit/>
          </a:bodyPr>
          <a:lstStyle/>
          <a:p>
            <a:pPr algn="l">
              <a:spcAft>
                <a:spcPts val="400"/>
              </a:spcAft>
            </a:pPr>
            <a:r>
              <a:rPr sz="1000" b="0" i="0">
                <a:solidFill>
                  <a:schemeClr val="tx1"/>
                </a:solidFill>
                <a:latin typeface="Courier New"/>
              </a:rPr>
              <a:t>70f5a1ed76dfd980</a:t>
            </a:r>
          </a:p>
        </p:txBody>
      </p:sp>
      <p:sp>
        <p:nvSpPr>
          <p:cNvPr id="38" name="TextBox 37"/>
          <p:cNvSpPr txBox="1"/>
          <p:nvPr/>
        </p:nvSpPr>
        <p:spPr>
          <a:xfrm>
            <a:off x="4526280" y="4142231"/>
            <a:ext cx="1463040" cy="274320"/>
          </a:xfrm>
          <a:prstGeom prst="rect">
            <a:avLst/>
          </a:prstGeom>
          <a:noFill/>
        </p:spPr>
        <p:txBody>
          <a:bodyPr wrap="square" lIns="0" rIns="0" tIns="0" bIns="0" anchor="t">
            <a:spAutoFit/>
          </a:bodyPr>
          <a:lstStyle/>
          <a:p>
            <a:pPr algn="l">
              <a:spcAft>
                <a:spcPts val="400"/>
              </a:spcAft>
            </a:pPr>
            <a:r>
              <a:rPr sz="1000" b="0" i="0">
                <a:solidFill>
                  <a:schemeClr val="tx2"/>
                </a:solidFill>
                <a:latin typeface="Courier New"/>
              </a:rPr>
              <a:t>f8fea851cf1486e0</a:t>
            </a:r>
          </a:p>
        </p:txBody>
      </p:sp>
      <p:sp>
        <p:nvSpPr>
          <p:cNvPr id="39" name="Rounded Rectangle 38"/>
          <p:cNvSpPr/>
          <p:nvPr/>
        </p:nvSpPr>
        <p:spPr>
          <a:xfrm>
            <a:off x="6422586" y="4187951"/>
            <a:ext cx="1956688" cy="196596"/>
          </a:xfrm>
          <a:prstGeom prst="roundRect">
            <a:avLst>
              <a:gd name="adj" fmla="val 30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457200" y="4475988"/>
            <a:ext cx="2606040" cy="274320"/>
          </a:xfrm>
          <a:prstGeom prst="rect">
            <a:avLst/>
          </a:prstGeom>
          <a:noFill/>
        </p:spPr>
        <p:txBody>
          <a:bodyPr wrap="square" lIns="0" rIns="0" tIns="0" bIns="0" anchor="t">
            <a:spAutoFit/>
          </a:bodyPr>
          <a:lstStyle/>
          <a:p>
            <a:pPr algn="l">
              <a:spcAft>
                <a:spcPts val="400"/>
              </a:spcAft>
            </a:pPr>
            <a:r>
              <a:rPr sz="1050" b="1" i="0">
                <a:solidFill>
                  <a:schemeClr val="tx1"/>
                </a:solidFill>
              </a:rPr>
              <a:t>6  </a:t>
            </a:r>
            <a:r>
              <a:rPr sz="1050" b="0" i="0">
                <a:solidFill>
                  <a:schemeClr val="tx1"/>
                </a:solidFill>
              </a:rPr>
              <a:t>payments sidecar -&gt; core banking</a:t>
            </a:r>
            <a:r>
              <a:rPr sz="900" b="0" i="0">
                <a:solidFill>
                  <a:schemeClr val="tx2"/>
                </a:solidFill>
              </a:rPr>
              <a:t>  client</a:t>
            </a:r>
          </a:p>
        </p:txBody>
      </p:sp>
      <p:sp>
        <p:nvSpPr>
          <p:cNvPr id="41" name="TextBox 40"/>
          <p:cNvSpPr txBox="1"/>
          <p:nvPr/>
        </p:nvSpPr>
        <p:spPr>
          <a:xfrm>
            <a:off x="3063240" y="4475988"/>
            <a:ext cx="1463040" cy="274320"/>
          </a:xfrm>
          <a:prstGeom prst="rect">
            <a:avLst/>
          </a:prstGeom>
          <a:noFill/>
        </p:spPr>
        <p:txBody>
          <a:bodyPr wrap="square" lIns="0" rIns="0" tIns="0" bIns="0" anchor="t">
            <a:spAutoFit/>
          </a:bodyPr>
          <a:lstStyle/>
          <a:p>
            <a:pPr algn="l">
              <a:spcAft>
                <a:spcPts val="400"/>
              </a:spcAft>
            </a:pPr>
            <a:r>
              <a:rPr sz="1000" b="0" i="0">
                <a:solidFill>
                  <a:schemeClr val="tx1"/>
                </a:solidFill>
                <a:latin typeface="Courier New"/>
              </a:rPr>
              <a:t>8f33021add1527d8</a:t>
            </a:r>
          </a:p>
        </p:txBody>
      </p:sp>
      <p:sp>
        <p:nvSpPr>
          <p:cNvPr id="42" name="TextBox 41"/>
          <p:cNvSpPr txBox="1"/>
          <p:nvPr/>
        </p:nvSpPr>
        <p:spPr>
          <a:xfrm>
            <a:off x="4526280" y="4475988"/>
            <a:ext cx="1463040" cy="274320"/>
          </a:xfrm>
          <a:prstGeom prst="rect">
            <a:avLst/>
          </a:prstGeom>
          <a:noFill/>
        </p:spPr>
        <p:txBody>
          <a:bodyPr wrap="square" lIns="0" rIns="0" tIns="0" bIns="0" anchor="t">
            <a:spAutoFit/>
          </a:bodyPr>
          <a:lstStyle/>
          <a:p>
            <a:pPr algn="l">
              <a:spcAft>
                <a:spcPts val="400"/>
              </a:spcAft>
            </a:pPr>
            <a:r>
              <a:rPr sz="1000" b="0" i="0">
                <a:solidFill>
                  <a:schemeClr val="tx2"/>
                </a:solidFill>
                <a:latin typeface="Courier New"/>
              </a:rPr>
              <a:t>70f5a1ed76dfd980</a:t>
            </a:r>
          </a:p>
        </p:txBody>
      </p:sp>
      <p:sp>
        <p:nvSpPr>
          <p:cNvPr id="43" name="Rounded Rectangle 42"/>
          <p:cNvSpPr/>
          <p:nvPr/>
        </p:nvSpPr>
        <p:spPr>
          <a:xfrm>
            <a:off x="6427245" y="4521707"/>
            <a:ext cx="1941158" cy="196596"/>
          </a:xfrm>
          <a:prstGeom prst="roundRect">
            <a:avLst>
              <a:gd name="adj" fmla="val 30000"/>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ounded Rectangle 43"/>
          <p:cNvSpPr/>
          <p:nvPr/>
        </p:nvSpPr>
        <p:spPr>
          <a:xfrm>
            <a:off x="384048" y="4791456"/>
            <a:ext cx="5532120" cy="306323"/>
          </a:xfrm>
          <a:prstGeom prst="roundRect">
            <a:avLst>
              <a:gd name="adj" fmla="val 20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457200" y="4809744"/>
            <a:ext cx="2606040" cy="274320"/>
          </a:xfrm>
          <a:prstGeom prst="rect">
            <a:avLst/>
          </a:prstGeom>
          <a:noFill/>
        </p:spPr>
        <p:txBody>
          <a:bodyPr wrap="square" lIns="0" rIns="0" tIns="0" bIns="0" anchor="t">
            <a:spAutoFit/>
          </a:bodyPr>
          <a:lstStyle/>
          <a:p>
            <a:pPr algn="l">
              <a:spcAft>
                <a:spcPts val="400"/>
              </a:spcAft>
            </a:pPr>
            <a:r>
              <a:rPr sz="1050" b="1" i="0">
                <a:solidFill>
                  <a:schemeClr val="tx1"/>
                </a:solidFill>
              </a:rPr>
              <a:t>7  </a:t>
            </a:r>
            <a:r>
              <a:rPr sz="1050" b="0" i="0">
                <a:solidFill>
                  <a:schemeClr val="tx1"/>
                </a:solidFill>
              </a:rPr>
              <a:t>payments app: call notify-svc</a:t>
            </a:r>
            <a:r>
              <a:rPr sz="900" b="0" i="0">
                <a:solidFill>
                  <a:schemeClr val="tx2"/>
                </a:solidFill>
              </a:rPr>
              <a:t>  agent</a:t>
            </a:r>
          </a:p>
        </p:txBody>
      </p:sp>
      <p:sp>
        <p:nvSpPr>
          <p:cNvPr id="46" name="TextBox 45"/>
          <p:cNvSpPr txBox="1"/>
          <p:nvPr/>
        </p:nvSpPr>
        <p:spPr>
          <a:xfrm>
            <a:off x="3063240" y="4809744"/>
            <a:ext cx="1463040" cy="274320"/>
          </a:xfrm>
          <a:prstGeom prst="rect">
            <a:avLst/>
          </a:prstGeom>
          <a:noFill/>
        </p:spPr>
        <p:txBody>
          <a:bodyPr wrap="square" lIns="0" rIns="0" tIns="0" bIns="0" anchor="t">
            <a:spAutoFit/>
          </a:bodyPr>
          <a:lstStyle/>
          <a:p>
            <a:pPr algn="l">
              <a:spcAft>
                <a:spcPts val="400"/>
              </a:spcAft>
            </a:pPr>
            <a:r>
              <a:rPr sz="1000" b="1" i="0">
                <a:solidFill>
                  <a:schemeClr val="accent2"/>
                </a:solidFill>
                <a:latin typeface="Courier New"/>
              </a:rPr>
              <a:t>c5a7545b5b936a12</a:t>
            </a:r>
          </a:p>
        </p:txBody>
      </p:sp>
      <p:sp>
        <p:nvSpPr>
          <p:cNvPr id="47" name="TextBox 46"/>
          <p:cNvSpPr txBox="1"/>
          <p:nvPr/>
        </p:nvSpPr>
        <p:spPr>
          <a:xfrm>
            <a:off x="4526280" y="4809744"/>
            <a:ext cx="1463040" cy="274320"/>
          </a:xfrm>
          <a:prstGeom prst="rect">
            <a:avLst/>
          </a:prstGeom>
          <a:noFill/>
        </p:spPr>
        <p:txBody>
          <a:bodyPr wrap="square" lIns="0" rIns="0" tIns="0" bIns="0" anchor="t">
            <a:spAutoFit/>
          </a:bodyPr>
          <a:lstStyle/>
          <a:p>
            <a:pPr algn="l">
              <a:spcAft>
                <a:spcPts val="400"/>
              </a:spcAft>
            </a:pPr>
            <a:r>
              <a:rPr sz="1000" b="0" i="0">
                <a:solidFill>
                  <a:schemeClr val="tx2"/>
                </a:solidFill>
                <a:latin typeface="Courier New"/>
              </a:rPr>
              <a:t>f8fea851cf1486e0</a:t>
            </a:r>
          </a:p>
        </p:txBody>
      </p:sp>
      <p:sp>
        <p:nvSpPr>
          <p:cNvPr id="48" name="Rounded Rectangle 47"/>
          <p:cNvSpPr/>
          <p:nvPr/>
        </p:nvSpPr>
        <p:spPr>
          <a:xfrm>
            <a:off x="8383933" y="4855464"/>
            <a:ext cx="701923" cy="196596"/>
          </a:xfrm>
          <a:prstGeom prst="roundRect">
            <a:avLst>
              <a:gd name="adj" fmla="val 30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ounded Rectangle 48"/>
          <p:cNvSpPr/>
          <p:nvPr/>
        </p:nvSpPr>
        <p:spPr>
          <a:xfrm>
            <a:off x="384048" y="5125212"/>
            <a:ext cx="5532120" cy="306323"/>
          </a:xfrm>
          <a:prstGeom prst="roundRect">
            <a:avLst>
              <a:gd name="adj" fmla="val 20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457200" y="5143500"/>
            <a:ext cx="2606040" cy="274320"/>
          </a:xfrm>
          <a:prstGeom prst="rect">
            <a:avLst/>
          </a:prstGeom>
          <a:noFill/>
        </p:spPr>
        <p:txBody>
          <a:bodyPr wrap="square" lIns="0" rIns="0" tIns="0" bIns="0" anchor="t">
            <a:spAutoFit/>
          </a:bodyPr>
          <a:lstStyle/>
          <a:p>
            <a:pPr algn="l">
              <a:spcAft>
                <a:spcPts val="400"/>
              </a:spcAft>
            </a:pPr>
            <a:r>
              <a:rPr sz="1050" b="1" i="0">
                <a:solidFill>
                  <a:schemeClr val="tx1"/>
                </a:solidFill>
              </a:rPr>
              <a:t>8  </a:t>
            </a:r>
            <a:r>
              <a:rPr sz="1050" b="0" i="0">
                <a:solidFill>
                  <a:schemeClr val="tx1"/>
                </a:solidFill>
              </a:rPr>
              <a:t>payments sidecar -&gt; notify-svc</a:t>
            </a:r>
            <a:r>
              <a:rPr sz="900" b="0" i="0">
                <a:solidFill>
                  <a:schemeClr val="tx2"/>
                </a:solidFill>
              </a:rPr>
              <a:t>  client</a:t>
            </a:r>
          </a:p>
        </p:txBody>
      </p:sp>
      <p:sp>
        <p:nvSpPr>
          <p:cNvPr id="51" name="TextBox 50"/>
          <p:cNvSpPr txBox="1"/>
          <p:nvPr/>
        </p:nvSpPr>
        <p:spPr>
          <a:xfrm>
            <a:off x="3063240" y="5143500"/>
            <a:ext cx="1463040" cy="274320"/>
          </a:xfrm>
          <a:prstGeom prst="rect">
            <a:avLst/>
          </a:prstGeom>
          <a:noFill/>
        </p:spPr>
        <p:txBody>
          <a:bodyPr wrap="square" lIns="0" rIns="0" tIns="0" bIns="0" anchor="t">
            <a:spAutoFit/>
          </a:bodyPr>
          <a:lstStyle/>
          <a:p>
            <a:pPr algn="l">
              <a:spcAft>
                <a:spcPts val="400"/>
              </a:spcAft>
            </a:pPr>
            <a:r>
              <a:rPr sz="1000" b="0" i="0">
                <a:solidFill>
                  <a:schemeClr val="tx1"/>
                </a:solidFill>
                <a:latin typeface="Courier New"/>
              </a:rPr>
              <a:t>a3583a0a25b8976b</a:t>
            </a:r>
          </a:p>
        </p:txBody>
      </p:sp>
      <p:sp>
        <p:nvSpPr>
          <p:cNvPr id="52" name="TextBox 51"/>
          <p:cNvSpPr txBox="1"/>
          <p:nvPr/>
        </p:nvSpPr>
        <p:spPr>
          <a:xfrm>
            <a:off x="4526280" y="5143500"/>
            <a:ext cx="1463040" cy="274320"/>
          </a:xfrm>
          <a:prstGeom prst="rect">
            <a:avLst/>
          </a:prstGeom>
          <a:noFill/>
        </p:spPr>
        <p:txBody>
          <a:bodyPr wrap="square" lIns="0" rIns="0" tIns="0" bIns="0" anchor="t">
            <a:spAutoFit/>
          </a:bodyPr>
          <a:lstStyle/>
          <a:p>
            <a:pPr algn="l">
              <a:spcAft>
                <a:spcPts val="400"/>
              </a:spcAft>
            </a:pPr>
            <a:r>
              <a:rPr sz="1000" b="1" i="0">
                <a:solidFill>
                  <a:schemeClr val="accent2"/>
                </a:solidFill>
                <a:latin typeface="Courier New"/>
              </a:rPr>
              <a:t>c5a7545b5b936a12</a:t>
            </a:r>
          </a:p>
        </p:txBody>
      </p:sp>
      <p:sp>
        <p:nvSpPr>
          <p:cNvPr id="53" name="Rounded Rectangle 52"/>
          <p:cNvSpPr/>
          <p:nvPr/>
        </p:nvSpPr>
        <p:spPr>
          <a:xfrm>
            <a:off x="8388592" y="5189220"/>
            <a:ext cx="691052" cy="196596"/>
          </a:xfrm>
          <a:prstGeom prst="roundRect">
            <a:avLst>
              <a:gd name="adj" fmla="val 30000"/>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457200" y="5477256"/>
            <a:ext cx="2606040" cy="274320"/>
          </a:xfrm>
          <a:prstGeom prst="rect">
            <a:avLst/>
          </a:prstGeom>
          <a:noFill/>
        </p:spPr>
        <p:txBody>
          <a:bodyPr wrap="square" lIns="0" rIns="0" tIns="0" bIns="0" anchor="t">
            <a:spAutoFit/>
          </a:bodyPr>
          <a:lstStyle/>
          <a:p>
            <a:pPr algn="l">
              <a:spcAft>
                <a:spcPts val="400"/>
              </a:spcAft>
            </a:pPr>
            <a:r>
              <a:rPr sz="1050" b="1" i="0">
                <a:solidFill>
                  <a:schemeClr val="tx1"/>
                </a:solidFill>
              </a:rPr>
              <a:t>9  </a:t>
            </a:r>
            <a:r>
              <a:rPr sz="1050" b="0" i="0">
                <a:solidFill>
                  <a:schemeClr val="tx1"/>
                </a:solidFill>
              </a:rPr>
              <a:t>notify sidecar</a:t>
            </a:r>
            <a:r>
              <a:rPr sz="900" b="0" i="0">
                <a:solidFill>
                  <a:schemeClr val="tx2"/>
                </a:solidFill>
              </a:rPr>
              <a:t>  server</a:t>
            </a:r>
          </a:p>
        </p:txBody>
      </p:sp>
      <p:sp>
        <p:nvSpPr>
          <p:cNvPr id="55" name="TextBox 54"/>
          <p:cNvSpPr txBox="1"/>
          <p:nvPr/>
        </p:nvSpPr>
        <p:spPr>
          <a:xfrm>
            <a:off x="3063240" y="5477256"/>
            <a:ext cx="1463040" cy="274320"/>
          </a:xfrm>
          <a:prstGeom prst="rect">
            <a:avLst/>
          </a:prstGeom>
          <a:noFill/>
        </p:spPr>
        <p:txBody>
          <a:bodyPr wrap="square" lIns="0" rIns="0" tIns="0" bIns="0" anchor="t">
            <a:spAutoFit/>
          </a:bodyPr>
          <a:lstStyle/>
          <a:p>
            <a:pPr algn="l">
              <a:spcAft>
                <a:spcPts val="400"/>
              </a:spcAft>
            </a:pPr>
            <a:r>
              <a:rPr sz="1000" b="0" i="0">
                <a:solidFill>
                  <a:schemeClr val="tx1"/>
                </a:solidFill>
                <a:latin typeface="Courier New"/>
              </a:rPr>
              <a:t>1f72f872e5221901</a:t>
            </a:r>
          </a:p>
        </p:txBody>
      </p:sp>
      <p:sp>
        <p:nvSpPr>
          <p:cNvPr id="56" name="TextBox 55"/>
          <p:cNvSpPr txBox="1"/>
          <p:nvPr/>
        </p:nvSpPr>
        <p:spPr>
          <a:xfrm>
            <a:off x="4526280" y="5477256"/>
            <a:ext cx="1463040" cy="274320"/>
          </a:xfrm>
          <a:prstGeom prst="rect">
            <a:avLst/>
          </a:prstGeom>
          <a:noFill/>
        </p:spPr>
        <p:txBody>
          <a:bodyPr wrap="square" lIns="0" rIns="0" tIns="0" bIns="0" anchor="t">
            <a:spAutoFit/>
          </a:bodyPr>
          <a:lstStyle/>
          <a:p>
            <a:pPr algn="l">
              <a:spcAft>
                <a:spcPts val="400"/>
              </a:spcAft>
            </a:pPr>
            <a:r>
              <a:rPr sz="1000" b="0" i="0">
                <a:solidFill>
                  <a:schemeClr val="tx2"/>
                </a:solidFill>
                <a:latin typeface="Courier New"/>
              </a:rPr>
              <a:t>a3583a0a25b8976b</a:t>
            </a:r>
          </a:p>
        </p:txBody>
      </p:sp>
      <p:sp>
        <p:nvSpPr>
          <p:cNvPr id="57" name="Rounded Rectangle 56"/>
          <p:cNvSpPr/>
          <p:nvPr/>
        </p:nvSpPr>
        <p:spPr>
          <a:xfrm>
            <a:off x="8393251" y="5522976"/>
            <a:ext cx="683287" cy="196596"/>
          </a:xfrm>
          <a:prstGeom prst="roundRect">
            <a:avLst>
              <a:gd name="adj" fmla="val 30000"/>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457200" y="5811012"/>
            <a:ext cx="2606040" cy="274320"/>
          </a:xfrm>
          <a:prstGeom prst="rect">
            <a:avLst/>
          </a:prstGeom>
          <a:noFill/>
        </p:spPr>
        <p:txBody>
          <a:bodyPr wrap="square" lIns="0" rIns="0" tIns="0" bIns="0" anchor="t">
            <a:spAutoFit/>
          </a:bodyPr>
          <a:lstStyle/>
          <a:p>
            <a:pPr algn="l">
              <a:spcAft>
                <a:spcPts val="400"/>
              </a:spcAft>
            </a:pPr>
            <a:r>
              <a:rPr sz="1050" b="1" i="0">
                <a:solidFill>
                  <a:schemeClr val="tx1"/>
                </a:solidFill>
              </a:rPr>
              <a:t>10  </a:t>
            </a:r>
            <a:r>
              <a:rPr sz="1050" b="0" i="0">
                <a:solidFill>
                  <a:schemeClr val="tx1"/>
                </a:solidFill>
              </a:rPr>
              <a:t>notify app: POST /notify</a:t>
            </a:r>
            <a:r>
              <a:rPr sz="900" b="0" i="0">
                <a:solidFill>
                  <a:schemeClr val="tx2"/>
                </a:solidFill>
              </a:rPr>
              <a:t>  agent</a:t>
            </a:r>
          </a:p>
        </p:txBody>
      </p:sp>
      <p:sp>
        <p:nvSpPr>
          <p:cNvPr id="59" name="TextBox 58"/>
          <p:cNvSpPr txBox="1"/>
          <p:nvPr/>
        </p:nvSpPr>
        <p:spPr>
          <a:xfrm>
            <a:off x="3063240" y="5811012"/>
            <a:ext cx="1463040" cy="274320"/>
          </a:xfrm>
          <a:prstGeom prst="rect">
            <a:avLst/>
          </a:prstGeom>
          <a:noFill/>
        </p:spPr>
        <p:txBody>
          <a:bodyPr wrap="square" lIns="0" rIns="0" tIns="0" bIns="0" anchor="t">
            <a:spAutoFit/>
          </a:bodyPr>
          <a:lstStyle/>
          <a:p>
            <a:pPr algn="l">
              <a:spcAft>
                <a:spcPts val="400"/>
              </a:spcAft>
            </a:pPr>
            <a:r>
              <a:rPr sz="1000" b="0" i="0">
                <a:solidFill>
                  <a:schemeClr val="tx1"/>
                </a:solidFill>
                <a:latin typeface="Courier New"/>
              </a:rPr>
              <a:t>6ffc79c30976757e</a:t>
            </a:r>
          </a:p>
        </p:txBody>
      </p:sp>
      <p:sp>
        <p:nvSpPr>
          <p:cNvPr id="60" name="TextBox 59"/>
          <p:cNvSpPr txBox="1"/>
          <p:nvPr/>
        </p:nvSpPr>
        <p:spPr>
          <a:xfrm>
            <a:off x="4526280" y="5811012"/>
            <a:ext cx="1463040" cy="274320"/>
          </a:xfrm>
          <a:prstGeom prst="rect">
            <a:avLst/>
          </a:prstGeom>
          <a:noFill/>
        </p:spPr>
        <p:txBody>
          <a:bodyPr wrap="square" lIns="0" rIns="0" tIns="0" bIns="0" anchor="t">
            <a:spAutoFit/>
          </a:bodyPr>
          <a:lstStyle/>
          <a:p>
            <a:pPr algn="l">
              <a:spcAft>
                <a:spcPts val="400"/>
              </a:spcAft>
            </a:pPr>
            <a:r>
              <a:rPr sz="1000" b="0" i="0">
                <a:solidFill>
                  <a:schemeClr val="tx2"/>
                </a:solidFill>
                <a:latin typeface="Courier New"/>
              </a:rPr>
              <a:t>1f72f872e5221901</a:t>
            </a:r>
          </a:p>
        </p:txBody>
      </p:sp>
      <p:sp>
        <p:nvSpPr>
          <p:cNvPr id="61" name="Rounded Rectangle 60"/>
          <p:cNvSpPr/>
          <p:nvPr/>
        </p:nvSpPr>
        <p:spPr>
          <a:xfrm>
            <a:off x="8402568" y="5856732"/>
            <a:ext cx="669311" cy="196596"/>
          </a:xfrm>
          <a:prstGeom prst="roundRect">
            <a:avLst>
              <a:gd name="adj" fmla="val 30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457200" y="6181344"/>
            <a:ext cx="8686800" cy="274320"/>
          </a:xfrm>
          <a:prstGeom prst="rect">
            <a:avLst/>
          </a:prstGeom>
          <a:noFill/>
        </p:spPr>
        <p:txBody>
          <a:bodyPr wrap="square" lIns="0" rIns="0" tIns="0" bIns="0" anchor="t">
            <a:spAutoFit/>
          </a:bodyPr>
          <a:lstStyle/>
          <a:p>
            <a:pPr algn="l">
              <a:spcAft>
                <a:spcPts val="400"/>
              </a:spcAft>
            </a:pPr>
            <a:r>
              <a:rPr sz="1050" b="0" i="1">
                <a:solidFill>
                  <a:schemeClr val="tx2"/>
                </a:solidFill>
              </a:rPr>
              <a:t>Row 7's span ID goes out as parent-id; row 8 records it as parent and sends a3583a0a... on. Rows 5 and 7 are siblings.</a:t>
            </a:r>
          </a:p>
        </p:txBody>
      </p:sp>
      <p:sp>
        <p:nvSpPr>
          <p:cNvPr id="63" name="Rounded Rectangle 62"/>
          <p:cNvSpPr/>
          <p:nvPr/>
        </p:nvSpPr>
        <p:spPr>
          <a:xfrm>
            <a:off x="9326880" y="2514600"/>
            <a:ext cx="2377440" cy="3611880"/>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82296" bIns="82296"/>
          <a:lstStyle/>
          <a:p>
            <a:pPr algn="l">
              <a:spcAft>
                <a:spcPts val="500"/>
              </a:spcAft>
            </a:pPr>
            <a:r>
              <a:rPr sz="1300" b="1" i="0">
                <a:solidFill>
                  <a:schemeClr val="tx1"/>
                </a:solidFill>
              </a:rPr>
              <a:t>Key terms</a:t>
            </a:r>
          </a:p>
          <a:p>
            <a:pPr algn="l">
              <a:spcAft>
                <a:spcPts val="500"/>
              </a:spcAft>
            </a:pPr>
            <a:r>
              <a:rPr sz="1050" b="1" i="0">
                <a:solidFill>
                  <a:schemeClr val="tx1"/>
                </a:solidFill>
              </a:rPr>
              <a:t>Trace ID: </a:t>
            </a:r>
            <a:r>
              <a:rPr sz="1050" b="0" i="0">
                <a:solidFill>
                  <a:schemeClr val="tx1"/>
                </a:solidFill>
              </a:rPr>
              <a:t>created once at the gateway, copied to every hop.</a:t>
            </a:r>
          </a:p>
          <a:p>
            <a:pPr algn="l">
              <a:spcAft>
                <a:spcPts val="500"/>
              </a:spcAft>
            </a:pPr>
            <a:r>
              <a:rPr sz="1050" b="1" i="0">
                <a:solidFill>
                  <a:schemeClr val="tx1"/>
                </a:solidFill>
              </a:rPr>
              <a:t>Span ID: </a:t>
            </a:r>
            <a:r>
              <a:rPr sz="1050" b="0" i="0">
                <a:solidFill>
                  <a:schemeClr val="tx1"/>
                </a:solidFill>
              </a:rPr>
              <a:t>new for every span, created by whoever records it.</a:t>
            </a:r>
          </a:p>
          <a:p>
            <a:pPr algn="l">
              <a:spcAft>
                <a:spcPts val="500"/>
              </a:spcAft>
            </a:pPr>
            <a:r>
              <a:rPr sz="1050" b="1" i="0">
                <a:solidFill>
                  <a:schemeClr val="tx1"/>
                </a:solidFill>
              </a:rPr>
              <a:t>parent-id: </a:t>
            </a:r>
            <a:r>
              <a:rPr sz="1050" b="0" i="0">
                <a:solidFill>
                  <a:schemeClr val="tx1"/>
                </a:solidFill>
              </a:rPr>
              <a:t>the header field; carries the caller's span ID.</a:t>
            </a:r>
          </a:p>
          <a:p>
            <a:pPr algn="l">
              <a:spcAft>
                <a:spcPts val="500"/>
              </a:spcAft>
            </a:pPr>
            <a:r>
              <a:rPr sz="1050" b="1" i="0">
                <a:solidFill>
                  <a:schemeClr val="tx1"/>
                </a:solidFill>
              </a:rPr>
              <a:t>Propagation: </a:t>
            </a:r>
            <a:r>
              <a:rPr sz="1050" b="0" i="0">
                <a:solidFill>
                  <a:schemeClr val="tx1"/>
                </a:solidFill>
              </a:rPr>
              <a:t>each hop reads parent-id, makes its own span ID and writes that into its outgoing call.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0"/>
          </p:nvPr>
        </p:nvSpPr>
        <p:spPr/>
        <p:txBody>
          <a:bodyPr/>
          <a:lstStyle/>
          <a:p>
            <a:r>
              <a:t>Context propagation: how payments-svc passes the trace to notify-svc</a:t>
            </a:r>
          </a:p>
        </p:txBody>
      </p:sp>
      <p:sp>
        <p:nvSpPr>
          <p:cNvPr id="3"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sp>
        <p:nvSpPr>
          <p:cNvPr id="4" name="Rounded Rectangle 3"/>
          <p:cNvSpPr/>
          <p:nvPr/>
        </p:nvSpPr>
        <p:spPr>
          <a:xfrm>
            <a:off x="457200" y="1280160"/>
            <a:ext cx="2011680" cy="1691640"/>
          </a:xfrm>
          <a:prstGeom prst="roundRect">
            <a:avLst>
              <a:gd name="adj" fmla="val 8000"/>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18872" rIns="118872" tIns="71323" bIns="71323"/>
          <a:lstStyle/>
          <a:p>
            <a:pPr algn="l">
              <a:spcAft>
                <a:spcPts val="100"/>
              </a:spcAft>
            </a:pPr>
            <a:r>
              <a:rPr sz="1250" b="1" i="0">
                <a:solidFill>
                  <a:schemeClr val="bg1"/>
                </a:solidFill>
              </a:rPr>
              <a:t>1  </a:t>
            </a:r>
            <a:r>
              <a:rPr sz="1250" b="1" i="0">
                <a:solidFill>
                  <a:schemeClr val="bg1"/>
                </a:solidFill>
              </a:rPr>
              <a:t>payments sidecar</a:t>
            </a:r>
          </a:p>
          <a:p>
            <a:pPr algn="l">
              <a:spcAft>
                <a:spcPts val="100"/>
              </a:spcAft>
            </a:pPr>
            <a:r>
              <a:rPr sz="1050" b="0" i="1">
                <a:solidFill>
                  <a:schemeClr val="bg1"/>
                </a:solidFill>
              </a:rPr>
              <a:t>inbound</a:t>
            </a:r>
          </a:p>
          <a:p>
            <a:pPr algn="l">
              <a:spcAft>
                <a:spcPts val="100"/>
              </a:spcAft>
            </a:pPr>
            <a:r>
              <a:rPr sz="1000" b="0" i="0">
                <a:solidFill>
                  <a:schemeClr val="bg1"/>
                </a:solidFill>
              </a:rPr>
              <a:t>creates span</a:t>
            </a:r>
          </a:p>
          <a:p>
            <a:pPr algn="l">
              <a:spcAft>
                <a:spcPts val="100"/>
              </a:spcAft>
            </a:pPr>
            <a:r>
              <a:rPr sz="1050" b="1" i="0">
                <a:solidFill>
                  <a:schemeClr val="bg1"/>
                </a:solidFill>
                <a:latin typeface="Courier New"/>
              </a:rPr>
              <a:t>55692cc0...</a:t>
            </a:r>
          </a:p>
          <a:p>
            <a:pPr algn="l">
              <a:spcAft>
                <a:spcPts val="100"/>
              </a:spcAft>
            </a:pPr>
            <a:r>
              <a:rPr sz="1000" b="0" i="0">
                <a:solidFill>
                  <a:schemeClr val="bg1"/>
                </a:solidFill>
              </a:rPr>
              <a:t>parent</a:t>
            </a:r>
          </a:p>
          <a:p>
            <a:pPr algn="l">
              <a:spcAft>
                <a:spcPts val="100"/>
              </a:spcAft>
            </a:pPr>
            <a:r>
              <a:rPr sz="1050" b="0" i="0">
                <a:solidFill>
                  <a:schemeClr val="bg1"/>
                </a:solidFill>
                <a:latin typeface="Courier New"/>
              </a:rPr>
              <a:t>e9c75782... (gateway)</a:t>
            </a:r>
          </a:p>
        </p:txBody>
      </p:sp>
      <p:sp>
        <p:nvSpPr>
          <p:cNvPr id="5" name="Rounded Rectangle 4"/>
          <p:cNvSpPr/>
          <p:nvPr/>
        </p:nvSpPr>
        <p:spPr>
          <a:xfrm>
            <a:off x="2766060" y="1280160"/>
            <a:ext cx="2011680" cy="1691640"/>
          </a:xfrm>
          <a:prstGeom prst="roundRect">
            <a:avLst>
              <a:gd name="adj" fmla="val 8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18872" rIns="118872" tIns="71323" bIns="71323"/>
          <a:lstStyle/>
          <a:p>
            <a:pPr algn="l">
              <a:spcAft>
                <a:spcPts val="100"/>
              </a:spcAft>
            </a:pPr>
            <a:r>
              <a:rPr sz="1250" b="1" i="0">
                <a:solidFill>
                  <a:schemeClr val="bg1"/>
                </a:solidFill>
              </a:rPr>
              <a:t>2  </a:t>
            </a:r>
            <a:r>
              <a:rPr sz="1250" b="1" i="0">
                <a:solidFill>
                  <a:schemeClr val="bg1"/>
                </a:solidFill>
              </a:rPr>
              <a:t>payments app</a:t>
            </a:r>
          </a:p>
          <a:p>
            <a:pPr algn="l">
              <a:spcAft>
                <a:spcPts val="100"/>
              </a:spcAft>
            </a:pPr>
            <a:r>
              <a:rPr sz="1050" b="0" i="1">
                <a:solidFill>
                  <a:schemeClr val="bg1"/>
                </a:solidFill>
              </a:rPr>
              <a:t>OTel agent</a:t>
            </a:r>
          </a:p>
          <a:p>
            <a:pPr algn="l">
              <a:spcAft>
                <a:spcPts val="100"/>
              </a:spcAft>
            </a:pPr>
            <a:r>
              <a:rPr sz="1000" b="0" i="0">
                <a:solidFill>
                  <a:schemeClr val="bg1"/>
                </a:solidFill>
              </a:rPr>
              <a:t>creates span</a:t>
            </a:r>
          </a:p>
          <a:p>
            <a:pPr algn="l">
              <a:spcAft>
                <a:spcPts val="100"/>
              </a:spcAft>
            </a:pPr>
            <a:r>
              <a:rPr sz="1050" b="1" i="0">
                <a:solidFill>
                  <a:schemeClr val="bg1"/>
                </a:solidFill>
                <a:latin typeface="Courier New"/>
              </a:rPr>
              <a:t>f8fea851 (handler)
c5a7545b (call)</a:t>
            </a:r>
          </a:p>
          <a:p>
            <a:pPr algn="l">
              <a:spcAft>
                <a:spcPts val="100"/>
              </a:spcAft>
            </a:pPr>
            <a:r>
              <a:rPr sz="1000" b="0" i="0">
                <a:solidFill>
                  <a:schemeClr val="bg1"/>
                </a:solidFill>
              </a:rPr>
              <a:t>parent</a:t>
            </a:r>
          </a:p>
          <a:p>
            <a:pPr algn="l">
              <a:spcAft>
                <a:spcPts val="100"/>
              </a:spcAft>
            </a:pPr>
            <a:r>
              <a:rPr sz="1050" b="0" i="0">
                <a:solidFill>
                  <a:schemeClr val="bg1"/>
                </a:solidFill>
                <a:latin typeface="Courier New"/>
              </a:rPr>
              <a:t>55692cc0...</a:t>
            </a:r>
          </a:p>
        </p:txBody>
      </p:sp>
      <p:cxnSp>
        <p:nvCxnSpPr>
          <p:cNvPr id="6" name="Connector 5"/>
          <p:cNvCxnSpPr/>
          <p:nvPr/>
        </p:nvCxnSpPr>
        <p:spPr>
          <a:xfrm>
            <a:off x="2468880" y="2103120"/>
            <a:ext cx="297180" cy="0"/>
          </a:xfrm>
          <a:prstGeom prst="line">
            <a:avLst/>
          </a:prstGeom>
          <a:ln w="15875">
            <a:solidFill>
              <a:schemeClr val="tx2"/>
            </a:solidFill>
            <a:tailEnd type="triangle"/>
          </a:ln>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5074920" y="1280160"/>
            <a:ext cx="2011680" cy="1691640"/>
          </a:xfrm>
          <a:prstGeom prst="roundRect">
            <a:avLst>
              <a:gd name="adj" fmla="val 8000"/>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18872" rIns="118872" tIns="71323" bIns="71323"/>
          <a:lstStyle/>
          <a:p>
            <a:pPr algn="l">
              <a:spcAft>
                <a:spcPts val="100"/>
              </a:spcAft>
            </a:pPr>
            <a:r>
              <a:rPr sz="1250" b="1" i="0">
                <a:solidFill>
                  <a:schemeClr val="bg1"/>
                </a:solidFill>
              </a:rPr>
              <a:t>3  </a:t>
            </a:r>
            <a:r>
              <a:rPr sz="1250" b="1" i="0">
                <a:solidFill>
                  <a:schemeClr val="bg1"/>
                </a:solidFill>
              </a:rPr>
              <a:t>payments sidecar</a:t>
            </a:r>
          </a:p>
          <a:p>
            <a:pPr algn="l">
              <a:spcAft>
                <a:spcPts val="100"/>
              </a:spcAft>
            </a:pPr>
            <a:r>
              <a:rPr sz="1050" b="0" i="1">
                <a:solidFill>
                  <a:schemeClr val="bg1"/>
                </a:solidFill>
              </a:rPr>
              <a:t>outbound</a:t>
            </a:r>
          </a:p>
          <a:p>
            <a:pPr algn="l">
              <a:spcAft>
                <a:spcPts val="100"/>
              </a:spcAft>
            </a:pPr>
            <a:r>
              <a:rPr sz="1000" b="0" i="0">
                <a:solidFill>
                  <a:schemeClr val="bg1"/>
                </a:solidFill>
              </a:rPr>
              <a:t>creates span</a:t>
            </a:r>
          </a:p>
          <a:p>
            <a:pPr algn="l">
              <a:spcAft>
                <a:spcPts val="100"/>
              </a:spcAft>
            </a:pPr>
            <a:r>
              <a:rPr sz="1050" b="1" i="0">
                <a:solidFill>
                  <a:schemeClr val="bg1"/>
                </a:solidFill>
                <a:latin typeface="Courier New"/>
              </a:rPr>
              <a:t>a3583a0a...</a:t>
            </a:r>
          </a:p>
          <a:p>
            <a:pPr algn="l">
              <a:spcAft>
                <a:spcPts val="100"/>
              </a:spcAft>
            </a:pPr>
            <a:r>
              <a:rPr sz="1000" b="0" i="0">
                <a:solidFill>
                  <a:schemeClr val="bg1"/>
                </a:solidFill>
              </a:rPr>
              <a:t>parent</a:t>
            </a:r>
          </a:p>
          <a:p>
            <a:pPr algn="l">
              <a:spcAft>
                <a:spcPts val="100"/>
              </a:spcAft>
            </a:pPr>
            <a:r>
              <a:rPr sz="1050" b="0" i="0">
                <a:solidFill>
                  <a:schemeClr val="bg1"/>
                </a:solidFill>
                <a:latin typeface="Courier New"/>
              </a:rPr>
              <a:t>c5a7545b...</a:t>
            </a:r>
          </a:p>
        </p:txBody>
      </p:sp>
      <p:cxnSp>
        <p:nvCxnSpPr>
          <p:cNvPr id="8" name="Connector 7"/>
          <p:cNvCxnSpPr/>
          <p:nvPr/>
        </p:nvCxnSpPr>
        <p:spPr>
          <a:xfrm>
            <a:off x="4777740" y="2103120"/>
            <a:ext cx="297180" cy="0"/>
          </a:xfrm>
          <a:prstGeom prst="line">
            <a:avLst/>
          </a:prstGeom>
          <a:ln w="15875">
            <a:solidFill>
              <a:schemeClr val="tx2"/>
            </a:solidFill>
            <a:tailEnd type="triangle"/>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7383780" y="1280160"/>
            <a:ext cx="2011680" cy="1691640"/>
          </a:xfrm>
          <a:prstGeom prst="roundRect">
            <a:avLst>
              <a:gd name="adj" fmla="val 8000"/>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18872" rIns="118872" tIns="71323" bIns="71323"/>
          <a:lstStyle/>
          <a:p>
            <a:pPr algn="l">
              <a:spcAft>
                <a:spcPts val="100"/>
              </a:spcAft>
            </a:pPr>
            <a:r>
              <a:rPr sz="1250" b="1" i="0">
                <a:solidFill>
                  <a:schemeClr val="bg1"/>
                </a:solidFill>
              </a:rPr>
              <a:t>4  </a:t>
            </a:r>
            <a:r>
              <a:rPr sz="1250" b="1" i="0">
                <a:solidFill>
                  <a:schemeClr val="bg1"/>
                </a:solidFill>
              </a:rPr>
              <a:t>notify sidecar</a:t>
            </a:r>
          </a:p>
          <a:p>
            <a:pPr algn="l">
              <a:spcAft>
                <a:spcPts val="100"/>
              </a:spcAft>
            </a:pPr>
            <a:r>
              <a:rPr sz="1050" b="0" i="1">
                <a:solidFill>
                  <a:schemeClr val="bg1"/>
                </a:solidFill>
              </a:rPr>
              <a:t>inbound</a:t>
            </a:r>
          </a:p>
          <a:p>
            <a:pPr algn="l">
              <a:spcAft>
                <a:spcPts val="100"/>
              </a:spcAft>
            </a:pPr>
            <a:r>
              <a:rPr sz="1000" b="0" i="0">
                <a:solidFill>
                  <a:schemeClr val="bg1"/>
                </a:solidFill>
              </a:rPr>
              <a:t>creates span</a:t>
            </a:r>
          </a:p>
          <a:p>
            <a:pPr algn="l">
              <a:spcAft>
                <a:spcPts val="100"/>
              </a:spcAft>
            </a:pPr>
            <a:r>
              <a:rPr sz="1050" b="1" i="0">
                <a:solidFill>
                  <a:schemeClr val="bg1"/>
                </a:solidFill>
                <a:latin typeface="Courier New"/>
              </a:rPr>
              <a:t>1f72f872...</a:t>
            </a:r>
          </a:p>
          <a:p>
            <a:pPr algn="l">
              <a:spcAft>
                <a:spcPts val="100"/>
              </a:spcAft>
            </a:pPr>
            <a:r>
              <a:rPr sz="1000" b="0" i="0">
                <a:solidFill>
                  <a:schemeClr val="bg1"/>
                </a:solidFill>
              </a:rPr>
              <a:t>parent</a:t>
            </a:r>
          </a:p>
          <a:p>
            <a:pPr algn="l">
              <a:spcAft>
                <a:spcPts val="100"/>
              </a:spcAft>
            </a:pPr>
            <a:r>
              <a:rPr sz="1050" b="0" i="0">
                <a:solidFill>
                  <a:schemeClr val="bg1"/>
                </a:solidFill>
                <a:latin typeface="Courier New"/>
              </a:rPr>
              <a:t>a3583a0a...</a:t>
            </a:r>
          </a:p>
        </p:txBody>
      </p:sp>
      <p:cxnSp>
        <p:nvCxnSpPr>
          <p:cNvPr id="10" name="Connector 9"/>
          <p:cNvCxnSpPr/>
          <p:nvPr/>
        </p:nvCxnSpPr>
        <p:spPr>
          <a:xfrm>
            <a:off x="7086600" y="2103120"/>
            <a:ext cx="297180" cy="0"/>
          </a:xfrm>
          <a:prstGeom prst="line">
            <a:avLst/>
          </a:prstGeom>
          <a:ln w="15875">
            <a:solidFill>
              <a:schemeClr val="tx2"/>
            </a:solidFill>
            <a:tailEnd type="triangle"/>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9692640" y="1280160"/>
            <a:ext cx="2011680" cy="1691640"/>
          </a:xfrm>
          <a:prstGeom prst="roundRect">
            <a:avLst>
              <a:gd name="adj" fmla="val 8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18872" rIns="118872" tIns="71323" bIns="71323"/>
          <a:lstStyle/>
          <a:p>
            <a:pPr algn="l">
              <a:spcAft>
                <a:spcPts val="100"/>
              </a:spcAft>
            </a:pPr>
            <a:r>
              <a:rPr sz="1250" b="1" i="0">
                <a:solidFill>
                  <a:schemeClr val="bg1"/>
                </a:solidFill>
              </a:rPr>
              <a:t>5  </a:t>
            </a:r>
            <a:r>
              <a:rPr sz="1250" b="1" i="0">
                <a:solidFill>
                  <a:schemeClr val="bg1"/>
                </a:solidFill>
              </a:rPr>
              <a:t>notify app</a:t>
            </a:r>
          </a:p>
          <a:p>
            <a:pPr algn="l">
              <a:spcAft>
                <a:spcPts val="100"/>
              </a:spcAft>
            </a:pPr>
            <a:r>
              <a:rPr sz="1050" b="0" i="1">
                <a:solidFill>
                  <a:schemeClr val="bg1"/>
                </a:solidFill>
              </a:rPr>
              <a:t>OTel agent</a:t>
            </a:r>
          </a:p>
          <a:p>
            <a:pPr algn="l">
              <a:spcAft>
                <a:spcPts val="100"/>
              </a:spcAft>
            </a:pPr>
            <a:r>
              <a:rPr sz="1000" b="0" i="0">
                <a:solidFill>
                  <a:schemeClr val="bg1"/>
                </a:solidFill>
              </a:rPr>
              <a:t>creates span</a:t>
            </a:r>
          </a:p>
          <a:p>
            <a:pPr algn="l">
              <a:spcAft>
                <a:spcPts val="100"/>
              </a:spcAft>
            </a:pPr>
            <a:r>
              <a:rPr sz="1050" b="1" i="0">
                <a:solidFill>
                  <a:schemeClr val="bg1"/>
                </a:solidFill>
                <a:latin typeface="Courier New"/>
              </a:rPr>
              <a:t>6ffc79c3...</a:t>
            </a:r>
          </a:p>
          <a:p>
            <a:pPr algn="l">
              <a:spcAft>
                <a:spcPts val="100"/>
              </a:spcAft>
            </a:pPr>
            <a:r>
              <a:rPr sz="1000" b="0" i="0">
                <a:solidFill>
                  <a:schemeClr val="bg1"/>
                </a:solidFill>
              </a:rPr>
              <a:t>parent</a:t>
            </a:r>
          </a:p>
          <a:p>
            <a:pPr algn="l">
              <a:spcAft>
                <a:spcPts val="100"/>
              </a:spcAft>
            </a:pPr>
            <a:r>
              <a:rPr sz="1050" b="0" i="0">
                <a:solidFill>
                  <a:schemeClr val="bg1"/>
                </a:solidFill>
                <a:latin typeface="Courier New"/>
              </a:rPr>
              <a:t>1f72f872...</a:t>
            </a:r>
          </a:p>
        </p:txBody>
      </p:sp>
      <p:cxnSp>
        <p:nvCxnSpPr>
          <p:cNvPr id="12" name="Connector 11"/>
          <p:cNvCxnSpPr/>
          <p:nvPr/>
        </p:nvCxnSpPr>
        <p:spPr>
          <a:xfrm>
            <a:off x="9395460" y="2103120"/>
            <a:ext cx="297180" cy="0"/>
          </a:xfrm>
          <a:prstGeom prst="line">
            <a:avLst/>
          </a:prstGeom>
          <a:ln w="15875">
            <a:solidFill>
              <a:schemeClr val="tx2"/>
            </a:solidFill>
            <a:tailEnd type="triangle"/>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457200" y="3063240"/>
            <a:ext cx="11247120" cy="256032"/>
          </a:xfrm>
          <a:prstGeom prst="rect">
            <a:avLst/>
          </a:prstGeom>
          <a:noFill/>
        </p:spPr>
        <p:txBody>
          <a:bodyPr wrap="square" lIns="0" rIns="0" tIns="0" bIns="0" anchor="t">
            <a:spAutoFit/>
          </a:bodyPr>
          <a:lstStyle/>
          <a:p>
            <a:pPr algn="l">
              <a:spcAft>
                <a:spcPts val="400"/>
              </a:spcAft>
            </a:pPr>
            <a:r>
              <a:rPr sz="1050" b="1" i="0">
                <a:solidFill>
                  <a:schemeClr val="tx2"/>
                </a:solidFill>
              </a:rPr>
              <a:t>traceparent ON EACH LEG (trace-id f0b98398... never changes)</a:t>
            </a:r>
          </a:p>
        </p:txBody>
      </p:sp>
      <p:sp>
        <p:nvSpPr>
          <p:cNvPr id="14" name="Rounded Rectangle 13"/>
          <p:cNvSpPr/>
          <p:nvPr/>
        </p:nvSpPr>
        <p:spPr>
          <a:xfrm>
            <a:off x="1520190" y="3364992"/>
            <a:ext cx="2194560" cy="566928"/>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spcAft>
                <a:spcPts val="0"/>
              </a:spcAft>
            </a:pPr>
            <a:r>
              <a:rPr sz="1000" b="1" i="0">
                <a:solidFill>
                  <a:schemeClr val="accent2"/>
                </a:solidFill>
                <a:latin typeface="Courier New"/>
              </a:rPr>
              <a:t>parent-id = 55692cc0...</a:t>
            </a:r>
          </a:p>
          <a:p>
            <a:pPr algn="ctr">
              <a:spcAft>
                <a:spcPts val="0"/>
              </a:spcAft>
            </a:pPr>
            <a:r>
              <a:rPr sz="950" b="0" i="0">
                <a:solidFill>
                  <a:schemeClr val="tx2"/>
                </a:solidFill>
              </a:rPr>
              <a:t>sidecar to app, same pod</a:t>
            </a:r>
          </a:p>
        </p:txBody>
      </p:sp>
      <p:sp>
        <p:nvSpPr>
          <p:cNvPr id="15" name="Rounded Rectangle 14"/>
          <p:cNvSpPr/>
          <p:nvPr/>
        </p:nvSpPr>
        <p:spPr>
          <a:xfrm>
            <a:off x="3829050" y="3364992"/>
            <a:ext cx="2194560" cy="566928"/>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spcAft>
                <a:spcPts val="0"/>
              </a:spcAft>
            </a:pPr>
            <a:r>
              <a:rPr sz="1000" b="1" i="0">
                <a:solidFill>
                  <a:schemeClr val="accent2"/>
                </a:solidFill>
                <a:latin typeface="Courier New"/>
              </a:rPr>
              <a:t>parent-id = c5a7545b...</a:t>
            </a:r>
          </a:p>
          <a:p>
            <a:pPr algn="ctr">
              <a:spcAft>
                <a:spcPts val="0"/>
              </a:spcAft>
            </a:pPr>
            <a:r>
              <a:rPr sz="950" b="0" i="0">
                <a:solidFill>
                  <a:schemeClr val="tx2"/>
                </a:solidFill>
              </a:rPr>
              <a:t>app to its sidecar</a:t>
            </a:r>
          </a:p>
        </p:txBody>
      </p:sp>
      <p:sp>
        <p:nvSpPr>
          <p:cNvPr id="16" name="Rounded Rectangle 15"/>
          <p:cNvSpPr/>
          <p:nvPr/>
        </p:nvSpPr>
        <p:spPr>
          <a:xfrm>
            <a:off x="6137910" y="3364992"/>
            <a:ext cx="2194560" cy="566928"/>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spcAft>
                <a:spcPts val="0"/>
              </a:spcAft>
            </a:pPr>
            <a:r>
              <a:rPr sz="1000" b="1" i="0">
                <a:solidFill>
                  <a:schemeClr val="accent2"/>
                </a:solidFill>
                <a:latin typeface="Courier New"/>
              </a:rPr>
              <a:t>parent-id = a3583a0a...</a:t>
            </a:r>
          </a:p>
          <a:p>
            <a:pPr algn="ctr">
              <a:spcAft>
                <a:spcPts val="0"/>
              </a:spcAft>
            </a:pPr>
            <a:r>
              <a:rPr sz="950" b="0" i="0">
                <a:solidFill>
                  <a:schemeClr val="tx2"/>
                </a:solidFill>
              </a:rPr>
              <a:t>over the network, mTLS</a:t>
            </a:r>
          </a:p>
        </p:txBody>
      </p:sp>
      <p:sp>
        <p:nvSpPr>
          <p:cNvPr id="17" name="Rounded Rectangle 16"/>
          <p:cNvSpPr/>
          <p:nvPr/>
        </p:nvSpPr>
        <p:spPr>
          <a:xfrm>
            <a:off x="8446770" y="3364992"/>
            <a:ext cx="2194560" cy="566928"/>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spcAft>
                <a:spcPts val="0"/>
              </a:spcAft>
            </a:pPr>
            <a:r>
              <a:rPr sz="1000" b="1" i="0">
                <a:solidFill>
                  <a:schemeClr val="accent2"/>
                </a:solidFill>
                <a:latin typeface="Courier New"/>
              </a:rPr>
              <a:t>parent-id = 1f72f872...</a:t>
            </a:r>
          </a:p>
          <a:p>
            <a:pPr algn="ctr">
              <a:spcAft>
                <a:spcPts val="0"/>
              </a:spcAft>
            </a:pPr>
            <a:r>
              <a:rPr sz="950" b="0" i="0">
                <a:solidFill>
                  <a:schemeClr val="tx2"/>
                </a:solidFill>
              </a:rPr>
              <a:t>sidecar to app, same pod</a:t>
            </a:r>
          </a:p>
        </p:txBody>
      </p:sp>
      <p:sp>
        <p:nvSpPr>
          <p:cNvPr id="18" name="Rounded Rectangle 17"/>
          <p:cNvSpPr/>
          <p:nvPr/>
        </p:nvSpPr>
        <p:spPr>
          <a:xfrm>
            <a:off x="457200" y="4114800"/>
            <a:ext cx="3566160" cy="2011680"/>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21792" y="4261104"/>
            <a:ext cx="219456" cy="219456"/>
          </a:xfrm>
          <a:prstGeom prst="ellipse">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60120" y="4206240"/>
            <a:ext cx="2926080" cy="320040"/>
          </a:xfrm>
          <a:prstGeom prst="rect">
            <a:avLst/>
          </a:prstGeom>
          <a:noFill/>
        </p:spPr>
        <p:txBody>
          <a:bodyPr wrap="square" lIns="0" rIns="0" tIns="0" bIns="0" anchor="t">
            <a:spAutoFit/>
          </a:bodyPr>
          <a:lstStyle/>
          <a:p>
            <a:pPr algn="l">
              <a:spcAft>
                <a:spcPts val="400"/>
              </a:spcAft>
            </a:pPr>
            <a:r>
              <a:rPr sz="1350" b="1" i="0">
                <a:solidFill>
                  <a:schemeClr val="tx1"/>
                </a:solidFill>
              </a:rPr>
              <a:t>Step 2 needs the app</a:t>
            </a:r>
          </a:p>
        </p:txBody>
      </p:sp>
      <p:sp>
        <p:nvSpPr>
          <p:cNvPr id="21" name="TextBox 20"/>
          <p:cNvSpPr txBox="1"/>
          <p:nvPr/>
        </p:nvSpPr>
        <p:spPr>
          <a:xfrm>
            <a:off x="640080" y="4572000"/>
            <a:ext cx="3246120" cy="1508760"/>
          </a:xfrm>
          <a:prstGeom prst="rect">
            <a:avLst/>
          </a:prstGeom>
          <a:noFill/>
        </p:spPr>
        <p:txBody>
          <a:bodyPr wrap="square" lIns="0" rIns="0" tIns="0" bIns="0" anchor="t">
            <a:spAutoFit/>
          </a:bodyPr>
          <a:lstStyle/>
          <a:p>
            <a:pPr algn="l" marL="164592" indent="-146304">
              <a:spcAft>
                <a:spcPts val="300"/>
              </a:spcAft>
              <a:buChar char="•"/>
            </a:pPr>
            <a:r>
              <a:rPr sz="1050" b="0" i="0">
                <a:solidFill>
                  <a:schemeClr val="tx1"/>
                </a:solidFill>
              </a:rPr>
              <a:t>Envoy sees two unrelated connections: the request into payments and, ms later, a call to notify.</a:t>
            </a:r>
          </a:p>
          <a:p>
            <a:pPr algn="l" marL="164592" indent="-146304">
              <a:spcAft>
                <a:spcPts val="300"/>
              </a:spcAft>
              <a:buChar char="•"/>
            </a:pPr>
            <a:r>
              <a:rPr sz="1050" b="0" i="0">
                <a:solidFill>
                  <a:schemeClr val="tx1"/>
                </a:solidFill>
              </a:rPr>
              <a:t>The OTel agent keeps the current span in the request context (contextvar / thread-local) and writes it into the outgoing header.</a:t>
            </a:r>
          </a:p>
          <a:p>
            <a:pPr algn="l" marL="164592" indent="-146304">
              <a:spcAft>
                <a:spcPts val="300"/>
              </a:spcAft>
              <a:buChar char="•"/>
            </a:pPr>
            <a:r>
              <a:rPr sz="1050" b="0" i="0">
                <a:solidFill>
                  <a:schemeClr val="tx1"/>
                </a:solidFill>
              </a:rPr>
              <a:t>The app code has no tracing calls, just an ordinary HTTP POST to notify.</a:t>
            </a:r>
          </a:p>
        </p:txBody>
      </p:sp>
      <p:sp>
        <p:nvSpPr>
          <p:cNvPr id="22" name="Rounded Rectangle 21"/>
          <p:cNvSpPr/>
          <p:nvPr/>
        </p:nvSpPr>
        <p:spPr>
          <a:xfrm>
            <a:off x="4251960" y="4114800"/>
            <a:ext cx="3566160" cy="2011680"/>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4416552" y="4261104"/>
            <a:ext cx="219456" cy="219456"/>
          </a:xfrm>
          <a:prstGeom prst="ellipse">
            <a:avLst/>
          </a:prstGeom>
          <a:solidFill>
            <a:schemeClr val="accent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754880" y="4206240"/>
            <a:ext cx="2926080" cy="320040"/>
          </a:xfrm>
          <a:prstGeom prst="rect">
            <a:avLst/>
          </a:prstGeom>
          <a:noFill/>
        </p:spPr>
        <p:txBody>
          <a:bodyPr wrap="square" lIns="0" rIns="0" tIns="0" bIns="0" anchor="t">
            <a:spAutoFit/>
          </a:bodyPr>
          <a:lstStyle/>
          <a:p>
            <a:pPr algn="l">
              <a:spcAft>
                <a:spcPts val="400"/>
              </a:spcAft>
            </a:pPr>
            <a:r>
              <a:rPr sz="1350" b="1" i="0">
                <a:solidFill>
                  <a:schemeClr val="tx1"/>
                </a:solidFill>
              </a:rPr>
              <a:t>Without the agent</a:t>
            </a:r>
          </a:p>
        </p:txBody>
      </p:sp>
      <p:sp>
        <p:nvSpPr>
          <p:cNvPr id="25" name="TextBox 24"/>
          <p:cNvSpPr txBox="1"/>
          <p:nvPr/>
        </p:nvSpPr>
        <p:spPr>
          <a:xfrm>
            <a:off x="4434840" y="4572000"/>
            <a:ext cx="3246120" cy="1508760"/>
          </a:xfrm>
          <a:prstGeom prst="rect">
            <a:avLst/>
          </a:prstGeom>
          <a:noFill/>
        </p:spPr>
        <p:txBody>
          <a:bodyPr wrap="square" lIns="0" rIns="0" tIns="0" bIns="0" anchor="t">
            <a:spAutoFit/>
          </a:bodyPr>
          <a:lstStyle/>
          <a:p>
            <a:pPr algn="l" marL="164592" indent="-146304">
              <a:spcAft>
                <a:spcPts val="300"/>
              </a:spcAft>
              <a:buChar char="•"/>
            </a:pPr>
            <a:r>
              <a:rPr sz="1050" b="0" i="0">
                <a:solidFill>
                  <a:schemeClr val="tx1"/>
                </a:solidFill>
              </a:rPr>
              <a:t>notify's sidecar receives no traceparent and starts a NEW trace ID.</a:t>
            </a:r>
          </a:p>
          <a:p>
            <a:pPr algn="l" marL="164592" indent="-146304">
              <a:spcAft>
                <a:spcPts val="300"/>
              </a:spcAft>
              <a:buChar char="•"/>
            </a:pPr>
            <a:r>
              <a:rPr sz="1050" b="0" i="0">
                <a:solidFill>
                  <a:schemeClr val="tx1"/>
                </a:solidFill>
              </a:rPr>
              <a:t>The transaction splits into two half traces.</a:t>
            </a:r>
          </a:p>
          <a:p>
            <a:pPr algn="l" marL="164592" indent="-146304">
              <a:spcAft>
                <a:spcPts val="300"/>
              </a:spcAft>
              <a:buChar char="•"/>
            </a:pPr>
            <a:r>
              <a:rPr sz="1050" b="0" i="0">
                <a:solidFill>
                  <a:schemeClr val="tx1"/>
                </a:solidFill>
              </a:rPr>
              <a:t>Seen in the POC: 3 of 12 spans before auto-instrumentation.</a:t>
            </a:r>
          </a:p>
        </p:txBody>
      </p:sp>
      <p:sp>
        <p:nvSpPr>
          <p:cNvPr id="26" name="Rounded Rectangle 25"/>
          <p:cNvSpPr/>
          <p:nvPr/>
        </p:nvSpPr>
        <p:spPr>
          <a:xfrm>
            <a:off x="8046720" y="4114800"/>
            <a:ext cx="3566160" cy="2011680"/>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8211312" y="4261104"/>
            <a:ext cx="219456" cy="219456"/>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549640" y="4206240"/>
            <a:ext cx="2926080" cy="320040"/>
          </a:xfrm>
          <a:prstGeom prst="rect">
            <a:avLst/>
          </a:prstGeom>
          <a:noFill/>
        </p:spPr>
        <p:txBody>
          <a:bodyPr wrap="square" lIns="0" rIns="0" tIns="0" bIns="0" anchor="t">
            <a:spAutoFit/>
          </a:bodyPr>
          <a:lstStyle/>
          <a:p>
            <a:pPr algn="l">
              <a:spcAft>
                <a:spcPts val="400"/>
              </a:spcAft>
            </a:pPr>
            <a:r>
              <a:rPr sz="1350" b="1" i="0">
                <a:solidFill>
                  <a:schemeClr val="tx1"/>
                </a:solidFill>
              </a:rPr>
              <a:t>How Tempo rebuilds it</a:t>
            </a:r>
          </a:p>
        </p:txBody>
      </p:sp>
      <p:sp>
        <p:nvSpPr>
          <p:cNvPr id="29" name="TextBox 28"/>
          <p:cNvSpPr txBox="1"/>
          <p:nvPr/>
        </p:nvSpPr>
        <p:spPr>
          <a:xfrm>
            <a:off x="8229600" y="4572000"/>
            <a:ext cx="3246120" cy="1508760"/>
          </a:xfrm>
          <a:prstGeom prst="rect">
            <a:avLst/>
          </a:prstGeom>
          <a:noFill/>
        </p:spPr>
        <p:txBody>
          <a:bodyPr wrap="square" lIns="0" rIns="0" tIns="0" bIns="0" anchor="t">
            <a:spAutoFit/>
          </a:bodyPr>
          <a:lstStyle/>
          <a:p>
            <a:pPr algn="l" marL="164592" indent="-146304">
              <a:spcAft>
                <a:spcPts val="300"/>
              </a:spcAft>
              <a:buChar char="•"/>
            </a:pPr>
            <a:r>
              <a:rPr sz="1050" b="0" i="0">
                <a:solidFill>
                  <a:schemeClr val="tx1"/>
                </a:solidFill>
              </a:rPr>
              <a:t>Nobody sends the whole trace: every sidecar and agent sends only its own spans over OTLP.</a:t>
            </a:r>
          </a:p>
          <a:p>
            <a:pPr algn="l" marL="164592" indent="-146304">
              <a:spcAft>
                <a:spcPts val="300"/>
              </a:spcAft>
              <a:buChar char="•"/>
            </a:pPr>
            <a:r>
              <a:rPr sz="1050" b="0" i="0">
                <a:solidFill>
                  <a:schemeClr val="tx1"/>
                </a:solidFill>
              </a:rPr>
              <a:t>Tempo groups spans by trace ID and links each to its parent span ID.</a:t>
            </a:r>
          </a:p>
          <a:p>
            <a:pPr algn="l" marL="164592" indent="-146304">
              <a:spcAft>
                <a:spcPts val="300"/>
              </a:spcAft>
              <a:buChar char="•"/>
            </a:pPr>
            <a:r>
              <a:rPr sz="1050" b="0" i="0">
                <a:solidFill>
                  <a:schemeClr val="tx1"/>
                </a:solidFill>
              </a:rPr>
              <a:t>Calls to core banking and notify share parent f8fea851: siblings.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0"/>
          </p:nvPr>
        </p:nvSpPr>
        <p:spPr/>
        <p:txBody>
          <a:bodyPr/>
          <a:lstStyle/>
          <a:p>
            <a:r>
              <a:t>Where a span ID lives: header in, span record, header out</a:t>
            </a:r>
          </a:p>
        </p:txBody>
      </p:sp>
      <p:sp>
        <p:nvSpPr>
          <p:cNvPr id="3"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sp>
        <p:nvSpPr>
          <p:cNvPr id="4" name="Rounded Rectangle 3"/>
          <p:cNvSpPr/>
          <p:nvPr/>
        </p:nvSpPr>
        <p:spPr>
          <a:xfrm>
            <a:off x="457200" y="1417320"/>
            <a:ext cx="3246120" cy="2103120"/>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98755" bIns="98755"/>
          <a:lstStyle/>
          <a:p>
            <a:pPr algn="l">
              <a:spcAft>
                <a:spcPts val="300"/>
              </a:spcAft>
            </a:pPr>
            <a:r>
              <a:rPr sz="1100" b="1" i="0">
                <a:solidFill>
                  <a:schemeClr val="tx2"/>
                </a:solidFill>
              </a:rPr>
              <a:t>INCOMING HEADER</a:t>
            </a:r>
          </a:p>
          <a:p>
            <a:pPr algn="l">
              <a:spcAft>
                <a:spcPts val="300"/>
              </a:spcAft>
            </a:pPr>
            <a:r>
              <a:rPr sz="1100" b="0" i="0">
                <a:solidFill>
                  <a:schemeClr val="tx1"/>
                </a:solidFill>
                <a:latin typeface="Courier New"/>
              </a:rPr>
              <a:t>traceparent:</a:t>
            </a:r>
          </a:p>
          <a:p>
            <a:pPr algn="l">
              <a:spcAft>
                <a:spcPts val="300"/>
              </a:spcAft>
            </a:pPr>
            <a:r>
              <a:rPr sz="1100" b="0" i="0">
                <a:solidFill>
                  <a:schemeClr val="tx1"/>
                </a:solidFill>
                <a:latin typeface="Courier New"/>
              </a:rPr>
              <a:t>00-f0b98398...-</a:t>
            </a:r>
            <a:r>
              <a:rPr sz="1100" b="1" i="0">
                <a:solidFill>
                  <a:schemeClr val="accent2"/>
                </a:solidFill>
                <a:latin typeface="Courier New"/>
              </a:rPr>
              <a:t>c5a7545b...</a:t>
            </a:r>
            <a:r>
              <a:rPr sz="1100" b="0" i="0">
                <a:solidFill>
                  <a:schemeClr val="tx1"/>
                </a:solidFill>
                <a:latin typeface="Courier New"/>
              </a:rPr>
              <a:t>-01</a:t>
            </a:r>
          </a:p>
          <a:p>
            <a:pPr algn="l">
              <a:spcAft>
                <a:spcPts val="300"/>
              </a:spcAft>
            </a:pPr>
            <a:r>
              <a:rPr sz="600" b="0" i="0">
                <a:solidFill>
                  <a:schemeClr val="tx1"/>
                </a:solidFill>
              </a:rPr>
              <a:t/>
            </a:r>
          </a:p>
          <a:p>
            <a:pPr algn="l">
              <a:spcAft>
                <a:spcPts val="300"/>
              </a:spcAft>
            </a:pPr>
            <a:r>
              <a:rPr sz="1150" b="1" i="0">
                <a:solidFill>
                  <a:schemeClr val="accent2"/>
                </a:solidFill>
              </a:rPr>
              <a:t>parent-id = the CALLER's span ID </a:t>
            </a:r>
            <a:r>
              <a:rPr sz="1150" b="0" i="0">
                <a:solidFill>
                  <a:schemeClr val="tx1"/>
                </a:solidFill>
              </a:rPr>
              <a:t>(the payments app's call, c5a7545b)</a:t>
            </a:r>
          </a:p>
          <a:p>
            <a:pPr algn="l">
              <a:spcAft>
                <a:spcPts val="300"/>
              </a:spcAft>
            </a:pPr>
            <a:r>
              <a:rPr sz="1150" b="0" i="1">
                <a:solidFill>
                  <a:schemeClr val="tx2"/>
                </a:solidFill>
              </a:rPr>
              <a:t>Says who called me. My own ID is not here yet.</a:t>
            </a:r>
          </a:p>
        </p:txBody>
      </p:sp>
      <p:sp>
        <p:nvSpPr>
          <p:cNvPr id="5" name="Rounded Rectangle 4"/>
          <p:cNvSpPr/>
          <p:nvPr/>
        </p:nvSpPr>
        <p:spPr>
          <a:xfrm>
            <a:off x="4160520" y="1417320"/>
            <a:ext cx="3840480" cy="2103120"/>
          </a:xfrm>
          <a:prstGeom prst="roundRect">
            <a:avLst>
              <a:gd name="adj" fmla="val 8000"/>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98755" bIns="98755"/>
          <a:lstStyle/>
          <a:p>
            <a:pPr algn="l">
              <a:spcAft>
                <a:spcPts val="500"/>
              </a:spcAft>
            </a:pPr>
            <a:r>
              <a:rPr sz="1300" b="1" i="0">
                <a:solidFill>
                  <a:schemeClr val="bg1"/>
                </a:solidFill>
              </a:rPr>
              <a:t>payments sidecar (Envoy), outbound to notify</a:t>
            </a:r>
          </a:p>
          <a:p>
            <a:pPr algn="l">
              <a:spcAft>
                <a:spcPts val="500"/>
              </a:spcAft>
            </a:pPr>
            <a:r>
              <a:rPr sz="1150" b="0" i="0">
                <a:solidFill>
                  <a:schemeClr val="bg1"/>
                </a:solidFill>
              </a:rPr>
              <a:t>1  reads parent-id c5a7545b (my parent)</a:t>
            </a:r>
          </a:p>
          <a:p>
            <a:pPr algn="l">
              <a:spcAft>
                <a:spcPts val="500"/>
              </a:spcAft>
            </a:pPr>
            <a:r>
              <a:rPr sz="1150" b="0" i="0">
                <a:solidFill>
                  <a:schemeClr val="bg1"/>
                </a:solidFill>
              </a:rPr>
              <a:t>2  generates its OWN span ID: a3583a0a (random 8 bytes)</a:t>
            </a:r>
          </a:p>
          <a:p>
            <a:pPr algn="l">
              <a:spcAft>
                <a:spcPts val="500"/>
              </a:spcAft>
            </a:pPr>
            <a:r>
              <a:rPr sz="1150" b="0" i="0">
                <a:solidFill>
                  <a:schemeClr val="bg1"/>
                </a:solidFill>
              </a:rPr>
              <a:t>3  writes a3583a0a into the call to notify</a:t>
            </a:r>
          </a:p>
          <a:p>
            <a:pPr algn="l">
              <a:spcAft>
                <a:spcPts val="500"/>
              </a:spcAft>
            </a:pPr>
            <a:r>
              <a:rPr sz="1150" b="0" i="0">
                <a:solidFill>
                  <a:schemeClr val="bg1"/>
                </a:solidFill>
              </a:rPr>
              <a:t>4  when done, sends its span record to the collector</a:t>
            </a:r>
          </a:p>
        </p:txBody>
      </p:sp>
      <p:sp>
        <p:nvSpPr>
          <p:cNvPr id="6" name="Rounded Rectangle 5"/>
          <p:cNvSpPr/>
          <p:nvPr/>
        </p:nvSpPr>
        <p:spPr>
          <a:xfrm>
            <a:off x="8458200" y="1417320"/>
            <a:ext cx="3246120" cy="2103120"/>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98755" bIns="98755"/>
          <a:lstStyle/>
          <a:p>
            <a:pPr algn="l">
              <a:spcAft>
                <a:spcPts val="300"/>
              </a:spcAft>
            </a:pPr>
            <a:r>
              <a:rPr sz="1100" b="1" i="0">
                <a:solidFill>
                  <a:schemeClr val="tx2"/>
                </a:solidFill>
              </a:rPr>
              <a:t>OUTGOING HEADER (to notify)</a:t>
            </a:r>
          </a:p>
          <a:p>
            <a:pPr algn="l">
              <a:spcAft>
                <a:spcPts val="300"/>
              </a:spcAft>
            </a:pPr>
            <a:r>
              <a:rPr sz="1100" b="0" i="0">
                <a:solidFill>
                  <a:schemeClr val="tx1"/>
                </a:solidFill>
                <a:latin typeface="Courier New"/>
              </a:rPr>
              <a:t>traceparent:</a:t>
            </a:r>
          </a:p>
          <a:p>
            <a:pPr algn="l">
              <a:spcAft>
                <a:spcPts val="300"/>
              </a:spcAft>
            </a:pPr>
            <a:r>
              <a:rPr sz="1100" b="0" i="0">
                <a:solidFill>
                  <a:schemeClr val="tx1"/>
                </a:solidFill>
                <a:latin typeface="Courier New"/>
              </a:rPr>
              <a:t>00-f0b98398...-</a:t>
            </a:r>
            <a:r>
              <a:rPr sz="1100" b="1" i="0">
                <a:solidFill>
                  <a:schemeClr val="accent1"/>
                </a:solidFill>
                <a:latin typeface="Courier New"/>
              </a:rPr>
              <a:t>a3583a0a...</a:t>
            </a:r>
            <a:r>
              <a:rPr sz="1100" b="0" i="0">
                <a:solidFill>
                  <a:schemeClr val="tx1"/>
                </a:solidFill>
                <a:latin typeface="Courier New"/>
              </a:rPr>
              <a:t>-01</a:t>
            </a:r>
          </a:p>
          <a:p>
            <a:pPr algn="l">
              <a:spcAft>
                <a:spcPts val="300"/>
              </a:spcAft>
            </a:pPr>
            <a:r>
              <a:rPr sz="600" b="0" i="0">
                <a:solidFill>
                  <a:schemeClr val="tx1"/>
                </a:solidFill>
              </a:rPr>
              <a:t/>
            </a:r>
          </a:p>
          <a:p>
            <a:pPr algn="l">
              <a:spcAft>
                <a:spcPts val="300"/>
              </a:spcAft>
            </a:pPr>
            <a:r>
              <a:rPr sz="1150" b="1" i="0">
                <a:solidFill>
                  <a:schemeClr val="accent1"/>
                </a:solidFill>
              </a:rPr>
              <a:t>parent-id = MY span ID</a:t>
            </a:r>
          </a:p>
          <a:p>
            <a:pPr algn="l">
              <a:spcAft>
                <a:spcPts val="300"/>
              </a:spcAft>
            </a:pPr>
            <a:r>
              <a:rPr sz="1150" b="0" i="1">
                <a:solidFill>
                  <a:schemeClr val="tx2"/>
                </a:solidFill>
              </a:rPr>
              <a:t>notify's sidecar will record a3583a0a as its parent.</a:t>
            </a:r>
          </a:p>
        </p:txBody>
      </p:sp>
      <p:cxnSp>
        <p:nvCxnSpPr>
          <p:cNvPr id="7" name="Connector 6"/>
          <p:cNvCxnSpPr/>
          <p:nvPr/>
        </p:nvCxnSpPr>
        <p:spPr>
          <a:xfrm>
            <a:off x="3703320" y="2468880"/>
            <a:ext cx="457200" cy="0"/>
          </a:xfrm>
          <a:prstGeom prst="line">
            <a:avLst/>
          </a:prstGeom>
          <a:ln w="15875">
            <a:solidFill>
              <a:schemeClr val="tx2"/>
            </a:solidFill>
            <a:tailEnd type="triangle"/>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8001000" y="2468880"/>
            <a:ext cx="457200" cy="0"/>
          </a:xfrm>
          <a:prstGeom prst="line">
            <a:avLst/>
          </a:prstGeom>
          <a:ln w="15875">
            <a:solidFill>
              <a:schemeClr val="tx2"/>
            </a:solidFill>
            <a:tailEnd type="triangle"/>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4160520" y="3931920"/>
            <a:ext cx="3840480" cy="1828800"/>
          </a:xfrm>
          <a:prstGeom prst="roundRect">
            <a:avLst>
              <a:gd name="adj" fmla="val 8000"/>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98755" bIns="98755"/>
          <a:lstStyle/>
          <a:p>
            <a:pPr algn="l">
              <a:spcAft>
                <a:spcPts val="300"/>
              </a:spcAft>
            </a:pPr>
            <a:r>
              <a:rPr sz="1100" b="1" i="0">
                <a:solidFill>
                  <a:schemeClr val="accent6"/>
                </a:solidFill>
              </a:rPr>
              <a:t>SPAN RECORD sent to the collector (OTLP), stored in Tempo</a:t>
            </a:r>
          </a:p>
          <a:p>
            <a:pPr algn="l">
              <a:spcAft>
                <a:spcPts val="300"/>
              </a:spcAft>
            </a:pPr>
            <a:r>
              <a:rPr sz="1100" b="0" i="0">
                <a:solidFill>
                  <a:schemeClr val="bg1"/>
                </a:solidFill>
                <a:latin typeface="Courier New"/>
              </a:rPr>
              <a:t>traceId      </a:t>
            </a:r>
            <a:r>
              <a:rPr sz="1100" b="0" i="0">
                <a:solidFill>
                  <a:schemeClr val="bg1"/>
                </a:solidFill>
                <a:latin typeface="Courier New"/>
              </a:rPr>
              <a:t>f0b9839816c71c1a...</a:t>
            </a:r>
          </a:p>
          <a:p>
            <a:pPr algn="l">
              <a:spcAft>
                <a:spcPts val="300"/>
              </a:spcAft>
            </a:pPr>
            <a:r>
              <a:rPr sz="1100" b="0" i="0">
                <a:solidFill>
                  <a:schemeClr val="bg1"/>
                </a:solidFill>
                <a:latin typeface="Courier New"/>
              </a:rPr>
              <a:t>spanId       </a:t>
            </a:r>
            <a:r>
              <a:rPr sz="1100" b="1" i="0">
                <a:solidFill>
                  <a:schemeClr val="accent4"/>
                </a:solidFill>
                <a:latin typeface="Courier New"/>
              </a:rPr>
              <a:t>a3583a0a25b8976b</a:t>
            </a:r>
            <a:r>
              <a:rPr sz="1050" b="0" i="1">
                <a:solidFill>
                  <a:schemeClr val="accent4"/>
                </a:solidFill>
              </a:rPr>
              <a:t>  &lt;- my own ID</a:t>
            </a:r>
          </a:p>
          <a:p>
            <a:pPr algn="l">
              <a:spcAft>
                <a:spcPts val="300"/>
              </a:spcAft>
            </a:pPr>
            <a:r>
              <a:rPr sz="1100" b="0" i="0">
                <a:solidFill>
                  <a:schemeClr val="bg1"/>
                </a:solidFill>
                <a:latin typeface="Courier New"/>
              </a:rPr>
              <a:t>parentSpanId </a:t>
            </a:r>
            <a:r>
              <a:rPr sz="1100" b="0" i="0">
                <a:solidFill>
                  <a:schemeClr val="bg1"/>
                </a:solidFill>
                <a:latin typeface="Courier New"/>
              </a:rPr>
              <a:t>c5a7545b5b936a12</a:t>
            </a:r>
          </a:p>
          <a:p>
            <a:pPr algn="l">
              <a:spcAft>
                <a:spcPts val="300"/>
              </a:spcAft>
            </a:pPr>
            <a:r>
              <a:rPr sz="1000" b="0" i="0">
                <a:solidFill>
                  <a:schemeClr val="accent6"/>
                </a:solidFill>
                <a:latin typeface="Courier New"/>
              </a:rPr>
              <a:t>name, start, duration, status, attributes</a:t>
            </a:r>
          </a:p>
        </p:txBody>
      </p:sp>
      <p:cxnSp>
        <p:nvCxnSpPr>
          <p:cNvPr id="10" name="Connector 9"/>
          <p:cNvCxnSpPr/>
          <p:nvPr/>
        </p:nvCxnSpPr>
        <p:spPr>
          <a:xfrm>
            <a:off x="6080760" y="3520440"/>
            <a:ext cx="0" cy="411480"/>
          </a:xfrm>
          <a:prstGeom prst="line">
            <a:avLst/>
          </a:prstGeom>
          <a:ln w="15875">
            <a:solidFill>
              <a:schemeClr val="tx2"/>
            </a:solidFill>
            <a:tailEnd type="triangle"/>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6263640" y="3602736"/>
            <a:ext cx="457200" cy="237744"/>
          </a:xfrm>
          <a:prstGeom prst="roundRect">
            <a:avLst>
              <a:gd name="adj" fmla="val 50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0972" bIns="10972"/>
          <a:lstStyle/>
          <a:p>
            <a:pPr algn="ctr">
              <a:spcAft>
                <a:spcPts val="400"/>
              </a:spcAft>
            </a:pPr>
            <a:r>
              <a:rPr sz="800" b="1" i="0">
                <a:solidFill>
                  <a:schemeClr val="bg1"/>
                </a:solidFill>
              </a:rPr>
              <a:t>PUSH</a:t>
            </a:r>
          </a:p>
        </p:txBody>
      </p:sp>
      <p:graphicFrame>
        <p:nvGraphicFramePr>
          <p:cNvPr id="12" name="Table 11"/>
          <p:cNvGraphicFramePr>
            <a:graphicFrameLocks noGrp="1"/>
          </p:cNvGraphicFramePr>
          <p:nvPr/>
        </p:nvGraphicFramePr>
        <p:xfrm>
          <a:off x="457200" y="3931920"/>
          <a:ext cx="3246120" cy="1828800"/>
        </p:xfrm>
        <a:graphic>
          <a:graphicData uri="http://schemas.openxmlformats.org/drawingml/2006/table">
            <a:tbl>
              <a:tblPr firstRow="0" bandRow="0">
                <a:tableStyleId>{5940675A-B579-460E-94D1-54222C63F5DA}</a:tableStyleId>
              </a:tblPr>
              <a:tblGrid>
                <a:gridCol w="1463040"/>
                <a:gridCol w="1783080"/>
              </a:tblGrid>
              <a:tr h="457200">
                <a:tc>
                  <a:txBody>
                    <a:bodyPr wrap="square"/>
                    <a:lstStyle/>
                    <a:p>
                      <a:r>
                        <a:rPr sz="1100" b="1" i="0">
                          <a:solidFill>
                            <a:schemeClr val="bg1"/>
                          </a:solidFill>
                        </a:rPr>
                        <a:t>Where</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tx1"/>
                    </a:solidFill>
                  </a:tcPr>
                </a:tc>
                <a:tc>
                  <a:txBody>
                    <a:bodyPr wrap="square"/>
                    <a:lstStyle/>
                    <a:p>
                      <a:r>
                        <a:rPr sz="1100" b="1" i="0">
                          <a:solidFill>
                            <a:schemeClr val="bg1"/>
                          </a:solidFill>
                        </a:rPr>
                        <a:t>Which span ID</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tx1"/>
                    </a:solidFill>
                  </a:tcPr>
                </a:tc>
              </a:tr>
              <a:tr h="457200">
                <a:tc>
                  <a:txBody>
                    <a:bodyPr wrap="square"/>
                    <a:lstStyle/>
                    <a:p>
                      <a:r>
                        <a:rPr sz="1100" b="1" i="0">
                          <a:solidFill>
                            <a:schemeClr val="tx1"/>
                          </a:solidFill>
                        </a:rPr>
                        <a:t>Incoming header</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00" b="0" i="0">
                          <a:solidFill>
                            <a:schemeClr val="tx1"/>
                          </a:solidFill>
                        </a:rPr>
                        <a:t>the caller's (my parent)</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r>
              <a:tr h="457200">
                <a:tc>
                  <a:txBody>
                    <a:bodyPr wrap="square"/>
                    <a:lstStyle/>
                    <a:p>
                      <a:r>
                        <a:rPr sz="1100" b="1" i="0">
                          <a:solidFill>
                            <a:schemeClr val="tx1"/>
                          </a:solidFill>
                        </a:rPr>
                        <a:t>My span record</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2"/>
                    </a:solidFill>
                  </a:tcPr>
                </a:tc>
                <a:tc>
                  <a:txBody>
                    <a:bodyPr wrap="square"/>
                    <a:lstStyle/>
                    <a:p>
                      <a:r>
                        <a:rPr sz="1100" b="0" i="0">
                          <a:solidFill>
                            <a:schemeClr val="tx1"/>
                          </a:solidFill>
                        </a:rPr>
                        <a:t>mine + my parent's</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2"/>
                    </a:solidFill>
                  </a:tcPr>
                </a:tc>
              </a:tr>
              <a:tr h="457200">
                <a:tc>
                  <a:txBody>
                    <a:bodyPr wrap="square"/>
                    <a:lstStyle/>
                    <a:p>
                      <a:r>
                        <a:rPr sz="1100" b="1" i="0">
                          <a:solidFill>
                            <a:schemeClr val="tx1"/>
                          </a:solidFill>
                        </a:rPr>
                        <a:t>Outgoing header</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00" b="0" i="0">
                          <a:solidFill>
                            <a:schemeClr val="tx1"/>
                          </a:solidFill>
                        </a:rPr>
                        <a:t>mine (the next hop's parent)</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r>
            </a:tbl>
          </a:graphicData>
        </a:graphic>
      </p:graphicFrame>
      <p:sp>
        <p:nvSpPr>
          <p:cNvPr id="13" name="Rounded Rectangle 12"/>
          <p:cNvSpPr/>
          <p:nvPr/>
        </p:nvSpPr>
        <p:spPr>
          <a:xfrm>
            <a:off x="8458200" y="3931920"/>
            <a:ext cx="3246120" cy="1828800"/>
          </a:xfrm>
          <a:prstGeom prst="roundRect">
            <a:avLst>
              <a:gd name="adj" fmla="val 8000"/>
            </a:avLst>
          </a:prstGeom>
          <a:solidFill>
            <a:schemeClr val="accent6"/>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98755" bIns="98755"/>
          <a:lstStyle/>
          <a:p>
            <a:pPr algn="l">
              <a:spcAft>
                <a:spcPts val="400"/>
              </a:spcAft>
            </a:pPr>
            <a:r>
              <a:rPr sz="1250" b="1" i="0">
                <a:solidFill>
                  <a:schemeClr val="tx1"/>
                </a:solidFill>
              </a:rPr>
              <a:t>Like a relay baton with one name slot</a:t>
            </a:r>
          </a:p>
          <a:p>
            <a:pPr algn="l">
              <a:spcAft>
                <a:spcPts val="400"/>
              </a:spcAft>
            </a:pPr>
            <a:r>
              <a:rPr sz="1100" b="0" i="0">
                <a:solidFill>
                  <a:schemeClr val="tx1"/>
                </a:solidFill>
              </a:rPr>
              <a:t>Each runner reads who handed it over, notes "I got it from X" in their own logbook, then writes their own name on the baton and passes it on. The baton shows only the last name; the full chain is in the logbooks: the span records in Tempo.</a:t>
            </a:r>
          </a:p>
        </p:txBody>
      </p:sp>
      <p:sp>
        <p:nvSpPr>
          <p:cNvPr id="14" name="TextBox 13"/>
          <p:cNvSpPr txBox="1"/>
          <p:nvPr/>
        </p:nvSpPr>
        <p:spPr>
          <a:xfrm>
            <a:off x="457200" y="5943600"/>
            <a:ext cx="11247120" cy="365760"/>
          </a:xfrm>
          <a:prstGeom prst="rect">
            <a:avLst/>
          </a:prstGeom>
          <a:noFill/>
        </p:spPr>
        <p:txBody>
          <a:bodyPr wrap="square" lIns="0" rIns="0" tIns="0" bIns="0" anchor="t">
            <a:spAutoFit/>
          </a:bodyPr>
          <a:lstStyle/>
          <a:p>
            <a:pPr algn="l">
              <a:spcAft>
                <a:spcPts val="400"/>
              </a:spcAft>
            </a:pPr>
            <a:r>
              <a:rPr sz="1100" b="0" i="1">
                <a:solidFill>
                  <a:schemeClr val="tx2"/>
                </a:solidFill>
              </a:rPr>
              <a:t>Slide 9's span ID column comes from the span records; each value reappears one row later in a header, as the next hop's parent-id.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0"/>
          </p:nvPr>
        </p:nvSpPr>
        <p:spPr/>
        <p:txBody>
          <a:bodyPr/>
          <a:lstStyle/>
          <a:p>
            <a:r>
              <a:t>The stack: one component per job</a:t>
            </a:r>
          </a:p>
        </p:txBody>
      </p:sp>
      <p:sp>
        <p:nvSpPr>
          <p:cNvPr id="3"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graphicFrame>
        <p:nvGraphicFramePr>
          <p:cNvPr id="4" name="Table 3"/>
          <p:cNvGraphicFramePr>
            <a:graphicFrameLocks noGrp="1"/>
          </p:cNvGraphicFramePr>
          <p:nvPr/>
        </p:nvGraphicFramePr>
        <p:xfrm>
          <a:off x="457200" y="1234440"/>
          <a:ext cx="11247120" cy="4535424"/>
        </p:xfrm>
        <a:graphic>
          <a:graphicData uri="http://schemas.openxmlformats.org/drawingml/2006/table">
            <a:tbl>
              <a:tblPr firstRow="0" bandRow="0">
                <a:tableStyleId>{5940675A-B579-460E-94D1-54222C63F5DA}</a:tableStyleId>
              </a:tblPr>
              <a:tblGrid>
                <a:gridCol w="1920240"/>
                <a:gridCol w="3154680"/>
                <a:gridCol w="2743200"/>
                <a:gridCol w="3429000"/>
              </a:tblGrid>
              <a:tr h="566928">
                <a:tc>
                  <a:txBody>
                    <a:bodyPr wrap="square"/>
                    <a:lstStyle/>
                    <a:p>
                      <a:r>
                        <a:rPr sz="1100" b="1" i="0">
                          <a:solidFill>
                            <a:schemeClr val="bg1"/>
                          </a:solidFill>
                        </a:rPr>
                        <a:t>Job</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tx1"/>
                    </a:solidFill>
                  </a:tcPr>
                </a:tc>
                <a:tc>
                  <a:txBody>
                    <a:bodyPr wrap="square"/>
                    <a:lstStyle/>
                    <a:p>
                      <a:r>
                        <a:rPr sz="1100" b="1" i="0">
                          <a:solidFill>
                            <a:schemeClr val="bg1"/>
                          </a:solidFill>
                        </a:rPr>
                        <a:t>OpenShift (target)</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tx1"/>
                    </a:solidFill>
                  </a:tcPr>
                </a:tc>
                <a:tc>
                  <a:txBody>
                    <a:bodyPr wrap="square"/>
                    <a:lstStyle/>
                    <a:p>
                      <a:r>
                        <a:rPr sz="1100" b="1" i="0">
                          <a:solidFill>
                            <a:schemeClr val="bg1"/>
                          </a:solidFill>
                        </a:rPr>
                        <a:t>Local POC (upstream, same CRDs)</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tx1"/>
                    </a:solidFill>
                  </a:tcPr>
                </a:tc>
                <a:tc>
                  <a:txBody>
                    <a:bodyPr wrap="square"/>
                    <a:lstStyle/>
                    <a:p>
                      <a:r>
                        <a:rPr sz="1100" b="1" i="0">
                          <a:solidFill>
                            <a:schemeClr val="bg1"/>
                          </a:solidFill>
                        </a:rPr>
                        <a:t>How we use it</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tx1"/>
                    </a:solidFill>
                  </a:tcPr>
                </a:tc>
              </a:tr>
              <a:tr h="566928">
                <a:tc>
                  <a:txBody>
                    <a:bodyPr wrap="square"/>
                    <a:lstStyle/>
                    <a:p>
                      <a:r>
                        <a:rPr sz="1150" b="1" i="0">
                          <a:solidFill>
                            <a:schemeClr val="tx1"/>
                          </a:solidFill>
                        </a:rPr>
                        <a:t>Telemetry source</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50" b="0" i="0">
                          <a:solidFill>
                            <a:schemeClr val="tx1"/>
                          </a:solidFill>
                        </a:rPr>
                        <a:t>OpenShift Service Mesh 3.4 (Istio 1.30)</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50" b="0" i="0">
                          <a:solidFill>
                            <a:schemeClr val="tx1"/>
                          </a:solidFill>
                        </a:rPr>
                        <a:t>Sail Operator + Istio 1.30.5</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50" b="0" i="0">
                          <a:solidFill>
                            <a:schemeClr val="tx1"/>
                          </a:solidFill>
                        </a:rPr>
                        <a:t>Envoy sidecars emit metrics, spans and access logs for every hop, no code change</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r>
              <a:tr h="566928">
                <a:tc>
                  <a:txBody>
                    <a:bodyPr wrap="square"/>
                    <a:lstStyle/>
                    <a:p>
                      <a:r>
                        <a:rPr sz="1150" b="1" i="0">
                          <a:solidFill>
                            <a:schemeClr val="tx1"/>
                          </a:solidFill>
                        </a:rPr>
                        <a:t>App instrumentation</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2"/>
                    </a:solidFill>
                  </a:tcPr>
                </a:tc>
                <a:tc>
                  <a:txBody>
                    <a:bodyPr wrap="square"/>
                    <a:lstStyle/>
                    <a:p>
                      <a:r>
                        <a:rPr sz="1150" b="0" i="0">
                          <a:solidFill>
                            <a:schemeClr val="tx1"/>
                          </a:solidFill>
                        </a:rPr>
                        <a:t>Red Hat build of OpenTelemetry</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2"/>
                    </a:solidFill>
                  </a:tcPr>
                </a:tc>
                <a:tc>
                  <a:txBody>
                    <a:bodyPr wrap="square"/>
                    <a:lstStyle/>
                    <a:p>
                      <a:r>
                        <a:rPr sz="1150" b="0" i="0">
                          <a:solidFill>
                            <a:schemeClr val="tx1"/>
                          </a:solidFill>
                        </a:rPr>
                        <a:t>OpenTelemetry Operator 0.160</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2"/>
                    </a:solidFill>
                  </a:tcPr>
                </a:tc>
                <a:tc>
                  <a:txBody>
                    <a:bodyPr wrap="square"/>
                    <a:lstStyle/>
                    <a:p>
                      <a:r>
                        <a:rPr sz="1150" b="0" i="0">
                          <a:solidFill>
                            <a:schemeClr val="tx1"/>
                          </a:solidFill>
                        </a:rPr>
                        <a:t>Instrumentation CR injects the OTel agent: app and DB spans, baggage propagation</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2"/>
                    </a:solidFill>
                  </a:tcPr>
                </a:tc>
              </a:tr>
              <a:tr h="566928">
                <a:tc>
                  <a:txBody>
                    <a:bodyPr wrap="square"/>
                    <a:lstStyle/>
                    <a:p>
                      <a:r>
                        <a:rPr sz="1150" b="1" i="0">
                          <a:solidFill>
                            <a:schemeClr val="tx1"/>
                          </a:solidFill>
                        </a:rPr>
                        <a:t>Telemetry pipeline</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50" b="0" i="0">
                          <a:solidFill>
                            <a:schemeClr val="tx1"/>
                          </a:solidFill>
                        </a:rPr>
                        <a:t>Red Hat build of OpenTelemetry Collector</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50" b="0" i="0">
                          <a:solidFill>
                            <a:schemeClr val="tx1"/>
                          </a:solidFill>
                        </a:rPr>
                        <a:t>OTel Collector (contrib) 0.160</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50" b="0" i="0">
                          <a:solidFill>
                            <a:schemeClr val="tx1"/>
                          </a:solidFill>
                        </a:rPr>
                        <a:t>Receives OTLP, tags journeys, tail-samples traces, routes to Tempo and Loki</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r>
              <a:tr h="566928">
                <a:tc>
                  <a:txBody>
                    <a:bodyPr wrap="square"/>
                    <a:lstStyle/>
                    <a:p>
                      <a:r>
                        <a:rPr sz="1150" b="1" i="0">
                          <a:solidFill>
                            <a:schemeClr val="tx1"/>
                          </a:solidFill>
                        </a:rPr>
                        <a:t>Metrics and alerts</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2"/>
                    </a:solidFill>
                  </a:tcPr>
                </a:tc>
                <a:tc>
                  <a:txBody>
                    <a:bodyPr wrap="square"/>
                    <a:lstStyle/>
                    <a:p>
                      <a:r>
                        <a:rPr sz="1150" b="0" i="0">
                          <a:solidFill>
                            <a:schemeClr val="tx1"/>
                          </a:solidFill>
                        </a:rPr>
                        <a:t>OpenShift Monitoring (user workload): Prometheus, Thanos Querier, Alertmanager</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2"/>
                    </a:solidFill>
                  </a:tcPr>
                </a:tc>
                <a:tc>
                  <a:txBody>
                    <a:bodyPr wrap="square"/>
                    <a:lstStyle/>
                    <a:p>
                      <a:r>
                        <a:rPr sz="1150" b="0" i="0">
                          <a:solidFill>
                            <a:schemeClr val="tx1"/>
                          </a:solidFill>
                        </a:rPr>
                        <a:t>kube-prometheus-stack: Prometheus 3, Alertmanager</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2"/>
                    </a:solidFill>
                  </a:tcPr>
                </a:tc>
                <a:tc>
                  <a:txBody>
                    <a:bodyPr wrap="square"/>
                    <a:lstStyle/>
                    <a:p>
                      <a:r>
                        <a:rPr sz="1150" b="0" i="0">
                          <a:solidFill>
                            <a:schemeClr val="tx1"/>
                          </a:solidFill>
                        </a:rPr>
                        <a:t>Scrapes sidecars and istiod; evaluates hop and journey alert rules</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2"/>
                    </a:solidFill>
                  </a:tcPr>
                </a:tc>
              </a:tr>
              <a:tr h="566928">
                <a:tc>
                  <a:txBody>
                    <a:bodyPr wrap="square"/>
                    <a:lstStyle/>
                    <a:p>
                      <a:r>
                        <a:rPr sz="1150" b="1" i="0">
                          <a:solidFill>
                            <a:schemeClr val="tx1"/>
                          </a:solidFill>
                        </a:rPr>
                        <a:t>Trace store</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50" b="0" i="0">
                          <a:solidFill>
                            <a:schemeClr val="tx1"/>
                          </a:solidFill>
                        </a:rPr>
                        <a:t>Tempo Operator: TempoMonolithic, then TempoStack</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50" b="0" i="0">
                          <a:solidFill>
                            <a:schemeClr val="tx1"/>
                          </a:solidFill>
                        </a:rPr>
                        <a:t>Tempo Operator 0.22, Tempo 2.10</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50" b="0" i="0">
                          <a:solidFill>
                            <a:schemeClr val="tx1"/>
                          </a:solidFill>
                        </a:rPr>
                        <a:t>Stores sampled traces; TraceQL search by journey, flag, service</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r>
              <a:tr h="566928">
                <a:tc>
                  <a:txBody>
                    <a:bodyPr wrap="square"/>
                    <a:lstStyle/>
                    <a:p>
                      <a:r>
                        <a:rPr sz="1150" b="1" i="0">
                          <a:solidFill>
                            <a:schemeClr val="tx1"/>
                          </a:solidFill>
                        </a:rPr>
                        <a:t>Log store</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2"/>
                    </a:solidFill>
                  </a:tcPr>
                </a:tc>
                <a:tc>
                  <a:txBody>
                    <a:bodyPr wrap="square"/>
                    <a:lstStyle/>
                    <a:p>
                      <a:r>
                        <a:rPr sz="1150" b="0" i="0">
                          <a:solidFill>
                            <a:schemeClr val="tx1"/>
                          </a:solidFill>
                        </a:rPr>
                        <a:t>Loki Operator: LokiStack</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2"/>
                    </a:solidFill>
                  </a:tcPr>
                </a:tc>
                <a:tc>
                  <a:txBody>
                    <a:bodyPr wrap="square"/>
                    <a:lstStyle/>
                    <a:p>
                      <a:r>
                        <a:rPr sz="1150" b="0" i="0">
                          <a:solidFill>
                            <a:schemeClr val="tx1"/>
                          </a:solidFill>
                        </a:rPr>
                        <a:t>Loki 3.6 (single binary)</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2"/>
                    </a:solidFill>
                  </a:tcPr>
                </a:tc>
                <a:tc>
                  <a:txBody>
                    <a:bodyPr wrap="square"/>
                    <a:lstStyle/>
                    <a:p>
                      <a:r>
                        <a:rPr sz="1150" b="0" i="0">
                          <a:solidFill>
                            <a:schemeClr val="tx1"/>
                          </a:solidFill>
                        </a:rPr>
                        <a:t>Stores Envoy access logs; LogQL by flag, hop, trace ID</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2"/>
                    </a:solidFill>
                  </a:tcPr>
                </a:tc>
              </a:tr>
              <a:tr h="566928">
                <a:tc>
                  <a:txBody>
                    <a:bodyPr wrap="square"/>
                    <a:lstStyle/>
                    <a:p>
                      <a:r>
                        <a:rPr sz="1150" b="1" i="0">
                          <a:solidFill>
                            <a:schemeClr val="tx1"/>
                          </a:solidFill>
                        </a:rPr>
                        <a:t>Visualization</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50" b="0" i="0">
                          <a:solidFill>
                            <a:schemeClr val="tx1"/>
                          </a:solidFill>
                        </a:rPr>
                        <a:t>Kiali, OpenShift console, Grafana Operator</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50" b="0" i="0">
                          <a:solidFill>
                            <a:schemeClr val="tx1"/>
                          </a:solidFill>
                        </a:rPr>
                        <a:t>Kiali 2.27, Grafana 13, red-dot dashboard</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50" b="0" i="0">
                          <a:solidFill>
                            <a:schemeClr val="tx1"/>
                          </a:solidFill>
                        </a:rPr>
                        <a:t>Live graph, journey drill-down, NOC view with the failing hop and its owner</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r>
            </a:tbl>
          </a:graphicData>
        </a:graphic>
      </p:graphicFrame>
      <p:sp>
        <p:nvSpPr>
          <p:cNvPr id="5" name="TextBox 4"/>
          <p:cNvSpPr txBox="1"/>
          <p:nvPr/>
        </p:nvSpPr>
        <p:spPr>
          <a:xfrm>
            <a:off x="457200" y="5943600"/>
            <a:ext cx="11247120" cy="365760"/>
          </a:xfrm>
          <a:prstGeom prst="rect">
            <a:avLst/>
          </a:prstGeom>
          <a:noFill/>
        </p:spPr>
        <p:txBody>
          <a:bodyPr wrap="square" lIns="0" rIns="0" tIns="0" bIns="0" anchor="t">
            <a:spAutoFit/>
          </a:bodyPr>
          <a:lstStyle/>
          <a:p>
            <a:pPr algn="l">
              <a:spcAft>
                <a:spcPts val="400"/>
              </a:spcAft>
            </a:pPr>
            <a:r>
              <a:rPr sz="1100" b="0" i="1">
                <a:solidFill>
                  <a:schemeClr val="tx2"/>
                </a:solidFill>
              </a:rPr>
              <a:t>Same CRDs on both sides, so manifests move to OpenShift almost unchanged. Nothing is installed on VMs or database servers.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0"/>
          </p:nvPr>
        </p:nvSpPr>
        <p:spPr/>
        <p:txBody>
          <a:bodyPr/>
          <a:lstStyle/>
          <a:p>
            <a:r>
              <a:t>End-to-end data flow: who sends, who pulls</a:t>
            </a:r>
          </a:p>
        </p:txBody>
      </p:sp>
      <p:sp>
        <p:nvSpPr>
          <p:cNvPr id="3"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sp>
        <p:nvSpPr>
          <p:cNvPr id="4" name="TextBox 3"/>
          <p:cNvSpPr txBox="1"/>
          <p:nvPr/>
        </p:nvSpPr>
        <p:spPr>
          <a:xfrm>
            <a:off x="457200" y="1188720"/>
            <a:ext cx="1920240" cy="274320"/>
          </a:xfrm>
          <a:prstGeom prst="rect">
            <a:avLst/>
          </a:prstGeom>
          <a:noFill/>
        </p:spPr>
        <p:txBody>
          <a:bodyPr wrap="square" lIns="0" rIns="0" tIns="0" bIns="0" anchor="t">
            <a:spAutoFit/>
          </a:bodyPr>
          <a:lstStyle/>
          <a:p>
            <a:pPr algn="l">
              <a:spcAft>
                <a:spcPts val="400"/>
              </a:spcAft>
            </a:pPr>
            <a:r>
              <a:rPr sz="1100" b="1" i="0">
                <a:solidFill>
                  <a:schemeClr val="tx2"/>
                </a:solidFill>
              </a:rPr>
              <a:t>SOURCES</a:t>
            </a:r>
          </a:p>
        </p:txBody>
      </p:sp>
      <p:sp>
        <p:nvSpPr>
          <p:cNvPr id="5" name="TextBox 4"/>
          <p:cNvSpPr txBox="1"/>
          <p:nvPr/>
        </p:nvSpPr>
        <p:spPr>
          <a:xfrm>
            <a:off x="2880360" y="1188720"/>
            <a:ext cx="1920240" cy="274320"/>
          </a:xfrm>
          <a:prstGeom prst="rect">
            <a:avLst/>
          </a:prstGeom>
          <a:noFill/>
        </p:spPr>
        <p:txBody>
          <a:bodyPr wrap="square" lIns="0" rIns="0" tIns="0" bIns="0" anchor="t">
            <a:spAutoFit/>
          </a:bodyPr>
          <a:lstStyle/>
          <a:p>
            <a:pPr algn="l">
              <a:spcAft>
                <a:spcPts val="400"/>
              </a:spcAft>
            </a:pPr>
            <a:r>
              <a:rPr sz="1100" b="1" i="0">
                <a:solidFill>
                  <a:schemeClr val="tx2"/>
                </a:solidFill>
              </a:rPr>
              <a:t>COLLECTION</a:t>
            </a:r>
          </a:p>
        </p:txBody>
      </p:sp>
      <p:sp>
        <p:nvSpPr>
          <p:cNvPr id="6" name="TextBox 5"/>
          <p:cNvSpPr txBox="1"/>
          <p:nvPr/>
        </p:nvSpPr>
        <p:spPr>
          <a:xfrm>
            <a:off x="5303520" y="1188720"/>
            <a:ext cx="1828800" cy="274320"/>
          </a:xfrm>
          <a:prstGeom prst="rect">
            <a:avLst/>
          </a:prstGeom>
          <a:noFill/>
        </p:spPr>
        <p:txBody>
          <a:bodyPr wrap="square" lIns="0" rIns="0" tIns="0" bIns="0" anchor="t">
            <a:spAutoFit/>
          </a:bodyPr>
          <a:lstStyle/>
          <a:p>
            <a:pPr algn="l">
              <a:spcAft>
                <a:spcPts val="400"/>
              </a:spcAft>
            </a:pPr>
            <a:r>
              <a:rPr sz="1100" b="1" i="0">
                <a:solidFill>
                  <a:schemeClr val="tx2"/>
                </a:solidFill>
              </a:rPr>
              <a:t>PROCESSING</a:t>
            </a:r>
          </a:p>
        </p:txBody>
      </p:sp>
      <p:sp>
        <p:nvSpPr>
          <p:cNvPr id="7" name="TextBox 6"/>
          <p:cNvSpPr txBox="1"/>
          <p:nvPr/>
        </p:nvSpPr>
        <p:spPr>
          <a:xfrm>
            <a:off x="7635240" y="1188720"/>
            <a:ext cx="1783080" cy="274320"/>
          </a:xfrm>
          <a:prstGeom prst="rect">
            <a:avLst/>
          </a:prstGeom>
          <a:noFill/>
        </p:spPr>
        <p:txBody>
          <a:bodyPr wrap="square" lIns="0" rIns="0" tIns="0" bIns="0" anchor="t">
            <a:spAutoFit/>
          </a:bodyPr>
          <a:lstStyle/>
          <a:p>
            <a:pPr algn="l">
              <a:spcAft>
                <a:spcPts val="400"/>
              </a:spcAft>
            </a:pPr>
            <a:r>
              <a:rPr sz="1100" b="1" i="0">
                <a:solidFill>
                  <a:schemeClr val="tx2"/>
                </a:solidFill>
              </a:rPr>
              <a:t>STORAGE</a:t>
            </a:r>
          </a:p>
        </p:txBody>
      </p:sp>
      <p:sp>
        <p:nvSpPr>
          <p:cNvPr id="8" name="TextBox 7"/>
          <p:cNvSpPr txBox="1"/>
          <p:nvPr/>
        </p:nvSpPr>
        <p:spPr>
          <a:xfrm>
            <a:off x="9966960" y="1188720"/>
            <a:ext cx="1737360" cy="274320"/>
          </a:xfrm>
          <a:prstGeom prst="rect">
            <a:avLst/>
          </a:prstGeom>
          <a:noFill/>
        </p:spPr>
        <p:txBody>
          <a:bodyPr wrap="square" lIns="0" rIns="0" tIns="0" bIns="0" anchor="t">
            <a:spAutoFit/>
          </a:bodyPr>
          <a:lstStyle/>
          <a:p>
            <a:pPr algn="l">
              <a:spcAft>
                <a:spcPts val="400"/>
              </a:spcAft>
            </a:pPr>
            <a:r>
              <a:rPr sz="1100" b="1" i="0">
                <a:solidFill>
                  <a:schemeClr val="tx2"/>
                </a:solidFill>
              </a:rPr>
              <a:t>VIEWS</a:t>
            </a:r>
          </a:p>
        </p:txBody>
      </p:sp>
      <p:sp>
        <p:nvSpPr>
          <p:cNvPr id="9" name="Rounded Rectangle 8"/>
          <p:cNvSpPr/>
          <p:nvPr/>
        </p:nvSpPr>
        <p:spPr>
          <a:xfrm>
            <a:off x="457200" y="1554480"/>
            <a:ext cx="1920240" cy="914400"/>
          </a:xfrm>
          <a:prstGeom prst="roundRect">
            <a:avLst>
              <a:gd name="adj" fmla="val 8000"/>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ctr">
              <a:spcAft>
                <a:spcPts val="400"/>
              </a:spcAft>
            </a:pPr>
            <a:r>
              <a:rPr sz="1200" b="1" i="0">
                <a:solidFill>
                  <a:schemeClr val="bg1"/>
                </a:solidFill>
              </a:rPr>
              <a:t>Envoy sidecars + gateway</a:t>
            </a:r>
          </a:p>
          <a:p>
            <a:pPr algn="ctr">
              <a:spcAft>
                <a:spcPts val="400"/>
              </a:spcAft>
            </a:pPr>
            <a:r>
              <a:rPr sz="1000" b="0" i="0">
                <a:solidFill>
                  <a:schemeClr val="bg1"/>
                </a:solidFill>
              </a:rPr>
              <a:t>Expose :15020/stats/prometheus</a:t>
            </a:r>
          </a:p>
        </p:txBody>
      </p:sp>
      <p:sp>
        <p:nvSpPr>
          <p:cNvPr id="10" name="Rounded Rectangle 9"/>
          <p:cNvSpPr/>
          <p:nvPr/>
        </p:nvSpPr>
        <p:spPr>
          <a:xfrm>
            <a:off x="2880360" y="1554480"/>
            <a:ext cx="1920240" cy="914400"/>
          </a:xfrm>
          <a:prstGeom prst="roundRect">
            <a:avLst>
              <a:gd name="adj" fmla="val 8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ctr">
              <a:spcAft>
                <a:spcPts val="400"/>
              </a:spcAft>
            </a:pPr>
            <a:r>
              <a:rPr sz="1200" b="1" i="0">
                <a:solidFill>
                  <a:schemeClr val="bg1"/>
                </a:solidFill>
              </a:rPr>
              <a:t>Prometheus scrape</a:t>
            </a:r>
          </a:p>
          <a:p>
            <a:pPr algn="ctr">
              <a:spcAft>
                <a:spcPts val="400"/>
              </a:spcAft>
            </a:pPr>
            <a:r>
              <a:rPr sz="1000" b="0" i="0">
                <a:solidFill>
                  <a:schemeClr val="bg1"/>
                </a:solidFill>
              </a:rPr>
              <a:t>Targets from PodMonitor / ServiceMonitor, every 15 s</a:t>
            </a:r>
          </a:p>
        </p:txBody>
      </p:sp>
      <p:sp>
        <p:nvSpPr>
          <p:cNvPr id="11" name="Rounded Rectangle 10"/>
          <p:cNvSpPr/>
          <p:nvPr/>
        </p:nvSpPr>
        <p:spPr>
          <a:xfrm>
            <a:off x="7635240" y="1554480"/>
            <a:ext cx="1783080" cy="914400"/>
          </a:xfrm>
          <a:prstGeom prst="roundRect">
            <a:avLst>
              <a:gd name="adj" fmla="val 8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ctr">
              <a:spcAft>
                <a:spcPts val="400"/>
              </a:spcAft>
            </a:pPr>
            <a:r>
              <a:rPr sz="1200" b="1" i="0">
                <a:solidFill>
                  <a:schemeClr val="bg1"/>
                </a:solidFill>
              </a:rPr>
              <a:t>Prometheus TSDB</a:t>
            </a:r>
          </a:p>
          <a:p>
            <a:pPr algn="ctr">
              <a:spcAft>
                <a:spcPts val="400"/>
              </a:spcAft>
            </a:pPr>
            <a:r>
              <a:rPr sz="1000" b="0" i="0">
                <a:solidFill>
                  <a:schemeClr val="bg1"/>
                </a:solidFill>
              </a:rPr>
              <a:t>10 Gi PV, 2 days</a:t>
            </a:r>
          </a:p>
        </p:txBody>
      </p:sp>
      <p:cxnSp>
        <p:nvCxnSpPr>
          <p:cNvPr id="12" name="Connector 11"/>
          <p:cNvCxnSpPr/>
          <p:nvPr/>
        </p:nvCxnSpPr>
        <p:spPr>
          <a:xfrm flipH="1">
            <a:off x="2377440" y="2011680"/>
            <a:ext cx="502920" cy="0"/>
          </a:xfrm>
          <a:prstGeom prst="line">
            <a:avLst/>
          </a:prstGeom>
          <a:ln w="15875">
            <a:solidFill>
              <a:schemeClr val="tx2"/>
            </a:solidFill>
            <a:tailEnd type="triangle"/>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2400300" y="1709928"/>
            <a:ext cx="457200" cy="237744"/>
          </a:xfrm>
          <a:prstGeom prst="roundRect">
            <a:avLst>
              <a:gd name="adj" fmla="val 50000"/>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0972" bIns="10972"/>
          <a:lstStyle/>
          <a:p>
            <a:pPr algn="ctr">
              <a:spcAft>
                <a:spcPts val="400"/>
              </a:spcAft>
            </a:pPr>
            <a:r>
              <a:rPr sz="800" b="1" i="0">
                <a:solidFill>
                  <a:schemeClr val="bg1"/>
                </a:solidFill>
              </a:rPr>
              <a:t>PULL</a:t>
            </a:r>
          </a:p>
        </p:txBody>
      </p:sp>
      <p:cxnSp>
        <p:nvCxnSpPr>
          <p:cNvPr id="14" name="Connector 13"/>
          <p:cNvCxnSpPr/>
          <p:nvPr/>
        </p:nvCxnSpPr>
        <p:spPr>
          <a:xfrm flipH="1">
            <a:off x="9418320" y="2011680"/>
            <a:ext cx="548640" cy="0"/>
          </a:xfrm>
          <a:prstGeom prst="line">
            <a:avLst/>
          </a:prstGeom>
          <a:ln w="15875">
            <a:solidFill>
              <a:schemeClr val="tx2"/>
            </a:solidFill>
            <a:tailEnd type="triangle"/>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9464040" y="1709928"/>
            <a:ext cx="457200" cy="237744"/>
          </a:xfrm>
          <a:prstGeom prst="roundRect">
            <a:avLst>
              <a:gd name="adj" fmla="val 50000"/>
            </a:avLst>
          </a:prstGeom>
          <a:solidFill>
            <a:schemeClr val="accent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0972" bIns="10972"/>
          <a:lstStyle/>
          <a:p>
            <a:pPr algn="ctr">
              <a:spcAft>
                <a:spcPts val="400"/>
              </a:spcAft>
            </a:pPr>
            <a:r>
              <a:rPr sz="800" b="1" i="0">
                <a:solidFill>
                  <a:schemeClr val="bg1"/>
                </a:solidFill>
              </a:rPr>
              <a:t>QUERY</a:t>
            </a:r>
          </a:p>
        </p:txBody>
      </p:sp>
      <p:sp>
        <p:nvSpPr>
          <p:cNvPr id="16" name="Rounded Rectangle 15"/>
          <p:cNvSpPr/>
          <p:nvPr/>
        </p:nvSpPr>
        <p:spPr>
          <a:xfrm>
            <a:off x="457200" y="2788920"/>
            <a:ext cx="1920240" cy="914400"/>
          </a:xfrm>
          <a:prstGeom prst="roundRect">
            <a:avLst>
              <a:gd name="adj" fmla="val 8000"/>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ctr">
              <a:spcAft>
                <a:spcPts val="400"/>
              </a:spcAft>
            </a:pPr>
            <a:r>
              <a:rPr sz="1200" b="1" i="0">
                <a:solidFill>
                  <a:schemeClr val="bg1"/>
                </a:solidFill>
              </a:rPr>
              <a:t>Envoy + app OTel agent</a:t>
            </a:r>
          </a:p>
          <a:p>
            <a:pPr algn="ctr">
              <a:spcAft>
                <a:spcPts val="400"/>
              </a:spcAft>
            </a:pPr>
            <a:r>
              <a:rPr sz="1000" b="0" i="0">
                <a:solidFill>
                  <a:schemeClr val="bg1"/>
                </a:solidFill>
              </a:rPr>
              <a:t>Spans; traceparent + baggage</a:t>
            </a:r>
          </a:p>
        </p:txBody>
      </p:sp>
      <p:sp>
        <p:nvSpPr>
          <p:cNvPr id="17" name="Rounded Rectangle 16"/>
          <p:cNvSpPr/>
          <p:nvPr/>
        </p:nvSpPr>
        <p:spPr>
          <a:xfrm>
            <a:off x="2880360" y="2788920"/>
            <a:ext cx="1920240" cy="914400"/>
          </a:xfrm>
          <a:prstGeom prst="roundRect">
            <a:avLst>
              <a:gd name="adj" fmla="val 8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ctr">
              <a:spcAft>
                <a:spcPts val="400"/>
              </a:spcAft>
            </a:pPr>
            <a:r>
              <a:rPr sz="1200" b="1" i="0">
                <a:solidFill>
                  <a:schemeClr val="bg1"/>
                </a:solidFill>
              </a:rPr>
              <a:t>OTLP receiver</a:t>
            </a:r>
          </a:p>
          <a:p>
            <a:pPr algn="ctr">
              <a:spcAft>
                <a:spcPts val="400"/>
              </a:spcAft>
            </a:pPr>
            <a:r>
              <a:rPr sz="1000" b="0" i="0">
                <a:solidFill>
                  <a:schemeClr val="bg1"/>
                </a:solidFill>
              </a:rPr>
              <a:t>Envoy gRPC :4317, apps HTTP :4318</a:t>
            </a:r>
          </a:p>
        </p:txBody>
      </p:sp>
      <p:sp>
        <p:nvSpPr>
          <p:cNvPr id="18" name="Rounded Rectangle 17"/>
          <p:cNvSpPr/>
          <p:nvPr/>
        </p:nvSpPr>
        <p:spPr>
          <a:xfrm>
            <a:off x="7635240" y="2788920"/>
            <a:ext cx="1783080" cy="914400"/>
          </a:xfrm>
          <a:prstGeom prst="roundRect">
            <a:avLst>
              <a:gd name="adj" fmla="val 8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ctr">
              <a:spcAft>
                <a:spcPts val="400"/>
              </a:spcAft>
            </a:pPr>
            <a:r>
              <a:rPr sz="1200" b="1" i="0">
                <a:solidFill>
                  <a:schemeClr val="bg1"/>
                </a:solidFill>
              </a:rPr>
              <a:t>Tempo</a:t>
            </a:r>
          </a:p>
          <a:p>
            <a:pPr algn="ctr">
              <a:spcAft>
                <a:spcPts val="400"/>
              </a:spcAft>
            </a:pPr>
            <a:r>
              <a:rPr sz="1000" b="0" i="0">
                <a:solidFill>
                  <a:schemeClr val="bg1"/>
                </a:solidFill>
              </a:rPr>
              <a:t>vParquet4 blocks, 14 days</a:t>
            </a:r>
          </a:p>
        </p:txBody>
      </p:sp>
      <p:cxnSp>
        <p:nvCxnSpPr>
          <p:cNvPr id="19" name="Connector 18"/>
          <p:cNvCxnSpPr/>
          <p:nvPr/>
        </p:nvCxnSpPr>
        <p:spPr>
          <a:xfrm>
            <a:off x="2377440" y="3246120"/>
            <a:ext cx="502920" cy="0"/>
          </a:xfrm>
          <a:prstGeom prst="line">
            <a:avLst/>
          </a:prstGeom>
          <a:ln w="15875">
            <a:solidFill>
              <a:schemeClr val="tx2"/>
            </a:solidFill>
            <a:tailEnd type="triangle"/>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2400300" y="2944368"/>
            <a:ext cx="457200" cy="237744"/>
          </a:xfrm>
          <a:prstGeom prst="roundRect">
            <a:avLst>
              <a:gd name="adj" fmla="val 50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0972" bIns="10972"/>
          <a:lstStyle/>
          <a:p>
            <a:pPr algn="ctr">
              <a:spcAft>
                <a:spcPts val="400"/>
              </a:spcAft>
            </a:pPr>
            <a:r>
              <a:rPr sz="800" b="1" i="0">
                <a:solidFill>
                  <a:schemeClr val="bg1"/>
                </a:solidFill>
              </a:rPr>
              <a:t>PUSH</a:t>
            </a:r>
          </a:p>
        </p:txBody>
      </p:sp>
      <p:cxnSp>
        <p:nvCxnSpPr>
          <p:cNvPr id="21" name="Connector 20"/>
          <p:cNvCxnSpPr/>
          <p:nvPr/>
        </p:nvCxnSpPr>
        <p:spPr>
          <a:xfrm flipH="1">
            <a:off x="9418320" y="3246120"/>
            <a:ext cx="548640" cy="0"/>
          </a:xfrm>
          <a:prstGeom prst="line">
            <a:avLst/>
          </a:prstGeom>
          <a:ln w="15875">
            <a:solidFill>
              <a:schemeClr val="tx2"/>
            </a:solidFill>
            <a:tailEnd type="triangle"/>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9464040" y="2944368"/>
            <a:ext cx="457200" cy="237744"/>
          </a:xfrm>
          <a:prstGeom prst="roundRect">
            <a:avLst>
              <a:gd name="adj" fmla="val 50000"/>
            </a:avLst>
          </a:prstGeom>
          <a:solidFill>
            <a:schemeClr val="accent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0972" bIns="10972"/>
          <a:lstStyle/>
          <a:p>
            <a:pPr algn="ctr">
              <a:spcAft>
                <a:spcPts val="400"/>
              </a:spcAft>
            </a:pPr>
            <a:r>
              <a:rPr sz="800" b="1" i="0">
                <a:solidFill>
                  <a:schemeClr val="bg1"/>
                </a:solidFill>
              </a:rPr>
              <a:t>QUERY</a:t>
            </a:r>
          </a:p>
        </p:txBody>
      </p:sp>
      <p:sp>
        <p:nvSpPr>
          <p:cNvPr id="23" name="Rounded Rectangle 22"/>
          <p:cNvSpPr/>
          <p:nvPr/>
        </p:nvSpPr>
        <p:spPr>
          <a:xfrm>
            <a:off x="457200" y="4023360"/>
            <a:ext cx="1920240" cy="914400"/>
          </a:xfrm>
          <a:prstGeom prst="roundRect">
            <a:avLst>
              <a:gd name="adj" fmla="val 8000"/>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ctr">
              <a:spcAft>
                <a:spcPts val="400"/>
              </a:spcAft>
            </a:pPr>
            <a:r>
              <a:rPr sz="1200" b="1" i="0">
                <a:solidFill>
                  <a:schemeClr val="bg1"/>
                </a:solidFill>
              </a:rPr>
              <a:t>Envoy access log</a:t>
            </a:r>
          </a:p>
          <a:p>
            <a:pPr algn="ctr">
              <a:spcAft>
                <a:spcPts val="400"/>
              </a:spcAft>
            </a:pPr>
            <a:r>
              <a:rPr sz="1000" b="0" i="0">
                <a:solidFill>
                  <a:schemeClr val="bg1"/>
                </a:solidFill>
              </a:rPr>
              <a:t>Every request, response flags</a:t>
            </a:r>
          </a:p>
        </p:txBody>
      </p:sp>
      <p:sp>
        <p:nvSpPr>
          <p:cNvPr id="24" name="Rounded Rectangle 23"/>
          <p:cNvSpPr/>
          <p:nvPr/>
        </p:nvSpPr>
        <p:spPr>
          <a:xfrm>
            <a:off x="2880360" y="4023360"/>
            <a:ext cx="1920240" cy="914400"/>
          </a:xfrm>
          <a:prstGeom prst="roundRect">
            <a:avLst>
              <a:gd name="adj" fmla="val 8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ctr">
              <a:spcAft>
                <a:spcPts val="400"/>
              </a:spcAft>
            </a:pPr>
            <a:r>
              <a:rPr sz="1200" b="1" i="0">
                <a:solidFill>
                  <a:schemeClr val="bg1"/>
                </a:solidFill>
              </a:rPr>
              <a:t>OTLP receiver</a:t>
            </a:r>
          </a:p>
          <a:p>
            <a:pPr algn="ctr">
              <a:spcAft>
                <a:spcPts val="400"/>
              </a:spcAft>
            </a:pPr>
            <a:r>
              <a:rPr sz="1000" b="0" i="0">
                <a:solidFill>
                  <a:schemeClr val="bg1"/>
                </a:solidFill>
              </a:rPr>
              <a:t>Envoy access-log sink, gRPC :4317</a:t>
            </a:r>
          </a:p>
        </p:txBody>
      </p:sp>
      <p:sp>
        <p:nvSpPr>
          <p:cNvPr id="25" name="Rounded Rectangle 24"/>
          <p:cNvSpPr/>
          <p:nvPr/>
        </p:nvSpPr>
        <p:spPr>
          <a:xfrm>
            <a:off x="7635240" y="4023360"/>
            <a:ext cx="1783080" cy="914400"/>
          </a:xfrm>
          <a:prstGeom prst="roundRect">
            <a:avLst>
              <a:gd name="adj" fmla="val 8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ctr">
              <a:spcAft>
                <a:spcPts val="400"/>
              </a:spcAft>
            </a:pPr>
            <a:r>
              <a:rPr sz="1200" b="1" i="0">
                <a:solidFill>
                  <a:schemeClr val="bg1"/>
                </a:solidFill>
              </a:rPr>
              <a:t>Loki</a:t>
            </a:r>
          </a:p>
          <a:p>
            <a:pPr algn="ctr">
              <a:spcAft>
                <a:spcPts val="400"/>
              </a:spcAft>
            </a:pPr>
            <a:r>
              <a:rPr sz="1000" b="0" i="0">
                <a:solidFill>
                  <a:schemeClr val="bg1"/>
                </a:solidFill>
              </a:rPr>
              <a:t>Chunks + index, 48 h</a:t>
            </a:r>
          </a:p>
        </p:txBody>
      </p:sp>
      <p:cxnSp>
        <p:nvCxnSpPr>
          <p:cNvPr id="26" name="Connector 25"/>
          <p:cNvCxnSpPr/>
          <p:nvPr/>
        </p:nvCxnSpPr>
        <p:spPr>
          <a:xfrm>
            <a:off x="2377440" y="4480560"/>
            <a:ext cx="502920" cy="0"/>
          </a:xfrm>
          <a:prstGeom prst="line">
            <a:avLst/>
          </a:prstGeom>
          <a:ln w="15875">
            <a:solidFill>
              <a:schemeClr val="tx2"/>
            </a:solidFill>
            <a:tailEnd type="triangle"/>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2400300" y="4178808"/>
            <a:ext cx="457200" cy="237744"/>
          </a:xfrm>
          <a:prstGeom prst="roundRect">
            <a:avLst>
              <a:gd name="adj" fmla="val 50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0972" bIns="10972"/>
          <a:lstStyle/>
          <a:p>
            <a:pPr algn="ctr">
              <a:spcAft>
                <a:spcPts val="400"/>
              </a:spcAft>
            </a:pPr>
            <a:r>
              <a:rPr sz="800" b="1" i="0">
                <a:solidFill>
                  <a:schemeClr val="bg1"/>
                </a:solidFill>
              </a:rPr>
              <a:t>PUSH</a:t>
            </a:r>
          </a:p>
        </p:txBody>
      </p:sp>
      <p:cxnSp>
        <p:nvCxnSpPr>
          <p:cNvPr id="28" name="Connector 27"/>
          <p:cNvCxnSpPr/>
          <p:nvPr/>
        </p:nvCxnSpPr>
        <p:spPr>
          <a:xfrm flipH="1">
            <a:off x="9418320" y="4480560"/>
            <a:ext cx="548640" cy="0"/>
          </a:xfrm>
          <a:prstGeom prst="line">
            <a:avLst/>
          </a:prstGeom>
          <a:ln w="15875">
            <a:solidFill>
              <a:schemeClr val="tx2"/>
            </a:solidFill>
            <a:tailEnd type="triangle"/>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9464040" y="4178808"/>
            <a:ext cx="457200" cy="237744"/>
          </a:xfrm>
          <a:prstGeom prst="roundRect">
            <a:avLst>
              <a:gd name="adj" fmla="val 50000"/>
            </a:avLst>
          </a:prstGeom>
          <a:solidFill>
            <a:schemeClr val="accent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0972" bIns="10972"/>
          <a:lstStyle/>
          <a:p>
            <a:pPr algn="ctr">
              <a:spcAft>
                <a:spcPts val="400"/>
              </a:spcAft>
            </a:pPr>
            <a:r>
              <a:rPr sz="800" b="1" i="0">
                <a:solidFill>
                  <a:schemeClr val="bg1"/>
                </a:solidFill>
              </a:rPr>
              <a:t>QUERY</a:t>
            </a:r>
          </a:p>
        </p:txBody>
      </p:sp>
      <p:sp>
        <p:nvSpPr>
          <p:cNvPr id="30" name="Rounded Rectangle 29"/>
          <p:cNvSpPr/>
          <p:nvPr/>
        </p:nvSpPr>
        <p:spPr>
          <a:xfrm>
            <a:off x="5303520" y="1554480"/>
            <a:ext cx="1828800" cy="914400"/>
          </a:xfrm>
          <a:prstGeom prst="roundRect">
            <a:avLst>
              <a:gd name="adj" fmla="val 8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ctr">
              <a:spcAft>
                <a:spcPts val="400"/>
              </a:spcAft>
            </a:pPr>
            <a:r>
              <a:rPr sz="1200" b="1" i="0">
                <a:solidFill>
                  <a:schemeClr val="bg1"/>
                </a:solidFill>
              </a:rPr>
              <a:t>Ingest + rules</a:t>
            </a:r>
          </a:p>
          <a:p>
            <a:pPr algn="ctr">
              <a:spcAft>
                <a:spcPts val="400"/>
              </a:spcAft>
            </a:pPr>
            <a:r>
              <a:rPr sz="1000" b="1" i="0">
                <a:solidFill>
                  <a:schemeClr val="bg1"/>
                </a:solidFill>
              </a:rPr>
              <a:t>Writes samples; 5 alert rules every 15 s</a:t>
            </a:r>
          </a:p>
        </p:txBody>
      </p:sp>
      <p:sp>
        <p:nvSpPr>
          <p:cNvPr id="31" name="Rounded Rectangle 30"/>
          <p:cNvSpPr/>
          <p:nvPr/>
        </p:nvSpPr>
        <p:spPr>
          <a:xfrm>
            <a:off x="5303520" y="2788920"/>
            <a:ext cx="1828800" cy="2148840"/>
          </a:xfrm>
          <a:prstGeom prst="roundRect">
            <a:avLst>
              <a:gd name="adj" fmla="val 8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ctr">
              <a:spcAft>
                <a:spcPts val="400"/>
              </a:spcAft>
            </a:pPr>
            <a:r>
              <a:rPr sz="1200" b="1" i="0">
                <a:solidFill>
                  <a:schemeClr val="bg1"/>
                </a:solidFill>
              </a:rPr>
              <a:t>OTel Collector</a:t>
            </a:r>
          </a:p>
          <a:p>
            <a:pPr algn="ctr">
              <a:spcAft>
                <a:spcPts val="400"/>
              </a:spcAft>
            </a:pPr>
            <a:r>
              <a:rPr sz="1000" b="1" i="0">
                <a:solidFill>
                  <a:schemeClr val="bg1"/>
                </a:solidFill>
              </a:rPr>
              <a:t>Journey tagging</a:t>
            </a:r>
          </a:p>
          <a:p>
            <a:pPr algn="ctr">
              <a:spcAft>
                <a:spcPts val="400"/>
              </a:spcAft>
            </a:pPr>
            <a:r>
              <a:rPr sz="1000" b="1" i="0">
                <a:solidFill>
                  <a:schemeClr val="bg1"/>
                </a:solidFill>
              </a:rPr>
              <a:t>Tail sampling (traces)</a:t>
            </a:r>
          </a:p>
          <a:p>
            <a:pPr algn="ctr">
              <a:spcAft>
                <a:spcPts val="400"/>
              </a:spcAft>
            </a:pPr>
            <a:r>
              <a:rPr sz="1000" b="1" i="0">
                <a:solidFill>
                  <a:schemeClr val="bg1"/>
                </a:solidFill>
              </a:rPr>
              <a:t>Batching, routing</a:t>
            </a:r>
          </a:p>
        </p:txBody>
      </p:sp>
      <p:cxnSp>
        <p:nvCxnSpPr>
          <p:cNvPr id="32" name="Connector 31"/>
          <p:cNvCxnSpPr/>
          <p:nvPr/>
        </p:nvCxnSpPr>
        <p:spPr>
          <a:xfrm>
            <a:off x="4800600" y="2011680"/>
            <a:ext cx="502920" cy="0"/>
          </a:xfrm>
          <a:prstGeom prst="line">
            <a:avLst/>
          </a:prstGeom>
          <a:ln w="15875">
            <a:solidFill>
              <a:schemeClr val="tx2"/>
            </a:solidFill>
            <a:tailEnd type="triangle"/>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7132320" y="2011680"/>
            <a:ext cx="502920" cy="0"/>
          </a:xfrm>
          <a:prstGeom prst="line">
            <a:avLst/>
          </a:prstGeom>
          <a:ln w="15875">
            <a:solidFill>
              <a:schemeClr val="tx2"/>
            </a:solidFill>
            <a:tailEnd type="triangle"/>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4800600" y="3246120"/>
            <a:ext cx="502920" cy="0"/>
          </a:xfrm>
          <a:prstGeom prst="line">
            <a:avLst/>
          </a:prstGeom>
          <a:ln w="15875">
            <a:solidFill>
              <a:schemeClr val="tx2"/>
            </a:solidFill>
            <a:tailEnd type="triangle"/>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7132320" y="3246120"/>
            <a:ext cx="502920" cy="0"/>
          </a:xfrm>
          <a:prstGeom prst="line">
            <a:avLst/>
          </a:prstGeom>
          <a:ln w="15875">
            <a:solidFill>
              <a:schemeClr val="tx2"/>
            </a:solidFill>
            <a:tailEnd type="triangle"/>
          </a:ln>
        </p:spPr>
        <p:style>
          <a:lnRef idx="2">
            <a:schemeClr val="accent1"/>
          </a:lnRef>
          <a:fillRef idx="0">
            <a:schemeClr val="accent1"/>
          </a:fillRef>
          <a:effectRef idx="1">
            <a:schemeClr val="accent1"/>
          </a:effectRef>
          <a:fontRef idx="minor">
            <a:schemeClr val="tx1"/>
          </a:fontRef>
        </p:style>
      </p:cxnSp>
      <p:sp>
        <p:nvSpPr>
          <p:cNvPr id="36" name="Rounded Rectangle 35"/>
          <p:cNvSpPr/>
          <p:nvPr/>
        </p:nvSpPr>
        <p:spPr>
          <a:xfrm>
            <a:off x="7155179" y="2944368"/>
            <a:ext cx="457200" cy="237744"/>
          </a:xfrm>
          <a:prstGeom prst="roundRect">
            <a:avLst>
              <a:gd name="adj" fmla="val 50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0972" bIns="10972"/>
          <a:lstStyle/>
          <a:p>
            <a:pPr algn="ctr">
              <a:spcAft>
                <a:spcPts val="400"/>
              </a:spcAft>
            </a:pPr>
            <a:r>
              <a:rPr sz="800" b="1" i="0">
                <a:solidFill>
                  <a:schemeClr val="bg1"/>
                </a:solidFill>
              </a:rPr>
              <a:t>PUSH</a:t>
            </a:r>
          </a:p>
        </p:txBody>
      </p:sp>
      <p:cxnSp>
        <p:nvCxnSpPr>
          <p:cNvPr id="37" name="Connector 36"/>
          <p:cNvCxnSpPr/>
          <p:nvPr/>
        </p:nvCxnSpPr>
        <p:spPr>
          <a:xfrm>
            <a:off x="4800600" y="4480560"/>
            <a:ext cx="502920" cy="0"/>
          </a:xfrm>
          <a:prstGeom prst="line">
            <a:avLst/>
          </a:prstGeom>
          <a:ln w="15875">
            <a:solidFill>
              <a:schemeClr val="tx2"/>
            </a:solidFill>
            <a:tailEnd type="triangle"/>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7132320" y="4480560"/>
            <a:ext cx="502920" cy="0"/>
          </a:xfrm>
          <a:prstGeom prst="line">
            <a:avLst/>
          </a:prstGeom>
          <a:ln w="15875">
            <a:solidFill>
              <a:schemeClr val="tx2"/>
            </a:solidFill>
            <a:tailEnd type="triangle"/>
          </a:ln>
        </p:spPr>
        <p:style>
          <a:lnRef idx="2">
            <a:schemeClr val="accent1"/>
          </a:lnRef>
          <a:fillRef idx="0">
            <a:schemeClr val="accent1"/>
          </a:fillRef>
          <a:effectRef idx="1">
            <a:schemeClr val="accent1"/>
          </a:effectRef>
          <a:fontRef idx="minor">
            <a:schemeClr val="tx1"/>
          </a:fontRef>
        </p:style>
      </p:cxnSp>
      <p:sp>
        <p:nvSpPr>
          <p:cNvPr id="39" name="Rounded Rectangle 38"/>
          <p:cNvSpPr/>
          <p:nvPr/>
        </p:nvSpPr>
        <p:spPr>
          <a:xfrm>
            <a:off x="7155179" y="4178808"/>
            <a:ext cx="457200" cy="237744"/>
          </a:xfrm>
          <a:prstGeom prst="roundRect">
            <a:avLst>
              <a:gd name="adj" fmla="val 50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0972" bIns="10972"/>
          <a:lstStyle/>
          <a:p>
            <a:pPr algn="ctr">
              <a:spcAft>
                <a:spcPts val="400"/>
              </a:spcAft>
            </a:pPr>
            <a:r>
              <a:rPr sz="800" b="1" i="0">
                <a:solidFill>
                  <a:schemeClr val="bg1"/>
                </a:solidFill>
              </a:rPr>
              <a:t>PUSH</a:t>
            </a:r>
          </a:p>
        </p:txBody>
      </p:sp>
      <p:sp>
        <p:nvSpPr>
          <p:cNvPr id="40" name="Rounded Rectangle 39"/>
          <p:cNvSpPr/>
          <p:nvPr/>
        </p:nvSpPr>
        <p:spPr>
          <a:xfrm>
            <a:off x="9966960" y="1600200"/>
            <a:ext cx="1737360" cy="822960"/>
          </a:xfrm>
          <a:prstGeom prst="roundRect">
            <a:avLst>
              <a:gd name="adj" fmla="val 8000"/>
            </a:avLst>
          </a:prstGeom>
          <a:solidFill>
            <a:schemeClr val="accent6"/>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ctr">
              <a:spcAft>
                <a:spcPts val="400"/>
              </a:spcAft>
            </a:pPr>
            <a:r>
              <a:rPr sz="1150" b="1" i="0">
                <a:solidFill>
                  <a:schemeClr val="tx1"/>
                </a:solidFill>
              </a:rPr>
              <a:t>Kiali</a:t>
            </a:r>
          </a:p>
          <a:p>
            <a:pPr algn="ctr">
              <a:spcAft>
                <a:spcPts val="400"/>
              </a:spcAft>
            </a:pPr>
            <a:r>
              <a:rPr sz="1000" b="0" i="0">
                <a:solidFill>
                  <a:schemeClr val="tx1"/>
                </a:solidFill>
              </a:rPr>
              <a:t>Metrics + traces</a:t>
            </a:r>
          </a:p>
        </p:txBody>
      </p:sp>
      <p:sp>
        <p:nvSpPr>
          <p:cNvPr id="41" name="Rounded Rectangle 40"/>
          <p:cNvSpPr/>
          <p:nvPr/>
        </p:nvSpPr>
        <p:spPr>
          <a:xfrm>
            <a:off x="9966960" y="2834640"/>
            <a:ext cx="1737360" cy="822960"/>
          </a:xfrm>
          <a:prstGeom prst="roundRect">
            <a:avLst>
              <a:gd name="adj" fmla="val 8000"/>
            </a:avLst>
          </a:prstGeom>
          <a:solidFill>
            <a:schemeClr val="accent6"/>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ctr">
              <a:spcAft>
                <a:spcPts val="400"/>
              </a:spcAft>
            </a:pPr>
            <a:r>
              <a:rPr sz="1150" b="1" i="0">
                <a:solidFill>
                  <a:schemeClr val="tx1"/>
                </a:solidFill>
              </a:rPr>
              <a:t>Grafana</a:t>
            </a:r>
          </a:p>
          <a:p>
            <a:pPr algn="ctr">
              <a:spcAft>
                <a:spcPts val="400"/>
              </a:spcAft>
            </a:pPr>
            <a:r>
              <a:rPr sz="1000" b="0" i="0">
                <a:solidFill>
                  <a:schemeClr val="tx1"/>
                </a:solidFill>
              </a:rPr>
              <a:t>All three signals</a:t>
            </a:r>
          </a:p>
        </p:txBody>
      </p:sp>
      <p:sp>
        <p:nvSpPr>
          <p:cNvPr id="42" name="Rounded Rectangle 41"/>
          <p:cNvSpPr/>
          <p:nvPr/>
        </p:nvSpPr>
        <p:spPr>
          <a:xfrm>
            <a:off x="9966960" y="4069080"/>
            <a:ext cx="1737360" cy="822960"/>
          </a:xfrm>
          <a:prstGeom prst="roundRect">
            <a:avLst>
              <a:gd name="adj" fmla="val 8000"/>
            </a:avLst>
          </a:prstGeom>
          <a:solidFill>
            <a:schemeClr val="accent6"/>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ctr">
              <a:spcAft>
                <a:spcPts val="400"/>
              </a:spcAft>
            </a:pPr>
            <a:r>
              <a:rPr sz="1150" b="1" i="0">
                <a:solidFill>
                  <a:schemeClr val="tx1"/>
                </a:solidFill>
              </a:rPr>
              <a:t>Red-dot dashboard</a:t>
            </a:r>
          </a:p>
          <a:p>
            <a:pPr algn="ctr">
              <a:spcAft>
                <a:spcPts val="400"/>
              </a:spcAft>
            </a:pPr>
            <a:r>
              <a:rPr sz="1000" b="0" i="0">
                <a:solidFill>
                  <a:schemeClr val="tx1"/>
                </a:solidFill>
              </a:rPr>
              <a:t>All three + alerts</a:t>
            </a:r>
          </a:p>
        </p:txBody>
      </p:sp>
      <p:sp>
        <p:nvSpPr>
          <p:cNvPr id="43" name="Rounded Rectangle 42"/>
          <p:cNvSpPr/>
          <p:nvPr/>
        </p:nvSpPr>
        <p:spPr>
          <a:xfrm>
            <a:off x="9966960" y="5074920"/>
            <a:ext cx="1737360" cy="640080"/>
          </a:xfrm>
          <a:prstGeom prst="roundRect">
            <a:avLst>
              <a:gd name="adj" fmla="val 8000"/>
            </a:avLst>
          </a:prstGeom>
          <a:solidFill>
            <a:schemeClr val="accent6"/>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ctr">
              <a:spcAft>
                <a:spcPts val="400"/>
              </a:spcAft>
            </a:pPr>
            <a:r>
              <a:rPr sz="1150" b="1" i="0">
                <a:solidFill>
                  <a:schemeClr val="tx1"/>
                </a:solidFill>
              </a:rPr>
              <a:t>Alertmanager</a:t>
            </a:r>
          </a:p>
          <a:p>
            <a:pPr algn="ctr">
              <a:spcAft>
                <a:spcPts val="400"/>
              </a:spcAft>
            </a:pPr>
            <a:r>
              <a:rPr sz="1000" b="0" i="0">
                <a:solidFill>
                  <a:schemeClr val="tx1"/>
                </a:solidFill>
              </a:rPr>
              <a:t>Receives alerts (PUSH)</a:t>
            </a:r>
          </a:p>
        </p:txBody>
      </p:sp>
      <p:sp>
        <p:nvSpPr>
          <p:cNvPr id="44" name="Rounded Rectangle 43"/>
          <p:cNvSpPr/>
          <p:nvPr/>
        </p:nvSpPr>
        <p:spPr>
          <a:xfrm>
            <a:off x="484632" y="5797296"/>
            <a:ext cx="457200" cy="237744"/>
          </a:xfrm>
          <a:prstGeom prst="roundRect">
            <a:avLst>
              <a:gd name="adj" fmla="val 50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0972" bIns="10972"/>
          <a:lstStyle/>
          <a:p>
            <a:pPr algn="ctr">
              <a:spcAft>
                <a:spcPts val="400"/>
              </a:spcAft>
            </a:pPr>
            <a:r>
              <a:rPr sz="800" b="1" i="0">
                <a:solidFill>
                  <a:schemeClr val="bg1"/>
                </a:solidFill>
              </a:rPr>
              <a:t>PUSH</a:t>
            </a:r>
          </a:p>
        </p:txBody>
      </p:sp>
      <p:sp>
        <p:nvSpPr>
          <p:cNvPr id="45" name="TextBox 44"/>
          <p:cNvSpPr txBox="1"/>
          <p:nvPr/>
        </p:nvSpPr>
        <p:spPr>
          <a:xfrm>
            <a:off x="1051560" y="5779008"/>
            <a:ext cx="3017520" cy="274320"/>
          </a:xfrm>
          <a:prstGeom prst="rect">
            <a:avLst/>
          </a:prstGeom>
          <a:noFill/>
        </p:spPr>
        <p:txBody>
          <a:bodyPr wrap="square" lIns="0" rIns="0" tIns="0" bIns="0" anchor="ctr">
            <a:spAutoFit/>
          </a:bodyPr>
          <a:lstStyle/>
          <a:p>
            <a:pPr algn="l">
              <a:spcAft>
                <a:spcPts val="400"/>
              </a:spcAft>
            </a:pPr>
            <a:r>
              <a:rPr sz="1050" b="0" i="0">
                <a:solidFill>
                  <a:schemeClr val="tx2"/>
                </a:solidFill>
              </a:rPr>
              <a:t>sender opens the connection and sends (OTLP)</a:t>
            </a:r>
          </a:p>
        </p:txBody>
      </p:sp>
      <p:sp>
        <p:nvSpPr>
          <p:cNvPr id="46" name="Rounded Rectangle 45"/>
          <p:cNvSpPr/>
          <p:nvPr/>
        </p:nvSpPr>
        <p:spPr>
          <a:xfrm>
            <a:off x="4233672" y="5797296"/>
            <a:ext cx="457200" cy="237744"/>
          </a:xfrm>
          <a:prstGeom prst="roundRect">
            <a:avLst>
              <a:gd name="adj" fmla="val 50000"/>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0972" bIns="10972"/>
          <a:lstStyle/>
          <a:p>
            <a:pPr algn="ctr">
              <a:spcAft>
                <a:spcPts val="400"/>
              </a:spcAft>
            </a:pPr>
            <a:r>
              <a:rPr sz="800" b="1" i="0">
                <a:solidFill>
                  <a:schemeClr val="bg1"/>
                </a:solidFill>
              </a:rPr>
              <a:t>PULL</a:t>
            </a:r>
          </a:p>
        </p:txBody>
      </p:sp>
      <p:sp>
        <p:nvSpPr>
          <p:cNvPr id="47" name="TextBox 46"/>
          <p:cNvSpPr txBox="1"/>
          <p:nvPr/>
        </p:nvSpPr>
        <p:spPr>
          <a:xfrm>
            <a:off x="4800600" y="5779008"/>
            <a:ext cx="3017520" cy="274320"/>
          </a:xfrm>
          <a:prstGeom prst="rect">
            <a:avLst/>
          </a:prstGeom>
          <a:noFill/>
        </p:spPr>
        <p:txBody>
          <a:bodyPr wrap="square" lIns="0" rIns="0" tIns="0" bIns="0" anchor="ctr">
            <a:spAutoFit/>
          </a:bodyPr>
          <a:lstStyle/>
          <a:p>
            <a:pPr algn="l">
              <a:spcAft>
                <a:spcPts val="400"/>
              </a:spcAft>
            </a:pPr>
            <a:r>
              <a:rPr sz="1050" b="0" i="0">
                <a:solidFill>
                  <a:schemeClr val="tx2"/>
                </a:solidFill>
              </a:rPr>
              <a:t>Prometheus calls the target, data returns</a:t>
            </a:r>
          </a:p>
        </p:txBody>
      </p:sp>
      <p:sp>
        <p:nvSpPr>
          <p:cNvPr id="48" name="Rounded Rectangle 47"/>
          <p:cNvSpPr/>
          <p:nvPr/>
        </p:nvSpPr>
        <p:spPr>
          <a:xfrm>
            <a:off x="7982711" y="5797296"/>
            <a:ext cx="457200" cy="237744"/>
          </a:xfrm>
          <a:prstGeom prst="roundRect">
            <a:avLst>
              <a:gd name="adj" fmla="val 50000"/>
            </a:avLst>
          </a:prstGeom>
          <a:solidFill>
            <a:schemeClr val="accent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0972" bIns="10972"/>
          <a:lstStyle/>
          <a:p>
            <a:pPr algn="ctr">
              <a:spcAft>
                <a:spcPts val="400"/>
              </a:spcAft>
            </a:pPr>
            <a:r>
              <a:rPr sz="800" b="1" i="0">
                <a:solidFill>
                  <a:schemeClr val="bg1"/>
                </a:solidFill>
              </a:rPr>
              <a:t>QUERY</a:t>
            </a:r>
          </a:p>
        </p:txBody>
      </p:sp>
      <p:sp>
        <p:nvSpPr>
          <p:cNvPr id="49" name="TextBox 48"/>
          <p:cNvSpPr txBox="1"/>
          <p:nvPr/>
        </p:nvSpPr>
        <p:spPr>
          <a:xfrm>
            <a:off x="8549640" y="5779008"/>
            <a:ext cx="3017520" cy="274320"/>
          </a:xfrm>
          <a:prstGeom prst="rect">
            <a:avLst/>
          </a:prstGeom>
          <a:noFill/>
        </p:spPr>
        <p:txBody>
          <a:bodyPr wrap="square" lIns="0" rIns="0" tIns="0" bIns="0" anchor="ctr">
            <a:spAutoFit/>
          </a:bodyPr>
          <a:lstStyle/>
          <a:p>
            <a:pPr algn="l">
              <a:spcAft>
                <a:spcPts val="400"/>
              </a:spcAft>
            </a:pPr>
            <a:r>
              <a:rPr sz="1050" b="0" i="0">
                <a:solidFill>
                  <a:schemeClr val="tx2"/>
                </a:solidFill>
              </a:rPr>
              <a:t>a view calls the store, results return</a:t>
            </a:r>
          </a:p>
        </p:txBody>
      </p:sp>
      <p:sp>
        <p:nvSpPr>
          <p:cNvPr id="50" name="TextBox 49"/>
          <p:cNvSpPr txBox="1"/>
          <p:nvPr/>
        </p:nvSpPr>
        <p:spPr>
          <a:xfrm>
            <a:off x="457200" y="6089904"/>
            <a:ext cx="11247120" cy="256032"/>
          </a:xfrm>
          <a:prstGeom prst="rect">
            <a:avLst/>
          </a:prstGeom>
          <a:noFill/>
        </p:spPr>
        <p:txBody>
          <a:bodyPr wrap="square" lIns="0" rIns="0" tIns="0" bIns="0" anchor="t">
            <a:spAutoFit/>
          </a:bodyPr>
          <a:lstStyle/>
          <a:p>
            <a:pPr algn="l">
              <a:spcAft>
                <a:spcPts val="400"/>
              </a:spcAft>
            </a:pPr>
            <a:r>
              <a:rPr sz="1050" b="0" i="1">
                <a:solidFill>
                  <a:schemeClr val="tx2"/>
                </a:solidFill>
              </a:rPr>
              <a:t>Each arrow starts at the caller. On PULL and QUERY the data travels back against the arrow. Arrows without a pill are hand-offs inside one process.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0"/>
          </p:nvPr>
        </p:nvSpPr>
        <p:spPr/>
        <p:txBody>
          <a:bodyPr/>
          <a:lstStyle/>
          <a:p>
            <a:r>
              <a:t>Metrics: how Prometheus finds and scrapes every sidecar</a:t>
            </a:r>
          </a:p>
        </p:txBody>
      </p:sp>
      <p:sp>
        <p:nvSpPr>
          <p:cNvPr id="3"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sp>
        <p:nvSpPr>
          <p:cNvPr id="4" name="Oval 3"/>
          <p:cNvSpPr/>
          <p:nvPr/>
        </p:nvSpPr>
        <p:spPr>
          <a:xfrm>
            <a:off x="457200" y="1325880"/>
            <a:ext cx="384048" cy="384048"/>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pPr>
            <a:r>
              <a:rPr sz="1300" b="1" i="0">
                <a:solidFill>
                  <a:schemeClr val="bg1"/>
                </a:solidFill>
              </a:rPr>
              <a:t>1</a:t>
            </a:r>
          </a:p>
        </p:txBody>
      </p:sp>
      <p:sp>
        <p:nvSpPr>
          <p:cNvPr id="5" name="TextBox 4"/>
          <p:cNvSpPr txBox="1"/>
          <p:nvPr/>
        </p:nvSpPr>
        <p:spPr>
          <a:xfrm>
            <a:off x="1005840" y="1280160"/>
            <a:ext cx="5394960" cy="320040"/>
          </a:xfrm>
          <a:prstGeom prst="rect">
            <a:avLst/>
          </a:prstGeom>
          <a:noFill/>
        </p:spPr>
        <p:txBody>
          <a:bodyPr wrap="square" lIns="0" rIns="0" tIns="0" bIns="0" anchor="t">
            <a:spAutoFit/>
          </a:bodyPr>
          <a:lstStyle/>
          <a:p>
            <a:pPr algn="l">
              <a:spcAft>
                <a:spcPts val="400"/>
              </a:spcAft>
            </a:pPr>
            <a:r>
              <a:rPr sz="1400" b="1" i="0">
                <a:solidFill>
                  <a:schemeClr val="tx1"/>
                </a:solidFill>
              </a:rPr>
              <a:t>PodMonitor / ServiceMonitor CRs</a:t>
            </a:r>
          </a:p>
        </p:txBody>
      </p:sp>
      <p:sp>
        <p:nvSpPr>
          <p:cNvPr id="6" name="TextBox 5"/>
          <p:cNvSpPr txBox="1"/>
          <p:nvPr/>
        </p:nvSpPr>
        <p:spPr>
          <a:xfrm>
            <a:off x="1005840" y="1609343"/>
            <a:ext cx="5394960" cy="566928"/>
          </a:xfrm>
          <a:prstGeom prst="rect">
            <a:avLst/>
          </a:prstGeom>
          <a:noFill/>
        </p:spPr>
        <p:txBody>
          <a:bodyPr wrap="square" lIns="0" rIns="0" tIns="0" bIns="0" anchor="t">
            <a:spAutoFit/>
          </a:bodyPr>
          <a:lstStyle/>
          <a:p>
            <a:pPr algn="l">
              <a:spcAft>
                <a:spcPts val="400"/>
              </a:spcAft>
            </a:pPr>
            <a:r>
              <a:rPr sz="1200" b="0" i="0">
                <a:solidFill>
                  <a:schemeClr val="tx2"/>
                </a:solidFill>
              </a:rPr>
              <a:t>Declare what to scrape: every pod with an istio-proxy container (one PodMonitor per mesh namespace) and the istiod Service.</a:t>
            </a:r>
          </a:p>
        </p:txBody>
      </p:sp>
      <p:cxnSp>
        <p:nvCxnSpPr>
          <p:cNvPr id="7" name="Connector 6"/>
          <p:cNvCxnSpPr/>
          <p:nvPr/>
        </p:nvCxnSpPr>
        <p:spPr>
          <a:xfrm>
            <a:off x="649224" y="1737360"/>
            <a:ext cx="0" cy="512064"/>
          </a:xfrm>
          <a:prstGeom prst="line">
            <a:avLst/>
          </a:prstGeom>
          <a:ln w="15875">
            <a:solidFill>
              <a:schemeClr val="accent5"/>
            </a:solidFill>
          </a:ln>
        </p:spPr>
        <p:style>
          <a:lnRef idx="2">
            <a:schemeClr val="accent1"/>
          </a:lnRef>
          <a:fillRef idx="0">
            <a:schemeClr val="accent1"/>
          </a:fillRef>
          <a:effectRef idx="1">
            <a:schemeClr val="accent1"/>
          </a:effectRef>
          <a:fontRef idx="minor">
            <a:schemeClr val="tx1"/>
          </a:fontRef>
        </p:style>
      </p:cxnSp>
      <p:sp>
        <p:nvSpPr>
          <p:cNvPr id="8" name="Oval 7"/>
          <p:cNvSpPr/>
          <p:nvPr/>
        </p:nvSpPr>
        <p:spPr>
          <a:xfrm>
            <a:off x="457200" y="2267711"/>
            <a:ext cx="384048" cy="384048"/>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pPr>
            <a:r>
              <a:rPr sz="1300" b="1" i="0">
                <a:solidFill>
                  <a:schemeClr val="bg1"/>
                </a:solidFill>
              </a:rPr>
              <a:t>2</a:t>
            </a:r>
          </a:p>
        </p:txBody>
      </p:sp>
      <p:sp>
        <p:nvSpPr>
          <p:cNvPr id="9" name="TextBox 8"/>
          <p:cNvSpPr txBox="1"/>
          <p:nvPr/>
        </p:nvSpPr>
        <p:spPr>
          <a:xfrm>
            <a:off x="1005840" y="2221991"/>
            <a:ext cx="5394960" cy="320040"/>
          </a:xfrm>
          <a:prstGeom prst="rect">
            <a:avLst/>
          </a:prstGeom>
          <a:noFill/>
        </p:spPr>
        <p:txBody>
          <a:bodyPr wrap="square" lIns="0" rIns="0" tIns="0" bIns="0" anchor="t">
            <a:spAutoFit/>
          </a:bodyPr>
          <a:lstStyle/>
          <a:p>
            <a:pPr algn="l">
              <a:spcAft>
                <a:spcPts val="400"/>
              </a:spcAft>
            </a:pPr>
            <a:r>
              <a:rPr sz="1400" b="1" i="0">
                <a:solidFill>
                  <a:schemeClr val="tx1"/>
                </a:solidFill>
              </a:rPr>
              <a:t>Prometheus Operator</a:t>
            </a:r>
          </a:p>
        </p:txBody>
      </p:sp>
      <p:sp>
        <p:nvSpPr>
          <p:cNvPr id="10" name="TextBox 9"/>
          <p:cNvSpPr txBox="1"/>
          <p:nvPr/>
        </p:nvSpPr>
        <p:spPr>
          <a:xfrm>
            <a:off x="1005840" y="2551175"/>
            <a:ext cx="5394960" cy="566928"/>
          </a:xfrm>
          <a:prstGeom prst="rect">
            <a:avLst/>
          </a:prstGeom>
          <a:noFill/>
        </p:spPr>
        <p:txBody>
          <a:bodyPr wrap="square" lIns="0" rIns="0" tIns="0" bIns="0" anchor="t">
            <a:spAutoFit/>
          </a:bodyPr>
          <a:lstStyle/>
          <a:p>
            <a:pPr algn="l">
              <a:spcAft>
                <a:spcPts val="400"/>
              </a:spcAft>
            </a:pPr>
            <a:r>
              <a:rPr sz="1200" b="0" i="0">
                <a:solidFill>
                  <a:schemeClr val="tx2"/>
                </a:solidFill>
              </a:rPr>
              <a:t>Watches the CRs and generates the Prometheus scrape configuration. Nobody edits prometheus.yml.</a:t>
            </a:r>
          </a:p>
        </p:txBody>
      </p:sp>
      <p:cxnSp>
        <p:nvCxnSpPr>
          <p:cNvPr id="11" name="Connector 10"/>
          <p:cNvCxnSpPr/>
          <p:nvPr/>
        </p:nvCxnSpPr>
        <p:spPr>
          <a:xfrm>
            <a:off x="649224" y="2679191"/>
            <a:ext cx="0" cy="512065"/>
          </a:xfrm>
          <a:prstGeom prst="line">
            <a:avLst/>
          </a:prstGeom>
          <a:ln w="15875">
            <a:solidFill>
              <a:schemeClr val="accent5"/>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457200" y="3209544"/>
            <a:ext cx="384048" cy="384048"/>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pPr>
            <a:r>
              <a:rPr sz="1300" b="1" i="0">
                <a:solidFill>
                  <a:schemeClr val="bg1"/>
                </a:solidFill>
              </a:rPr>
              <a:t>3</a:t>
            </a:r>
          </a:p>
        </p:txBody>
      </p:sp>
      <p:sp>
        <p:nvSpPr>
          <p:cNvPr id="13" name="TextBox 12"/>
          <p:cNvSpPr txBox="1"/>
          <p:nvPr/>
        </p:nvSpPr>
        <p:spPr>
          <a:xfrm>
            <a:off x="1005840" y="3163824"/>
            <a:ext cx="5394960" cy="320040"/>
          </a:xfrm>
          <a:prstGeom prst="rect">
            <a:avLst/>
          </a:prstGeom>
          <a:noFill/>
        </p:spPr>
        <p:txBody>
          <a:bodyPr wrap="square" lIns="0" rIns="0" tIns="0" bIns="0" anchor="t">
            <a:spAutoFit/>
          </a:bodyPr>
          <a:lstStyle/>
          <a:p>
            <a:pPr algn="l">
              <a:spcAft>
                <a:spcPts val="400"/>
              </a:spcAft>
            </a:pPr>
            <a:r>
              <a:rPr sz="1400" b="1" i="0">
                <a:solidFill>
                  <a:schemeClr val="tx1"/>
                </a:solidFill>
              </a:rPr>
              <a:t>Kubernetes service discovery</a:t>
            </a:r>
          </a:p>
        </p:txBody>
      </p:sp>
      <p:sp>
        <p:nvSpPr>
          <p:cNvPr id="14" name="TextBox 13"/>
          <p:cNvSpPr txBox="1"/>
          <p:nvPr/>
        </p:nvSpPr>
        <p:spPr>
          <a:xfrm>
            <a:off x="1005840" y="3493008"/>
            <a:ext cx="5394960" cy="566928"/>
          </a:xfrm>
          <a:prstGeom prst="rect">
            <a:avLst/>
          </a:prstGeom>
          <a:noFill/>
        </p:spPr>
        <p:txBody>
          <a:bodyPr wrap="square" lIns="0" rIns="0" tIns="0" bIns="0" anchor="t">
            <a:spAutoFit/>
          </a:bodyPr>
          <a:lstStyle/>
          <a:p>
            <a:pPr algn="l">
              <a:spcAft>
                <a:spcPts val="400"/>
              </a:spcAft>
            </a:pPr>
            <a:r>
              <a:rPr sz="1200" b="0" i="0">
                <a:solidFill>
                  <a:schemeClr val="tx2"/>
                </a:solidFill>
              </a:rPr>
              <a:t>Prometheus lists pods through the Kubernetes API. Relabeling keeps istio-proxy and reads the prometheus.io/port annotation.</a:t>
            </a:r>
          </a:p>
        </p:txBody>
      </p:sp>
      <p:cxnSp>
        <p:nvCxnSpPr>
          <p:cNvPr id="15" name="Connector 14"/>
          <p:cNvCxnSpPr/>
          <p:nvPr/>
        </p:nvCxnSpPr>
        <p:spPr>
          <a:xfrm>
            <a:off x="649224" y="3621024"/>
            <a:ext cx="0" cy="512063"/>
          </a:xfrm>
          <a:prstGeom prst="line">
            <a:avLst/>
          </a:prstGeom>
          <a:ln w="15875">
            <a:solidFill>
              <a:schemeClr val="accent5"/>
            </a:solidFill>
          </a:ln>
        </p:spPr>
        <p:style>
          <a:lnRef idx="2">
            <a:schemeClr val="accent1"/>
          </a:lnRef>
          <a:fillRef idx="0">
            <a:schemeClr val="accent1"/>
          </a:fillRef>
          <a:effectRef idx="1">
            <a:schemeClr val="accent1"/>
          </a:effectRef>
          <a:fontRef idx="minor">
            <a:schemeClr val="tx1"/>
          </a:fontRef>
        </p:style>
      </p:cxnSp>
      <p:sp>
        <p:nvSpPr>
          <p:cNvPr id="16" name="Oval 15"/>
          <p:cNvSpPr/>
          <p:nvPr/>
        </p:nvSpPr>
        <p:spPr>
          <a:xfrm>
            <a:off x="457200" y="4151376"/>
            <a:ext cx="384048" cy="384048"/>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pPr>
            <a:r>
              <a:rPr sz="1300" b="1" i="0">
                <a:solidFill>
                  <a:schemeClr val="bg1"/>
                </a:solidFill>
              </a:rPr>
              <a:t>4</a:t>
            </a:r>
          </a:p>
        </p:txBody>
      </p:sp>
      <p:sp>
        <p:nvSpPr>
          <p:cNvPr id="17" name="TextBox 16"/>
          <p:cNvSpPr txBox="1"/>
          <p:nvPr/>
        </p:nvSpPr>
        <p:spPr>
          <a:xfrm>
            <a:off x="1005840" y="4105656"/>
            <a:ext cx="5394960" cy="320040"/>
          </a:xfrm>
          <a:prstGeom prst="rect">
            <a:avLst/>
          </a:prstGeom>
          <a:noFill/>
        </p:spPr>
        <p:txBody>
          <a:bodyPr wrap="square" lIns="0" rIns="0" tIns="0" bIns="0" anchor="t">
            <a:spAutoFit/>
          </a:bodyPr>
          <a:lstStyle/>
          <a:p>
            <a:pPr algn="l">
              <a:spcAft>
                <a:spcPts val="400"/>
              </a:spcAft>
            </a:pPr>
            <a:r>
              <a:rPr sz="1400" b="1" i="0">
                <a:solidFill>
                  <a:schemeClr val="tx1"/>
                </a:solidFill>
              </a:rPr>
              <a:t>Scrape every 15 s</a:t>
            </a:r>
          </a:p>
        </p:txBody>
      </p:sp>
      <p:sp>
        <p:nvSpPr>
          <p:cNvPr id="18" name="TextBox 17"/>
          <p:cNvSpPr txBox="1"/>
          <p:nvPr/>
        </p:nvSpPr>
        <p:spPr>
          <a:xfrm>
            <a:off x="1005840" y="4434840"/>
            <a:ext cx="5394960" cy="566928"/>
          </a:xfrm>
          <a:prstGeom prst="rect">
            <a:avLst/>
          </a:prstGeom>
          <a:noFill/>
        </p:spPr>
        <p:txBody>
          <a:bodyPr wrap="square" lIns="0" rIns="0" tIns="0" bIns="0" anchor="t">
            <a:spAutoFit/>
          </a:bodyPr>
          <a:lstStyle/>
          <a:p>
            <a:pPr algn="l">
              <a:spcAft>
                <a:spcPts val="400"/>
              </a:spcAft>
            </a:pPr>
            <a:r>
              <a:rPr sz="1200" b="0" i="0">
                <a:solidFill>
                  <a:schemeClr val="tx2"/>
                </a:solidFill>
              </a:rPr>
              <a:t>HTTP GET :15020/stats/prometheus on each sidecar: request counts, status codes, flags and latency histograms per hop.</a:t>
            </a:r>
          </a:p>
        </p:txBody>
      </p:sp>
      <p:cxnSp>
        <p:nvCxnSpPr>
          <p:cNvPr id="19" name="Connector 18"/>
          <p:cNvCxnSpPr/>
          <p:nvPr/>
        </p:nvCxnSpPr>
        <p:spPr>
          <a:xfrm>
            <a:off x="649224" y="4562856"/>
            <a:ext cx="0" cy="512064"/>
          </a:xfrm>
          <a:prstGeom prst="line">
            <a:avLst/>
          </a:prstGeom>
          <a:ln w="15875">
            <a:solidFill>
              <a:schemeClr val="accent5"/>
            </a:solidFill>
          </a:ln>
        </p:spPr>
        <p:style>
          <a:lnRef idx="2">
            <a:schemeClr val="accent1"/>
          </a:lnRef>
          <a:fillRef idx="0">
            <a:schemeClr val="accent1"/>
          </a:fillRef>
          <a:effectRef idx="1">
            <a:schemeClr val="accent1"/>
          </a:effectRef>
          <a:fontRef idx="minor">
            <a:schemeClr val="tx1"/>
          </a:fontRef>
        </p:style>
      </p:cxnSp>
      <p:sp>
        <p:nvSpPr>
          <p:cNvPr id="20" name="Oval 19"/>
          <p:cNvSpPr/>
          <p:nvPr/>
        </p:nvSpPr>
        <p:spPr>
          <a:xfrm>
            <a:off x="457200" y="5093207"/>
            <a:ext cx="384048" cy="384048"/>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pPr>
            <a:r>
              <a:rPr sz="1300" b="1" i="0">
                <a:solidFill>
                  <a:schemeClr val="bg1"/>
                </a:solidFill>
              </a:rPr>
              <a:t>5</a:t>
            </a:r>
          </a:p>
        </p:txBody>
      </p:sp>
      <p:sp>
        <p:nvSpPr>
          <p:cNvPr id="21" name="TextBox 20"/>
          <p:cNvSpPr txBox="1"/>
          <p:nvPr/>
        </p:nvSpPr>
        <p:spPr>
          <a:xfrm>
            <a:off x="1005840" y="5047488"/>
            <a:ext cx="5394960" cy="320040"/>
          </a:xfrm>
          <a:prstGeom prst="rect">
            <a:avLst/>
          </a:prstGeom>
          <a:noFill/>
        </p:spPr>
        <p:txBody>
          <a:bodyPr wrap="square" lIns="0" rIns="0" tIns="0" bIns="0" anchor="t">
            <a:spAutoFit/>
          </a:bodyPr>
          <a:lstStyle/>
          <a:p>
            <a:pPr algn="l">
              <a:spcAft>
                <a:spcPts val="400"/>
              </a:spcAft>
            </a:pPr>
            <a:r>
              <a:rPr sz="1400" b="1" i="0">
                <a:solidFill>
                  <a:schemeClr val="tx1"/>
                </a:solidFill>
              </a:rPr>
              <a:t>Store, evaluate, alert</a:t>
            </a:r>
          </a:p>
        </p:txBody>
      </p:sp>
      <p:sp>
        <p:nvSpPr>
          <p:cNvPr id="22" name="TextBox 21"/>
          <p:cNvSpPr txBox="1"/>
          <p:nvPr/>
        </p:nvSpPr>
        <p:spPr>
          <a:xfrm>
            <a:off x="1005840" y="5376672"/>
            <a:ext cx="5394960" cy="566928"/>
          </a:xfrm>
          <a:prstGeom prst="rect">
            <a:avLst/>
          </a:prstGeom>
          <a:noFill/>
        </p:spPr>
        <p:txBody>
          <a:bodyPr wrap="square" lIns="0" rIns="0" tIns="0" bIns="0" anchor="t">
            <a:spAutoFit/>
          </a:bodyPr>
          <a:lstStyle/>
          <a:p>
            <a:pPr algn="l">
              <a:spcAft>
                <a:spcPts val="400"/>
              </a:spcAft>
            </a:pPr>
            <a:r>
              <a:rPr sz="1200" b="0" i="0">
                <a:solidFill>
                  <a:schemeClr val="tx2"/>
                </a:solidFill>
              </a:rPr>
              <a:t>Samples go to the TSDB; alert rules run every 15 s; firing alerts go to Alertmanager. Views query with PromQL.</a:t>
            </a:r>
          </a:p>
        </p:txBody>
      </p:sp>
      <p:sp>
        <p:nvSpPr>
          <p:cNvPr id="23" name="Rounded Rectangle 22"/>
          <p:cNvSpPr/>
          <p:nvPr/>
        </p:nvSpPr>
        <p:spPr>
          <a:xfrm>
            <a:off x="6766560" y="1280160"/>
            <a:ext cx="4937760" cy="1600200"/>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98755" bIns="98755"/>
          <a:lstStyle/>
          <a:p>
            <a:pPr algn="l">
              <a:spcAft>
                <a:spcPts val="400"/>
              </a:spcAft>
            </a:pPr>
            <a:r>
              <a:rPr sz="1300" b="1" i="0">
                <a:solidFill>
                  <a:schemeClr val="tx1"/>
                </a:solidFill>
              </a:rPr>
              <a:t>PodMonitor for sidecars, ServiceMonitor for istiod</a:t>
            </a:r>
          </a:p>
          <a:p>
            <a:pPr algn="l">
              <a:spcAft>
                <a:spcPts val="400"/>
              </a:spcAft>
            </a:pPr>
            <a:r>
              <a:rPr sz="1150" b="0" i="0">
                <a:solidFill>
                  <a:schemeClr val="tx2"/>
                </a:solidFill>
              </a:rPr>
              <a:t>A ServiceMonitor scrapes the endpoints behind a Service. Sidecar metrics belong to each pod, not to one Service port, so we select pods. istiod has a monitoring Service (port 15014).</a:t>
            </a:r>
          </a:p>
        </p:txBody>
      </p:sp>
      <p:sp>
        <p:nvSpPr>
          <p:cNvPr id="24" name="Rounded Rectangle 23"/>
          <p:cNvSpPr/>
          <p:nvPr/>
        </p:nvSpPr>
        <p:spPr>
          <a:xfrm>
            <a:off x="6766560" y="3017520"/>
            <a:ext cx="4937760" cy="1965960"/>
          </a:xfrm>
          <a:prstGeom prst="roundRect">
            <a:avLst>
              <a:gd name="adj" fmla="val 8000"/>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98755" bIns="98755"/>
          <a:lstStyle/>
          <a:p>
            <a:pPr algn="l">
              <a:spcAft>
                <a:spcPts val="100"/>
              </a:spcAft>
            </a:pPr>
            <a:r>
              <a:rPr sz="1300" b="1" i="0">
                <a:solidFill>
                  <a:schemeClr val="bg1"/>
                </a:solidFill>
              </a:rPr>
              <a:t>One sample, every label we need</a:t>
            </a:r>
          </a:p>
          <a:p>
            <a:pPr algn="l">
              <a:spcAft>
                <a:spcPts val="100"/>
              </a:spcAft>
            </a:pPr>
            <a:r>
              <a:rPr sz="1100" b="0" i="0">
                <a:solidFill>
                  <a:schemeClr val="bg1"/>
                </a:solidFill>
                <a:latin typeface="Courier New"/>
              </a:rPr>
              <a:t>istio_requests_total{</a:t>
            </a:r>
          </a:p>
          <a:p>
            <a:pPr algn="l">
              <a:spcAft>
                <a:spcPts val="100"/>
              </a:spcAft>
            </a:pPr>
            <a:r>
              <a:rPr sz="1100" b="0" i="0">
                <a:solidFill>
                  <a:schemeClr val="bg1"/>
                </a:solidFill>
                <a:latin typeface="Courier New"/>
              </a:rPr>
              <a:t>  source_workload="payments-svc",</a:t>
            </a:r>
          </a:p>
          <a:p>
            <a:pPr algn="l">
              <a:spcAft>
                <a:spcPts val="100"/>
              </a:spcAft>
            </a:pPr>
            <a:r>
              <a:rPr sz="1100" b="0" i="0">
                <a:solidFill>
                  <a:schemeClr val="bg1"/>
                </a:solidFill>
                <a:latin typeface="Courier New"/>
              </a:rPr>
              <a:t>  destination_service_name="core-banking",</a:t>
            </a:r>
          </a:p>
          <a:p>
            <a:pPr algn="l">
              <a:spcAft>
                <a:spcPts val="100"/>
              </a:spcAft>
            </a:pPr>
            <a:r>
              <a:rPr sz="1100" b="0" i="0">
                <a:solidFill>
                  <a:schemeClr val="bg1"/>
                </a:solidFill>
                <a:latin typeface="Courier New"/>
              </a:rPr>
              <a:t>  response_code="504", response_flags="UT",</a:t>
            </a:r>
          </a:p>
          <a:p>
            <a:pPr algn="l">
              <a:spcAft>
                <a:spcPts val="100"/>
              </a:spcAft>
            </a:pPr>
            <a:r>
              <a:rPr sz="1100" b="0" i="0">
                <a:solidFill>
                  <a:schemeClr val="bg1"/>
                </a:solidFill>
                <a:latin typeface="Courier New"/>
              </a:rPr>
              <a:t>  journey="fund-transfer", channel="mobile"}</a:t>
            </a:r>
          </a:p>
        </p:txBody>
      </p:sp>
      <p:sp>
        <p:nvSpPr>
          <p:cNvPr id="25" name="Rounded Rectangle 24"/>
          <p:cNvSpPr/>
          <p:nvPr/>
        </p:nvSpPr>
        <p:spPr>
          <a:xfrm>
            <a:off x="6766560" y="5120640"/>
            <a:ext cx="4937760" cy="868680"/>
          </a:xfrm>
          <a:prstGeom prst="roundRect">
            <a:avLst>
              <a:gd name="adj" fmla="val 8000"/>
            </a:avLst>
          </a:prstGeom>
          <a:solidFill>
            <a:schemeClr val="accent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98755" bIns="98755"/>
          <a:lstStyle/>
          <a:p>
            <a:pPr algn="l">
              <a:spcAft>
                <a:spcPts val="400"/>
              </a:spcAft>
            </a:pPr>
            <a:r>
              <a:rPr sz="1150" b="1" i="0">
                <a:solidFill>
                  <a:schemeClr val="tx1"/>
                </a:solidFill>
              </a:rPr>
              <a:t>OpenShift: </a:t>
            </a:r>
            <a:r>
              <a:rPr sz="1150" b="0" i="0">
                <a:solidFill>
                  <a:schemeClr val="tx1"/>
                </a:solidFill>
              </a:rPr>
              <a:t>user workload monitoring runs this Prometheus; Kiali and dashboards query Thanos Querier on port 9091 with a token.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0"/>
          </p:nvPr>
        </p:nvSpPr>
        <p:spPr/>
        <p:txBody>
          <a:bodyPr/>
          <a:lstStyle/>
          <a:p>
            <a:r>
              <a:t>Inside the OpenTelemetry Collector</a:t>
            </a:r>
          </a:p>
        </p:txBody>
      </p:sp>
      <p:sp>
        <p:nvSpPr>
          <p:cNvPr id="3"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sp>
        <p:nvSpPr>
          <p:cNvPr id="4" name="TextBox 3"/>
          <p:cNvSpPr txBox="1"/>
          <p:nvPr/>
        </p:nvSpPr>
        <p:spPr>
          <a:xfrm>
            <a:off x="457200" y="1188720"/>
            <a:ext cx="2194560" cy="274320"/>
          </a:xfrm>
          <a:prstGeom prst="rect">
            <a:avLst/>
          </a:prstGeom>
          <a:noFill/>
        </p:spPr>
        <p:txBody>
          <a:bodyPr wrap="square" lIns="0" rIns="0" tIns="0" bIns="0" anchor="t">
            <a:spAutoFit/>
          </a:bodyPr>
          <a:lstStyle/>
          <a:p>
            <a:pPr algn="l">
              <a:spcAft>
                <a:spcPts val="400"/>
              </a:spcAft>
            </a:pPr>
            <a:r>
              <a:rPr sz="1100" b="1" i="0">
                <a:solidFill>
                  <a:schemeClr val="tx2"/>
                </a:solidFill>
              </a:rPr>
              <a:t>RECEIVER</a:t>
            </a:r>
          </a:p>
        </p:txBody>
      </p:sp>
      <p:sp>
        <p:nvSpPr>
          <p:cNvPr id="5" name="TextBox 4"/>
          <p:cNvSpPr txBox="1"/>
          <p:nvPr/>
        </p:nvSpPr>
        <p:spPr>
          <a:xfrm>
            <a:off x="2926080" y="1188720"/>
            <a:ext cx="6035040" cy="274320"/>
          </a:xfrm>
          <a:prstGeom prst="rect">
            <a:avLst/>
          </a:prstGeom>
          <a:noFill/>
        </p:spPr>
        <p:txBody>
          <a:bodyPr wrap="square" lIns="0" rIns="0" tIns="0" bIns="0" anchor="t">
            <a:spAutoFit/>
          </a:bodyPr>
          <a:lstStyle/>
          <a:p>
            <a:pPr algn="l">
              <a:spcAft>
                <a:spcPts val="400"/>
              </a:spcAft>
            </a:pPr>
            <a:r>
              <a:rPr sz="1100" b="1" i="0">
                <a:solidFill>
                  <a:schemeClr val="tx2"/>
                </a:solidFill>
              </a:rPr>
              <a:t>PROCESSORS (in order)</a:t>
            </a:r>
          </a:p>
        </p:txBody>
      </p:sp>
      <p:sp>
        <p:nvSpPr>
          <p:cNvPr id="6" name="TextBox 5"/>
          <p:cNvSpPr txBox="1"/>
          <p:nvPr/>
        </p:nvSpPr>
        <p:spPr>
          <a:xfrm>
            <a:off x="9372600" y="1188720"/>
            <a:ext cx="2331720" cy="274320"/>
          </a:xfrm>
          <a:prstGeom prst="rect">
            <a:avLst/>
          </a:prstGeom>
          <a:noFill/>
        </p:spPr>
        <p:txBody>
          <a:bodyPr wrap="square" lIns="0" rIns="0" tIns="0" bIns="0" anchor="t">
            <a:spAutoFit/>
          </a:bodyPr>
          <a:lstStyle/>
          <a:p>
            <a:pPr algn="l">
              <a:spcAft>
                <a:spcPts val="400"/>
              </a:spcAft>
            </a:pPr>
            <a:r>
              <a:rPr sz="1100" b="1" i="0">
                <a:solidFill>
                  <a:schemeClr val="tx2"/>
                </a:solidFill>
              </a:rPr>
              <a:t>EXPORTERS</a:t>
            </a:r>
          </a:p>
        </p:txBody>
      </p:sp>
      <p:sp>
        <p:nvSpPr>
          <p:cNvPr id="7" name="Rounded Rectangle 6"/>
          <p:cNvSpPr/>
          <p:nvPr/>
        </p:nvSpPr>
        <p:spPr>
          <a:xfrm>
            <a:off x="457200" y="1554480"/>
            <a:ext cx="2194560" cy="2331720"/>
          </a:xfrm>
          <a:prstGeom prst="roundRect">
            <a:avLst>
              <a:gd name="adj" fmla="val 8000"/>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ctr">
              <a:spcAft>
                <a:spcPts val="400"/>
              </a:spcAft>
            </a:pPr>
            <a:r>
              <a:rPr sz="1400" b="1" i="0">
                <a:solidFill>
                  <a:schemeClr val="bg1"/>
                </a:solidFill>
              </a:rPr>
              <a:t>otlp</a:t>
            </a:r>
          </a:p>
          <a:p>
            <a:pPr algn="ctr">
              <a:spcAft>
                <a:spcPts val="400"/>
              </a:spcAft>
            </a:pPr>
            <a:r>
              <a:rPr sz="1100" b="0" i="0">
                <a:solidFill>
                  <a:schemeClr val="bg1"/>
                </a:solidFill>
              </a:rPr>
              <a:t>gRPC :4317</a:t>
            </a:r>
          </a:p>
          <a:p>
            <a:pPr algn="ctr">
              <a:spcAft>
                <a:spcPts val="400"/>
              </a:spcAft>
            </a:pPr>
            <a:r>
              <a:rPr sz="1050" b="0" i="0">
                <a:solidFill>
                  <a:schemeClr val="bg1"/>
                </a:solidFill>
              </a:rPr>
              <a:t>Envoy spans + access logs</a:t>
            </a:r>
          </a:p>
          <a:p>
            <a:pPr algn="ctr">
              <a:spcAft>
                <a:spcPts val="400"/>
              </a:spcAft>
            </a:pPr>
            <a:r>
              <a:rPr sz="1100" b="0" i="0">
                <a:solidFill>
                  <a:schemeClr val="bg1"/>
                </a:solidFill>
              </a:rPr>
              <a:t>HTTP :4318</a:t>
            </a:r>
          </a:p>
          <a:p>
            <a:pPr algn="ctr">
              <a:spcAft>
                <a:spcPts val="400"/>
              </a:spcAft>
            </a:pPr>
            <a:r>
              <a:rPr sz="1050" b="0" i="0">
                <a:solidFill>
                  <a:schemeClr val="bg1"/>
                </a:solidFill>
              </a:rPr>
              <a:t>app agents</a:t>
            </a:r>
          </a:p>
        </p:txBody>
      </p:sp>
      <p:sp>
        <p:nvSpPr>
          <p:cNvPr id="8" name="TextBox 7"/>
          <p:cNvSpPr txBox="1"/>
          <p:nvPr/>
        </p:nvSpPr>
        <p:spPr>
          <a:xfrm>
            <a:off x="2926080" y="1536192"/>
            <a:ext cx="914400" cy="274320"/>
          </a:xfrm>
          <a:prstGeom prst="rect">
            <a:avLst/>
          </a:prstGeom>
          <a:noFill/>
        </p:spPr>
        <p:txBody>
          <a:bodyPr wrap="square" lIns="0" rIns="0" tIns="0" bIns="0" anchor="t">
            <a:spAutoFit/>
          </a:bodyPr>
          <a:lstStyle/>
          <a:p>
            <a:pPr algn="l">
              <a:spcAft>
                <a:spcPts val="400"/>
              </a:spcAft>
            </a:pPr>
            <a:r>
              <a:rPr sz="1100" b="1" i="1">
                <a:solidFill>
                  <a:schemeClr val="accent1"/>
                </a:solidFill>
              </a:rPr>
              <a:t>traces</a:t>
            </a:r>
          </a:p>
        </p:txBody>
      </p:sp>
      <p:sp>
        <p:nvSpPr>
          <p:cNvPr id="9" name="Rounded Rectangle 8"/>
          <p:cNvSpPr/>
          <p:nvPr/>
        </p:nvSpPr>
        <p:spPr>
          <a:xfrm>
            <a:off x="2926080" y="1828800"/>
            <a:ext cx="1371600" cy="731520"/>
          </a:xfrm>
          <a:prstGeom prst="roundRect">
            <a:avLst>
              <a:gd name="adj" fmla="val 8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ctr">
              <a:spcAft>
                <a:spcPts val="400"/>
              </a:spcAft>
            </a:pPr>
            <a:r>
              <a:rPr sz="1150" b="1" i="0">
                <a:solidFill>
                  <a:schemeClr val="bg1"/>
                </a:solidFill>
              </a:rPr>
              <a:t>memory_limiter</a:t>
            </a:r>
          </a:p>
        </p:txBody>
      </p:sp>
      <p:sp>
        <p:nvSpPr>
          <p:cNvPr id="10" name="Rounded Rectangle 9"/>
          <p:cNvSpPr/>
          <p:nvPr/>
        </p:nvSpPr>
        <p:spPr>
          <a:xfrm>
            <a:off x="4480560" y="1828800"/>
            <a:ext cx="1371600" cy="731520"/>
          </a:xfrm>
          <a:prstGeom prst="roundRect">
            <a:avLst>
              <a:gd name="adj" fmla="val 8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ctr">
              <a:spcAft>
                <a:spcPts val="400"/>
              </a:spcAft>
            </a:pPr>
            <a:r>
              <a:rPr sz="1150" b="1" i="0">
                <a:solidFill>
                  <a:schemeClr val="bg1"/>
                </a:solidFill>
              </a:rPr>
              <a:t>transform/journey</a:t>
            </a:r>
          </a:p>
        </p:txBody>
      </p:sp>
      <p:cxnSp>
        <p:nvCxnSpPr>
          <p:cNvPr id="11" name="Connector 10"/>
          <p:cNvCxnSpPr/>
          <p:nvPr/>
        </p:nvCxnSpPr>
        <p:spPr>
          <a:xfrm>
            <a:off x="4297680" y="2194560"/>
            <a:ext cx="182880" cy="0"/>
          </a:xfrm>
          <a:prstGeom prst="line">
            <a:avLst/>
          </a:prstGeom>
          <a:ln w="15875">
            <a:solidFill>
              <a:schemeClr val="tx2"/>
            </a:solidFill>
            <a:tailEnd type="triangle"/>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6035040" y="1828800"/>
            <a:ext cx="1371600" cy="731520"/>
          </a:xfrm>
          <a:prstGeom prst="roundRect">
            <a:avLst>
              <a:gd name="adj" fmla="val 8000"/>
            </a:avLst>
          </a:prstGeom>
          <a:solidFill>
            <a:schemeClr val="accent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ctr">
              <a:spcAft>
                <a:spcPts val="400"/>
              </a:spcAft>
            </a:pPr>
            <a:r>
              <a:rPr sz="1150" b="1" i="0">
                <a:solidFill>
                  <a:schemeClr val="tx1"/>
                </a:solidFill>
              </a:rPr>
              <a:t>tail_sampling</a:t>
            </a:r>
          </a:p>
        </p:txBody>
      </p:sp>
      <p:cxnSp>
        <p:nvCxnSpPr>
          <p:cNvPr id="13" name="Connector 12"/>
          <p:cNvCxnSpPr/>
          <p:nvPr/>
        </p:nvCxnSpPr>
        <p:spPr>
          <a:xfrm>
            <a:off x="5852159" y="2194560"/>
            <a:ext cx="182881" cy="0"/>
          </a:xfrm>
          <a:prstGeom prst="line">
            <a:avLst/>
          </a:prstGeom>
          <a:ln w="15875">
            <a:solidFill>
              <a:schemeClr val="tx2"/>
            </a:solidFill>
            <a:tailEnd type="triangle"/>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7589520" y="1828800"/>
            <a:ext cx="1371600" cy="731520"/>
          </a:xfrm>
          <a:prstGeom prst="roundRect">
            <a:avLst>
              <a:gd name="adj" fmla="val 8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ctr">
              <a:spcAft>
                <a:spcPts val="400"/>
              </a:spcAft>
            </a:pPr>
            <a:r>
              <a:rPr sz="1150" b="1" i="0">
                <a:solidFill>
                  <a:schemeClr val="bg1"/>
                </a:solidFill>
              </a:rPr>
              <a:t>batch</a:t>
            </a:r>
          </a:p>
        </p:txBody>
      </p:sp>
      <p:cxnSp>
        <p:nvCxnSpPr>
          <p:cNvPr id="15" name="Connector 14"/>
          <p:cNvCxnSpPr/>
          <p:nvPr/>
        </p:nvCxnSpPr>
        <p:spPr>
          <a:xfrm>
            <a:off x="7406640" y="2194560"/>
            <a:ext cx="182880" cy="0"/>
          </a:xfrm>
          <a:prstGeom prst="line">
            <a:avLst/>
          </a:prstGeom>
          <a:ln w="15875">
            <a:solidFill>
              <a:schemeClr val="tx2"/>
            </a:solidFill>
            <a:tailEnd type="triangle"/>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8961120" y="2194560"/>
            <a:ext cx="411480" cy="0"/>
          </a:xfrm>
          <a:prstGeom prst="line">
            <a:avLst/>
          </a:prstGeom>
          <a:ln w="15875">
            <a:solidFill>
              <a:schemeClr val="tx2"/>
            </a:solidFill>
            <a:tailEnd type="triangle"/>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9372600" y="1828800"/>
            <a:ext cx="2331720" cy="731520"/>
          </a:xfrm>
          <a:prstGeom prst="roundRect">
            <a:avLst>
              <a:gd name="adj" fmla="val 8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ctr">
              <a:spcAft>
                <a:spcPts val="400"/>
              </a:spcAft>
            </a:pPr>
            <a:r>
              <a:rPr sz="1150" b="1" i="0">
                <a:solidFill>
                  <a:schemeClr val="bg1"/>
                </a:solidFill>
              </a:rPr>
              <a:t>otlp to Tempo :4317</a:t>
            </a:r>
          </a:p>
        </p:txBody>
      </p:sp>
      <p:cxnSp>
        <p:nvCxnSpPr>
          <p:cNvPr id="18" name="Connector 17"/>
          <p:cNvCxnSpPr/>
          <p:nvPr/>
        </p:nvCxnSpPr>
        <p:spPr>
          <a:xfrm>
            <a:off x="2651760" y="2194560"/>
            <a:ext cx="274320" cy="0"/>
          </a:xfrm>
          <a:prstGeom prst="line">
            <a:avLst/>
          </a:prstGeom>
          <a:ln w="15875">
            <a:solidFill>
              <a:schemeClr val="tx2"/>
            </a:solidFill>
            <a:tailEnd type="triangle"/>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2926080" y="2862072"/>
            <a:ext cx="914400" cy="274320"/>
          </a:xfrm>
          <a:prstGeom prst="rect">
            <a:avLst/>
          </a:prstGeom>
          <a:noFill/>
        </p:spPr>
        <p:txBody>
          <a:bodyPr wrap="square" lIns="0" rIns="0" tIns="0" bIns="0" anchor="t">
            <a:spAutoFit/>
          </a:bodyPr>
          <a:lstStyle/>
          <a:p>
            <a:pPr algn="l">
              <a:spcAft>
                <a:spcPts val="400"/>
              </a:spcAft>
            </a:pPr>
            <a:r>
              <a:rPr sz="1100" b="1" i="1">
                <a:solidFill>
                  <a:schemeClr val="accent1"/>
                </a:solidFill>
              </a:rPr>
              <a:t>logs</a:t>
            </a:r>
          </a:p>
        </p:txBody>
      </p:sp>
      <p:sp>
        <p:nvSpPr>
          <p:cNvPr id="20" name="Rounded Rectangle 19"/>
          <p:cNvSpPr/>
          <p:nvPr/>
        </p:nvSpPr>
        <p:spPr>
          <a:xfrm>
            <a:off x="2926080" y="3154679"/>
            <a:ext cx="1371600" cy="731520"/>
          </a:xfrm>
          <a:prstGeom prst="roundRect">
            <a:avLst>
              <a:gd name="adj" fmla="val 8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ctr">
              <a:spcAft>
                <a:spcPts val="400"/>
              </a:spcAft>
            </a:pPr>
            <a:r>
              <a:rPr sz="1150" b="1" i="0">
                <a:solidFill>
                  <a:schemeClr val="bg1"/>
                </a:solidFill>
              </a:rPr>
              <a:t>memory_limiter</a:t>
            </a:r>
          </a:p>
        </p:txBody>
      </p:sp>
      <p:sp>
        <p:nvSpPr>
          <p:cNvPr id="21" name="Rounded Rectangle 20"/>
          <p:cNvSpPr/>
          <p:nvPr/>
        </p:nvSpPr>
        <p:spPr>
          <a:xfrm>
            <a:off x="4480560" y="3154679"/>
            <a:ext cx="1371600" cy="731520"/>
          </a:xfrm>
          <a:prstGeom prst="roundRect">
            <a:avLst>
              <a:gd name="adj" fmla="val 8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ctr">
              <a:spcAft>
                <a:spcPts val="400"/>
              </a:spcAft>
            </a:pPr>
            <a:r>
              <a:rPr sz="1150" b="1" i="0">
                <a:solidFill>
                  <a:schemeClr val="bg1"/>
                </a:solidFill>
              </a:rPr>
              <a:t>transform/journey</a:t>
            </a:r>
          </a:p>
        </p:txBody>
      </p:sp>
      <p:cxnSp>
        <p:nvCxnSpPr>
          <p:cNvPr id="22" name="Connector 21"/>
          <p:cNvCxnSpPr/>
          <p:nvPr/>
        </p:nvCxnSpPr>
        <p:spPr>
          <a:xfrm>
            <a:off x="4297680" y="3520439"/>
            <a:ext cx="182880" cy="0"/>
          </a:xfrm>
          <a:prstGeom prst="line">
            <a:avLst/>
          </a:prstGeom>
          <a:ln w="15875">
            <a:solidFill>
              <a:schemeClr val="tx2"/>
            </a:solidFill>
            <a:tailEnd type="triangle"/>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6035040" y="3154679"/>
            <a:ext cx="1371600" cy="731520"/>
          </a:xfrm>
          <a:prstGeom prst="roundRect">
            <a:avLst>
              <a:gd name="adj" fmla="val 8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ctr">
              <a:spcAft>
                <a:spcPts val="400"/>
              </a:spcAft>
            </a:pPr>
            <a:r>
              <a:rPr sz="1150" b="1" i="0">
                <a:solidFill>
                  <a:schemeClr val="bg1"/>
                </a:solidFill>
              </a:rPr>
              <a:t>batch</a:t>
            </a:r>
          </a:p>
        </p:txBody>
      </p:sp>
      <p:cxnSp>
        <p:nvCxnSpPr>
          <p:cNvPr id="24" name="Connector 23"/>
          <p:cNvCxnSpPr/>
          <p:nvPr/>
        </p:nvCxnSpPr>
        <p:spPr>
          <a:xfrm>
            <a:off x="5852159" y="3520439"/>
            <a:ext cx="182881" cy="0"/>
          </a:xfrm>
          <a:prstGeom prst="line">
            <a:avLst/>
          </a:prstGeom>
          <a:ln w="15875">
            <a:solidFill>
              <a:schemeClr val="tx2"/>
            </a:solidFill>
            <a:tailEnd type="triangle"/>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7406640" y="3520439"/>
            <a:ext cx="1965960" cy="0"/>
          </a:xfrm>
          <a:prstGeom prst="line">
            <a:avLst/>
          </a:prstGeom>
          <a:ln w="15875">
            <a:solidFill>
              <a:schemeClr val="tx2"/>
            </a:solidFill>
            <a:tailEnd type="triangle"/>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9372600" y="3154679"/>
            <a:ext cx="2331720" cy="731520"/>
          </a:xfrm>
          <a:prstGeom prst="roundRect">
            <a:avLst>
              <a:gd name="adj" fmla="val 8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ctr">
              <a:spcAft>
                <a:spcPts val="400"/>
              </a:spcAft>
            </a:pPr>
            <a:r>
              <a:rPr sz="1150" b="1" i="0">
                <a:solidFill>
                  <a:schemeClr val="bg1"/>
                </a:solidFill>
              </a:rPr>
              <a:t>otlphttp to Loki /otlp</a:t>
            </a:r>
          </a:p>
        </p:txBody>
      </p:sp>
      <p:cxnSp>
        <p:nvCxnSpPr>
          <p:cNvPr id="27" name="Connector 26"/>
          <p:cNvCxnSpPr/>
          <p:nvPr/>
        </p:nvCxnSpPr>
        <p:spPr>
          <a:xfrm>
            <a:off x="2651760" y="3520439"/>
            <a:ext cx="274320" cy="0"/>
          </a:xfrm>
          <a:prstGeom prst="line">
            <a:avLst/>
          </a:prstGeom>
          <a:ln w="15875">
            <a:solidFill>
              <a:schemeClr val="tx2"/>
            </a:solidFill>
            <a:tailEnd type="triangle"/>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457200" y="4160520"/>
            <a:ext cx="2651760" cy="1417320"/>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82296" bIns="82296"/>
          <a:lstStyle/>
          <a:p>
            <a:pPr algn="l">
              <a:spcAft>
                <a:spcPts val="400"/>
              </a:spcAft>
            </a:pPr>
            <a:r>
              <a:rPr sz="1300" b="1" i="0">
                <a:solidFill>
                  <a:schemeClr val="tx1"/>
                </a:solidFill>
                <a:latin typeface="Courier New"/>
              </a:rPr>
              <a:t>memory_limiter</a:t>
            </a:r>
          </a:p>
          <a:p>
            <a:pPr algn="l">
              <a:spcAft>
                <a:spcPts val="400"/>
              </a:spcAft>
            </a:pPr>
            <a:r>
              <a:rPr sz="1150" b="0" i="0">
                <a:solidFill>
                  <a:schemeClr val="tx2"/>
                </a:solidFill>
              </a:rPr>
              <a:t>Refuses data at 80% of the memory limit, so a burst slows senders instead of crashing the collector.</a:t>
            </a:r>
          </a:p>
        </p:txBody>
      </p:sp>
      <p:sp>
        <p:nvSpPr>
          <p:cNvPr id="29" name="Rounded Rectangle 28"/>
          <p:cNvSpPr/>
          <p:nvPr/>
        </p:nvSpPr>
        <p:spPr>
          <a:xfrm>
            <a:off x="3291840" y="4160520"/>
            <a:ext cx="2651760" cy="1417320"/>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82296" bIns="82296"/>
          <a:lstStyle/>
          <a:p>
            <a:pPr algn="l">
              <a:spcAft>
                <a:spcPts val="400"/>
              </a:spcAft>
            </a:pPr>
            <a:r>
              <a:rPr sz="1300" b="1" i="0">
                <a:solidFill>
                  <a:schemeClr val="tx1"/>
                </a:solidFill>
                <a:latin typeface="Courier New"/>
              </a:rPr>
              <a:t>transform/journey</a:t>
            </a:r>
          </a:p>
          <a:p>
            <a:pPr algn="l">
              <a:spcAft>
                <a:spcPts val="400"/>
              </a:spcAft>
            </a:pPr>
            <a:r>
              <a:rPr sz="1150" b="0" i="0">
                <a:solidFill>
                  <a:schemeClr val="tx2"/>
                </a:solidFill>
              </a:rPr>
              <a:t>OTTL extracts journey and channel from the W3C baggage tag (fixed list only) and names the Loki stream after the workload.</a:t>
            </a:r>
          </a:p>
        </p:txBody>
      </p:sp>
      <p:sp>
        <p:nvSpPr>
          <p:cNvPr id="30" name="Rounded Rectangle 29"/>
          <p:cNvSpPr/>
          <p:nvPr/>
        </p:nvSpPr>
        <p:spPr>
          <a:xfrm>
            <a:off x="6126480" y="4160520"/>
            <a:ext cx="2651760" cy="1417320"/>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82296" bIns="82296"/>
          <a:lstStyle/>
          <a:p>
            <a:pPr algn="l">
              <a:spcAft>
                <a:spcPts val="400"/>
              </a:spcAft>
            </a:pPr>
            <a:r>
              <a:rPr sz="1300" b="1" i="0">
                <a:solidFill>
                  <a:schemeClr val="tx1"/>
                </a:solidFill>
                <a:latin typeface="Courier New"/>
              </a:rPr>
              <a:t>tail_sampling</a:t>
            </a:r>
          </a:p>
          <a:p>
            <a:pPr algn="l">
              <a:spcAft>
                <a:spcPts val="400"/>
              </a:spcAft>
            </a:pPr>
            <a:r>
              <a:rPr sz="1150" b="0" i="0">
                <a:solidFill>
                  <a:schemeClr val="tx2"/>
                </a:solidFill>
              </a:rPr>
              <a:t>Holds each trace for 15 s, then keeps errors, 5xx, Envoy failure flags, traces over 1.5 s and 10% of the rest.</a:t>
            </a:r>
          </a:p>
        </p:txBody>
      </p:sp>
      <p:sp>
        <p:nvSpPr>
          <p:cNvPr id="31" name="Rounded Rectangle 30"/>
          <p:cNvSpPr/>
          <p:nvPr/>
        </p:nvSpPr>
        <p:spPr>
          <a:xfrm>
            <a:off x="8961120" y="4160520"/>
            <a:ext cx="2651760" cy="1417320"/>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82296" bIns="82296"/>
          <a:lstStyle/>
          <a:p>
            <a:pPr algn="l">
              <a:spcAft>
                <a:spcPts val="400"/>
              </a:spcAft>
            </a:pPr>
            <a:r>
              <a:rPr sz="1300" b="1" i="0">
                <a:solidFill>
                  <a:schemeClr val="tx1"/>
                </a:solidFill>
                <a:latin typeface="Courier New"/>
              </a:rPr>
              <a:t>batch</a:t>
            </a:r>
          </a:p>
          <a:p>
            <a:pPr algn="l">
              <a:spcAft>
                <a:spcPts val="400"/>
              </a:spcAft>
            </a:pPr>
            <a:r>
              <a:rPr sz="1150" b="0" i="0">
                <a:solidFill>
                  <a:schemeClr val="tx2"/>
                </a:solidFill>
              </a:rPr>
              <a:t>Sends up to 1,024 items or every 2 s, so Tempo and Loki get fewer, larger writes.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0"/>
          </p:nvPr>
        </p:nvSpPr>
        <p:spPr/>
        <p:txBody>
          <a:bodyPr/>
          <a:lstStyle/>
          <a:p>
            <a:r>
              <a:t>Tail sampling: keep every failure, about 10% of the rest</a:t>
            </a:r>
          </a:p>
        </p:txBody>
      </p:sp>
      <p:sp>
        <p:nvSpPr>
          <p:cNvPr id="3"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sp>
        <p:nvSpPr>
          <p:cNvPr id="4" name="Rounded Rectangle 3"/>
          <p:cNvSpPr/>
          <p:nvPr/>
        </p:nvSpPr>
        <p:spPr>
          <a:xfrm>
            <a:off x="457200" y="1280160"/>
            <a:ext cx="3291840" cy="658368"/>
          </a:xfrm>
          <a:prstGeom prst="roundRect">
            <a:avLst>
              <a:gd name="adj" fmla="val 8000"/>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ctr">
              <a:spcAft>
                <a:spcPts val="400"/>
              </a:spcAft>
            </a:pPr>
            <a:r>
              <a:rPr sz="1300" b="1" i="0">
                <a:solidFill>
                  <a:schemeClr val="bg1"/>
                </a:solidFill>
              </a:rPr>
              <a:t>Envoy samples 100%</a:t>
            </a:r>
          </a:p>
        </p:txBody>
      </p:sp>
      <p:sp>
        <p:nvSpPr>
          <p:cNvPr id="5" name="Rounded Rectangle 4"/>
          <p:cNvSpPr/>
          <p:nvPr/>
        </p:nvSpPr>
        <p:spPr>
          <a:xfrm>
            <a:off x="457200" y="2194560"/>
            <a:ext cx="3291840" cy="658368"/>
          </a:xfrm>
          <a:prstGeom prst="roundRect">
            <a:avLst>
              <a:gd name="adj" fmla="val 8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ctr">
              <a:spcAft>
                <a:spcPts val="400"/>
              </a:spcAft>
            </a:pPr>
            <a:r>
              <a:rPr sz="1300" b="1" i="0">
                <a:solidFill>
                  <a:schemeClr val="bg1"/>
                </a:solidFill>
              </a:rPr>
              <a:t>Collector holds each trace 15 s</a:t>
            </a:r>
          </a:p>
        </p:txBody>
      </p:sp>
      <p:cxnSp>
        <p:nvCxnSpPr>
          <p:cNvPr id="6" name="Connector 5"/>
          <p:cNvCxnSpPr/>
          <p:nvPr/>
        </p:nvCxnSpPr>
        <p:spPr>
          <a:xfrm>
            <a:off x="2103120" y="1938528"/>
            <a:ext cx="0" cy="256032"/>
          </a:xfrm>
          <a:prstGeom prst="line">
            <a:avLst/>
          </a:prstGeom>
          <a:ln w="15875">
            <a:solidFill>
              <a:schemeClr val="tx2"/>
            </a:solidFill>
            <a:tailEnd type="triangle"/>
          </a:ln>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457200" y="3108960"/>
            <a:ext cx="3291840" cy="658368"/>
          </a:xfrm>
          <a:prstGeom prst="roundRect">
            <a:avLst>
              <a:gd name="adj" fmla="val 8000"/>
            </a:avLst>
          </a:prstGeom>
          <a:solidFill>
            <a:schemeClr val="accent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ctr">
              <a:spcAft>
                <a:spcPts val="400"/>
              </a:spcAft>
            </a:pPr>
            <a:r>
              <a:rPr sz="1300" b="1" i="0">
                <a:solidFill>
                  <a:schemeClr val="tx1"/>
                </a:solidFill>
              </a:rPr>
              <a:t>Any policy matches: keep</a:t>
            </a:r>
          </a:p>
        </p:txBody>
      </p:sp>
      <p:cxnSp>
        <p:nvCxnSpPr>
          <p:cNvPr id="8" name="Connector 7"/>
          <p:cNvCxnSpPr/>
          <p:nvPr/>
        </p:nvCxnSpPr>
        <p:spPr>
          <a:xfrm>
            <a:off x="2103120" y="2852928"/>
            <a:ext cx="0" cy="256032"/>
          </a:xfrm>
          <a:prstGeom prst="line">
            <a:avLst/>
          </a:prstGeom>
          <a:ln w="15875">
            <a:solidFill>
              <a:schemeClr val="tx2"/>
            </a:solidFill>
            <a:tailEnd type="triangle"/>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457200" y="4023360"/>
            <a:ext cx="3291840" cy="658368"/>
          </a:xfrm>
          <a:prstGeom prst="roundRect">
            <a:avLst>
              <a:gd name="adj" fmla="val 8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ctr">
              <a:spcAft>
                <a:spcPts val="400"/>
              </a:spcAft>
            </a:pPr>
            <a:r>
              <a:rPr sz="1300" b="1" i="0">
                <a:solidFill>
                  <a:schemeClr val="bg1"/>
                </a:solidFill>
              </a:rPr>
              <a:t>Decision cache for late spans</a:t>
            </a:r>
          </a:p>
        </p:txBody>
      </p:sp>
      <p:cxnSp>
        <p:nvCxnSpPr>
          <p:cNvPr id="10" name="Connector 9"/>
          <p:cNvCxnSpPr/>
          <p:nvPr/>
        </p:nvCxnSpPr>
        <p:spPr>
          <a:xfrm>
            <a:off x="2103120" y="3767328"/>
            <a:ext cx="0" cy="256032"/>
          </a:xfrm>
          <a:prstGeom prst="line">
            <a:avLst/>
          </a:prstGeom>
          <a:ln w="15875">
            <a:solidFill>
              <a:schemeClr val="tx2"/>
            </a:solidFill>
            <a:tailEnd type="triangle"/>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457200" y="4937760"/>
            <a:ext cx="3291840" cy="658368"/>
          </a:xfrm>
          <a:prstGeom prst="roundRect">
            <a:avLst>
              <a:gd name="adj" fmla="val 8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ctr">
              <a:spcAft>
                <a:spcPts val="400"/>
              </a:spcAft>
            </a:pPr>
            <a:r>
              <a:rPr sz="1300" b="1" i="0">
                <a:solidFill>
                  <a:schemeClr val="bg1"/>
                </a:solidFill>
              </a:rPr>
              <a:t>Tempo</a:t>
            </a:r>
          </a:p>
        </p:txBody>
      </p:sp>
      <p:cxnSp>
        <p:nvCxnSpPr>
          <p:cNvPr id="12" name="Connector 11"/>
          <p:cNvCxnSpPr/>
          <p:nvPr/>
        </p:nvCxnSpPr>
        <p:spPr>
          <a:xfrm>
            <a:off x="2103120" y="4681728"/>
            <a:ext cx="0" cy="256032"/>
          </a:xfrm>
          <a:prstGeom prst="line">
            <a:avLst/>
          </a:prstGeom>
          <a:ln w="15875">
            <a:solidFill>
              <a:schemeClr val="tx2"/>
            </a:solidFill>
            <a:tailEnd type="triangle"/>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4160520" y="1234440"/>
            <a:ext cx="3291840" cy="274320"/>
          </a:xfrm>
          <a:prstGeom prst="rect">
            <a:avLst/>
          </a:prstGeom>
          <a:noFill/>
        </p:spPr>
        <p:txBody>
          <a:bodyPr wrap="square" lIns="0" rIns="0" tIns="0" bIns="0" anchor="t">
            <a:spAutoFit/>
          </a:bodyPr>
          <a:lstStyle/>
          <a:p>
            <a:pPr algn="l">
              <a:spcAft>
                <a:spcPts val="400"/>
              </a:spcAft>
            </a:pPr>
            <a:r>
              <a:rPr sz="1100" b="1" i="0">
                <a:solidFill>
                  <a:schemeClr val="tx2"/>
                </a:solidFill>
              </a:rPr>
              <a:t>KEEP POLICIES</a:t>
            </a:r>
          </a:p>
        </p:txBody>
      </p:sp>
      <p:sp>
        <p:nvSpPr>
          <p:cNvPr id="14" name="Rounded Rectangle 13"/>
          <p:cNvSpPr/>
          <p:nvPr/>
        </p:nvSpPr>
        <p:spPr>
          <a:xfrm>
            <a:off x="4160520" y="1554480"/>
            <a:ext cx="3108960" cy="621792"/>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82296" bIns="82296"/>
          <a:lstStyle/>
          <a:p>
            <a:pPr algn="l">
              <a:spcAft>
                <a:spcPts val="400"/>
              </a:spcAft>
            </a:pPr>
            <a:r>
              <a:rPr sz="1250" b="1" i="0">
                <a:solidFill>
                  <a:schemeClr val="tx1"/>
                </a:solidFill>
              </a:rPr>
              <a:t>Status ERROR</a:t>
            </a:r>
            <a:r>
              <a:rPr sz="1100" b="0" i="0">
                <a:solidFill>
                  <a:schemeClr val="tx2"/>
                </a:solidFill>
              </a:rPr>
              <a:t>   any span failed</a:t>
            </a:r>
          </a:p>
        </p:txBody>
      </p:sp>
      <p:sp>
        <p:nvSpPr>
          <p:cNvPr id="15" name="Rounded Rectangle 14"/>
          <p:cNvSpPr/>
          <p:nvPr/>
        </p:nvSpPr>
        <p:spPr>
          <a:xfrm>
            <a:off x="4160520" y="2304288"/>
            <a:ext cx="3108960" cy="621792"/>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82296" bIns="82296"/>
          <a:lstStyle/>
          <a:p>
            <a:pPr algn="l">
              <a:spcAft>
                <a:spcPts val="400"/>
              </a:spcAft>
            </a:pPr>
            <a:r>
              <a:rPr sz="1250" b="1" i="0">
                <a:solidFill>
                  <a:schemeClr val="tx1"/>
                </a:solidFill>
              </a:rPr>
              <a:t>HTTP 5xx</a:t>
            </a:r>
            <a:r>
              <a:rPr sz="1100" b="0" i="0">
                <a:solidFill>
                  <a:schemeClr val="tx2"/>
                </a:solidFill>
              </a:rPr>
              <a:t>   on any hop</a:t>
            </a:r>
          </a:p>
        </p:txBody>
      </p:sp>
      <p:sp>
        <p:nvSpPr>
          <p:cNvPr id="16" name="Rounded Rectangle 15"/>
          <p:cNvSpPr/>
          <p:nvPr/>
        </p:nvSpPr>
        <p:spPr>
          <a:xfrm>
            <a:off x="4160520" y="3054096"/>
            <a:ext cx="3108960" cy="621792"/>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82296" bIns="82296"/>
          <a:lstStyle/>
          <a:p>
            <a:pPr algn="l">
              <a:spcAft>
                <a:spcPts val="400"/>
              </a:spcAft>
            </a:pPr>
            <a:r>
              <a:rPr sz="1250" b="1" i="0">
                <a:solidFill>
                  <a:schemeClr val="tx1"/>
                </a:solidFill>
              </a:rPr>
              <a:t>Envoy flag</a:t>
            </a:r>
            <a:r>
              <a:rPr sz="1100" b="0" i="0">
                <a:solidFill>
                  <a:schemeClr val="tx2"/>
                </a:solidFill>
              </a:rPr>
              <a:t>   UF, UH, UT, URX, ...</a:t>
            </a:r>
          </a:p>
        </p:txBody>
      </p:sp>
      <p:sp>
        <p:nvSpPr>
          <p:cNvPr id="17" name="Rounded Rectangle 16"/>
          <p:cNvSpPr/>
          <p:nvPr/>
        </p:nvSpPr>
        <p:spPr>
          <a:xfrm>
            <a:off x="4160520" y="3803904"/>
            <a:ext cx="3108960" cy="621792"/>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82296" bIns="82296"/>
          <a:lstStyle/>
          <a:p>
            <a:pPr algn="l">
              <a:spcAft>
                <a:spcPts val="400"/>
              </a:spcAft>
            </a:pPr>
            <a:r>
              <a:rPr sz="1250" b="1" i="0">
                <a:solidFill>
                  <a:schemeClr val="tx1"/>
                </a:solidFill>
              </a:rPr>
              <a:t>Slower than 1.5 s</a:t>
            </a:r>
            <a:r>
              <a:rPr sz="1100" b="0" i="0">
                <a:solidFill>
                  <a:schemeClr val="tx2"/>
                </a:solidFill>
              </a:rPr>
              <a:t>   end to end</a:t>
            </a:r>
          </a:p>
        </p:txBody>
      </p:sp>
      <p:sp>
        <p:nvSpPr>
          <p:cNvPr id="18" name="Rounded Rectangle 17"/>
          <p:cNvSpPr/>
          <p:nvPr/>
        </p:nvSpPr>
        <p:spPr>
          <a:xfrm>
            <a:off x="4160520" y="4553712"/>
            <a:ext cx="3108960" cy="621792"/>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82296" bIns="82296"/>
          <a:lstStyle/>
          <a:p>
            <a:pPr algn="l">
              <a:spcAft>
                <a:spcPts val="400"/>
              </a:spcAft>
            </a:pPr>
            <a:r>
              <a:rPr sz="1250" b="1" i="0">
                <a:solidFill>
                  <a:schemeClr val="tx1"/>
                </a:solidFill>
              </a:rPr>
              <a:t>10% probabilistic</a:t>
            </a:r>
            <a:r>
              <a:rPr sz="1100" b="0" i="0">
                <a:solidFill>
                  <a:schemeClr val="tx2"/>
                </a:solidFill>
              </a:rPr>
              <a:t>   baseline sample</a:t>
            </a:r>
          </a:p>
        </p:txBody>
      </p:sp>
      <p:sp>
        <p:nvSpPr>
          <p:cNvPr id="19" name="TextBox 18"/>
          <p:cNvSpPr txBox="1"/>
          <p:nvPr/>
        </p:nvSpPr>
        <p:spPr>
          <a:xfrm>
            <a:off x="7818120" y="1325880"/>
            <a:ext cx="3931920" cy="685800"/>
          </a:xfrm>
          <a:prstGeom prst="rect">
            <a:avLst/>
          </a:prstGeom>
          <a:noFill/>
        </p:spPr>
        <p:txBody>
          <a:bodyPr wrap="square" lIns="0" rIns="0" tIns="0" bIns="0" anchor="t">
            <a:spAutoFit/>
          </a:bodyPr>
          <a:lstStyle/>
          <a:p>
            <a:pPr algn="l">
              <a:spcAft>
                <a:spcPts val="400"/>
              </a:spcAft>
            </a:pPr>
            <a:r>
              <a:rPr sz="4000" b="1" i="0">
                <a:solidFill>
                  <a:schemeClr val="accent1"/>
                </a:solidFill>
              </a:rPr>
              <a:t>9%</a:t>
            </a:r>
          </a:p>
        </p:txBody>
      </p:sp>
      <p:sp>
        <p:nvSpPr>
          <p:cNvPr id="20" name="TextBox 19"/>
          <p:cNvSpPr txBox="1"/>
          <p:nvPr/>
        </p:nvSpPr>
        <p:spPr>
          <a:xfrm>
            <a:off x="7818120" y="2039112"/>
            <a:ext cx="3931920" cy="320040"/>
          </a:xfrm>
          <a:prstGeom prst="rect">
            <a:avLst/>
          </a:prstGeom>
          <a:noFill/>
        </p:spPr>
        <p:txBody>
          <a:bodyPr wrap="square" lIns="0" rIns="0" tIns="0" bIns="0" anchor="t">
            <a:spAutoFit/>
          </a:bodyPr>
          <a:lstStyle/>
          <a:p>
            <a:pPr algn="l">
              <a:spcAft>
                <a:spcPts val="400"/>
              </a:spcAft>
            </a:pPr>
            <a:r>
              <a:rPr sz="1300" b="1" i="0">
                <a:solidFill>
                  <a:schemeClr val="tx1"/>
                </a:solidFill>
              </a:rPr>
              <a:t>of healthy traces stored</a:t>
            </a:r>
          </a:p>
        </p:txBody>
      </p:sp>
      <p:sp>
        <p:nvSpPr>
          <p:cNvPr id="21" name="TextBox 20"/>
          <p:cNvSpPr txBox="1"/>
          <p:nvPr/>
        </p:nvSpPr>
        <p:spPr>
          <a:xfrm>
            <a:off x="7818120" y="2331720"/>
            <a:ext cx="3931920" cy="320040"/>
          </a:xfrm>
          <a:prstGeom prst="rect">
            <a:avLst/>
          </a:prstGeom>
          <a:noFill/>
        </p:spPr>
        <p:txBody>
          <a:bodyPr wrap="square" lIns="0" rIns="0" tIns="0" bIns="0" anchor="t">
            <a:spAutoFit/>
          </a:bodyPr>
          <a:lstStyle/>
          <a:p>
            <a:pPr algn="l">
              <a:spcAft>
                <a:spcPts val="400"/>
              </a:spcAft>
            </a:pPr>
            <a:r>
              <a:rPr sz="1100" b="0" i="0">
                <a:solidFill>
                  <a:schemeClr val="tx2"/>
                </a:solidFill>
              </a:rPr>
              <a:t>102 of 1,103 in a 90 s sample</a:t>
            </a:r>
          </a:p>
        </p:txBody>
      </p:sp>
      <p:sp>
        <p:nvSpPr>
          <p:cNvPr id="22" name="TextBox 21"/>
          <p:cNvSpPr txBox="1"/>
          <p:nvPr/>
        </p:nvSpPr>
        <p:spPr>
          <a:xfrm>
            <a:off x="7818120" y="2926080"/>
            <a:ext cx="3931920" cy="685800"/>
          </a:xfrm>
          <a:prstGeom prst="rect">
            <a:avLst/>
          </a:prstGeom>
          <a:noFill/>
        </p:spPr>
        <p:txBody>
          <a:bodyPr wrap="square" lIns="0" rIns="0" tIns="0" bIns="0" anchor="t">
            <a:spAutoFit/>
          </a:bodyPr>
          <a:lstStyle/>
          <a:p>
            <a:pPr algn="l">
              <a:spcAft>
                <a:spcPts val="400"/>
              </a:spcAft>
            </a:pPr>
            <a:r>
              <a:rPr sz="4000" b="1" i="0">
                <a:solidFill>
                  <a:schemeClr val="accent1"/>
                </a:solidFill>
              </a:rPr>
              <a:t>100%</a:t>
            </a:r>
          </a:p>
        </p:txBody>
      </p:sp>
      <p:sp>
        <p:nvSpPr>
          <p:cNvPr id="23" name="TextBox 22"/>
          <p:cNvSpPr txBox="1"/>
          <p:nvPr/>
        </p:nvSpPr>
        <p:spPr>
          <a:xfrm>
            <a:off x="7818120" y="3639312"/>
            <a:ext cx="3931920" cy="320040"/>
          </a:xfrm>
          <a:prstGeom prst="rect">
            <a:avLst/>
          </a:prstGeom>
          <a:noFill/>
        </p:spPr>
        <p:txBody>
          <a:bodyPr wrap="square" lIns="0" rIns="0" tIns="0" bIns="0" anchor="t">
            <a:spAutoFit/>
          </a:bodyPr>
          <a:lstStyle/>
          <a:p>
            <a:pPr algn="l">
              <a:spcAft>
                <a:spcPts val="400"/>
              </a:spcAft>
            </a:pPr>
            <a:r>
              <a:rPr sz="1300" b="1" i="0">
                <a:solidFill>
                  <a:schemeClr val="tx1"/>
                </a:solidFill>
              </a:rPr>
              <a:t>of error traces stored</a:t>
            </a:r>
          </a:p>
        </p:txBody>
      </p:sp>
      <p:sp>
        <p:nvSpPr>
          <p:cNvPr id="24" name="TextBox 23"/>
          <p:cNvSpPr txBox="1"/>
          <p:nvPr/>
        </p:nvSpPr>
        <p:spPr>
          <a:xfrm>
            <a:off x="7818120" y="3931920"/>
            <a:ext cx="3931920" cy="320040"/>
          </a:xfrm>
          <a:prstGeom prst="rect">
            <a:avLst/>
          </a:prstGeom>
          <a:noFill/>
        </p:spPr>
        <p:txBody>
          <a:bodyPr wrap="square" lIns="0" rIns="0" tIns="0" bIns="0" anchor="t">
            <a:spAutoFit/>
          </a:bodyPr>
          <a:lstStyle/>
          <a:p>
            <a:pPr algn="l">
              <a:spcAft>
                <a:spcPts val="400"/>
              </a:spcAft>
            </a:pPr>
            <a:r>
              <a:rPr sz="1100" b="0" i="0">
                <a:solidFill>
                  <a:schemeClr val="tx2"/>
                </a:solidFill>
              </a:rPr>
              <a:t>every UT / UF / UH failure</a:t>
            </a:r>
          </a:p>
        </p:txBody>
      </p:sp>
      <p:sp>
        <p:nvSpPr>
          <p:cNvPr id="25" name="TextBox 24"/>
          <p:cNvSpPr txBox="1"/>
          <p:nvPr/>
        </p:nvSpPr>
        <p:spPr>
          <a:xfrm>
            <a:off x="7818120" y="4526280"/>
            <a:ext cx="3931920" cy="685800"/>
          </a:xfrm>
          <a:prstGeom prst="rect">
            <a:avLst/>
          </a:prstGeom>
          <a:noFill/>
        </p:spPr>
        <p:txBody>
          <a:bodyPr wrap="square" lIns="0" rIns="0" tIns="0" bIns="0" anchor="t">
            <a:spAutoFit/>
          </a:bodyPr>
          <a:lstStyle/>
          <a:p>
            <a:pPr algn="l">
              <a:spcAft>
                <a:spcPts val="400"/>
              </a:spcAft>
            </a:pPr>
            <a:r>
              <a:rPr sz="4000" b="1" i="0">
                <a:solidFill>
                  <a:schemeClr val="accent2"/>
                </a:solidFill>
              </a:rPr>
              <a:t>12 / 12</a:t>
            </a:r>
          </a:p>
        </p:txBody>
      </p:sp>
      <p:sp>
        <p:nvSpPr>
          <p:cNvPr id="26" name="TextBox 25"/>
          <p:cNvSpPr txBox="1"/>
          <p:nvPr/>
        </p:nvSpPr>
        <p:spPr>
          <a:xfrm>
            <a:off x="7818120" y="5239512"/>
            <a:ext cx="3931920" cy="320040"/>
          </a:xfrm>
          <a:prstGeom prst="rect">
            <a:avLst/>
          </a:prstGeom>
          <a:noFill/>
        </p:spPr>
        <p:txBody>
          <a:bodyPr wrap="square" lIns="0" rIns="0" tIns="0" bIns="0" anchor="t">
            <a:spAutoFit/>
          </a:bodyPr>
          <a:lstStyle/>
          <a:p>
            <a:pPr algn="l">
              <a:spcAft>
                <a:spcPts val="400"/>
              </a:spcAft>
            </a:pPr>
            <a:r>
              <a:rPr sz="1300" b="1" i="0">
                <a:solidFill>
                  <a:schemeClr val="tx1"/>
                </a:solidFill>
              </a:rPr>
              <a:t>spans in a fund transfer</a:t>
            </a:r>
          </a:p>
        </p:txBody>
      </p:sp>
      <p:sp>
        <p:nvSpPr>
          <p:cNvPr id="27" name="TextBox 26"/>
          <p:cNvSpPr txBox="1"/>
          <p:nvPr/>
        </p:nvSpPr>
        <p:spPr>
          <a:xfrm>
            <a:off x="7818120" y="5532120"/>
            <a:ext cx="3931920" cy="320040"/>
          </a:xfrm>
          <a:prstGeom prst="rect">
            <a:avLst/>
          </a:prstGeom>
          <a:noFill/>
        </p:spPr>
        <p:txBody>
          <a:bodyPr wrap="square" lIns="0" rIns="0" tIns="0" bIns="0" anchor="t">
            <a:spAutoFit/>
          </a:bodyPr>
          <a:lstStyle/>
          <a:p>
            <a:pPr algn="l">
              <a:spcAft>
                <a:spcPts val="400"/>
              </a:spcAft>
            </a:pPr>
            <a:r>
              <a:rPr sz="1100" b="0" i="0">
                <a:solidFill>
                  <a:schemeClr val="tx2"/>
                </a:solidFill>
              </a:rPr>
              <a:t>was 3 of 12 before the decision cache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0"/>
          </p:nvPr>
        </p:nvSpPr>
        <p:spPr/>
        <p:txBody>
          <a:bodyPr/>
          <a:lstStyle/>
          <a:p>
            <a:r>
              <a:t>Journey tagging: one label from gateway to every hop</a:t>
            </a:r>
          </a:p>
        </p:txBody>
      </p:sp>
      <p:sp>
        <p:nvSpPr>
          <p:cNvPr id="3"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sp>
        <p:nvSpPr>
          <p:cNvPr id="4" name="Rounded Rectangle 3"/>
          <p:cNvSpPr/>
          <p:nvPr/>
        </p:nvSpPr>
        <p:spPr>
          <a:xfrm>
            <a:off x="457200" y="1325880"/>
            <a:ext cx="2560320" cy="1325880"/>
          </a:xfrm>
          <a:prstGeom prst="roundRect">
            <a:avLst>
              <a:gd name="adj" fmla="val 8000"/>
            </a:avLst>
          </a:prstGeom>
          <a:solidFill>
            <a:schemeClr val="accent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ctr">
              <a:spcAft>
                <a:spcPts val="400"/>
              </a:spcAft>
            </a:pPr>
            <a:r>
              <a:rPr sz="1350" b="1" i="0">
                <a:solidFill>
                  <a:schemeClr val="bg1"/>
                </a:solidFill>
              </a:rPr>
              <a:t>Customer request</a:t>
            </a:r>
          </a:p>
          <a:p>
            <a:pPr algn="ctr">
              <a:spcAft>
                <a:spcPts val="400"/>
              </a:spcAft>
            </a:pPr>
            <a:r>
              <a:rPr sz="1100" b="0" i="0">
                <a:solidFill>
                  <a:schemeClr val="bg1"/>
                </a:solidFill>
              </a:rPr>
              <a:t>POST /api/transfers
x-channel: mobile</a:t>
            </a:r>
          </a:p>
        </p:txBody>
      </p:sp>
      <p:sp>
        <p:nvSpPr>
          <p:cNvPr id="5" name="Rounded Rectangle 4"/>
          <p:cNvSpPr/>
          <p:nvPr/>
        </p:nvSpPr>
        <p:spPr>
          <a:xfrm>
            <a:off x="3337560" y="1325880"/>
            <a:ext cx="2560320" cy="1325880"/>
          </a:xfrm>
          <a:prstGeom prst="roundRect">
            <a:avLst>
              <a:gd name="adj" fmla="val 8000"/>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ctr">
              <a:spcAft>
                <a:spcPts val="400"/>
              </a:spcAft>
            </a:pPr>
            <a:r>
              <a:rPr sz="1350" b="1" i="0">
                <a:solidFill>
                  <a:schemeClr val="bg1"/>
                </a:solidFill>
              </a:rPr>
              <a:t>Ingress gateway</a:t>
            </a:r>
          </a:p>
          <a:p>
            <a:pPr algn="ctr">
              <a:spcAft>
                <a:spcPts val="400"/>
              </a:spcAft>
            </a:pPr>
            <a:r>
              <a:rPr sz="1100" b="0" i="0">
                <a:solidFill>
                  <a:schemeClr val="bg1"/>
                </a:solidFill>
              </a:rPr>
              <a:t>Route sets baggage:
journey=fund-transfer,
channel=mobile</a:t>
            </a:r>
          </a:p>
        </p:txBody>
      </p:sp>
      <p:cxnSp>
        <p:nvCxnSpPr>
          <p:cNvPr id="6" name="Connector 5"/>
          <p:cNvCxnSpPr/>
          <p:nvPr/>
        </p:nvCxnSpPr>
        <p:spPr>
          <a:xfrm>
            <a:off x="3017520" y="1988819"/>
            <a:ext cx="320040" cy="0"/>
          </a:xfrm>
          <a:prstGeom prst="line">
            <a:avLst/>
          </a:prstGeom>
          <a:ln w="15875">
            <a:solidFill>
              <a:schemeClr val="tx2"/>
            </a:solidFill>
            <a:tailEnd type="triangle"/>
          </a:ln>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6217920" y="1325880"/>
            <a:ext cx="2560320" cy="1325880"/>
          </a:xfrm>
          <a:prstGeom prst="roundRect">
            <a:avLst>
              <a:gd name="adj" fmla="val 8000"/>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ctr">
              <a:spcAft>
                <a:spcPts val="400"/>
              </a:spcAft>
            </a:pPr>
            <a:r>
              <a:rPr sz="1350" b="1" i="0">
                <a:solidFill>
                  <a:schemeClr val="bg1"/>
                </a:solidFill>
              </a:rPr>
              <a:t>payments-svc</a:t>
            </a:r>
          </a:p>
          <a:p>
            <a:pPr algn="ctr">
              <a:spcAft>
                <a:spcPts val="400"/>
              </a:spcAft>
            </a:pPr>
            <a:r>
              <a:rPr sz="1100" b="0" i="0">
                <a:solidFill>
                  <a:schemeClr val="bg1"/>
                </a:solidFill>
              </a:rPr>
              <a:t>OTel agent forwards
baggage on each call</a:t>
            </a:r>
          </a:p>
        </p:txBody>
      </p:sp>
      <p:cxnSp>
        <p:nvCxnSpPr>
          <p:cNvPr id="8" name="Connector 7"/>
          <p:cNvCxnSpPr/>
          <p:nvPr/>
        </p:nvCxnSpPr>
        <p:spPr>
          <a:xfrm>
            <a:off x="5897880" y="1988819"/>
            <a:ext cx="320040" cy="0"/>
          </a:xfrm>
          <a:prstGeom prst="line">
            <a:avLst/>
          </a:prstGeom>
          <a:ln w="15875">
            <a:solidFill>
              <a:schemeClr val="tx2"/>
            </a:solidFill>
            <a:tailEnd type="triangle"/>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9098280" y="1325880"/>
            <a:ext cx="2560320" cy="1325880"/>
          </a:xfrm>
          <a:prstGeom prst="roundRect">
            <a:avLst>
              <a:gd name="adj" fmla="val 8000"/>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ctr">
              <a:spcAft>
                <a:spcPts val="400"/>
              </a:spcAft>
            </a:pPr>
            <a:r>
              <a:rPr sz="1350" b="1" i="0">
                <a:solidFill>
                  <a:schemeClr val="bg1"/>
                </a:solidFill>
              </a:rPr>
              <a:t>core-banking hop</a:t>
            </a:r>
          </a:p>
          <a:p>
            <a:pPr algn="ctr">
              <a:spcAft>
                <a:spcPts val="400"/>
              </a:spcAft>
            </a:pPr>
            <a:r>
              <a:rPr sz="1100" b="0" i="0">
                <a:solidFill>
                  <a:schemeClr val="bg1"/>
                </a:solidFill>
              </a:rPr>
              <a:t>Sidecar sees the same
baggage header</a:t>
            </a:r>
          </a:p>
        </p:txBody>
      </p:sp>
      <p:cxnSp>
        <p:nvCxnSpPr>
          <p:cNvPr id="10" name="Connector 9"/>
          <p:cNvCxnSpPr/>
          <p:nvPr/>
        </p:nvCxnSpPr>
        <p:spPr>
          <a:xfrm>
            <a:off x="8778240" y="1988819"/>
            <a:ext cx="320040" cy="0"/>
          </a:xfrm>
          <a:prstGeom prst="line">
            <a:avLst/>
          </a:prstGeom>
          <a:ln w="15875">
            <a:solidFill>
              <a:schemeClr val="tx2"/>
            </a:solidFill>
            <a:tailEnd type="triangle"/>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457200" y="2724912"/>
            <a:ext cx="11247120" cy="274320"/>
          </a:xfrm>
          <a:prstGeom prst="rect">
            <a:avLst/>
          </a:prstGeom>
          <a:noFill/>
        </p:spPr>
        <p:txBody>
          <a:bodyPr wrap="square" lIns="0" rIns="0" tIns="0" bIns="0" anchor="t">
            <a:spAutoFit/>
          </a:bodyPr>
          <a:lstStyle/>
          <a:p>
            <a:pPr algn="l">
              <a:spcAft>
                <a:spcPts val="400"/>
              </a:spcAft>
            </a:pPr>
            <a:r>
              <a:rPr sz="1150" b="0" i="1">
                <a:solidFill>
                  <a:schemeClr val="tx2"/>
                </a:solidFill>
              </a:rPr>
              <a:t>Every sidecar and the collector turn that one header into three outputs:</a:t>
            </a:r>
          </a:p>
        </p:txBody>
      </p:sp>
      <p:sp>
        <p:nvSpPr>
          <p:cNvPr id="12" name="Rounded Rectangle 11"/>
          <p:cNvSpPr/>
          <p:nvPr/>
        </p:nvSpPr>
        <p:spPr>
          <a:xfrm>
            <a:off x="457200" y="3017520"/>
            <a:ext cx="3566160" cy="1783080"/>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46304" rIns="146304" tIns="87782" bIns="87782"/>
          <a:lstStyle/>
          <a:p>
            <a:pPr algn="l">
              <a:spcAft>
                <a:spcPts val="400"/>
              </a:spcAft>
            </a:pPr>
            <a:r>
              <a:rPr sz="1400" b="1" i="0">
                <a:solidFill>
                  <a:schemeClr val="tx1"/>
                </a:solidFill>
              </a:rPr>
              <a:t>Metric label</a:t>
            </a:r>
          </a:p>
          <a:p>
            <a:pPr algn="l">
              <a:spcAft>
                <a:spcPts val="400"/>
              </a:spcAft>
            </a:pPr>
            <a:r>
              <a:rPr sz="1150" b="0" i="0">
                <a:solidFill>
                  <a:schemeClr val="tx2"/>
                </a:solidFill>
              </a:rPr>
              <a:t>Telemetry API tagOverrides (CEL) maps baggage to a fixed label value</a:t>
            </a:r>
          </a:p>
          <a:p>
            <a:pPr algn="l">
              <a:spcAft>
                <a:spcPts val="400"/>
              </a:spcAft>
            </a:pPr>
            <a:r>
              <a:rPr sz="1050" b="0" i="0">
                <a:solidFill>
                  <a:schemeClr val="accent1"/>
                </a:solidFill>
                <a:latin typeface="Courier New"/>
              </a:rPr>
              <a:t>istio_requests_total{
  journey="fund-transfer"}</a:t>
            </a:r>
          </a:p>
        </p:txBody>
      </p:sp>
      <p:sp>
        <p:nvSpPr>
          <p:cNvPr id="13" name="Rounded Rectangle 12"/>
          <p:cNvSpPr/>
          <p:nvPr/>
        </p:nvSpPr>
        <p:spPr>
          <a:xfrm>
            <a:off x="4251960" y="3017520"/>
            <a:ext cx="3566160" cy="1783080"/>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46304" rIns="146304" tIns="87782" bIns="87782"/>
          <a:lstStyle/>
          <a:p>
            <a:pPr algn="l">
              <a:spcAft>
                <a:spcPts val="400"/>
              </a:spcAft>
            </a:pPr>
            <a:r>
              <a:rPr sz="1400" b="1" i="0">
                <a:solidFill>
                  <a:schemeClr val="tx1"/>
                </a:solidFill>
              </a:rPr>
              <a:t>Span attribute</a:t>
            </a:r>
          </a:p>
          <a:p>
            <a:pPr algn="l">
              <a:spcAft>
                <a:spcPts val="400"/>
              </a:spcAft>
            </a:pPr>
            <a:r>
              <a:rPr sz="1150" b="0" i="0">
                <a:solidFill>
                  <a:schemeClr val="tx2"/>
                </a:solidFill>
              </a:rPr>
              <a:t>Envoy records baggage as a span tag; the collector's OTTL turns it into span.journey</a:t>
            </a:r>
          </a:p>
          <a:p>
            <a:pPr algn="l">
              <a:spcAft>
                <a:spcPts val="400"/>
              </a:spcAft>
            </a:pPr>
            <a:r>
              <a:rPr sz="1050" b="0" i="0">
                <a:solidFill>
                  <a:schemeClr val="accent1"/>
                </a:solidFill>
                <a:latin typeface="Courier New"/>
              </a:rPr>
              <a:t>{ span.journey =
    "fund-transfer" }</a:t>
            </a:r>
          </a:p>
        </p:txBody>
      </p:sp>
      <p:sp>
        <p:nvSpPr>
          <p:cNvPr id="14" name="Rounded Rectangle 13"/>
          <p:cNvSpPr/>
          <p:nvPr/>
        </p:nvSpPr>
        <p:spPr>
          <a:xfrm>
            <a:off x="8046720" y="3017520"/>
            <a:ext cx="3566160" cy="1783080"/>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46304" rIns="146304" tIns="87782" bIns="87782"/>
          <a:lstStyle/>
          <a:p>
            <a:pPr algn="l">
              <a:spcAft>
                <a:spcPts val="400"/>
              </a:spcAft>
            </a:pPr>
            <a:r>
              <a:rPr sz="1400" b="1" i="0">
                <a:solidFill>
                  <a:schemeClr val="tx1"/>
                </a:solidFill>
              </a:rPr>
              <a:t>Log field</a:t>
            </a:r>
          </a:p>
          <a:p>
            <a:pPr algn="l">
              <a:spcAft>
                <a:spcPts val="400"/>
              </a:spcAft>
            </a:pPr>
            <a:r>
              <a:rPr sz="1150" b="0" i="0">
                <a:solidFill>
                  <a:schemeClr val="tx2"/>
                </a:solidFill>
              </a:rPr>
              <a:t>Access log carries %REQ(BAGGAGE)%; the collector extracts journey for Loki</a:t>
            </a:r>
          </a:p>
          <a:p>
            <a:pPr algn="l">
              <a:spcAft>
                <a:spcPts val="400"/>
              </a:spcAft>
            </a:pPr>
            <a:r>
              <a:rPr sz="1050" b="0" i="0">
                <a:solidFill>
                  <a:schemeClr val="accent1"/>
                </a:solidFill>
                <a:latin typeface="Courier New"/>
              </a:rPr>
              <a:t>{service_name="payments-svc"}
  | journey="fund-transfer"</a:t>
            </a:r>
          </a:p>
        </p:txBody>
      </p:sp>
      <p:sp>
        <p:nvSpPr>
          <p:cNvPr id="15" name="Rounded Rectangle 14"/>
          <p:cNvSpPr/>
          <p:nvPr/>
        </p:nvSpPr>
        <p:spPr>
          <a:xfrm>
            <a:off x="457200" y="5120640"/>
            <a:ext cx="11247120" cy="777240"/>
          </a:xfrm>
          <a:prstGeom prst="roundRect">
            <a:avLst>
              <a:gd name="adj" fmla="val 8000"/>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109728" bIns="109728"/>
          <a:lstStyle/>
          <a:p>
            <a:pPr algn="l">
              <a:spcAft>
                <a:spcPts val="400"/>
              </a:spcAft>
            </a:pPr>
            <a:r>
              <a:rPr sz="1200" b="1" i="0">
                <a:solidFill>
                  <a:schemeClr val="bg1"/>
                </a:solidFill>
              </a:rPr>
              <a:t>Fixed list: </a:t>
            </a:r>
            <a:r>
              <a:rPr sz="1200" b="0" i="0">
                <a:solidFill>
                  <a:schemeClr val="bg1"/>
                </a:solidFill>
              </a:rPr>
              <a:t>fund-transfer, balance-check, card-payment, login, loan-application. Anything else becomes "other". Adding a journey is a deliberate change in three places: Telemetry CEL, collector regex, gateway route.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0"/>
          </p:nvPr>
        </p:nvSpPr>
        <p:spPr/>
        <p:txBody>
          <a:bodyPr/>
          <a:lstStyle/>
          <a:p>
            <a:r>
              <a:t>Where the data lives</a:t>
            </a:r>
          </a:p>
        </p:txBody>
      </p:sp>
      <p:sp>
        <p:nvSpPr>
          <p:cNvPr id="3"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graphicFrame>
        <p:nvGraphicFramePr>
          <p:cNvPr id="4" name="Table 3"/>
          <p:cNvGraphicFramePr>
            <a:graphicFrameLocks noGrp="1"/>
          </p:cNvGraphicFramePr>
          <p:nvPr/>
        </p:nvGraphicFramePr>
        <p:xfrm>
          <a:off x="457200" y="1234440"/>
          <a:ext cx="11247120" cy="4279392"/>
        </p:xfrm>
        <a:graphic>
          <a:graphicData uri="http://schemas.openxmlformats.org/drawingml/2006/table">
            <a:tbl>
              <a:tblPr firstRow="0" bandRow="0">
                <a:tableStyleId>{5940675A-B579-460E-94D1-54222C63F5DA}</a:tableStyleId>
              </a:tblPr>
              <a:tblGrid>
                <a:gridCol w="1188720"/>
                <a:gridCol w="3200400"/>
                <a:gridCol w="2103120"/>
                <a:gridCol w="2377440"/>
                <a:gridCol w="1463040"/>
                <a:gridCol w="914400"/>
              </a:tblGrid>
              <a:tr h="713232">
                <a:tc>
                  <a:txBody>
                    <a:bodyPr wrap="square"/>
                    <a:lstStyle/>
                    <a:p>
                      <a:r>
                        <a:rPr sz="1100" b="1" i="0">
                          <a:solidFill>
                            <a:schemeClr val="bg1"/>
                          </a:solidFill>
                        </a:rPr>
                        <a:t>Signal</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tx1"/>
                    </a:solidFill>
                  </a:tcPr>
                </a:tc>
                <a:tc>
                  <a:txBody>
                    <a:bodyPr wrap="square"/>
                    <a:lstStyle/>
                    <a:p>
                      <a:r>
                        <a:rPr sz="1100" b="1" i="0">
                          <a:solidFill>
                            <a:schemeClr val="bg1"/>
                          </a:solidFill>
                        </a:rPr>
                        <a:t>Store and format</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tx1"/>
                    </a:solidFill>
                  </a:tcPr>
                </a:tc>
                <a:tc>
                  <a:txBody>
                    <a:bodyPr wrap="square"/>
                    <a:lstStyle/>
                    <a:p>
                      <a:r>
                        <a:rPr sz="1100" b="1" i="0">
                          <a:solidFill>
                            <a:schemeClr val="bg1"/>
                          </a:solidFill>
                        </a:rPr>
                        <a:t>Local POC</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tx1"/>
                    </a:solidFill>
                  </a:tcPr>
                </a:tc>
                <a:tc>
                  <a:txBody>
                    <a:bodyPr wrap="square"/>
                    <a:lstStyle/>
                    <a:p>
                      <a:r>
                        <a:rPr sz="1100" b="1" i="0">
                          <a:solidFill>
                            <a:schemeClr val="bg1"/>
                          </a:solidFill>
                        </a:rPr>
                        <a:t>OpenShift production</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tx1"/>
                    </a:solidFill>
                  </a:tcPr>
                </a:tc>
                <a:tc>
                  <a:txBody>
                    <a:bodyPr wrap="square"/>
                    <a:lstStyle/>
                    <a:p>
                      <a:r>
                        <a:rPr sz="1100" b="1" i="0">
                          <a:solidFill>
                            <a:schemeClr val="bg1"/>
                          </a:solidFill>
                        </a:rPr>
                        <a:t>Retention</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tx1"/>
                    </a:solidFill>
                  </a:tcPr>
                </a:tc>
                <a:tc>
                  <a:txBody>
                    <a:bodyPr wrap="square"/>
                    <a:lstStyle/>
                    <a:p>
                      <a:r>
                        <a:rPr sz="1100" b="1" i="0">
                          <a:solidFill>
                            <a:schemeClr val="bg1"/>
                          </a:solidFill>
                        </a:rPr>
                        <a:t>Query</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tx1"/>
                    </a:solidFill>
                  </a:tcPr>
                </a:tc>
              </a:tr>
              <a:tr h="713232">
                <a:tc>
                  <a:txBody>
                    <a:bodyPr wrap="square"/>
                    <a:lstStyle/>
                    <a:p>
                      <a:r>
                        <a:rPr sz="1100" b="1" i="0">
                          <a:solidFill>
                            <a:schemeClr val="tx1"/>
                          </a:solidFill>
                        </a:rPr>
                        <a:t>Metrics</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00" b="0" i="0">
                          <a:solidFill>
                            <a:schemeClr val="tx1"/>
                          </a:solidFill>
                        </a:rPr>
                        <a:t>Prometheus TSDB: in-memory head + write-ahead log, compacted 2-hour blocks</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00" b="0" i="0">
                          <a:solidFill>
                            <a:schemeClr val="accent1"/>
                          </a:solidFill>
                        </a:rPr>
                        <a:t>10 Gi persistent volume (survives restarts)</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00" b="0" i="0">
                          <a:solidFill>
                            <a:schemeClr val="tx1"/>
                          </a:solidFill>
                        </a:rPr>
                        <a:t>UWM Prometheus on a PVC; Thanos Querier for queries</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00" b="0" i="0">
                          <a:solidFill>
                            <a:schemeClr val="tx1"/>
                          </a:solidFill>
                        </a:rPr>
                        <a:t>2 days or 8 GB</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00" b="0" i="0">
                          <a:solidFill>
                            <a:schemeClr val="tx1"/>
                          </a:solidFill>
                        </a:rPr>
                        <a:t>PromQL</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r>
              <a:tr h="713232">
                <a:tc>
                  <a:txBody>
                    <a:bodyPr wrap="square"/>
                    <a:lstStyle/>
                    <a:p>
                      <a:r>
                        <a:rPr sz="1100" b="1" i="0">
                          <a:solidFill>
                            <a:schemeClr val="tx1"/>
                          </a:solidFill>
                        </a:rPr>
                        <a:t>Traces</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2"/>
                    </a:solidFill>
                  </a:tcPr>
                </a:tc>
                <a:tc>
                  <a:txBody>
                    <a:bodyPr wrap="square"/>
                    <a:lstStyle/>
                    <a:p>
                      <a:r>
                        <a:rPr sz="1100" b="0" i="0">
                          <a:solidFill>
                            <a:schemeClr val="tx1"/>
                          </a:solidFill>
                        </a:rPr>
                        <a:t>Tempo: WAL, then Apache Parquet blocks (vParquet4) with bloom filters</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2"/>
                    </a:solidFill>
                  </a:tcPr>
                </a:tc>
                <a:tc>
                  <a:txBody>
                    <a:bodyPr wrap="square"/>
                    <a:lstStyle/>
                    <a:p>
                      <a:r>
                        <a:rPr sz="1100" b="0" i="0">
                          <a:solidFill>
                            <a:schemeClr val="tx1"/>
                          </a:solidFill>
                        </a:rPr>
                        <a:t>5 Gi persistent volume, local backend</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2"/>
                    </a:solidFill>
                  </a:tcPr>
                </a:tc>
                <a:tc>
                  <a:txBody>
                    <a:bodyPr wrap="square"/>
                    <a:lstStyle/>
                    <a:p>
                      <a:r>
                        <a:rPr sz="1100" b="0" i="0">
                          <a:solidFill>
                            <a:schemeClr val="tx1"/>
                          </a:solidFill>
                        </a:rPr>
                        <a:t>TempoStack on S3-compatible object storage (ODF, MinIO)</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2"/>
                    </a:solidFill>
                  </a:tcPr>
                </a:tc>
                <a:tc>
                  <a:txBody>
                    <a:bodyPr wrap="square"/>
                    <a:lstStyle/>
                    <a:p>
                      <a:r>
                        <a:rPr sz="1100" b="0" i="0">
                          <a:solidFill>
                            <a:schemeClr val="tx1"/>
                          </a:solidFill>
                        </a:rPr>
                        <a:t>14 days (default 336 h)</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2"/>
                    </a:solidFill>
                  </a:tcPr>
                </a:tc>
                <a:tc>
                  <a:txBody>
                    <a:bodyPr wrap="square"/>
                    <a:lstStyle/>
                    <a:p>
                      <a:r>
                        <a:rPr sz="1100" b="0" i="0">
                          <a:solidFill>
                            <a:schemeClr val="tx1"/>
                          </a:solidFill>
                        </a:rPr>
                        <a:t>TraceQL</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2"/>
                    </a:solidFill>
                  </a:tcPr>
                </a:tc>
              </a:tr>
              <a:tr h="713232">
                <a:tc>
                  <a:txBody>
                    <a:bodyPr wrap="square"/>
                    <a:lstStyle/>
                    <a:p>
                      <a:r>
                        <a:rPr sz="1100" b="1" i="0">
                          <a:solidFill>
                            <a:schemeClr val="tx1"/>
                          </a:solidFill>
                        </a:rPr>
                        <a:t>Logs</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00" b="0" i="0">
                          <a:solidFill>
                            <a:schemeClr val="tx1"/>
                          </a:solidFill>
                        </a:rPr>
                        <a:t>Loki: compressed chunks + TSDB index; labels service_name, namespace; other fields as structured metadata</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00" b="0" i="0">
                          <a:solidFill>
                            <a:schemeClr val="tx1"/>
                          </a:solidFill>
                        </a:rPr>
                        <a:t>5 Gi persistent volume, filesystem</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00" b="0" i="0">
                          <a:solidFill>
                            <a:schemeClr val="tx1"/>
                          </a:solidFill>
                        </a:rPr>
                        <a:t>LokiStack on object storage</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00" b="0" i="0">
                          <a:solidFill>
                            <a:schemeClr val="accent1"/>
                          </a:solidFill>
                        </a:rPr>
                        <a:t>48 h, deleted by the compactor</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00" b="0" i="0">
                          <a:solidFill>
                            <a:schemeClr val="tx1"/>
                          </a:solidFill>
                        </a:rPr>
                        <a:t>LogQL</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r>
              <a:tr h="713232">
                <a:tc>
                  <a:txBody>
                    <a:bodyPr wrap="square"/>
                    <a:lstStyle/>
                    <a:p>
                      <a:r>
                        <a:rPr sz="1100" b="1" i="0">
                          <a:solidFill>
                            <a:schemeClr val="tx1"/>
                          </a:solidFill>
                        </a:rPr>
                        <a:t>Alerts</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2"/>
                    </a:solidFill>
                  </a:tcPr>
                </a:tc>
                <a:tc>
                  <a:txBody>
                    <a:bodyPr wrap="square"/>
                    <a:lstStyle/>
                    <a:p>
                      <a:r>
                        <a:rPr sz="1100" b="0" i="0">
                          <a:solidFill>
                            <a:schemeClr val="tx1"/>
                          </a:solidFill>
                        </a:rPr>
                        <a:t>Alertmanager: alert state and silences</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2"/>
                    </a:solidFill>
                  </a:tcPr>
                </a:tc>
                <a:tc>
                  <a:txBody>
                    <a:bodyPr wrap="square"/>
                    <a:lstStyle/>
                    <a:p>
                      <a:r>
                        <a:rPr sz="1100" b="0" i="0">
                          <a:solidFill>
                            <a:schemeClr val="tx1"/>
                          </a:solidFill>
                        </a:rPr>
                        <a:t>emptyDir</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2"/>
                    </a:solidFill>
                  </a:tcPr>
                </a:tc>
                <a:tc>
                  <a:txBody>
                    <a:bodyPr wrap="square"/>
                    <a:lstStyle/>
                    <a:p>
                      <a:r>
                        <a:rPr sz="1100" b="0" i="0">
                          <a:solidFill>
                            <a:schemeClr val="tx1"/>
                          </a:solidFill>
                        </a:rPr>
                        <a:t>Platform or UWM Alertmanager</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2"/>
                    </a:solidFill>
                  </a:tcPr>
                </a:tc>
                <a:tc>
                  <a:txBody>
                    <a:bodyPr wrap="square"/>
                    <a:lstStyle/>
                    <a:p>
                      <a:r>
                        <a:rPr sz="1100" b="0" i="0">
                          <a:solidFill>
                            <a:schemeClr val="tx1"/>
                          </a:solidFill>
                        </a:rPr>
                        <a:t>While firing</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2"/>
                    </a:solidFill>
                  </a:tcPr>
                </a:tc>
                <a:tc>
                  <a:txBody>
                    <a:bodyPr wrap="square"/>
                    <a:lstStyle/>
                    <a:p>
                      <a:r>
                        <a:rPr sz="1100" b="0" i="0">
                          <a:solidFill>
                            <a:schemeClr val="tx1"/>
                          </a:solidFill>
                        </a:rPr>
                        <a:t>API v2</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2"/>
                    </a:solidFill>
                  </a:tcPr>
                </a:tc>
              </a:tr>
              <a:tr h="713232">
                <a:tc>
                  <a:txBody>
                    <a:bodyPr wrap="square"/>
                    <a:lstStyle/>
                    <a:p>
                      <a:r>
                        <a:rPr sz="1100" b="1" i="0">
                          <a:solidFill>
                            <a:schemeClr val="tx1"/>
                          </a:solidFill>
                        </a:rPr>
                        <a:t>Dashboards</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00" b="0" i="0">
                          <a:solidFill>
                            <a:schemeClr val="tx1"/>
                          </a:solidFill>
                        </a:rPr>
                        <a:t>Grafana: dashboards as code (ConfigMap), SQLite for settings</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00" b="0" i="0">
                          <a:solidFill>
                            <a:schemeClr val="tx1"/>
                          </a:solidFill>
                        </a:rPr>
                        <a:t>In the pod</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00" b="0" i="0">
                          <a:solidFill>
                            <a:schemeClr val="tx1"/>
                          </a:solidFill>
                        </a:rPr>
                        <a:t>Grafana Operator CRs</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00" b="0" i="0">
                          <a:solidFill>
                            <a:schemeClr val="tx1"/>
                          </a:solidFill>
                        </a:rPr>
                        <a:t>Versioned in Git</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00" b="0" i="0">
                          <a:solidFill>
                            <a:schemeClr val="tx1"/>
                          </a:solidFill>
                        </a:rPr>
                        <a:t>-</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r>
            </a:tbl>
          </a:graphicData>
        </a:graphic>
      </p:graphicFrame>
      <p:sp>
        <p:nvSpPr>
          <p:cNvPr id="5" name="TextBox 4"/>
          <p:cNvSpPr txBox="1"/>
          <p:nvPr/>
        </p:nvSpPr>
        <p:spPr>
          <a:xfrm>
            <a:off x="457200" y="5669280"/>
            <a:ext cx="11247120" cy="365760"/>
          </a:xfrm>
          <a:prstGeom prst="rect">
            <a:avLst/>
          </a:prstGeom>
          <a:noFill/>
        </p:spPr>
        <p:txBody>
          <a:bodyPr wrap="square" lIns="0" rIns="0" tIns="0" bIns="0" anchor="t">
            <a:spAutoFit/>
          </a:bodyPr>
          <a:lstStyle/>
          <a:p>
            <a:pPr algn="l">
              <a:spcAft>
                <a:spcPts val="400"/>
              </a:spcAft>
            </a:pPr>
            <a:r>
              <a:rPr sz="1100" b="0" i="1">
                <a:solidFill>
                  <a:schemeClr val="tx2"/>
                </a:solidFill>
              </a:rPr>
              <a:t>Verified: metrics survive a Prometheus restart; the Loki compactor enforces the 48 h retention.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0"/>
          </p:nvPr>
        </p:nvSpPr>
        <p:spPr/>
        <p:txBody>
          <a:bodyPr/>
          <a:lstStyle/>
          <a:p>
            <a:r>
              <a:t>Envoy access logs: the why behind a red edge</a:t>
            </a:r>
          </a:p>
        </p:txBody>
      </p:sp>
      <p:sp>
        <p:nvSpPr>
          <p:cNvPr id="3"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sp>
        <p:nvSpPr>
          <p:cNvPr id="4" name="Rounded Rectangle 3"/>
          <p:cNvSpPr/>
          <p:nvPr/>
        </p:nvSpPr>
        <p:spPr>
          <a:xfrm>
            <a:off x="457200" y="1280160"/>
            <a:ext cx="5120640" cy="3520440"/>
          </a:xfrm>
          <a:prstGeom prst="roundRect">
            <a:avLst>
              <a:gd name="adj" fmla="val 8000"/>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tIns="137160" bIns="137160"/>
          <a:lstStyle/>
          <a:p>
            <a:pPr algn="l">
              <a:spcAft>
                <a:spcPts val="600"/>
              </a:spcAft>
            </a:pPr>
            <a:r>
              <a:rPr sz="1300" b="1" i="0">
                <a:solidFill>
                  <a:schemeClr val="bg1"/>
                </a:solidFill>
              </a:rPr>
              <a:t>One access-log record (payments-svc)</a:t>
            </a:r>
          </a:p>
          <a:p>
            <a:pPr algn="l">
              <a:spcAft>
                <a:spcPts val="600"/>
              </a:spcAft>
            </a:pPr>
            <a:r>
              <a:rPr sz="1300" b="0" i="0">
                <a:solidFill>
                  <a:schemeClr val="bg1"/>
                </a:solidFill>
                <a:latin typeface="Courier New"/>
              </a:rPr>
              <a:t>upstream_cluster = outbound|80||core-banking</a:t>
            </a:r>
          </a:p>
          <a:p>
            <a:pPr algn="l">
              <a:spcAft>
                <a:spcPts val="600"/>
              </a:spcAft>
            </a:pPr>
            <a:r>
              <a:rPr sz="1300" b="0" i="0">
                <a:solidFill>
                  <a:schemeClr val="bg1"/>
                </a:solidFill>
                <a:latin typeface="Courier New"/>
              </a:rPr>
              <a:t>response_code    = 504</a:t>
            </a:r>
          </a:p>
          <a:p>
            <a:pPr algn="l">
              <a:spcAft>
                <a:spcPts val="600"/>
              </a:spcAft>
            </a:pPr>
            <a:r>
              <a:rPr sz="1300" b="1" i="0">
                <a:solidFill>
                  <a:schemeClr val="accent4"/>
                </a:solidFill>
                <a:latin typeface="Courier New"/>
              </a:rPr>
              <a:t>response_flags   = UT</a:t>
            </a:r>
          </a:p>
          <a:p>
            <a:pPr algn="l">
              <a:spcAft>
                <a:spcPts val="600"/>
              </a:spcAft>
            </a:pPr>
            <a:r>
              <a:rPr sz="1300" b="0" i="0">
                <a:solidFill>
                  <a:schemeClr val="bg1"/>
                </a:solidFill>
                <a:latin typeface="Courier New"/>
              </a:rPr>
              <a:t>duration_ms      = 3001</a:t>
            </a:r>
          </a:p>
          <a:p>
            <a:pPr algn="l">
              <a:spcAft>
                <a:spcPts val="600"/>
              </a:spcAft>
            </a:pPr>
            <a:r>
              <a:rPr sz="1300" b="0" i="0">
                <a:solidFill>
                  <a:schemeClr val="bg1"/>
                </a:solidFill>
                <a:latin typeface="Courier New"/>
              </a:rPr>
              <a:t>journey          = fund-transfer</a:t>
            </a:r>
          </a:p>
          <a:p>
            <a:pPr algn="l">
              <a:spcAft>
                <a:spcPts val="600"/>
              </a:spcAft>
            </a:pPr>
            <a:r>
              <a:rPr sz="1300" b="0" i="0">
                <a:solidFill>
                  <a:schemeClr val="bg1"/>
                </a:solidFill>
                <a:latin typeface="Courier New"/>
              </a:rPr>
              <a:t>trace_id         = 2ba91a03eb16...</a:t>
            </a:r>
          </a:p>
          <a:p>
            <a:pPr algn="l">
              <a:spcAft>
                <a:spcPts val="600"/>
              </a:spcAft>
            </a:pPr>
            <a:r>
              <a:rPr sz="600" b="0" i="0">
                <a:solidFill>
                  <a:schemeClr val="bg1"/>
                </a:solidFill>
              </a:rPr>
              <a:t/>
            </a:r>
          </a:p>
          <a:p>
            <a:pPr algn="l">
              <a:spcAft>
                <a:spcPts val="600"/>
              </a:spcAft>
            </a:pPr>
            <a:r>
              <a:rPr sz="1300" b="0" i="0">
                <a:solidFill>
                  <a:schemeClr val="bg1"/>
                </a:solidFill>
              </a:rPr>
              <a:t>Path: Envoy  &gt;  OTLP access-log provider (gRPC)  &gt;  Collector  &gt;  Loki</a:t>
            </a:r>
          </a:p>
          <a:p>
            <a:pPr algn="l">
              <a:spcAft>
                <a:spcPts val="600"/>
              </a:spcAft>
            </a:pPr>
            <a:r>
              <a:rPr sz="1300" b="0" i="1">
                <a:solidFill>
                  <a:schemeClr val="bg1"/>
                </a:solidFill>
              </a:rPr>
              <a:t>trace_id links the log line to its trace in Tempo</a:t>
            </a:r>
          </a:p>
        </p:txBody>
      </p:sp>
      <p:graphicFrame>
        <p:nvGraphicFramePr>
          <p:cNvPr id="5" name="Table 4"/>
          <p:cNvGraphicFramePr>
            <a:graphicFrameLocks noGrp="1"/>
          </p:cNvGraphicFramePr>
          <p:nvPr/>
        </p:nvGraphicFramePr>
        <p:xfrm>
          <a:off x="5943600" y="1280160"/>
          <a:ext cx="5760720" cy="3511296"/>
        </p:xfrm>
        <a:graphic>
          <a:graphicData uri="http://schemas.openxmlformats.org/drawingml/2006/table">
            <a:tbl>
              <a:tblPr firstRow="0" bandRow="0">
                <a:tableStyleId>{5940675A-B579-460E-94D1-54222C63F5DA}</a:tableStyleId>
              </a:tblPr>
              <a:tblGrid>
                <a:gridCol w="640080"/>
                <a:gridCol w="1691640"/>
                <a:gridCol w="2331720"/>
                <a:gridCol w="1097280"/>
              </a:tblGrid>
              <a:tr h="585216">
                <a:tc>
                  <a:txBody>
                    <a:bodyPr wrap="square"/>
                    <a:lstStyle/>
                    <a:p>
                      <a:r>
                        <a:rPr sz="1100" b="1" i="0">
                          <a:solidFill>
                            <a:schemeClr val="bg1"/>
                          </a:solidFill>
                        </a:rPr>
                        <a:t>Flag</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tx1"/>
                    </a:solidFill>
                  </a:tcPr>
                </a:tc>
                <a:tc>
                  <a:txBody>
                    <a:bodyPr wrap="square"/>
                    <a:lstStyle/>
                    <a:p>
                      <a:r>
                        <a:rPr sz="1100" b="1" i="0">
                          <a:solidFill>
                            <a:schemeClr val="bg1"/>
                          </a:solidFill>
                        </a:rPr>
                        <a:t>Meaning</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tx1"/>
                    </a:solidFill>
                  </a:tcPr>
                </a:tc>
                <a:tc>
                  <a:txBody>
                    <a:bodyPr wrap="square"/>
                    <a:lstStyle/>
                    <a:p>
                      <a:r>
                        <a:rPr sz="1100" b="1" i="0">
                          <a:solidFill>
                            <a:schemeClr val="bg1"/>
                          </a:solidFill>
                        </a:rPr>
                        <a:t>Seen in the POC when</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tx1"/>
                    </a:solidFill>
                  </a:tcPr>
                </a:tc>
                <a:tc>
                  <a:txBody>
                    <a:bodyPr wrap="square"/>
                    <a:lstStyle/>
                    <a:p>
                      <a:r>
                        <a:rPr sz="1100" b="1" i="0">
                          <a:solidFill>
                            <a:schemeClr val="bg1"/>
                          </a:solidFill>
                        </a:rPr>
                        <a:t>Call</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tx1"/>
                    </a:solidFill>
                  </a:tcPr>
                </a:tc>
              </a:tr>
              <a:tr h="585216">
                <a:tc>
                  <a:txBody>
                    <a:bodyPr wrap="square"/>
                    <a:lstStyle/>
                    <a:p>
                      <a:r>
                        <a:rPr sz="1100" b="1" i="0">
                          <a:solidFill>
                            <a:schemeClr val="accent3"/>
                          </a:solidFill>
                        </a:rPr>
                        <a:t>UT</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00" b="0" i="0">
                          <a:solidFill>
                            <a:schemeClr val="tx1"/>
                          </a:solidFill>
                        </a:rPr>
                        <a:t>Upstream request timeout</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00" b="0" i="0">
                          <a:solidFill>
                            <a:schemeClr val="tx1"/>
                          </a:solidFill>
                        </a:rPr>
                        <a:t>Core banking slower than the 3 s route timeout</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00" b="0" i="0">
                          <a:solidFill>
                            <a:schemeClr val="tx1"/>
                          </a:solidFill>
                        </a:rPr>
                        <a:t>Owner of the target</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r>
              <a:tr h="585216">
                <a:tc>
                  <a:txBody>
                    <a:bodyPr wrap="square"/>
                    <a:lstStyle/>
                    <a:p>
                      <a:r>
                        <a:rPr sz="1100" b="1" i="0">
                          <a:solidFill>
                            <a:schemeClr val="accent3"/>
                          </a:solidFill>
                        </a:rPr>
                        <a:t>UF</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2"/>
                    </a:solidFill>
                  </a:tcPr>
                </a:tc>
                <a:tc>
                  <a:txBody>
                    <a:bodyPr wrap="square"/>
                    <a:lstStyle/>
                    <a:p>
                      <a:r>
                        <a:rPr sz="1100" b="0" i="0">
                          <a:solidFill>
                            <a:schemeClr val="tx1"/>
                          </a:solidFill>
                        </a:rPr>
                        <a:t>Upstream connection failure</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2"/>
                    </a:solidFill>
                  </a:tcPr>
                </a:tc>
                <a:tc>
                  <a:txBody>
                    <a:bodyPr wrap="square"/>
                    <a:lstStyle/>
                    <a:p>
                      <a:r>
                        <a:rPr sz="1100" b="0" i="0">
                          <a:solidFill>
                            <a:schemeClr val="tx1"/>
                          </a:solidFill>
                        </a:rPr>
                        <a:t>Database or card switch refuses connections</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2"/>
                    </a:solidFill>
                  </a:tcPr>
                </a:tc>
                <a:tc>
                  <a:txBody>
                    <a:bodyPr wrap="square"/>
                    <a:lstStyle/>
                    <a:p>
                      <a:r>
                        <a:rPr sz="1100" b="0" i="0">
                          <a:solidFill>
                            <a:schemeClr val="tx1"/>
                          </a:solidFill>
                        </a:rPr>
                        <a:t>Owner or network</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2"/>
                    </a:solidFill>
                  </a:tcPr>
                </a:tc>
              </a:tr>
              <a:tr h="585216">
                <a:tc>
                  <a:txBody>
                    <a:bodyPr wrap="square"/>
                    <a:lstStyle/>
                    <a:p>
                      <a:r>
                        <a:rPr sz="1100" b="1" i="0">
                          <a:solidFill>
                            <a:schemeClr val="accent3"/>
                          </a:solidFill>
                        </a:rPr>
                        <a:t>UH</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00" b="0" i="0">
                          <a:solidFill>
                            <a:schemeClr val="tx1"/>
                          </a:solidFill>
                        </a:rPr>
                        <a:t>No healthy upstream</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00" b="0" i="0">
                          <a:solidFill>
                            <a:schemeClr val="tx1"/>
                          </a:solidFill>
                        </a:rPr>
                        <a:t>Card switch ejected by outlier detection</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00" b="0" i="0">
                          <a:solidFill>
                            <a:schemeClr val="tx1"/>
                          </a:solidFill>
                        </a:rPr>
                        <a:t>Owner of the target</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r>
              <a:tr h="585216">
                <a:tc>
                  <a:txBody>
                    <a:bodyPr wrap="square"/>
                    <a:lstStyle/>
                    <a:p>
                      <a:r>
                        <a:rPr sz="1100" b="1" i="0">
                          <a:solidFill>
                            <a:schemeClr val="accent3"/>
                          </a:solidFill>
                        </a:rPr>
                        <a:t>URX</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2"/>
                    </a:solidFill>
                  </a:tcPr>
                </a:tc>
                <a:tc>
                  <a:txBody>
                    <a:bodyPr wrap="square"/>
                    <a:lstStyle/>
                    <a:p>
                      <a:r>
                        <a:rPr sz="1100" b="0" i="0">
                          <a:solidFill>
                            <a:schemeClr val="tx1"/>
                          </a:solidFill>
                        </a:rPr>
                        <a:t>Retry limit exceeded</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2"/>
                    </a:solidFill>
                  </a:tcPr>
                </a:tc>
                <a:tc>
                  <a:txBody>
                    <a:bodyPr wrap="square"/>
                    <a:lstStyle/>
                    <a:p>
                      <a:r>
                        <a:rPr sz="1100" b="0" i="0">
                          <a:solidFill>
                            <a:schemeClr val="tx1"/>
                          </a:solidFill>
                        </a:rPr>
                        <a:t>Paired with UF after Envoy retried</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2"/>
                    </a:solidFill>
                  </a:tcPr>
                </a:tc>
                <a:tc>
                  <a:txBody>
                    <a:bodyPr wrap="square"/>
                    <a:lstStyle/>
                    <a:p>
                      <a:r>
                        <a:rPr sz="1100" b="0" i="0">
                          <a:solidFill>
                            <a:schemeClr val="tx1"/>
                          </a:solidFill>
                        </a:rPr>
                        <a:t>As for UF</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2"/>
                    </a:solidFill>
                  </a:tcPr>
                </a:tc>
              </a:tr>
              <a:tr h="585216">
                <a:tc>
                  <a:txBody>
                    <a:bodyPr wrap="square"/>
                    <a:lstStyle/>
                    <a:p>
                      <a:r>
                        <a:rPr sz="1100" b="1" i="0">
                          <a:solidFill>
                            <a:schemeClr val="accent3"/>
                          </a:solidFill>
                        </a:rPr>
                        <a:t>UC</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00" b="0" i="0">
                          <a:solidFill>
                            <a:schemeClr val="tx1"/>
                          </a:solidFill>
                        </a:rPr>
                        <a:t>Connection closed mid-request</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00" b="0" i="0">
                          <a:solidFill>
                            <a:schemeClr val="tx1"/>
                          </a:solidFill>
                        </a:rPr>
                        <a:t>Sidecar sent plaintext to a TLS port (config)</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00" b="0" i="0">
                          <a:solidFill>
                            <a:schemeClr val="tx1"/>
                          </a:solidFill>
                        </a:rPr>
                        <a:t>Mesh config</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r>
            </a:tbl>
          </a:graphicData>
        </a:graphic>
      </p:graphicFrame>
      <p:sp>
        <p:nvSpPr>
          <p:cNvPr id="6" name="TextBox 5"/>
          <p:cNvSpPr txBox="1"/>
          <p:nvPr/>
        </p:nvSpPr>
        <p:spPr>
          <a:xfrm>
            <a:off x="457200" y="5074920"/>
            <a:ext cx="11247120" cy="365760"/>
          </a:xfrm>
          <a:prstGeom prst="rect">
            <a:avLst/>
          </a:prstGeom>
          <a:noFill/>
        </p:spPr>
        <p:txBody>
          <a:bodyPr wrap="square" lIns="0" rIns="0" tIns="0" bIns="0" anchor="t">
            <a:spAutoFit/>
          </a:bodyPr>
          <a:lstStyle/>
          <a:p>
            <a:pPr algn="l">
              <a:spcAft>
                <a:spcPts val="400"/>
              </a:spcAft>
            </a:pPr>
            <a:r>
              <a:rPr sz="1100" b="0" i="1">
                <a:solidFill>
                  <a:schemeClr val="tx2"/>
                </a:solidFill>
              </a:rPr>
              <a:t>Example LogQL:  {service_name="payments-svc"} | response_flags != "-"</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0"/>
          </p:nvPr>
        </p:nvSpPr>
        <p:spPr/>
        <p:txBody>
          <a:bodyPr/>
          <a:lstStyle/>
          <a:p>
            <a:r>
              <a:t>Correlation: how one failure links across all three signals</a:t>
            </a:r>
          </a:p>
        </p:txBody>
      </p:sp>
      <p:sp>
        <p:nvSpPr>
          <p:cNvPr id="3"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sp>
        <p:nvSpPr>
          <p:cNvPr id="4" name="TextBox 3"/>
          <p:cNvSpPr txBox="1"/>
          <p:nvPr/>
        </p:nvSpPr>
        <p:spPr>
          <a:xfrm>
            <a:off x="457200" y="1188720"/>
            <a:ext cx="11247120" cy="274320"/>
          </a:xfrm>
          <a:prstGeom prst="rect">
            <a:avLst/>
          </a:prstGeom>
          <a:noFill/>
        </p:spPr>
        <p:txBody>
          <a:bodyPr wrap="square" lIns="0" rIns="0" tIns="0" bIns="0" anchor="t">
            <a:spAutoFit/>
          </a:bodyPr>
          <a:lstStyle/>
          <a:p>
            <a:pPr algn="l">
              <a:spcAft>
                <a:spcPts val="400"/>
              </a:spcAft>
            </a:pPr>
            <a:r>
              <a:rPr sz="1100" b="1" i="0">
                <a:solidFill>
                  <a:schemeClr val="tx2"/>
                </a:solidFill>
              </a:rPr>
              <a:t>SHARED KEYS</a:t>
            </a:r>
          </a:p>
        </p:txBody>
      </p:sp>
      <p:sp>
        <p:nvSpPr>
          <p:cNvPr id="5" name="Rounded Rectangle 4"/>
          <p:cNvSpPr/>
          <p:nvPr/>
        </p:nvSpPr>
        <p:spPr>
          <a:xfrm>
            <a:off x="457200" y="1508760"/>
            <a:ext cx="2651760" cy="960120"/>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87782" bIns="87782"/>
          <a:lstStyle/>
          <a:p>
            <a:pPr algn="l">
              <a:spcAft>
                <a:spcPts val="400"/>
              </a:spcAft>
            </a:pPr>
            <a:r>
              <a:rPr sz="1400" b="1" i="0">
                <a:solidFill>
                  <a:schemeClr val="tx1"/>
                </a:solidFill>
              </a:rPr>
              <a:t>Hop</a:t>
            </a:r>
          </a:p>
          <a:p>
            <a:pPr algn="l">
              <a:spcAft>
                <a:spcPts val="400"/>
              </a:spcAft>
            </a:pPr>
            <a:r>
              <a:rPr sz="1100" b="0" i="0">
                <a:solidFill>
                  <a:schemeClr val="tx2"/>
                </a:solidFill>
              </a:rPr>
              <a:t>source + destination</a:t>
            </a:r>
          </a:p>
          <a:p>
            <a:pPr algn="l">
              <a:spcAft>
                <a:spcPts val="400"/>
              </a:spcAft>
            </a:pPr>
            <a:r>
              <a:rPr sz="1100" b="0" i="0">
                <a:solidFill>
                  <a:schemeClr val="accent1"/>
                </a:solidFill>
              </a:rPr>
              <a:t>in metrics, spans, access logs</a:t>
            </a:r>
          </a:p>
        </p:txBody>
      </p:sp>
      <p:sp>
        <p:nvSpPr>
          <p:cNvPr id="6" name="Oval 5"/>
          <p:cNvSpPr/>
          <p:nvPr/>
        </p:nvSpPr>
        <p:spPr>
          <a:xfrm>
            <a:off x="2852928" y="1572768"/>
            <a:ext cx="182880" cy="182880"/>
          </a:xfrm>
          <a:prstGeom prst="ellipse">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3291840" y="1508760"/>
            <a:ext cx="2651760" cy="960120"/>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87782" bIns="87782"/>
          <a:lstStyle/>
          <a:p>
            <a:pPr algn="l">
              <a:spcAft>
                <a:spcPts val="400"/>
              </a:spcAft>
            </a:pPr>
            <a:r>
              <a:rPr sz="1400" b="1" i="0">
                <a:solidFill>
                  <a:schemeClr val="tx1"/>
                </a:solidFill>
              </a:rPr>
              <a:t>Trace ID</a:t>
            </a:r>
          </a:p>
          <a:p>
            <a:pPr algn="l">
              <a:spcAft>
                <a:spcPts val="400"/>
              </a:spcAft>
            </a:pPr>
            <a:r>
              <a:rPr sz="1100" b="0" i="0">
                <a:solidFill>
                  <a:schemeClr val="tx2"/>
                </a:solidFill>
              </a:rPr>
              <a:t>16-byte W3C ID</a:t>
            </a:r>
          </a:p>
          <a:p>
            <a:pPr algn="l">
              <a:spcAft>
                <a:spcPts val="400"/>
              </a:spcAft>
            </a:pPr>
            <a:r>
              <a:rPr sz="1100" b="0" i="0">
                <a:solidFill>
                  <a:schemeClr val="accent1"/>
                </a:solidFill>
              </a:rPr>
              <a:t>in spans, access logs</a:t>
            </a:r>
          </a:p>
        </p:txBody>
      </p:sp>
      <p:sp>
        <p:nvSpPr>
          <p:cNvPr id="8" name="Oval 7"/>
          <p:cNvSpPr/>
          <p:nvPr/>
        </p:nvSpPr>
        <p:spPr>
          <a:xfrm>
            <a:off x="5687568" y="1572768"/>
            <a:ext cx="182880" cy="18288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126480" y="1508760"/>
            <a:ext cx="2651760" cy="960120"/>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87782" bIns="87782"/>
          <a:lstStyle/>
          <a:p>
            <a:pPr algn="l">
              <a:spcAft>
                <a:spcPts val="400"/>
              </a:spcAft>
            </a:pPr>
            <a:r>
              <a:rPr sz="1400" b="1" i="0">
                <a:solidFill>
                  <a:schemeClr val="tx1"/>
                </a:solidFill>
              </a:rPr>
              <a:t>Journey</a:t>
            </a:r>
          </a:p>
          <a:p>
            <a:pPr algn="l">
              <a:spcAft>
                <a:spcPts val="400"/>
              </a:spcAft>
            </a:pPr>
            <a:r>
              <a:rPr sz="1100" b="0" i="0">
                <a:solidFill>
                  <a:schemeClr val="tx2"/>
                </a:solidFill>
              </a:rPr>
              <a:t>baggage, fixed list</a:t>
            </a:r>
          </a:p>
          <a:p>
            <a:pPr algn="l">
              <a:spcAft>
                <a:spcPts val="400"/>
              </a:spcAft>
            </a:pPr>
            <a:r>
              <a:rPr sz="1100" b="0" i="0">
                <a:solidFill>
                  <a:schemeClr val="accent1"/>
                </a:solidFill>
              </a:rPr>
              <a:t>in metrics, spans, access logs</a:t>
            </a:r>
          </a:p>
        </p:txBody>
      </p:sp>
      <p:sp>
        <p:nvSpPr>
          <p:cNvPr id="10" name="Oval 9"/>
          <p:cNvSpPr/>
          <p:nvPr/>
        </p:nvSpPr>
        <p:spPr>
          <a:xfrm>
            <a:off x="8522208" y="1572768"/>
            <a:ext cx="182880" cy="182880"/>
          </a:xfrm>
          <a:prstGeom prst="ellipse">
            <a:avLst/>
          </a:prstGeom>
          <a:solidFill>
            <a:schemeClr val="accent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8961120" y="1508760"/>
            <a:ext cx="2651760" cy="960120"/>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87782" bIns="87782"/>
          <a:lstStyle/>
          <a:p>
            <a:pPr algn="l">
              <a:spcAft>
                <a:spcPts val="400"/>
              </a:spcAft>
            </a:pPr>
            <a:r>
              <a:rPr sz="1400" b="1" i="0">
                <a:solidFill>
                  <a:schemeClr val="tx1"/>
                </a:solidFill>
              </a:rPr>
              <a:t>Time window</a:t>
            </a:r>
          </a:p>
          <a:p>
            <a:pPr algn="l">
              <a:spcAft>
                <a:spcPts val="400"/>
              </a:spcAft>
            </a:pPr>
            <a:r>
              <a:rPr sz="1100" b="0" i="0">
                <a:solidFill>
                  <a:schemeClr val="tx2"/>
                </a:solidFill>
              </a:rPr>
              <a:t>same minutes</a:t>
            </a:r>
          </a:p>
          <a:p>
            <a:pPr algn="l">
              <a:spcAft>
                <a:spcPts val="400"/>
              </a:spcAft>
            </a:pPr>
            <a:r>
              <a:rPr sz="1100" b="0" i="0">
                <a:solidFill>
                  <a:schemeClr val="accent1"/>
                </a:solidFill>
              </a:rPr>
              <a:t>in all three</a:t>
            </a:r>
          </a:p>
        </p:txBody>
      </p:sp>
      <p:sp>
        <p:nvSpPr>
          <p:cNvPr id="12" name="Oval 11"/>
          <p:cNvSpPr/>
          <p:nvPr/>
        </p:nvSpPr>
        <p:spPr>
          <a:xfrm>
            <a:off x="11356848" y="1572768"/>
            <a:ext cx="182880" cy="182880"/>
          </a:xfrm>
          <a:prstGeom prst="ellipse">
            <a:avLst/>
          </a:prstGeom>
          <a:solidFill>
            <a:schemeClr val="accent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7200" y="2697480"/>
            <a:ext cx="11247120" cy="274320"/>
          </a:xfrm>
          <a:prstGeom prst="rect">
            <a:avLst/>
          </a:prstGeom>
          <a:noFill/>
        </p:spPr>
        <p:txBody>
          <a:bodyPr wrap="square" lIns="0" rIns="0" tIns="0" bIns="0" anchor="t">
            <a:spAutoFit/>
          </a:bodyPr>
          <a:lstStyle/>
          <a:p>
            <a:pPr algn="l">
              <a:spcAft>
                <a:spcPts val="400"/>
              </a:spcAft>
            </a:pPr>
            <a:r>
              <a:rPr sz="1100" b="1" i="0">
                <a:solidFill>
                  <a:schemeClr val="tx2"/>
                </a:solidFill>
              </a:rPr>
              <a:t>FOLLOWING ONE FAILURE (CORE BANKING SLOW)</a:t>
            </a:r>
          </a:p>
        </p:txBody>
      </p:sp>
      <p:sp>
        <p:nvSpPr>
          <p:cNvPr id="14" name="Rounded Rectangle 13"/>
          <p:cNvSpPr/>
          <p:nvPr/>
        </p:nvSpPr>
        <p:spPr>
          <a:xfrm>
            <a:off x="457200" y="3017520"/>
            <a:ext cx="2103120" cy="1600200"/>
          </a:xfrm>
          <a:prstGeom prst="roundRect">
            <a:avLst>
              <a:gd name="adj" fmla="val 8000"/>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28016" rIns="128016" tIns="76809" bIns="76809"/>
          <a:lstStyle/>
          <a:p>
            <a:pPr algn="l">
              <a:spcAft>
                <a:spcPts val="600"/>
              </a:spcAft>
            </a:pPr>
            <a:r>
              <a:rPr sz="1350" b="1" i="0">
                <a:solidFill>
                  <a:schemeClr val="bg1"/>
                </a:solidFill>
              </a:rPr>
              <a:t>1  Metrics</a:t>
            </a:r>
          </a:p>
          <a:p>
            <a:pPr algn="l">
              <a:spcAft>
                <a:spcPts val="600"/>
              </a:spcAft>
            </a:pPr>
            <a:r>
              <a:rPr sz="1100" b="0" i="0">
                <a:solidFill>
                  <a:schemeClr val="bg1"/>
                </a:solidFill>
              </a:rPr>
              <a:t>Alert: payments-svc to core banking at 38% errors</a:t>
            </a:r>
          </a:p>
          <a:p>
            <a:pPr algn="l">
              <a:spcAft>
                <a:spcPts val="600"/>
              </a:spcAft>
            </a:pPr>
            <a:r>
              <a:rPr sz="1050" b="0" i="1">
                <a:solidFill>
                  <a:schemeClr val="bg1"/>
                </a:solidFill>
              </a:rPr>
              <a:t>Key: hop</a:t>
            </a:r>
          </a:p>
        </p:txBody>
      </p:sp>
      <p:sp>
        <p:nvSpPr>
          <p:cNvPr id="15" name="Rounded Rectangle 14"/>
          <p:cNvSpPr/>
          <p:nvPr/>
        </p:nvSpPr>
        <p:spPr>
          <a:xfrm>
            <a:off x="2743200" y="3017520"/>
            <a:ext cx="2103120" cy="1600200"/>
          </a:xfrm>
          <a:prstGeom prst="roundRect">
            <a:avLst>
              <a:gd name="adj" fmla="val 8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28016" rIns="128016" tIns="76809" bIns="76809"/>
          <a:lstStyle/>
          <a:p>
            <a:pPr algn="l">
              <a:spcAft>
                <a:spcPts val="600"/>
              </a:spcAft>
            </a:pPr>
            <a:r>
              <a:rPr sz="1350" b="1" i="0">
                <a:solidFill>
                  <a:schemeClr val="bg1"/>
                </a:solidFill>
              </a:rPr>
              <a:t>2  Traces</a:t>
            </a:r>
          </a:p>
          <a:p>
            <a:pPr algn="l">
              <a:spcAft>
                <a:spcPts val="600"/>
              </a:spcAft>
            </a:pPr>
            <a:r>
              <a:rPr sz="1100" b="0" i="0">
                <a:solidFill>
                  <a:schemeClr val="bg1"/>
                </a:solidFill>
              </a:rPr>
              <a:t>Search error spans on that hop in the same minutes (TraceQL)</a:t>
            </a:r>
          </a:p>
          <a:p>
            <a:pPr algn="l">
              <a:spcAft>
                <a:spcPts val="600"/>
              </a:spcAft>
            </a:pPr>
            <a:r>
              <a:rPr sz="1050" b="0" i="1">
                <a:solidFill>
                  <a:schemeClr val="bg1"/>
                </a:solidFill>
              </a:rPr>
              <a:t>Key: hop + time</a:t>
            </a:r>
          </a:p>
        </p:txBody>
      </p:sp>
      <p:cxnSp>
        <p:nvCxnSpPr>
          <p:cNvPr id="16" name="Connector 15"/>
          <p:cNvCxnSpPr/>
          <p:nvPr/>
        </p:nvCxnSpPr>
        <p:spPr>
          <a:xfrm>
            <a:off x="2560320" y="3817620"/>
            <a:ext cx="182880" cy="0"/>
          </a:xfrm>
          <a:prstGeom prst="line">
            <a:avLst/>
          </a:prstGeom>
          <a:ln w="15875">
            <a:solidFill>
              <a:schemeClr val="tx2"/>
            </a:solidFill>
            <a:tailEnd type="triangle"/>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5029200" y="3017520"/>
            <a:ext cx="2103120" cy="1600200"/>
          </a:xfrm>
          <a:prstGeom prst="roundRect">
            <a:avLst>
              <a:gd name="adj" fmla="val 8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28016" rIns="128016" tIns="76809" bIns="76809"/>
          <a:lstStyle/>
          <a:p>
            <a:pPr algn="l">
              <a:spcAft>
                <a:spcPts val="600"/>
              </a:spcAft>
            </a:pPr>
            <a:r>
              <a:rPr sz="1350" b="1" i="0">
                <a:solidFill>
                  <a:schemeClr val="bg1"/>
                </a:solidFill>
              </a:rPr>
              <a:t>3  The trace</a:t>
            </a:r>
          </a:p>
          <a:p>
            <a:pPr algn="l">
              <a:spcAft>
                <a:spcPts val="600"/>
              </a:spcAft>
            </a:pPr>
            <a:r>
              <a:rPr sz="1100" b="0" i="0">
                <a:solidFill>
                  <a:schemeClr val="bg1"/>
                </a:solidFill>
              </a:rPr>
              <a:t>3.0 of 3.0 s waiting on core banking</a:t>
            </a:r>
          </a:p>
          <a:p>
            <a:pPr algn="l">
              <a:spcAft>
                <a:spcPts val="600"/>
              </a:spcAft>
            </a:pPr>
            <a:r>
              <a:rPr sz="1050" b="0" i="1">
                <a:solidFill>
                  <a:schemeClr val="bg1"/>
                </a:solidFill>
              </a:rPr>
              <a:t>Gives: trace ID 2ba91a03...</a:t>
            </a:r>
          </a:p>
        </p:txBody>
      </p:sp>
      <p:cxnSp>
        <p:nvCxnSpPr>
          <p:cNvPr id="18" name="Connector 17"/>
          <p:cNvCxnSpPr/>
          <p:nvPr/>
        </p:nvCxnSpPr>
        <p:spPr>
          <a:xfrm>
            <a:off x="4846320" y="3817620"/>
            <a:ext cx="182880" cy="0"/>
          </a:xfrm>
          <a:prstGeom prst="line">
            <a:avLst/>
          </a:prstGeom>
          <a:ln w="15875">
            <a:solidFill>
              <a:schemeClr val="tx2"/>
            </a:solidFill>
            <a:tailEnd type="triangle"/>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7315200" y="3017520"/>
            <a:ext cx="2103120" cy="1600200"/>
          </a:xfrm>
          <a:prstGeom prst="roundRect">
            <a:avLst>
              <a:gd name="adj" fmla="val 8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28016" rIns="128016" tIns="76809" bIns="76809"/>
          <a:lstStyle/>
          <a:p>
            <a:pPr algn="l">
              <a:spcAft>
                <a:spcPts val="600"/>
              </a:spcAft>
            </a:pPr>
            <a:r>
              <a:rPr sz="1350" b="1" i="0">
                <a:solidFill>
                  <a:schemeClr val="bg1"/>
                </a:solidFill>
              </a:rPr>
              <a:t>4  Logs</a:t>
            </a:r>
          </a:p>
          <a:p>
            <a:pPr algn="l">
              <a:spcAft>
                <a:spcPts val="600"/>
              </a:spcAft>
            </a:pPr>
            <a:r>
              <a:rPr sz="1100" b="0" i="0">
                <a:solidFill>
                  <a:schemeClr val="bg1"/>
                </a:solidFill>
              </a:rPr>
              <a:t>Fetch the access logs with that trace ID: 504, flag UT (LogQL)</a:t>
            </a:r>
          </a:p>
          <a:p>
            <a:pPr algn="l">
              <a:spcAft>
                <a:spcPts val="600"/>
              </a:spcAft>
            </a:pPr>
            <a:r>
              <a:rPr sz="1050" b="0" i="1">
                <a:solidFill>
                  <a:schemeClr val="bg1"/>
                </a:solidFill>
              </a:rPr>
              <a:t>Key: trace ID</a:t>
            </a:r>
          </a:p>
        </p:txBody>
      </p:sp>
      <p:cxnSp>
        <p:nvCxnSpPr>
          <p:cNvPr id="20" name="Connector 19"/>
          <p:cNvCxnSpPr/>
          <p:nvPr/>
        </p:nvCxnSpPr>
        <p:spPr>
          <a:xfrm>
            <a:off x="7132320" y="3817620"/>
            <a:ext cx="182880" cy="0"/>
          </a:xfrm>
          <a:prstGeom prst="line">
            <a:avLst/>
          </a:prstGeom>
          <a:ln w="15875">
            <a:solidFill>
              <a:schemeClr val="tx2"/>
            </a:solidFill>
            <a:tailEnd type="triangle"/>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9601200" y="3017520"/>
            <a:ext cx="2103120" cy="1600200"/>
          </a:xfrm>
          <a:prstGeom prst="roundRect">
            <a:avLst>
              <a:gd name="adj" fmla="val 8000"/>
            </a:avLst>
          </a:prstGeom>
          <a:solidFill>
            <a:schemeClr val="accent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28016" rIns="128016" tIns="76809" bIns="76809"/>
          <a:lstStyle/>
          <a:p>
            <a:pPr algn="l">
              <a:spcAft>
                <a:spcPts val="600"/>
              </a:spcAft>
            </a:pPr>
            <a:r>
              <a:rPr sz="1350" b="1" i="0">
                <a:solidFill>
                  <a:schemeClr val="bg1"/>
                </a:solidFill>
              </a:rPr>
              <a:t>5  Owner</a:t>
            </a:r>
          </a:p>
          <a:p>
            <a:pPr algn="l">
              <a:spcAft>
                <a:spcPts val="600"/>
              </a:spcAft>
            </a:pPr>
            <a:r>
              <a:rPr sz="1100" b="0" i="0">
                <a:solidFill>
                  <a:schemeClr val="bg1"/>
                </a:solidFill>
              </a:rPr>
              <a:t>Owner annotation on the ServiceEntry: core banking team</a:t>
            </a:r>
          </a:p>
          <a:p>
            <a:pPr algn="l">
              <a:spcAft>
                <a:spcPts val="600"/>
              </a:spcAft>
            </a:pPr>
            <a:r>
              <a:rPr sz="1050" b="0" i="1">
                <a:solidFill>
                  <a:schemeClr val="bg1"/>
                </a:solidFill>
              </a:rPr>
              <a:t>Key: hop</a:t>
            </a:r>
          </a:p>
        </p:txBody>
      </p:sp>
      <p:cxnSp>
        <p:nvCxnSpPr>
          <p:cNvPr id="22" name="Connector 21"/>
          <p:cNvCxnSpPr/>
          <p:nvPr/>
        </p:nvCxnSpPr>
        <p:spPr>
          <a:xfrm>
            <a:off x="9418320" y="3817620"/>
            <a:ext cx="182880" cy="0"/>
          </a:xfrm>
          <a:prstGeom prst="line">
            <a:avLst/>
          </a:prstGeom>
          <a:ln w="15875">
            <a:solidFill>
              <a:schemeClr val="tx2"/>
            </a:solidFill>
            <a:tailEnd type="triangle"/>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457200" y="4800600"/>
            <a:ext cx="11247120" cy="777240"/>
          </a:xfrm>
          <a:prstGeom prst="roundRect">
            <a:avLst>
              <a:gd name="adj" fmla="val 8000"/>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109728" bIns="109728"/>
          <a:lstStyle/>
          <a:p>
            <a:pPr algn="l">
              <a:spcAft>
                <a:spcPts val="300"/>
              </a:spcAft>
            </a:pPr>
            <a:r>
              <a:rPr sz="1100" b="1" i="0">
                <a:solidFill>
                  <a:schemeClr val="accent6"/>
                </a:solidFill>
              </a:rPr>
              <a:t>TraceQL  </a:t>
            </a:r>
            <a:r>
              <a:rPr sz="1100" b="0" i="0">
                <a:solidFill>
                  <a:schemeClr val="bg1"/>
                </a:solidFill>
                <a:latin typeface="Courier New"/>
              </a:rPr>
              <a:t>{ span.upstream_cluster =~ ".*core-banking.poc.internal.*" &amp;&amp; status = error }</a:t>
            </a:r>
          </a:p>
          <a:p>
            <a:pPr algn="l">
              <a:spcAft>
                <a:spcPts val="300"/>
              </a:spcAft>
            </a:pPr>
            <a:r>
              <a:rPr sz="1100" b="1" i="0">
                <a:solidFill>
                  <a:schemeClr val="accent6"/>
                </a:solidFill>
              </a:rPr>
              <a:t>LogQL    </a:t>
            </a:r>
            <a:r>
              <a:rPr sz="1100" b="0" i="0">
                <a:solidFill>
                  <a:schemeClr val="bg1"/>
                </a:solidFill>
                <a:latin typeface="Courier New"/>
              </a:rPr>
              <a:t>{service_name="payments-svc"} | trace_id="2ba91a03eb16935db767e177972f85b8"</a:t>
            </a:r>
          </a:p>
        </p:txBody>
      </p:sp>
      <p:sp>
        <p:nvSpPr>
          <p:cNvPr id="24" name="TextBox 23"/>
          <p:cNvSpPr txBox="1"/>
          <p:nvPr/>
        </p:nvSpPr>
        <p:spPr>
          <a:xfrm>
            <a:off x="457200" y="5715000"/>
            <a:ext cx="11247120" cy="365760"/>
          </a:xfrm>
          <a:prstGeom prst="rect">
            <a:avLst/>
          </a:prstGeom>
          <a:noFill/>
        </p:spPr>
        <p:txBody>
          <a:bodyPr wrap="square" lIns="0" rIns="0" tIns="0" bIns="0" anchor="t">
            <a:spAutoFit/>
          </a:bodyPr>
          <a:lstStyle/>
          <a:p>
            <a:pPr algn="l">
              <a:spcAft>
                <a:spcPts val="400"/>
              </a:spcAft>
            </a:pPr>
            <a:r>
              <a:rPr sz="1100" b="0" i="1">
                <a:solidFill>
                  <a:schemeClr val="tx2"/>
                </a:solidFill>
              </a:rPr>
              <a:t>One-click links: Loki trace_id opens Tempo; Tempo spans open their Loki logs; Kiali opens traces; the red-dot dashboard links all three.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0"/>
          </p:nvPr>
        </p:nvSpPr>
        <p:spPr/>
        <p:txBody>
          <a:bodyPr/>
          <a:lstStyle/>
          <a:p>
            <a:r>
              <a:t>Four views on the same data</a:t>
            </a:r>
          </a:p>
        </p:txBody>
      </p:sp>
      <p:sp>
        <p:nvSpPr>
          <p:cNvPr id="3"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pic>
        <p:nvPicPr>
          <p:cNvPr id="4" name="Picture 3" descr="kiali-graph.png"/>
          <p:cNvPicPr>
            <a:picLocks noChangeAspect="1"/>
          </p:cNvPicPr>
          <p:nvPr/>
        </p:nvPicPr>
        <p:blipFill>
          <a:blip r:embed="rId3"/>
          <a:stretch>
            <a:fillRect/>
          </a:stretch>
        </p:blipFill>
        <p:spPr>
          <a:xfrm>
            <a:off x="457200" y="1280160"/>
            <a:ext cx="3495527" cy="1920240"/>
          </a:xfrm>
          <a:prstGeom prst="rect">
            <a:avLst/>
          </a:prstGeom>
        </p:spPr>
      </p:pic>
      <p:pic>
        <p:nvPicPr>
          <p:cNvPr id="5" name="Picture 4" descr="grafana-journey.png"/>
          <p:cNvPicPr>
            <a:picLocks noChangeAspect="1"/>
          </p:cNvPicPr>
          <p:nvPr/>
        </p:nvPicPr>
        <p:blipFill>
          <a:blip r:embed="rId4"/>
          <a:stretch>
            <a:fillRect/>
          </a:stretch>
        </p:blipFill>
        <p:spPr>
          <a:xfrm>
            <a:off x="4227046" y="1280160"/>
            <a:ext cx="2603715" cy="1920240"/>
          </a:xfrm>
          <a:prstGeom prst="rect">
            <a:avLst/>
          </a:prstGeom>
        </p:spPr>
      </p:pic>
      <p:pic>
        <p:nvPicPr>
          <p:cNvPr id="6" name="Picture 5" descr="red-dot-dashboard.png"/>
          <p:cNvPicPr>
            <a:picLocks noChangeAspect="1"/>
          </p:cNvPicPr>
          <p:nvPr/>
        </p:nvPicPr>
        <p:blipFill>
          <a:blip r:embed="rId5"/>
          <a:stretch>
            <a:fillRect/>
          </a:stretch>
        </p:blipFill>
        <p:spPr>
          <a:xfrm>
            <a:off x="7105081" y="1280160"/>
            <a:ext cx="4608576" cy="1920240"/>
          </a:xfrm>
          <a:prstGeom prst="rect">
            <a:avLst/>
          </a:prstGeom>
        </p:spPr>
      </p:pic>
      <p:sp>
        <p:nvSpPr>
          <p:cNvPr id="7" name="TextBox 6"/>
          <p:cNvSpPr txBox="1"/>
          <p:nvPr/>
        </p:nvSpPr>
        <p:spPr>
          <a:xfrm>
            <a:off x="457200" y="3383280"/>
            <a:ext cx="3495526" cy="320040"/>
          </a:xfrm>
          <a:prstGeom prst="rect">
            <a:avLst/>
          </a:prstGeom>
          <a:noFill/>
        </p:spPr>
        <p:txBody>
          <a:bodyPr wrap="square" lIns="0" rIns="0" tIns="0" bIns="0" anchor="t">
            <a:spAutoFit/>
          </a:bodyPr>
          <a:lstStyle/>
          <a:p>
            <a:pPr algn="l">
              <a:spcAft>
                <a:spcPts val="400"/>
              </a:spcAft>
            </a:pPr>
            <a:r>
              <a:rPr sz="1350" b="1" i="0">
                <a:solidFill>
                  <a:schemeClr val="tx1"/>
                </a:solidFill>
              </a:rPr>
              <a:t>Kiali</a:t>
            </a:r>
          </a:p>
        </p:txBody>
      </p:sp>
      <p:sp>
        <p:nvSpPr>
          <p:cNvPr id="8" name="TextBox 7"/>
          <p:cNvSpPr txBox="1"/>
          <p:nvPr/>
        </p:nvSpPr>
        <p:spPr>
          <a:xfrm>
            <a:off x="457200" y="3703320"/>
            <a:ext cx="3495526" cy="731520"/>
          </a:xfrm>
          <a:prstGeom prst="rect">
            <a:avLst/>
          </a:prstGeom>
          <a:noFill/>
        </p:spPr>
        <p:txBody>
          <a:bodyPr wrap="square" lIns="0" rIns="0" tIns="0" bIns="0" anchor="t">
            <a:spAutoFit/>
          </a:bodyPr>
          <a:lstStyle/>
          <a:p>
            <a:pPr algn="l">
              <a:spcAft>
                <a:spcPts val="400"/>
              </a:spcAft>
            </a:pPr>
            <a:r>
              <a:rPr sz="1150" b="0" i="0">
                <a:solidFill>
                  <a:schemeClr val="tx2"/>
                </a:solidFill>
              </a:rPr>
              <a:t>Live graph from Prometheus; traces from Tempo per node. Audience: mesh engineers.</a:t>
            </a:r>
          </a:p>
        </p:txBody>
      </p:sp>
      <p:sp>
        <p:nvSpPr>
          <p:cNvPr id="9" name="TextBox 8"/>
          <p:cNvSpPr txBox="1"/>
          <p:nvPr/>
        </p:nvSpPr>
        <p:spPr>
          <a:xfrm>
            <a:off x="4227046" y="3383280"/>
            <a:ext cx="2603715" cy="320040"/>
          </a:xfrm>
          <a:prstGeom prst="rect">
            <a:avLst/>
          </a:prstGeom>
          <a:noFill/>
        </p:spPr>
        <p:txBody>
          <a:bodyPr wrap="square" lIns="0" rIns="0" tIns="0" bIns="0" anchor="t">
            <a:spAutoFit/>
          </a:bodyPr>
          <a:lstStyle/>
          <a:p>
            <a:pPr algn="l">
              <a:spcAft>
                <a:spcPts val="400"/>
              </a:spcAft>
            </a:pPr>
            <a:r>
              <a:rPr sz="1350" b="1" i="0">
                <a:solidFill>
                  <a:schemeClr val="tx1"/>
                </a:solidFill>
              </a:rPr>
              <a:t>Grafana journey dashboard</a:t>
            </a:r>
          </a:p>
        </p:txBody>
      </p:sp>
      <p:sp>
        <p:nvSpPr>
          <p:cNvPr id="10" name="TextBox 9"/>
          <p:cNvSpPr txBox="1"/>
          <p:nvPr/>
        </p:nvSpPr>
        <p:spPr>
          <a:xfrm>
            <a:off x="4227046" y="3703320"/>
            <a:ext cx="2603715" cy="731520"/>
          </a:xfrm>
          <a:prstGeom prst="rect">
            <a:avLst/>
          </a:prstGeom>
          <a:noFill/>
        </p:spPr>
        <p:txBody>
          <a:bodyPr wrap="square" lIns="0" rIns="0" tIns="0" bIns="0" anchor="t">
            <a:spAutoFit/>
          </a:bodyPr>
          <a:lstStyle/>
          <a:p>
            <a:pPr algn="l">
              <a:spcAft>
                <a:spcPts val="400"/>
              </a:spcAft>
            </a:pPr>
            <a:r>
              <a:rPr sz="1150" b="0" i="0">
                <a:solidFill>
                  <a:schemeClr val="tx2"/>
                </a:solidFill>
              </a:rPr>
              <a:t>Journey variable; hops, flags, Loki logs, Tempo traces. Audience: service owners.</a:t>
            </a:r>
          </a:p>
        </p:txBody>
      </p:sp>
      <p:sp>
        <p:nvSpPr>
          <p:cNvPr id="11" name="TextBox 10"/>
          <p:cNvSpPr txBox="1"/>
          <p:nvPr/>
        </p:nvSpPr>
        <p:spPr>
          <a:xfrm>
            <a:off x="7105081" y="3383280"/>
            <a:ext cx="4608576" cy="320040"/>
          </a:xfrm>
          <a:prstGeom prst="rect">
            <a:avLst/>
          </a:prstGeom>
          <a:noFill/>
        </p:spPr>
        <p:txBody>
          <a:bodyPr wrap="square" lIns="0" rIns="0" tIns="0" bIns="0" anchor="t">
            <a:spAutoFit/>
          </a:bodyPr>
          <a:lstStyle/>
          <a:p>
            <a:pPr algn="l">
              <a:spcAft>
                <a:spcPts val="400"/>
              </a:spcAft>
            </a:pPr>
            <a:r>
              <a:rPr sz="1350" b="1" i="0">
                <a:solidFill>
                  <a:schemeClr val="tx1"/>
                </a:solidFill>
              </a:rPr>
              <a:t>Red-dot dashboard</a:t>
            </a:r>
          </a:p>
        </p:txBody>
      </p:sp>
      <p:sp>
        <p:nvSpPr>
          <p:cNvPr id="12" name="TextBox 11"/>
          <p:cNvSpPr txBox="1"/>
          <p:nvPr/>
        </p:nvSpPr>
        <p:spPr>
          <a:xfrm>
            <a:off x="7105081" y="3703320"/>
            <a:ext cx="4608576" cy="731520"/>
          </a:xfrm>
          <a:prstGeom prst="rect">
            <a:avLst/>
          </a:prstGeom>
          <a:noFill/>
        </p:spPr>
        <p:txBody>
          <a:bodyPr wrap="square" lIns="0" rIns="0" tIns="0" bIns="0" anchor="t">
            <a:spAutoFit/>
          </a:bodyPr>
          <a:lstStyle/>
          <a:p>
            <a:pPr algn="l">
              <a:spcAft>
                <a:spcPts val="400"/>
              </a:spcAft>
            </a:pPr>
            <a:r>
              <a:rPr sz="1150" b="0" i="0">
                <a:solidFill>
                  <a:schemeClr val="tx2"/>
                </a:solidFill>
              </a:rPr>
              <a:t>Topology discovered from metrics; red dot, evidence and owner. Audience: NOC.</a:t>
            </a:r>
          </a:p>
        </p:txBody>
      </p:sp>
      <p:sp>
        <p:nvSpPr>
          <p:cNvPr id="13" name="Rounded Rectangle 12"/>
          <p:cNvSpPr/>
          <p:nvPr/>
        </p:nvSpPr>
        <p:spPr>
          <a:xfrm>
            <a:off x="457200" y="4754880"/>
            <a:ext cx="11247120" cy="960120"/>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20700" bIns="120700"/>
          <a:lstStyle/>
          <a:p>
            <a:pPr algn="l">
              <a:spcAft>
                <a:spcPts val="400"/>
              </a:spcAft>
            </a:pPr>
            <a:r>
              <a:rPr sz="1250" b="1" i="0">
                <a:solidFill>
                  <a:schemeClr val="tx1"/>
                </a:solidFill>
              </a:rPr>
              <a:t>Alertmanager (on-call): </a:t>
            </a:r>
            <a:r>
              <a:rPr sz="1250" b="0" i="0">
                <a:solidFill>
                  <a:schemeClr val="tx1"/>
                </a:solidFill>
              </a:rPr>
              <a:t>5 rules from Prometheus. Hop error rate over 5%, hop p95 over 1 s, TCP connect failures, journey error rate over 5%, journey p95 over 2 s. Each fires after 1 minute.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0"/>
          </p:nvPr>
        </p:nvSpPr>
        <p:spPr/>
        <p:txBody>
          <a:bodyPr/>
          <a:lstStyle/>
          <a:p>
            <a:r>
              <a:t>From symptom to owner in under two minutes</a:t>
            </a:r>
          </a:p>
        </p:txBody>
      </p:sp>
      <p:sp>
        <p:nvSpPr>
          <p:cNvPr id="3"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sp>
        <p:nvSpPr>
          <p:cNvPr id="4" name="Oval 3"/>
          <p:cNvSpPr/>
          <p:nvPr/>
        </p:nvSpPr>
        <p:spPr>
          <a:xfrm>
            <a:off x="1325880" y="1325880"/>
            <a:ext cx="411480" cy="411480"/>
          </a:xfrm>
          <a:prstGeom prst="ellipse">
            <a:avLst/>
          </a:prstGeom>
          <a:solidFill>
            <a:schemeClr val="accent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828800"/>
            <a:ext cx="2148840" cy="365760"/>
          </a:xfrm>
          <a:prstGeom prst="rect">
            <a:avLst/>
          </a:prstGeom>
          <a:noFill/>
        </p:spPr>
        <p:txBody>
          <a:bodyPr wrap="square" lIns="0" rIns="0" tIns="0" bIns="0" anchor="t">
            <a:spAutoFit/>
          </a:bodyPr>
          <a:lstStyle/>
          <a:p>
            <a:pPr algn="ctr">
              <a:spcAft>
                <a:spcPts val="400"/>
              </a:spcAft>
            </a:pPr>
            <a:r>
              <a:rPr sz="1500" b="1" i="0">
                <a:solidFill>
                  <a:schemeClr val="tx1"/>
                </a:solidFill>
              </a:rPr>
              <a:t>0 s</a:t>
            </a:r>
          </a:p>
        </p:txBody>
      </p:sp>
      <p:sp>
        <p:nvSpPr>
          <p:cNvPr id="6" name="TextBox 5"/>
          <p:cNvSpPr txBox="1"/>
          <p:nvPr/>
        </p:nvSpPr>
        <p:spPr>
          <a:xfrm>
            <a:off x="457200" y="2194560"/>
            <a:ext cx="2148840" cy="457200"/>
          </a:xfrm>
          <a:prstGeom prst="rect">
            <a:avLst/>
          </a:prstGeom>
          <a:noFill/>
        </p:spPr>
        <p:txBody>
          <a:bodyPr wrap="square" lIns="0" rIns="0" tIns="0" bIns="0" anchor="t">
            <a:spAutoFit/>
          </a:bodyPr>
          <a:lstStyle/>
          <a:p>
            <a:pPr algn="ctr">
              <a:spcAft>
                <a:spcPts val="400"/>
              </a:spcAft>
            </a:pPr>
            <a:r>
              <a:rPr sz="1150" b="0" i="0">
                <a:solidFill>
                  <a:schemeClr val="tx2"/>
                </a:solidFill>
              </a:rPr>
              <a:t>Fault starts</a:t>
            </a:r>
          </a:p>
        </p:txBody>
      </p:sp>
      <p:sp>
        <p:nvSpPr>
          <p:cNvPr id="7" name="Oval 6"/>
          <p:cNvSpPr/>
          <p:nvPr/>
        </p:nvSpPr>
        <p:spPr>
          <a:xfrm>
            <a:off x="3611880" y="1325880"/>
            <a:ext cx="411480" cy="41148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8" name="Connector 7"/>
          <p:cNvCxnSpPr/>
          <p:nvPr/>
        </p:nvCxnSpPr>
        <p:spPr>
          <a:xfrm>
            <a:off x="1737360" y="1531620"/>
            <a:ext cx="1874520" cy="0"/>
          </a:xfrm>
          <a:prstGeom prst="line">
            <a:avLst/>
          </a:prstGeom>
          <a:ln w="15875">
            <a:solidFill>
              <a:schemeClr val="accent5"/>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2743200" y="1828800"/>
            <a:ext cx="2148840" cy="365760"/>
          </a:xfrm>
          <a:prstGeom prst="rect">
            <a:avLst/>
          </a:prstGeom>
          <a:noFill/>
        </p:spPr>
        <p:txBody>
          <a:bodyPr wrap="square" lIns="0" rIns="0" tIns="0" bIns="0" anchor="t">
            <a:spAutoFit/>
          </a:bodyPr>
          <a:lstStyle/>
          <a:p>
            <a:pPr algn="ctr">
              <a:spcAft>
                <a:spcPts val="400"/>
              </a:spcAft>
            </a:pPr>
            <a:r>
              <a:rPr sz="1500" b="1" i="0">
                <a:solidFill>
                  <a:schemeClr val="tx1"/>
                </a:solidFill>
              </a:rPr>
              <a:t>~30 s</a:t>
            </a:r>
          </a:p>
        </p:txBody>
      </p:sp>
      <p:sp>
        <p:nvSpPr>
          <p:cNvPr id="10" name="TextBox 9"/>
          <p:cNvSpPr txBox="1"/>
          <p:nvPr/>
        </p:nvSpPr>
        <p:spPr>
          <a:xfrm>
            <a:off x="2743200" y="2194560"/>
            <a:ext cx="2148840" cy="457200"/>
          </a:xfrm>
          <a:prstGeom prst="rect">
            <a:avLst/>
          </a:prstGeom>
          <a:noFill/>
        </p:spPr>
        <p:txBody>
          <a:bodyPr wrap="square" lIns="0" rIns="0" tIns="0" bIns="0" anchor="t">
            <a:spAutoFit/>
          </a:bodyPr>
          <a:lstStyle/>
          <a:p>
            <a:pPr algn="ctr">
              <a:spcAft>
                <a:spcPts val="400"/>
              </a:spcAft>
            </a:pPr>
            <a:r>
              <a:rPr sz="1150" b="0" i="0">
                <a:solidFill>
                  <a:schemeClr val="tx2"/>
                </a:solidFill>
              </a:rPr>
              <a:t>Edge turns red (1 m rate)</a:t>
            </a:r>
          </a:p>
        </p:txBody>
      </p:sp>
      <p:sp>
        <p:nvSpPr>
          <p:cNvPr id="11" name="Oval 10"/>
          <p:cNvSpPr/>
          <p:nvPr/>
        </p:nvSpPr>
        <p:spPr>
          <a:xfrm>
            <a:off x="5897880" y="1325880"/>
            <a:ext cx="411480" cy="41148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2" name="Connector 11"/>
          <p:cNvCxnSpPr/>
          <p:nvPr/>
        </p:nvCxnSpPr>
        <p:spPr>
          <a:xfrm>
            <a:off x="4023360" y="1531620"/>
            <a:ext cx="1874520" cy="0"/>
          </a:xfrm>
          <a:prstGeom prst="line">
            <a:avLst/>
          </a:prstGeom>
          <a:ln w="15875">
            <a:solidFill>
              <a:schemeClr val="accent5"/>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5029200" y="1828800"/>
            <a:ext cx="2148840" cy="365760"/>
          </a:xfrm>
          <a:prstGeom prst="rect">
            <a:avLst/>
          </a:prstGeom>
          <a:noFill/>
        </p:spPr>
        <p:txBody>
          <a:bodyPr wrap="square" lIns="0" rIns="0" tIns="0" bIns="0" anchor="t">
            <a:spAutoFit/>
          </a:bodyPr>
          <a:lstStyle/>
          <a:p>
            <a:pPr algn="ctr">
              <a:spcAft>
                <a:spcPts val="400"/>
              </a:spcAft>
            </a:pPr>
            <a:r>
              <a:rPr sz="1500" b="1" i="0">
                <a:solidFill>
                  <a:schemeClr val="tx1"/>
                </a:solidFill>
              </a:rPr>
              <a:t>~60-90 s</a:t>
            </a:r>
          </a:p>
        </p:txBody>
      </p:sp>
      <p:sp>
        <p:nvSpPr>
          <p:cNvPr id="14" name="TextBox 13"/>
          <p:cNvSpPr txBox="1"/>
          <p:nvPr/>
        </p:nvSpPr>
        <p:spPr>
          <a:xfrm>
            <a:off x="5029200" y="2194560"/>
            <a:ext cx="2148840" cy="457200"/>
          </a:xfrm>
          <a:prstGeom prst="rect">
            <a:avLst/>
          </a:prstGeom>
          <a:noFill/>
        </p:spPr>
        <p:txBody>
          <a:bodyPr wrap="square" lIns="0" rIns="0" tIns="0" bIns="0" anchor="t">
            <a:spAutoFit/>
          </a:bodyPr>
          <a:lstStyle/>
          <a:p>
            <a:pPr algn="ctr">
              <a:spcAft>
                <a:spcPts val="400"/>
              </a:spcAft>
            </a:pPr>
            <a:r>
              <a:rPr sz="1150" b="0" i="0">
                <a:solidFill>
                  <a:schemeClr val="tx2"/>
                </a:solidFill>
              </a:rPr>
              <a:t>Alert fires (for: 1m)</a:t>
            </a:r>
          </a:p>
        </p:txBody>
      </p:sp>
      <p:sp>
        <p:nvSpPr>
          <p:cNvPr id="15" name="Oval 14"/>
          <p:cNvSpPr/>
          <p:nvPr/>
        </p:nvSpPr>
        <p:spPr>
          <a:xfrm>
            <a:off x="8183879" y="1325880"/>
            <a:ext cx="411480" cy="41148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6" name="Connector 15"/>
          <p:cNvCxnSpPr/>
          <p:nvPr/>
        </p:nvCxnSpPr>
        <p:spPr>
          <a:xfrm>
            <a:off x="6309360" y="1531620"/>
            <a:ext cx="1874519" cy="0"/>
          </a:xfrm>
          <a:prstGeom prst="line">
            <a:avLst/>
          </a:prstGeom>
          <a:ln w="15875">
            <a:solidFill>
              <a:schemeClr val="accent5"/>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7315200" y="1828800"/>
            <a:ext cx="2148840" cy="365760"/>
          </a:xfrm>
          <a:prstGeom prst="rect">
            <a:avLst/>
          </a:prstGeom>
          <a:noFill/>
        </p:spPr>
        <p:txBody>
          <a:bodyPr wrap="square" lIns="0" rIns="0" tIns="0" bIns="0" anchor="t">
            <a:spAutoFit/>
          </a:bodyPr>
          <a:lstStyle/>
          <a:p>
            <a:pPr algn="ctr">
              <a:spcAft>
                <a:spcPts val="400"/>
              </a:spcAft>
            </a:pPr>
            <a:r>
              <a:rPr sz="1500" b="1" i="0">
                <a:solidFill>
                  <a:schemeClr val="tx1"/>
                </a:solidFill>
              </a:rPr>
              <a:t>Seconds</a:t>
            </a:r>
          </a:p>
        </p:txBody>
      </p:sp>
      <p:sp>
        <p:nvSpPr>
          <p:cNvPr id="18" name="TextBox 17"/>
          <p:cNvSpPr txBox="1"/>
          <p:nvPr/>
        </p:nvSpPr>
        <p:spPr>
          <a:xfrm>
            <a:off x="7315200" y="2194560"/>
            <a:ext cx="2148840" cy="457200"/>
          </a:xfrm>
          <a:prstGeom prst="rect">
            <a:avLst/>
          </a:prstGeom>
          <a:noFill/>
        </p:spPr>
        <p:txBody>
          <a:bodyPr wrap="square" lIns="0" rIns="0" tIns="0" bIns="0" anchor="t">
            <a:spAutoFit/>
          </a:bodyPr>
          <a:lstStyle/>
          <a:p>
            <a:pPr algn="ctr">
              <a:spcAft>
                <a:spcPts val="400"/>
              </a:spcAft>
            </a:pPr>
            <a:r>
              <a:rPr sz="1150" b="0" i="0">
                <a:solidFill>
                  <a:schemeClr val="tx2"/>
                </a:solidFill>
              </a:rPr>
              <a:t>Trace + access-log flag</a:t>
            </a:r>
          </a:p>
        </p:txBody>
      </p:sp>
      <p:sp>
        <p:nvSpPr>
          <p:cNvPr id="19" name="Oval 18"/>
          <p:cNvSpPr/>
          <p:nvPr/>
        </p:nvSpPr>
        <p:spPr>
          <a:xfrm>
            <a:off x="10469880" y="1325880"/>
            <a:ext cx="411480" cy="411480"/>
          </a:xfrm>
          <a:prstGeom prst="ellipse">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0" name="Connector 19"/>
          <p:cNvCxnSpPr/>
          <p:nvPr/>
        </p:nvCxnSpPr>
        <p:spPr>
          <a:xfrm>
            <a:off x="8595360" y="1531620"/>
            <a:ext cx="1874520" cy="0"/>
          </a:xfrm>
          <a:prstGeom prst="line">
            <a:avLst/>
          </a:prstGeom>
          <a:ln w="15875">
            <a:solidFill>
              <a:schemeClr val="accent5"/>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9601200" y="1828800"/>
            <a:ext cx="2148840" cy="365760"/>
          </a:xfrm>
          <a:prstGeom prst="rect">
            <a:avLst/>
          </a:prstGeom>
          <a:noFill/>
        </p:spPr>
        <p:txBody>
          <a:bodyPr wrap="square" lIns="0" rIns="0" tIns="0" bIns="0" anchor="t">
            <a:spAutoFit/>
          </a:bodyPr>
          <a:lstStyle/>
          <a:p>
            <a:pPr algn="ctr">
              <a:spcAft>
                <a:spcPts val="400"/>
              </a:spcAft>
            </a:pPr>
            <a:r>
              <a:rPr sz="1500" b="1" i="0">
                <a:solidFill>
                  <a:schemeClr val="tx1"/>
                </a:solidFill>
              </a:rPr>
              <a:t>Same view</a:t>
            </a:r>
          </a:p>
        </p:txBody>
      </p:sp>
      <p:sp>
        <p:nvSpPr>
          <p:cNvPr id="22" name="TextBox 21"/>
          <p:cNvSpPr txBox="1"/>
          <p:nvPr/>
        </p:nvSpPr>
        <p:spPr>
          <a:xfrm>
            <a:off x="9601200" y="2194560"/>
            <a:ext cx="2148840" cy="457200"/>
          </a:xfrm>
          <a:prstGeom prst="rect">
            <a:avLst/>
          </a:prstGeom>
          <a:noFill/>
        </p:spPr>
        <p:txBody>
          <a:bodyPr wrap="square" lIns="0" rIns="0" tIns="0" bIns="0" anchor="t">
            <a:spAutoFit/>
          </a:bodyPr>
          <a:lstStyle/>
          <a:p>
            <a:pPr algn="ctr">
              <a:spcAft>
                <a:spcPts val="400"/>
              </a:spcAft>
            </a:pPr>
            <a:r>
              <a:rPr sz="1150" b="0" i="0">
                <a:solidFill>
                  <a:schemeClr val="tx2"/>
                </a:solidFill>
              </a:rPr>
              <a:t>Owner team named</a:t>
            </a:r>
          </a:p>
        </p:txBody>
      </p:sp>
      <p:graphicFrame>
        <p:nvGraphicFramePr>
          <p:cNvPr id="23" name="Table 22"/>
          <p:cNvGraphicFramePr>
            <a:graphicFrameLocks noGrp="1"/>
          </p:cNvGraphicFramePr>
          <p:nvPr/>
        </p:nvGraphicFramePr>
        <p:xfrm>
          <a:off x="457200" y="2926080"/>
          <a:ext cx="11247120" cy="2651760"/>
        </p:xfrm>
        <a:graphic>
          <a:graphicData uri="http://schemas.openxmlformats.org/drawingml/2006/table">
            <a:tbl>
              <a:tblPr firstRow="0" bandRow="0">
                <a:tableStyleId>{5940675A-B579-460E-94D1-54222C63F5DA}</a:tableStyleId>
              </a:tblPr>
              <a:tblGrid>
                <a:gridCol w="2606040"/>
                <a:gridCol w="3611880"/>
                <a:gridCol w="1234440"/>
                <a:gridCol w="1463040"/>
                <a:gridCol w="2331720"/>
              </a:tblGrid>
              <a:tr h="530352">
                <a:tc>
                  <a:txBody>
                    <a:bodyPr wrap="square"/>
                    <a:lstStyle/>
                    <a:p>
                      <a:r>
                        <a:rPr sz="1100" b="1" i="0">
                          <a:solidFill>
                            <a:schemeClr val="bg1"/>
                          </a:solidFill>
                        </a:rPr>
                        <a:t>Scenario (injected)</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tx1"/>
                    </a:solidFill>
                  </a:tcPr>
                </a:tc>
                <a:tc>
                  <a:txBody>
                    <a:bodyPr wrap="square"/>
                    <a:lstStyle/>
                    <a:p>
                      <a:r>
                        <a:rPr sz="1100" b="1" i="0">
                          <a:solidFill>
                            <a:schemeClr val="bg1"/>
                          </a:solidFill>
                        </a:rPr>
                        <a:t>Red dot found</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tx1"/>
                    </a:solidFill>
                  </a:tcPr>
                </a:tc>
                <a:tc>
                  <a:txBody>
                    <a:bodyPr wrap="square"/>
                    <a:lstStyle/>
                    <a:p>
                      <a:r>
                        <a:rPr sz="1100" b="1" i="0">
                          <a:solidFill>
                            <a:schemeClr val="bg1"/>
                          </a:solidFill>
                        </a:rPr>
                        <a:t>Envoy flag</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tx1"/>
                    </a:solidFill>
                  </a:tcPr>
                </a:tc>
                <a:tc>
                  <a:txBody>
                    <a:bodyPr wrap="square"/>
                    <a:lstStyle/>
                    <a:p>
                      <a:r>
                        <a:rPr sz="1100" b="1" i="0">
                          <a:solidFill>
                            <a:schemeClr val="bg1"/>
                          </a:solidFill>
                        </a:rPr>
                        <a:t>Alerts after</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tx1"/>
                    </a:solidFill>
                  </a:tcPr>
                </a:tc>
                <a:tc>
                  <a:txBody>
                    <a:bodyPr wrap="square"/>
                    <a:lstStyle/>
                    <a:p>
                      <a:r>
                        <a:rPr sz="1100" b="1" i="0">
                          <a:solidFill>
                            <a:schemeClr val="bg1"/>
                          </a:solidFill>
                        </a:rPr>
                        <a:t>Routed to</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tx1"/>
                    </a:solidFill>
                  </a:tcPr>
                </a:tc>
              </a:tr>
              <a:tr h="530352">
                <a:tc>
                  <a:txBody>
                    <a:bodyPr wrap="square"/>
                    <a:lstStyle/>
                    <a:p>
                      <a:r>
                        <a:rPr sz="1150" b="1" i="0">
                          <a:solidFill>
                            <a:schemeClr val="tx1"/>
                          </a:solidFill>
                        </a:rPr>
                        <a:t>Core banking slow (1-4 s)</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50" b="0" i="0">
                          <a:solidFill>
                            <a:schemeClr val="tx1"/>
                          </a:solidFill>
                        </a:rPr>
                        <a:t>payments-svc to Core banking, 35-46% errors</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50" b="0" i="0">
                          <a:solidFill>
                            <a:schemeClr val="accent3"/>
                          </a:solidFill>
                        </a:rPr>
                        <a:t>UT</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50" b="0" i="0">
                          <a:solidFill>
                            <a:schemeClr val="tx1"/>
                          </a:solidFill>
                        </a:rPr>
                        <a:t>82-96 s</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50" b="0" i="0">
                          <a:solidFill>
                            <a:schemeClr val="tx1"/>
                          </a:solidFill>
                        </a:rPr>
                        <a:t>Core banking team</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r>
              <a:tr h="530352">
                <a:tc>
                  <a:txBody>
                    <a:bodyPr wrap="square"/>
                    <a:lstStyle/>
                    <a:p>
                      <a:r>
                        <a:rPr sz="1150" b="1" i="0">
                          <a:solidFill>
                            <a:schemeClr val="tx1"/>
                          </a:solidFill>
                        </a:rPr>
                        <a:t>Oracle DB unreachable</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2"/>
                    </a:solidFill>
                  </a:tcPr>
                </a:tc>
                <a:tc>
                  <a:txBody>
                    <a:bodyPr wrap="square"/>
                    <a:lstStyle/>
                    <a:p>
                      <a:r>
                        <a:rPr sz="1150" b="0" i="0">
                          <a:solidFill>
                            <a:schemeClr val="tx1"/>
                          </a:solidFill>
                        </a:rPr>
                        <a:t>accounts-svc to Oracle DB (TCP)</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2"/>
                    </a:solidFill>
                  </a:tcPr>
                </a:tc>
                <a:tc>
                  <a:txBody>
                    <a:bodyPr wrap="square"/>
                    <a:lstStyle/>
                    <a:p>
                      <a:r>
                        <a:rPr sz="1150" b="0" i="0">
                          <a:solidFill>
                            <a:schemeClr val="accent3"/>
                          </a:solidFill>
                        </a:rPr>
                        <a:t>UF, URX</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2"/>
                    </a:solidFill>
                  </a:tcPr>
                </a:tc>
                <a:tc>
                  <a:txBody>
                    <a:bodyPr wrap="square"/>
                    <a:lstStyle/>
                    <a:p>
                      <a:r>
                        <a:rPr sz="1150" b="0" i="0">
                          <a:solidFill>
                            <a:schemeClr val="tx1"/>
                          </a:solidFill>
                        </a:rPr>
                        <a:t>31-91 s</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2"/>
                    </a:solidFill>
                  </a:tcPr>
                </a:tc>
                <a:tc>
                  <a:txBody>
                    <a:bodyPr wrap="square"/>
                    <a:lstStyle/>
                    <a:p>
                      <a:r>
                        <a:rPr sz="1150" b="0" i="0">
                          <a:solidFill>
                            <a:schemeClr val="tx1"/>
                          </a:solidFill>
                        </a:rPr>
                        <a:t>DBA team</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2"/>
                    </a:solidFill>
                  </a:tcPr>
                </a:tc>
              </a:tr>
              <a:tr h="530352">
                <a:tc>
                  <a:txBody>
                    <a:bodyPr wrap="square"/>
                    <a:lstStyle/>
                    <a:p>
                      <a:r>
                        <a:rPr sz="1150" b="1" i="0">
                          <a:solidFill>
                            <a:schemeClr val="tx1"/>
                          </a:solidFill>
                        </a:rPr>
                        <a:t>Card switch down</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50" b="0" i="0">
                          <a:solidFill>
                            <a:schemeClr val="tx1"/>
                          </a:solidFill>
                        </a:rPr>
                        <a:t>cards-svc to Card switch, 100% errors</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50" b="0" i="0">
                          <a:solidFill>
                            <a:schemeClr val="accent3"/>
                          </a:solidFill>
                        </a:rPr>
                        <a:t>UF, then UH</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50" b="0" i="0">
                          <a:solidFill>
                            <a:schemeClr val="tx1"/>
                          </a:solidFill>
                        </a:rPr>
                        <a:t>72-96 s</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50" b="0" i="0">
                          <a:solidFill>
                            <a:schemeClr val="tx1"/>
                          </a:solidFill>
                        </a:rPr>
                        <a:t>Card switch team</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r>
              <a:tr h="530352">
                <a:tc>
                  <a:txBody>
                    <a:bodyPr wrap="square"/>
                    <a:lstStyle/>
                    <a:p>
                      <a:r>
                        <a:rPr sz="1150" b="1" i="0">
                          <a:solidFill>
                            <a:schemeClr val="tx1"/>
                          </a:solidFill>
                        </a:rPr>
                        <a:t>New service added, then broken</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2"/>
                    </a:solidFill>
                  </a:tcPr>
                </a:tc>
                <a:tc>
                  <a:txBody>
                    <a:bodyPr wrap="square"/>
                    <a:lstStyle/>
                    <a:p>
                      <a:r>
                        <a:rPr sz="1150" b="0" i="0">
                          <a:solidFill>
                            <a:schemeClr val="tx1"/>
                          </a:solidFill>
                        </a:rPr>
                        <a:t>loans-svc to Credit bureau (discovered in 41 s)</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2"/>
                    </a:solidFill>
                  </a:tcPr>
                </a:tc>
                <a:tc>
                  <a:txBody>
                    <a:bodyPr wrap="square"/>
                    <a:lstStyle/>
                    <a:p>
                      <a:r>
                        <a:rPr sz="1150" b="0" i="0">
                          <a:solidFill>
                            <a:schemeClr val="accent3"/>
                          </a:solidFill>
                        </a:rPr>
                        <a:t>UF, URX</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2"/>
                    </a:solidFill>
                  </a:tcPr>
                </a:tc>
                <a:tc>
                  <a:txBody>
                    <a:bodyPr wrap="square"/>
                    <a:lstStyle/>
                    <a:p>
                      <a:r>
                        <a:rPr sz="1150" b="0" i="0">
                          <a:solidFill>
                            <a:schemeClr val="tx1"/>
                          </a:solidFill>
                        </a:rPr>
                        <a:t>31 s to red dot</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2"/>
                    </a:solidFill>
                  </a:tcPr>
                </a:tc>
                <a:tc>
                  <a:txBody>
                    <a:bodyPr wrap="square"/>
                    <a:lstStyle/>
                    <a:p>
                      <a:r>
                        <a:rPr sz="1150" b="0" i="0">
                          <a:solidFill>
                            <a:schemeClr val="tx1"/>
                          </a:solidFill>
                        </a:rPr>
                        <a:t>Credit bureau partner desk</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2"/>
                    </a:solidFill>
                  </a:tcPr>
                </a:tc>
              </a:tr>
            </a:tbl>
          </a:graphicData>
        </a:graphic>
      </p:graphicFrame>
      <p:sp>
        <p:nvSpPr>
          <p:cNvPr id="24" name="TextBox 23"/>
          <p:cNvSpPr txBox="1"/>
          <p:nvPr/>
        </p:nvSpPr>
        <p:spPr>
          <a:xfrm>
            <a:off x="457200" y="5760720"/>
            <a:ext cx="11247120" cy="365760"/>
          </a:xfrm>
          <a:prstGeom prst="rect">
            <a:avLst/>
          </a:prstGeom>
          <a:noFill/>
        </p:spPr>
        <p:txBody>
          <a:bodyPr wrap="square" lIns="0" rIns="0" tIns="0" bIns="0" anchor="t">
            <a:spAutoFit/>
          </a:bodyPr>
          <a:lstStyle/>
          <a:p>
            <a:pPr algn="l">
              <a:spcAft>
                <a:spcPts val="400"/>
              </a:spcAft>
            </a:pPr>
            <a:r>
              <a:rPr sz="1100" b="0" i="1">
                <a:solidFill>
                  <a:schemeClr val="tx2"/>
                </a:solidFill>
              </a:rPr>
              <a:t>Each failure was found on the right hop, with the right flag, and routed to the right team.</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0"/>
          </p:nvPr>
        </p:nvSpPr>
        <p:spPr/>
        <p:txBody>
          <a:bodyPr/>
          <a:lstStyle/>
          <a:p>
            <a:r>
              <a:t>Moving the POC to OpenShift</a:t>
            </a:r>
          </a:p>
        </p:txBody>
      </p:sp>
      <p:sp>
        <p:nvSpPr>
          <p:cNvPr id="3"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sp>
        <p:nvSpPr>
          <p:cNvPr id="4" name="Rounded Rectangle 3"/>
          <p:cNvSpPr/>
          <p:nvPr/>
        </p:nvSpPr>
        <p:spPr>
          <a:xfrm>
            <a:off x="457200" y="1417320"/>
            <a:ext cx="3566160" cy="1828800"/>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85800" y="1645920"/>
            <a:ext cx="384048" cy="384048"/>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pPr>
            <a:r>
              <a:rPr sz="1300" b="1" i="0">
                <a:solidFill>
                  <a:schemeClr val="bg1"/>
                </a:solidFill>
              </a:rPr>
              <a:t>1</a:t>
            </a:r>
          </a:p>
        </p:txBody>
      </p:sp>
      <p:sp>
        <p:nvSpPr>
          <p:cNvPr id="6" name="TextBox 5"/>
          <p:cNvSpPr txBox="1"/>
          <p:nvPr/>
        </p:nvSpPr>
        <p:spPr>
          <a:xfrm>
            <a:off x="1234440" y="1664208"/>
            <a:ext cx="2651760" cy="365760"/>
          </a:xfrm>
          <a:prstGeom prst="rect">
            <a:avLst/>
          </a:prstGeom>
          <a:noFill/>
        </p:spPr>
        <p:txBody>
          <a:bodyPr wrap="square" lIns="0" rIns="0" tIns="0" bIns="0" anchor="t">
            <a:spAutoFit/>
          </a:bodyPr>
          <a:lstStyle/>
          <a:p>
            <a:pPr algn="l">
              <a:spcAft>
                <a:spcPts val="400"/>
              </a:spcAft>
            </a:pPr>
            <a:r>
              <a:rPr sz="1500" b="1" i="0">
                <a:solidFill>
                  <a:schemeClr val="tx1"/>
                </a:solidFill>
              </a:rPr>
              <a:t>Install</a:t>
            </a:r>
          </a:p>
        </p:txBody>
      </p:sp>
      <p:sp>
        <p:nvSpPr>
          <p:cNvPr id="7" name="TextBox 6"/>
          <p:cNvSpPr txBox="1"/>
          <p:nvPr/>
        </p:nvSpPr>
        <p:spPr>
          <a:xfrm>
            <a:off x="685800" y="2194560"/>
            <a:ext cx="3154680" cy="1005840"/>
          </a:xfrm>
          <a:prstGeom prst="rect">
            <a:avLst/>
          </a:prstGeom>
          <a:noFill/>
        </p:spPr>
        <p:txBody>
          <a:bodyPr wrap="square" lIns="0" rIns="0" tIns="0" bIns="0" anchor="t">
            <a:spAutoFit/>
          </a:bodyPr>
          <a:lstStyle/>
          <a:p>
            <a:pPr algn="l">
              <a:spcAft>
                <a:spcPts val="400"/>
              </a:spcAft>
            </a:pPr>
            <a:r>
              <a:rPr sz="1300" b="0" i="0">
                <a:solidFill>
                  <a:schemeClr val="tx2"/>
                </a:solidFill>
              </a:rPr>
              <a:t>OperatorHub (OLM) instead of Helm; no cert-manager, service-ca issues webhook certificates.</a:t>
            </a:r>
          </a:p>
        </p:txBody>
      </p:sp>
      <p:sp>
        <p:nvSpPr>
          <p:cNvPr id="8" name="Rounded Rectangle 7"/>
          <p:cNvSpPr/>
          <p:nvPr/>
        </p:nvSpPr>
        <p:spPr>
          <a:xfrm>
            <a:off x="4251960" y="1417320"/>
            <a:ext cx="3566160" cy="1828800"/>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4480560" y="1645920"/>
            <a:ext cx="384048" cy="384048"/>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pPr>
            <a:r>
              <a:rPr sz="1300" b="1" i="0">
                <a:solidFill>
                  <a:schemeClr val="bg1"/>
                </a:solidFill>
              </a:rPr>
              <a:t>2</a:t>
            </a:r>
          </a:p>
        </p:txBody>
      </p:sp>
      <p:sp>
        <p:nvSpPr>
          <p:cNvPr id="10" name="TextBox 9"/>
          <p:cNvSpPr txBox="1"/>
          <p:nvPr/>
        </p:nvSpPr>
        <p:spPr>
          <a:xfrm>
            <a:off x="5029200" y="1664208"/>
            <a:ext cx="2651760" cy="365760"/>
          </a:xfrm>
          <a:prstGeom prst="rect">
            <a:avLst/>
          </a:prstGeom>
          <a:noFill/>
        </p:spPr>
        <p:txBody>
          <a:bodyPr wrap="square" lIns="0" rIns="0" tIns="0" bIns="0" anchor="t">
            <a:spAutoFit/>
          </a:bodyPr>
          <a:lstStyle/>
          <a:p>
            <a:pPr algn="l">
              <a:spcAft>
                <a:spcPts val="400"/>
              </a:spcAft>
            </a:pPr>
            <a:r>
              <a:rPr sz="1500" b="1" i="0">
                <a:solidFill>
                  <a:schemeClr val="tx1"/>
                </a:solidFill>
              </a:rPr>
              <a:t>Metrics</a:t>
            </a:r>
          </a:p>
        </p:txBody>
      </p:sp>
      <p:sp>
        <p:nvSpPr>
          <p:cNvPr id="11" name="TextBox 10"/>
          <p:cNvSpPr txBox="1"/>
          <p:nvPr/>
        </p:nvSpPr>
        <p:spPr>
          <a:xfrm>
            <a:off x="4480560" y="2194560"/>
            <a:ext cx="3154680" cy="1005840"/>
          </a:xfrm>
          <a:prstGeom prst="rect">
            <a:avLst/>
          </a:prstGeom>
          <a:noFill/>
        </p:spPr>
        <p:txBody>
          <a:bodyPr wrap="square" lIns="0" rIns="0" tIns="0" bIns="0" anchor="t">
            <a:spAutoFit/>
          </a:bodyPr>
          <a:lstStyle/>
          <a:p>
            <a:pPr algn="l">
              <a:spcAft>
                <a:spcPts val="400"/>
              </a:spcAft>
            </a:pPr>
            <a:r>
              <a:rPr sz="1300" b="0" i="0">
                <a:solidFill>
                  <a:schemeClr val="tx2"/>
                </a:solidFill>
              </a:rPr>
              <a:t>Do not install kube-prometheus-stack. Enable user workload monitoring; query Thanos Querier with a token.</a:t>
            </a:r>
          </a:p>
        </p:txBody>
      </p:sp>
      <p:sp>
        <p:nvSpPr>
          <p:cNvPr id="12" name="Rounded Rectangle 11"/>
          <p:cNvSpPr/>
          <p:nvPr/>
        </p:nvSpPr>
        <p:spPr>
          <a:xfrm>
            <a:off x="8046720" y="1417320"/>
            <a:ext cx="3566160" cy="1828800"/>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8275320" y="1645920"/>
            <a:ext cx="384048" cy="384048"/>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pPr>
            <a:r>
              <a:rPr sz="1300" b="1" i="0">
                <a:solidFill>
                  <a:schemeClr val="bg1"/>
                </a:solidFill>
              </a:rPr>
              <a:t>3</a:t>
            </a:r>
          </a:p>
        </p:txBody>
      </p:sp>
      <p:sp>
        <p:nvSpPr>
          <p:cNvPr id="14" name="TextBox 13"/>
          <p:cNvSpPr txBox="1"/>
          <p:nvPr/>
        </p:nvSpPr>
        <p:spPr>
          <a:xfrm>
            <a:off x="8823960" y="1664208"/>
            <a:ext cx="2651760" cy="365760"/>
          </a:xfrm>
          <a:prstGeom prst="rect">
            <a:avLst/>
          </a:prstGeom>
          <a:noFill/>
        </p:spPr>
        <p:txBody>
          <a:bodyPr wrap="square" lIns="0" rIns="0" tIns="0" bIns="0" anchor="t">
            <a:spAutoFit/>
          </a:bodyPr>
          <a:lstStyle/>
          <a:p>
            <a:pPr algn="l">
              <a:spcAft>
                <a:spcPts val="400"/>
              </a:spcAft>
            </a:pPr>
            <a:r>
              <a:rPr sz="1500" b="1" i="0">
                <a:solidFill>
                  <a:schemeClr val="tx1"/>
                </a:solidFill>
              </a:rPr>
              <a:t>Storage</a:t>
            </a:r>
          </a:p>
        </p:txBody>
      </p:sp>
      <p:sp>
        <p:nvSpPr>
          <p:cNvPr id="15" name="TextBox 14"/>
          <p:cNvSpPr txBox="1"/>
          <p:nvPr/>
        </p:nvSpPr>
        <p:spPr>
          <a:xfrm>
            <a:off x="8275320" y="2194560"/>
            <a:ext cx="3154680" cy="1005840"/>
          </a:xfrm>
          <a:prstGeom prst="rect">
            <a:avLst/>
          </a:prstGeom>
          <a:noFill/>
        </p:spPr>
        <p:txBody>
          <a:bodyPr wrap="square" lIns="0" rIns="0" tIns="0" bIns="0" anchor="t">
            <a:spAutoFit/>
          </a:bodyPr>
          <a:lstStyle/>
          <a:p>
            <a:pPr algn="l">
              <a:spcAft>
                <a:spcPts val="400"/>
              </a:spcAft>
            </a:pPr>
            <a:r>
              <a:rPr sz="1300" b="0" i="0">
                <a:solidFill>
                  <a:schemeClr val="tx2"/>
                </a:solidFill>
              </a:rPr>
              <a:t>TempoStack and LokiStack on S3-compatible object storage; persistent Prometheus.</a:t>
            </a:r>
          </a:p>
        </p:txBody>
      </p:sp>
      <p:sp>
        <p:nvSpPr>
          <p:cNvPr id="16" name="Rounded Rectangle 15"/>
          <p:cNvSpPr/>
          <p:nvPr/>
        </p:nvSpPr>
        <p:spPr>
          <a:xfrm>
            <a:off x="457200" y="3520439"/>
            <a:ext cx="3566160" cy="1828800"/>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685800" y="3749039"/>
            <a:ext cx="384048" cy="384048"/>
          </a:xfrm>
          <a:prstGeom prst="ellipse">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pPr>
            <a:r>
              <a:rPr sz="1300" b="1" i="0">
                <a:solidFill>
                  <a:schemeClr val="bg1"/>
                </a:solidFill>
              </a:rPr>
              <a:t>4</a:t>
            </a:r>
          </a:p>
        </p:txBody>
      </p:sp>
      <p:sp>
        <p:nvSpPr>
          <p:cNvPr id="18" name="TextBox 17"/>
          <p:cNvSpPr txBox="1"/>
          <p:nvPr/>
        </p:nvSpPr>
        <p:spPr>
          <a:xfrm>
            <a:off x="1234440" y="3767327"/>
            <a:ext cx="2651760" cy="365760"/>
          </a:xfrm>
          <a:prstGeom prst="rect">
            <a:avLst/>
          </a:prstGeom>
          <a:noFill/>
        </p:spPr>
        <p:txBody>
          <a:bodyPr wrap="square" lIns="0" rIns="0" tIns="0" bIns="0" anchor="t">
            <a:spAutoFit/>
          </a:bodyPr>
          <a:lstStyle/>
          <a:p>
            <a:pPr algn="l">
              <a:spcAft>
                <a:spcPts val="400"/>
              </a:spcAft>
            </a:pPr>
            <a:r>
              <a:rPr sz="1500" b="1" i="0">
                <a:solidFill>
                  <a:schemeClr val="tx1"/>
                </a:solidFill>
              </a:rPr>
              <a:t>Exposure</a:t>
            </a:r>
          </a:p>
        </p:txBody>
      </p:sp>
      <p:sp>
        <p:nvSpPr>
          <p:cNvPr id="19" name="TextBox 18"/>
          <p:cNvSpPr txBox="1"/>
          <p:nvPr/>
        </p:nvSpPr>
        <p:spPr>
          <a:xfrm>
            <a:off x="685800" y="4297679"/>
            <a:ext cx="3154680" cy="1005840"/>
          </a:xfrm>
          <a:prstGeom prst="rect">
            <a:avLst/>
          </a:prstGeom>
          <a:noFill/>
        </p:spPr>
        <p:txBody>
          <a:bodyPr wrap="square" lIns="0" rIns="0" tIns="0" bIns="0" anchor="t">
            <a:spAutoFit/>
          </a:bodyPr>
          <a:lstStyle/>
          <a:p>
            <a:pPr algn="l">
              <a:spcAft>
                <a:spcPts val="400"/>
              </a:spcAft>
            </a:pPr>
            <a:r>
              <a:rPr sz="1300" b="0" i="0">
                <a:solidFill>
                  <a:schemeClr val="tx2"/>
                </a:solidFill>
              </a:rPr>
              <a:t>Routes with OAuth instead of NodePorts; Kiali uses the openshift auth strategy.</a:t>
            </a:r>
          </a:p>
        </p:txBody>
      </p:sp>
      <p:sp>
        <p:nvSpPr>
          <p:cNvPr id="20" name="Rounded Rectangle 19"/>
          <p:cNvSpPr/>
          <p:nvPr/>
        </p:nvSpPr>
        <p:spPr>
          <a:xfrm>
            <a:off x="4251960" y="3520439"/>
            <a:ext cx="3566160" cy="1828800"/>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4480560" y="3749039"/>
            <a:ext cx="384048" cy="384048"/>
          </a:xfrm>
          <a:prstGeom prst="ellipse">
            <a:avLst/>
          </a:prstGeom>
          <a:solidFill>
            <a:schemeClr val="accent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pPr>
            <a:r>
              <a:rPr sz="1300" b="1" i="0">
                <a:solidFill>
                  <a:schemeClr val="bg1"/>
                </a:solidFill>
              </a:rPr>
              <a:t>5</a:t>
            </a:r>
          </a:p>
        </p:txBody>
      </p:sp>
      <p:sp>
        <p:nvSpPr>
          <p:cNvPr id="22" name="TextBox 21"/>
          <p:cNvSpPr txBox="1"/>
          <p:nvPr/>
        </p:nvSpPr>
        <p:spPr>
          <a:xfrm>
            <a:off x="5029200" y="3767327"/>
            <a:ext cx="2651760" cy="365760"/>
          </a:xfrm>
          <a:prstGeom prst="rect">
            <a:avLst/>
          </a:prstGeom>
          <a:noFill/>
        </p:spPr>
        <p:txBody>
          <a:bodyPr wrap="square" lIns="0" rIns="0" tIns="0" bIns="0" anchor="t">
            <a:spAutoFit/>
          </a:bodyPr>
          <a:lstStyle/>
          <a:p>
            <a:pPr algn="l">
              <a:spcAft>
                <a:spcPts val="400"/>
              </a:spcAft>
            </a:pPr>
            <a:r>
              <a:rPr sz="1500" b="1" i="0">
                <a:solidFill>
                  <a:schemeClr val="tx1"/>
                </a:solidFill>
              </a:rPr>
              <a:t>External TLS</a:t>
            </a:r>
          </a:p>
        </p:txBody>
      </p:sp>
      <p:sp>
        <p:nvSpPr>
          <p:cNvPr id="23" name="TextBox 22"/>
          <p:cNvSpPr txBox="1"/>
          <p:nvPr/>
        </p:nvSpPr>
        <p:spPr>
          <a:xfrm>
            <a:off x="4480560" y="4297679"/>
            <a:ext cx="3154680" cy="1005840"/>
          </a:xfrm>
          <a:prstGeom prst="rect">
            <a:avLst/>
          </a:prstGeom>
          <a:noFill/>
        </p:spPr>
        <p:txBody>
          <a:bodyPr wrap="square" lIns="0" rIns="0" tIns="0" bIns="0" anchor="t">
            <a:spAutoFit/>
          </a:bodyPr>
          <a:lstStyle/>
          <a:p>
            <a:pPr algn="l">
              <a:spcAft>
                <a:spcPts val="400"/>
              </a:spcAft>
            </a:pPr>
            <a:r>
              <a:rPr sz="1300" b="0" i="0">
                <a:solidFill>
                  <a:schemeClr val="tx2"/>
                </a:solidFill>
              </a:rPr>
              <a:t>Bank CA in a ConfigMap, credentialName configmap://. A Secret without workloadSelector is ignored.</a:t>
            </a:r>
          </a:p>
        </p:txBody>
      </p:sp>
      <p:sp>
        <p:nvSpPr>
          <p:cNvPr id="24" name="Rounded Rectangle 23"/>
          <p:cNvSpPr/>
          <p:nvPr/>
        </p:nvSpPr>
        <p:spPr>
          <a:xfrm>
            <a:off x="8046720" y="3520439"/>
            <a:ext cx="3566160" cy="1828800"/>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275320" y="3749039"/>
            <a:ext cx="384048" cy="384048"/>
          </a:xfrm>
          <a:prstGeom prst="ellipse">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pPr>
            <a:r>
              <a:rPr sz="1300" b="1" i="0">
                <a:solidFill>
                  <a:schemeClr val="bg1"/>
                </a:solidFill>
              </a:rPr>
              <a:t>6</a:t>
            </a:r>
          </a:p>
        </p:txBody>
      </p:sp>
      <p:sp>
        <p:nvSpPr>
          <p:cNvPr id="26" name="TextBox 25"/>
          <p:cNvSpPr txBox="1"/>
          <p:nvPr/>
        </p:nvSpPr>
        <p:spPr>
          <a:xfrm>
            <a:off x="8823960" y="3767327"/>
            <a:ext cx="2651760" cy="365760"/>
          </a:xfrm>
          <a:prstGeom prst="rect">
            <a:avLst/>
          </a:prstGeom>
          <a:noFill/>
        </p:spPr>
        <p:txBody>
          <a:bodyPr wrap="square" lIns="0" rIns="0" tIns="0" bIns="0" anchor="t">
            <a:spAutoFit/>
          </a:bodyPr>
          <a:lstStyle/>
          <a:p>
            <a:pPr algn="l">
              <a:spcAft>
                <a:spcPts val="400"/>
              </a:spcAft>
            </a:pPr>
            <a:r>
              <a:rPr sz="1500" b="1" i="0">
                <a:solidFill>
                  <a:schemeClr val="tx1"/>
                </a:solidFill>
              </a:rPr>
              <a:t>Unchanged</a:t>
            </a:r>
          </a:p>
        </p:txBody>
      </p:sp>
      <p:sp>
        <p:nvSpPr>
          <p:cNvPr id="27" name="TextBox 26"/>
          <p:cNvSpPr txBox="1"/>
          <p:nvPr/>
        </p:nvSpPr>
        <p:spPr>
          <a:xfrm>
            <a:off x="8275320" y="4297679"/>
            <a:ext cx="3154680" cy="1005840"/>
          </a:xfrm>
          <a:prstGeom prst="rect">
            <a:avLst/>
          </a:prstGeom>
          <a:noFill/>
        </p:spPr>
        <p:txBody>
          <a:bodyPr wrap="square" lIns="0" rIns="0" tIns="0" bIns="0" anchor="t">
            <a:spAutoFit/>
          </a:bodyPr>
          <a:lstStyle/>
          <a:p>
            <a:pPr algn="l">
              <a:spcAft>
                <a:spcPts val="400"/>
              </a:spcAft>
            </a:pPr>
            <a:r>
              <a:rPr sz="1300" b="0" i="0">
                <a:solidFill>
                  <a:schemeClr val="tx2"/>
                </a:solidFill>
              </a:rPr>
              <a:t>Istio, IstioCNI, Telemetry, ServiceEntries, OTel CRs, TempoMonolithic, PodMonitors, alert rules.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0"/>
          </p:nvPr>
        </p:nvSpPr>
        <p:spPr/>
        <p:txBody>
          <a:bodyPr/>
          <a:lstStyle/>
          <a:p>
            <a:r>
              <a:t>Adding the mobile banking app: start the trace at the tap</a:t>
            </a:r>
          </a:p>
        </p:txBody>
      </p:sp>
      <p:sp>
        <p:nvSpPr>
          <p:cNvPr id="3"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sp>
        <p:nvSpPr>
          <p:cNvPr id="4" name="TextBox 3"/>
          <p:cNvSpPr txBox="1"/>
          <p:nvPr/>
        </p:nvSpPr>
        <p:spPr>
          <a:xfrm>
            <a:off x="457200" y="1188720"/>
            <a:ext cx="11247120" cy="256032"/>
          </a:xfrm>
          <a:prstGeom prst="rect">
            <a:avLst/>
          </a:prstGeom>
          <a:noFill/>
        </p:spPr>
        <p:txBody>
          <a:bodyPr wrap="square" lIns="0" rIns="0" tIns="0" bIns="0" anchor="t">
            <a:spAutoFit/>
          </a:bodyPr>
          <a:lstStyle/>
          <a:p>
            <a:pPr algn="l">
              <a:spcAft>
                <a:spcPts val="400"/>
              </a:spcAft>
            </a:pPr>
            <a:r>
              <a:rPr sz="1050" b="1" i="0">
                <a:solidFill>
                  <a:schemeClr val="tx2"/>
                </a:solidFill>
              </a:rPr>
              <a:t>REQUEST PATH (the same trace ID from the phone to core banking)</a:t>
            </a:r>
          </a:p>
        </p:txBody>
      </p:sp>
      <p:sp>
        <p:nvSpPr>
          <p:cNvPr id="5" name="Rounded Rectangle 4"/>
          <p:cNvSpPr/>
          <p:nvPr/>
        </p:nvSpPr>
        <p:spPr>
          <a:xfrm>
            <a:off x="457200" y="1508760"/>
            <a:ext cx="2011680" cy="1051560"/>
          </a:xfrm>
          <a:prstGeom prst="roundRect">
            <a:avLst>
              <a:gd name="adj" fmla="val 8000"/>
            </a:avLst>
          </a:prstGeom>
          <a:solidFill>
            <a:schemeClr val="accent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ctr">
              <a:spcAft>
                <a:spcPts val="400"/>
              </a:spcAft>
            </a:pPr>
            <a:r>
              <a:rPr sz="1200" b="1" i="0">
                <a:solidFill>
                  <a:schemeClr val="bg1"/>
                </a:solidFill>
              </a:rPr>
              <a:t>Mobile banking app</a:t>
            </a:r>
          </a:p>
          <a:p>
            <a:pPr algn="ctr">
              <a:spcAft>
                <a:spcPts val="400"/>
              </a:spcAft>
            </a:pPr>
            <a:r>
              <a:rPr sz="1000" b="0" i="0">
                <a:solidFill>
                  <a:schemeClr val="bg1"/>
                </a:solidFill>
              </a:rPr>
              <a:t>OTel SDK (Android / iOS)
span per tap: "Transfer"</a:t>
            </a:r>
          </a:p>
        </p:txBody>
      </p:sp>
      <p:sp>
        <p:nvSpPr>
          <p:cNvPr id="6" name="Rounded Rectangle 5"/>
          <p:cNvSpPr/>
          <p:nvPr/>
        </p:nvSpPr>
        <p:spPr>
          <a:xfrm>
            <a:off x="2766060" y="1508760"/>
            <a:ext cx="2011680" cy="1051560"/>
          </a:xfrm>
          <a:prstGeom prst="roundRect">
            <a:avLst>
              <a:gd name="adj" fmla="val 8000"/>
            </a:avLst>
          </a:prstGeom>
          <a:solidFill>
            <a:schemeClr val="accent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ctr">
              <a:spcAft>
                <a:spcPts val="400"/>
              </a:spcAft>
            </a:pPr>
            <a:r>
              <a:rPr sz="1200" b="1" i="0">
                <a:solidFill>
                  <a:schemeClr val="bg1"/>
                </a:solidFill>
              </a:rPr>
              <a:t>Edge: CDN / WAF /
API gateway</a:t>
            </a:r>
          </a:p>
          <a:p>
            <a:pPr algn="ctr">
              <a:spcAft>
                <a:spcPts val="400"/>
              </a:spcAft>
            </a:pPr>
            <a:r>
              <a:rPr sz="1000" b="0" i="0">
                <a:solidFill>
                  <a:schemeClr val="bg1"/>
                </a:solidFill>
              </a:rPr>
              <a:t>must forward traceparent
(header allow-list)</a:t>
            </a:r>
          </a:p>
        </p:txBody>
      </p:sp>
      <p:cxnSp>
        <p:nvCxnSpPr>
          <p:cNvPr id="7" name="Connector 6"/>
          <p:cNvCxnSpPr/>
          <p:nvPr/>
        </p:nvCxnSpPr>
        <p:spPr>
          <a:xfrm>
            <a:off x="2468880" y="2034540"/>
            <a:ext cx="297180" cy="0"/>
          </a:xfrm>
          <a:prstGeom prst="line">
            <a:avLst/>
          </a:prstGeom>
          <a:ln w="15875">
            <a:solidFill>
              <a:schemeClr val="tx2"/>
            </a:solidFill>
            <a:tailEnd type="triangle"/>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5074920" y="1508760"/>
            <a:ext cx="2011680" cy="1051560"/>
          </a:xfrm>
          <a:prstGeom prst="roundRect">
            <a:avLst>
              <a:gd name="adj" fmla="val 8000"/>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ctr">
              <a:spcAft>
                <a:spcPts val="400"/>
              </a:spcAft>
            </a:pPr>
            <a:r>
              <a:rPr sz="1200" b="1" i="0">
                <a:solidFill>
                  <a:schemeClr val="bg1"/>
                </a:solidFill>
              </a:rPr>
              <a:t>OpenShift Route</a:t>
            </a:r>
          </a:p>
          <a:p>
            <a:pPr algn="ctr">
              <a:spcAft>
                <a:spcPts val="400"/>
              </a:spcAft>
            </a:pPr>
            <a:r>
              <a:rPr sz="1000" b="0" i="0">
                <a:solidFill>
                  <a:schemeClr val="bg1"/>
                </a:solidFill>
              </a:rPr>
              <a:t>passes headers through</a:t>
            </a:r>
          </a:p>
        </p:txBody>
      </p:sp>
      <p:cxnSp>
        <p:nvCxnSpPr>
          <p:cNvPr id="9" name="Connector 8"/>
          <p:cNvCxnSpPr/>
          <p:nvPr/>
        </p:nvCxnSpPr>
        <p:spPr>
          <a:xfrm>
            <a:off x="4777740" y="2034540"/>
            <a:ext cx="297180" cy="0"/>
          </a:xfrm>
          <a:prstGeom prst="line">
            <a:avLst/>
          </a:prstGeom>
          <a:ln w="15875">
            <a:solidFill>
              <a:schemeClr val="tx2"/>
            </a:solidFill>
            <a:tailEnd type="triangle"/>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7383780" y="1508760"/>
            <a:ext cx="2011680" cy="1051560"/>
          </a:xfrm>
          <a:prstGeom prst="roundRect">
            <a:avLst>
              <a:gd name="adj" fmla="val 8000"/>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ctr">
              <a:spcAft>
                <a:spcPts val="400"/>
              </a:spcAft>
            </a:pPr>
            <a:r>
              <a:rPr sz="1200" b="1" i="0">
                <a:solidFill>
                  <a:schemeClr val="bg1"/>
                </a:solidFill>
              </a:rPr>
              <a:t>Istio ingress gateway</a:t>
            </a:r>
          </a:p>
          <a:p>
            <a:pPr algn="ctr">
              <a:spcAft>
                <a:spcPts val="400"/>
              </a:spcAft>
            </a:pPr>
            <a:r>
              <a:rPr sz="1000" b="0" i="0">
                <a:solidFill>
                  <a:schemeClr val="bg1"/>
                </a:solidFill>
              </a:rPr>
              <a:t>continues the app's trace;
sets journey from the route</a:t>
            </a:r>
          </a:p>
        </p:txBody>
      </p:sp>
      <p:cxnSp>
        <p:nvCxnSpPr>
          <p:cNvPr id="11" name="Connector 10"/>
          <p:cNvCxnSpPr/>
          <p:nvPr/>
        </p:nvCxnSpPr>
        <p:spPr>
          <a:xfrm>
            <a:off x="7086600" y="2034540"/>
            <a:ext cx="297180" cy="0"/>
          </a:xfrm>
          <a:prstGeom prst="line">
            <a:avLst/>
          </a:prstGeom>
          <a:ln w="15875">
            <a:solidFill>
              <a:schemeClr val="tx2"/>
            </a:solidFill>
            <a:tailEnd type="triangle"/>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9692640" y="1508760"/>
            <a:ext cx="2011680" cy="1051560"/>
          </a:xfrm>
          <a:prstGeom prst="roundRect">
            <a:avLst>
              <a:gd name="adj" fmla="val 8000"/>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ctr">
              <a:spcAft>
                <a:spcPts val="400"/>
              </a:spcAft>
            </a:pPr>
            <a:r>
              <a:rPr sz="1200" b="1" i="0">
                <a:solidFill>
                  <a:schemeClr val="bg1"/>
                </a:solidFill>
              </a:rPr>
              <a:t>payments-svc ...</a:t>
            </a:r>
          </a:p>
          <a:p>
            <a:pPr algn="ctr">
              <a:spcAft>
                <a:spcPts val="400"/>
              </a:spcAft>
            </a:pPr>
            <a:r>
              <a:rPr sz="1000" b="0" i="0">
                <a:solidFill>
                  <a:schemeClr val="bg1"/>
                </a:solidFill>
              </a:rPr>
              <a:t>same trace ID to the
core banking call</a:t>
            </a:r>
          </a:p>
        </p:txBody>
      </p:sp>
      <p:cxnSp>
        <p:nvCxnSpPr>
          <p:cNvPr id="13" name="Connector 12"/>
          <p:cNvCxnSpPr/>
          <p:nvPr/>
        </p:nvCxnSpPr>
        <p:spPr>
          <a:xfrm>
            <a:off x="9395460" y="2034540"/>
            <a:ext cx="297180" cy="0"/>
          </a:xfrm>
          <a:prstGeom prst="line">
            <a:avLst/>
          </a:prstGeom>
          <a:ln w="15875">
            <a:solidFill>
              <a:schemeClr val="tx2"/>
            </a:solidFill>
            <a:tailEnd type="triangle"/>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2468880" y="2587752"/>
            <a:ext cx="2377440" cy="256032"/>
          </a:xfrm>
          <a:prstGeom prst="rect">
            <a:avLst/>
          </a:prstGeom>
          <a:noFill/>
        </p:spPr>
        <p:txBody>
          <a:bodyPr wrap="square" lIns="0" rIns="0" tIns="0" bIns="0" anchor="t">
            <a:spAutoFit/>
          </a:bodyPr>
          <a:lstStyle/>
          <a:p>
            <a:pPr algn="l">
              <a:spcAft>
                <a:spcPts val="400"/>
              </a:spcAft>
            </a:pPr>
            <a:r>
              <a:rPr sz="950" b="0" i="1">
                <a:solidFill>
                  <a:schemeClr val="tx2"/>
                </a:solidFill>
              </a:rPr>
              <a:t>HTTPS + traceparent + x-channel: mobile</a:t>
            </a:r>
          </a:p>
        </p:txBody>
      </p:sp>
      <p:sp>
        <p:nvSpPr>
          <p:cNvPr id="15" name="TextBox 14"/>
          <p:cNvSpPr txBox="1"/>
          <p:nvPr/>
        </p:nvSpPr>
        <p:spPr>
          <a:xfrm>
            <a:off x="457200" y="2926080"/>
            <a:ext cx="11247120" cy="256032"/>
          </a:xfrm>
          <a:prstGeom prst="rect">
            <a:avLst/>
          </a:prstGeom>
          <a:noFill/>
        </p:spPr>
        <p:txBody>
          <a:bodyPr wrap="square" lIns="0" rIns="0" tIns="0" bIns="0" anchor="t">
            <a:spAutoFit/>
          </a:bodyPr>
          <a:lstStyle/>
          <a:p>
            <a:pPr algn="l">
              <a:spcAft>
                <a:spcPts val="400"/>
              </a:spcAft>
            </a:pPr>
            <a:r>
              <a:rPr sz="1050" b="1" i="0">
                <a:solidFill>
                  <a:schemeClr val="tx2"/>
                </a:solidFill>
              </a:rPr>
              <a:t>TELEMETRY PATH (the app's own spans, PUSHED over OTLP/HTTPS; each arrow starts at the sender)</a:t>
            </a:r>
          </a:p>
        </p:txBody>
      </p:sp>
      <p:sp>
        <p:nvSpPr>
          <p:cNvPr id="16" name="Rounded Rectangle 15"/>
          <p:cNvSpPr/>
          <p:nvPr/>
        </p:nvSpPr>
        <p:spPr>
          <a:xfrm>
            <a:off x="457200" y="3246120"/>
            <a:ext cx="2011680" cy="960120"/>
          </a:xfrm>
          <a:prstGeom prst="roundRect">
            <a:avLst>
              <a:gd name="adj" fmla="val 8000"/>
            </a:avLst>
          </a:prstGeom>
          <a:solidFill>
            <a:schemeClr val="accent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ctr">
              <a:spcAft>
                <a:spcPts val="400"/>
              </a:spcAft>
            </a:pPr>
            <a:r>
              <a:rPr sz="1200" b="1" i="0">
                <a:solidFill>
                  <a:schemeClr val="bg1"/>
                </a:solidFill>
              </a:rPr>
              <a:t>Mobile banking app</a:t>
            </a:r>
          </a:p>
          <a:p>
            <a:pPr algn="ctr">
              <a:spcAft>
                <a:spcPts val="400"/>
              </a:spcAft>
            </a:pPr>
            <a:r>
              <a:rPr sz="1000" b="0" i="0">
                <a:solidFill>
                  <a:schemeClr val="bg1"/>
                </a:solidFill>
              </a:rPr>
              <a:t>batched, gzip, on Wi-Fi
or when idle</a:t>
            </a:r>
          </a:p>
        </p:txBody>
      </p:sp>
      <p:sp>
        <p:nvSpPr>
          <p:cNvPr id="17" name="Rounded Rectangle 16"/>
          <p:cNvSpPr/>
          <p:nvPr/>
        </p:nvSpPr>
        <p:spPr>
          <a:xfrm>
            <a:off x="2766060" y="3246120"/>
            <a:ext cx="2011680" cy="960120"/>
          </a:xfrm>
          <a:prstGeom prst="roundRect">
            <a:avLst>
              <a:gd name="adj" fmla="val 8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ctr">
              <a:spcAft>
                <a:spcPts val="400"/>
              </a:spcAft>
            </a:pPr>
            <a:r>
              <a:rPr sz="1200" b="1" i="0">
                <a:solidFill>
                  <a:schemeClr val="bg1"/>
                </a:solidFill>
              </a:rPr>
              <a:t>Public OTLP endpoint</a:t>
            </a:r>
          </a:p>
          <a:p>
            <a:pPr algn="ctr">
              <a:spcAft>
                <a:spcPts val="400"/>
              </a:spcAft>
            </a:pPr>
            <a:r>
              <a:rPr sz="1000" b="0" i="0">
                <a:solidFill>
                  <a:schemeClr val="bg1"/>
                </a:solidFill>
              </a:rPr>
              <a:t>Route + auth (app token),
rate limit, size limits</a:t>
            </a:r>
          </a:p>
        </p:txBody>
      </p:sp>
      <p:cxnSp>
        <p:nvCxnSpPr>
          <p:cNvPr id="18" name="Connector 17"/>
          <p:cNvCxnSpPr/>
          <p:nvPr/>
        </p:nvCxnSpPr>
        <p:spPr>
          <a:xfrm>
            <a:off x="2468880" y="3726180"/>
            <a:ext cx="297180" cy="0"/>
          </a:xfrm>
          <a:prstGeom prst="line">
            <a:avLst/>
          </a:prstGeom>
          <a:ln w="15875">
            <a:solidFill>
              <a:schemeClr val="tx2"/>
            </a:solidFill>
            <a:tailEnd type="triangle"/>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5074920" y="3246120"/>
            <a:ext cx="2011680" cy="960120"/>
          </a:xfrm>
          <a:prstGeom prst="roundRect">
            <a:avLst>
              <a:gd name="adj" fmla="val 8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ctr">
              <a:spcAft>
                <a:spcPts val="400"/>
              </a:spcAft>
            </a:pPr>
            <a:r>
              <a:rPr sz="1200" b="1" i="0">
                <a:solidFill>
                  <a:schemeClr val="bg1"/>
                </a:solidFill>
              </a:rPr>
              <a:t>Edge collector</a:t>
            </a:r>
          </a:p>
          <a:p>
            <a:pPr algn="ctr">
              <a:spcAft>
                <a:spcPts val="400"/>
              </a:spcAft>
            </a:pPr>
            <a:r>
              <a:rPr sz="1000" b="0" i="0">
                <a:solidFill>
                  <a:schemeClr val="bg1"/>
                </a:solidFill>
              </a:rPr>
              <a:t>redact PII (allow-list),
sample: errors + 10% sessions</a:t>
            </a:r>
          </a:p>
        </p:txBody>
      </p:sp>
      <p:cxnSp>
        <p:nvCxnSpPr>
          <p:cNvPr id="20" name="Connector 19"/>
          <p:cNvCxnSpPr/>
          <p:nvPr/>
        </p:nvCxnSpPr>
        <p:spPr>
          <a:xfrm>
            <a:off x="4777740" y="3726180"/>
            <a:ext cx="297180" cy="0"/>
          </a:xfrm>
          <a:prstGeom prst="line">
            <a:avLst/>
          </a:prstGeom>
          <a:ln w="15875">
            <a:solidFill>
              <a:schemeClr val="tx2"/>
            </a:solidFill>
            <a:tailEnd type="triangle"/>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7383780" y="3246120"/>
            <a:ext cx="2011680" cy="960120"/>
          </a:xfrm>
          <a:prstGeom prst="roundRect">
            <a:avLst>
              <a:gd name="adj" fmla="val 8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ctr">
              <a:spcAft>
                <a:spcPts val="400"/>
              </a:spcAft>
            </a:pPr>
            <a:r>
              <a:rPr sz="1200" b="1" i="0">
                <a:solidFill>
                  <a:schemeClr val="bg1"/>
                </a:solidFill>
              </a:rPr>
              <a:t>Internal OTel Collector</a:t>
            </a:r>
          </a:p>
          <a:p>
            <a:pPr algn="ctr">
              <a:spcAft>
                <a:spcPts val="400"/>
              </a:spcAft>
            </a:pPr>
            <a:r>
              <a:rPr sz="1000" b="0" i="0">
                <a:solidFill>
                  <a:schemeClr val="bg1"/>
                </a:solidFill>
              </a:rPr>
              <a:t>same pipeline as the
mesh: journey, tail sampling</a:t>
            </a:r>
          </a:p>
        </p:txBody>
      </p:sp>
      <p:cxnSp>
        <p:nvCxnSpPr>
          <p:cNvPr id="22" name="Connector 21"/>
          <p:cNvCxnSpPr/>
          <p:nvPr/>
        </p:nvCxnSpPr>
        <p:spPr>
          <a:xfrm>
            <a:off x="7086600" y="3726180"/>
            <a:ext cx="297180" cy="0"/>
          </a:xfrm>
          <a:prstGeom prst="line">
            <a:avLst/>
          </a:prstGeom>
          <a:ln w="15875">
            <a:solidFill>
              <a:schemeClr val="tx2"/>
            </a:solidFill>
            <a:tailEnd type="triangle"/>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9692640" y="3246120"/>
            <a:ext cx="2011680" cy="960120"/>
          </a:xfrm>
          <a:prstGeom prst="roundRect">
            <a:avLst>
              <a:gd name="adj" fmla="val 8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ctr">
              <a:spcAft>
                <a:spcPts val="400"/>
              </a:spcAft>
            </a:pPr>
            <a:r>
              <a:rPr sz="1200" b="1" i="0">
                <a:solidFill>
                  <a:schemeClr val="bg1"/>
                </a:solidFill>
              </a:rPr>
              <a:t>Tempo / Prometheus / Loki</a:t>
            </a:r>
          </a:p>
          <a:p>
            <a:pPr algn="ctr">
              <a:spcAft>
                <a:spcPts val="400"/>
              </a:spcAft>
            </a:pPr>
            <a:r>
              <a:rPr sz="1000" b="0" i="0">
                <a:solidFill>
                  <a:schemeClr val="bg1"/>
                </a:solidFill>
              </a:rPr>
              <a:t>traces; RED metrics from
spans; crash reports</a:t>
            </a:r>
          </a:p>
        </p:txBody>
      </p:sp>
      <p:cxnSp>
        <p:nvCxnSpPr>
          <p:cNvPr id="24" name="Connector 23"/>
          <p:cNvCxnSpPr/>
          <p:nvPr/>
        </p:nvCxnSpPr>
        <p:spPr>
          <a:xfrm>
            <a:off x="9395460" y="3726180"/>
            <a:ext cx="297180" cy="0"/>
          </a:xfrm>
          <a:prstGeom prst="line">
            <a:avLst/>
          </a:prstGeom>
          <a:ln w="15875">
            <a:solidFill>
              <a:schemeClr val="tx2"/>
            </a:solidFill>
            <a:tailEnd type="triangle"/>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457200" y="4434840"/>
            <a:ext cx="2651760" cy="1691640"/>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603504" y="4572000"/>
            <a:ext cx="201168" cy="201168"/>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96112" y="4517136"/>
            <a:ext cx="2103120" cy="310896"/>
          </a:xfrm>
          <a:prstGeom prst="rect">
            <a:avLst/>
          </a:prstGeom>
          <a:noFill/>
        </p:spPr>
        <p:txBody>
          <a:bodyPr wrap="square" lIns="0" rIns="0" tIns="0" bIns="0" anchor="t">
            <a:spAutoFit/>
          </a:bodyPr>
          <a:lstStyle/>
          <a:p>
            <a:pPr algn="l">
              <a:spcAft>
                <a:spcPts val="400"/>
              </a:spcAft>
            </a:pPr>
            <a:r>
              <a:rPr sz="1300" b="1" i="0">
                <a:solidFill>
                  <a:schemeClr val="tx1"/>
                </a:solidFill>
              </a:rPr>
              <a:t>What we gain</a:t>
            </a:r>
          </a:p>
        </p:txBody>
      </p:sp>
      <p:sp>
        <p:nvSpPr>
          <p:cNvPr id="28" name="TextBox 27"/>
          <p:cNvSpPr txBox="1"/>
          <p:nvPr/>
        </p:nvSpPr>
        <p:spPr>
          <a:xfrm>
            <a:off x="621792" y="4864608"/>
            <a:ext cx="2377440" cy="1234440"/>
          </a:xfrm>
          <a:prstGeom prst="rect">
            <a:avLst/>
          </a:prstGeom>
          <a:noFill/>
        </p:spPr>
        <p:txBody>
          <a:bodyPr wrap="square" lIns="0" rIns="0" tIns="0" bIns="0" anchor="t">
            <a:spAutoFit/>
          </a:bodyPr>
          <a:lstStyle/>
          <a:p>
            <a:pPr algn="l" marL="164592" indent="-146304">
              <a:spcAft>
                <a:spcPts val="200"/>
              </a:spcAft>
              <a:buChar char="•"/>
            </a:pPr>
            <a:r>
              <a:rPr sz="1050" b="0" i="0">
                <a:solidFill>
                  <a:schemeClr val="tx1"/>
                </a:solidFill>
              </a:rPr>
              <a:t>Time on the phone vs the network vs the bank, per tap.</a:t>
            </a:r>
          </a:p>
          <a:p>
            <a:pPr algn="l" marL="164592" indent="-146304">
              <a:spcAft>
                <a:spcPts val="200"/>
              </a:spcAft>
              <a:buChar char="•"/>
            </a:pPr>
            <a:r>
              <a:rPr sz="1050" b="0" i="0">
                <a:solidFill>
                  <a:schemeClr val="tx1"/>
                </a:solidFill>
              </a:rPr>
              <a:t>Errors and crashes linked to the server trace.</a:t>
            </a:r>
          </a:p>
          <a:p>
            <a:pPr algn="l" marL="164592" indent="-146304">
              <a:spcAft>
                <a:spcPts val="200"/>
              </a:spcAft>
              <a:buChar char="•"/>
            </a:pPr>
            <a:r>
              <a:rPr sz="1050" b="0" i="0">
                <a:solidFill>
                  <a:schemeClr val="tx1"/>
                </a:solidFill>
              </a:rPr>
              <a:t>Breakdown by app version, OS and network type.</a:t>
            </a:r>
          </a:p>
        </p:txBody>
      </p:sp>
      <p:sp>
        <p:nvSpPr>
          <p:cNvPr id="29" name="Rounded Rectangle 28"/>
          <p:cNvSpPr/>
          <p:nvPr/>
        </p:nvSpPr>
        <p:spPr>
          <a:xfrm>
            <a:off x="3291840" y="4434840"/>
            <a:ext cx="2651760" cy="1691640"/>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3438144" y="4572000"/>
            <a:ext cx="201168" cy="201168"/>
          </a:xfrm>
          <a:prstGeom prst="ellipse">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730752" y="4517136"/>
            <a:ext cx="2103120" cy="310896"/>
          </a:xfrm>
          <a:prstGeom prst="rect">
            <a:avLst/>
          </a:prstGeom>
          <a:noFill/>
        </p:spPr>
        <p:txBody>
          <a:bodyPr wrap="square" lIns="0" rIns="0" tIns="0" bIns="0" anchor="t">
            <a:spAutoFit/>
          </a:bodyPr>
          <a:lstStyle/>
          <a:p>
            <a:pPr algn="l">
              <a:spcAft>
                <a:spcPts val="400"/>
              </a:spcAft>
            </a:pPr>
            <a:r>
              <a:rPr sz="1300" b="1" i="0">
                <a:solidFill>
                  <a:schemeClr val="tx1"/>
                </a:solidFill>
              </a:rPr>
              <a:t>What to build</a:t>
            </a:r>
          </a:p>
        </p:txBody>
      </p:sp>
      <p:sp>
        <p:nvSpPr>
          <p:cNvPr id="32" name="TextBox 31"/>
          <p:cNvSpPr txBox="1"/>
          <p:nvPr/>
        </p:nvSpPr>
        <p:spPr>
          <a:xfrm>
            <a:off x="3456432" y="4864608"/>
            <a:ext cx="2377440" cy="1234440"/>
          </a:xfrm>
          <a:prstGeom prst="rect">
            <a:avLst/>
          </a:prstGeom>
          <a:noFill/>
        </p:spPr>
        <p:txBody>
          <a:bodyPr wrap="square" lIns="0" rIns="0" tIns="0" bIns="0" anchor="t">
            <a:spAutoFit/>
          </a:bodyPr>
          <a:lstStyle/>
          <a:p>
            <a:pPr algn="l" marL="164592" indent="-146304">
              <a:spcAft>
                <a:spcPts val="200"/>
              </a:spcAft>
              <a:buChar char="•"/>
            </a:pPr>
            <a:r>
              <a:rPr sz="1050" b="0" i="0">
                <a:solidFill>
                  <a:schemeClr val="tx1"/>
                </a:solidFill>
              </a:rPr>
              <a:t>OTel SDK in the app (auto-instruments the HTTP client).</a:t>
            </a:r>
          </a:p>
          <a:p>
            <a:pPr algn="l" marL="164592" indent="-146304">
              <a:spcAft>
                <a:spcPts val="200"/>
              </a:spcAft>
              <a:buChar char="•"/>
            </a:pPr>
            <a:r>
              <a:rPr sz="1050" b="0" i="0">
                <a:solidFill>
                  <a:schemeClr val="tx1"/>
                </a:solidFill>
              </a:rPr>
              <a:t>traceparent on the edge allow-list.</a:t>
            </a:r>
          </a:p>
          <a:p>
            <a:pPr algn="l" marL="164592" indent="-146304">
              <a:spcAft>
                <a:spcPts val="200"/>
              </a:spcAft>
              <a:buChar char="•"/>
            </a:pPr>
            <a:r>
              <a:rPr sz="1050" b="0" i="0">
                <a:solidFill>
                  <a:schemeClr val="tx1"/>
                </a:solidFill>
              </a:rPr>
              <a:t>Public OTLP endpoint + edge collector.</a:t>
            </a:r>
          </a:p>
        </p:txBody>
      </p:sp>
      <p:sp>
        <p:nvSpPr>
          <p:cNvPr id="33" name="Rounded Rectangle 32"/>
          <p:cNvSpPr/>
          <p:nvPr/>
        </p:nvSpPr>
        <p:spPr>
          <a:xfrm>
            <a:off x="6126480" y="4434840"/>
            <a:ext cx="2651760" cy="1691640"/>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272784" y="4572000"/>
            <a:ext cx="201168" cy="201168"/>
          </a:xfrm>
          <a:prstGeom prst="ellipse">
            <a:avLst/>
          </a:prstGeom>
          <a:solidFill>
            <a:schemeClr val="accent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565392" y="4517136"/>
            <a:ext cx="2103120" cy="310896"/>
          </a:xfrm>
          <a:prstGeom prst="rect">
            <a:avLst/>
          </a:prstGeom>
          <a:noFill/>
        </p:spPr>
        <p:txBody>
          <a:bodyPr wrap="square" lIns="0" rIns="0" tIns="0" bIns="0" anchor="t">
            <a:spAutoFit/>
          </a:bodyPr>
          <a:lstStyle/>
          <a:p>
            <a:pPr algn="l">
              <a:spcAft>
                <a:spcPts val="400"/>
              </a:spcAft>
            </a:pPr>
            <a:r>
              <a:rPr sz="1300" b="1" i="0">
                <a:solidFill>
                  <a:schemeClr val="tx1"/>
                </a:solidFill>
              </a:rPr>
              <a:t>Guardrails</a:t>
            </a:r>
          </a:p>
        </p:txBody>
      </p:sp>
      <p:sp>
        <p:nvSpPr>
          <p:cNvPr id="36" name="TextBox 35"/>
          <p:cNvSpPr txBox="1"/>
          <p:nvPr/>
        </p:nvSpPr>
        <p:spPr>
          <a:xfrm>
            <a:off x="6291072" y="4864608"/>
            <a:ext cx="2377440" cy="1234440"/>
          </a:xfrm>
          <a:prstGeom prst="rect">
            <a:avLst/>
          </a:prstGeom>
          <a:noFill/>
        </p:spPr>
        <p:txBody>
          <a:bodyPr wrap="square" lIns="0" rIns="0" tIns="0" bIns="0" anchor="t">
            <a:spAutoFit/>
          </a:bodyPr>
          <a:lstStyle/>
          <a:p>
            <a:pPr algn="l" marL="164592" indent="-146304">
              <a:spcAft>
                <a:spcPts val="200"/>
              </a:spcAft>
              <a:buChar char="•"/>
            </a:pPr>
            <a:r>
              <a:rPr sz="1050" b="0" i="0">
                <a:solidFill>
                  <a:schemeClr val="tx1"/>
                </a:solidFill>
              </a:rPr>
              <a:t>No account numbers, names or device IDs in spans.</a:t>
            </a:r>
          </a:p>
          <a:p>
            <a:pPr algn="l" marL="164592" indent="-146304">
              <a:spcAft>
                <a:spcPts val="200"/>
              </a:spcAft>
              <a:buChar char="•"/>
            </a:pPr>
            <a:r>
              <a:rPr sz="1050" b="0" i="0">
                <a:solidFill>
                  <a:schemeClr val="tx1"/>
                </a:solidFill>
              </a:rPr>
              <a:t>Collector redaction + attribute allow-list.</a:t>
            </a:r>
          </a:p>
          <a:p>
            <a:pPr algn="l" marL="164592" indent="-146304">
              <a:spcAft>
                <a:spcPts val="200"/>
              </a:spcAft>
              <a:buChar char="•"/>
            </a:pPr>
            <a:r>
              <a:rPr sz="1050" b="0" i="0">
                <a:solidFill>
                  <a:schemeClr val="tx1"/>
                </a:solidFill>
              </a:rPr>
              <a:t>Journey set by the gateway, never by the app.</a:t>
            </a:r>
          </a:p>
        </p:txBody>
      </p:sp>
      <p:sp>
        <p:nvSpPr>
          <p:cNvPr id="37" name="Rounded Rectangle 36"/>
          <p:cNvSpPr/>
          <p:nvPr/>
        </p:nvSpPr>
        <p:spPr>
          <a:xfrm>
            <a:off x="8961120" y="4434840"/>
            <a:ext cx="2651760" cy="1691640"/>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9107424" y="4572000"/>
            <a:ext cx="201168" cy="201168"/>
          </a:xfrm>
          <a:prstGeom prst="ellipse">
            <a:avLst/>
          </a:prstGeom>
          <a:solidFill>
            <a:schemeClr val="accent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9400032" y="4517136"/>
            <a:ext cx="2103120" cy="310896"/>
          </a:xfrm>
          <a:prstGeom prst="rect">
            <a:avLst/>
          </a:prstGeom>
          <a:noFill/>
        </p:spPr>
        <p:txBody>
          <a:bodyPr wrap="square" lIns="0" rIns="0" tIns="0" bIns="0" anchor="t">
            <a:spAutoFit/>
          </a:bodyPr>
          <a:lstStyle/>
          <a:p>
            <a:pPr algn="l">
              <a:spcAft>
                <a:spcPts val="400"/>
              </a:spcAft>
            </a:pPr>
            <a:r>
              <a:rPr sz="1300" b="1" i="0">
                <a:solidFill>
                  <a:schemeClr val="tx1"/>
                </a:solidFill>
              </a:rPr>
              <a:t>Decide</a:t>
            </a:r>
          </a:p>
        </p:txBody>
      </p:sp>
      <p:sp>
        <p:nvSpPr>
          <p:cNvPr id="40" name="TextBox 39"/>
          <p:cNvSpPr txBox="1"/>
          <p:nvPr/>
        </p:nvSpPr>
        <p:spPr>
          <a:xfrm>
            <a:off x="9125712" y="4864608"/>
            <a:ext cx="2377440" cy="1234440"/>
          </a:xfrm>
          <a:prstGeom prst="rect">
            <a:avLst/>
          </a:prstGeom>
          <a:noFill/>
        </p:spPr>
        <p:txBody>
          <a:bodyPr wrap="square" lIns="0" rIns="0" tIns="0" bIns="0" anchor="t">
            <a:spAutoFit/>
          </a:bodyPr>
          <a:lstStyle/>
          <a:p>
            <a:pPr algn="l" marL="164592" indent="-146304">
              <a:spcAft>
                <a:spcPts val="200"/>
              </a:spcAft>
              <a:buChar char="•"/>
            </a:pPr>
            <a:r>
              <a:rPr sz="1050" b="0" i="0">
                <a:solidFill>
                  <a:schemeClr val="tx1"/>
                </a:solidFill>
              </a:rPr>
              <a:t>Trust client trace IDs, or start a new trace at the gateway?</a:t>
            </a:r>
          </a:p>
          <a:p>
            <a:pPr algn="l" marL="164592" indent="-146304">
              <a:spcAft>
                <a:spcPts val="200"/>
              </a:spcAft>
              <a:buChar char="•"/>
            </a:pPr>
            <a:r>
              <a:rPr sz="1050" b="0" i="0">
                <a:solidFill>
                  <a:schemeClr val="tx1"/>
                </a:solidFill>
              </a:rPr>
              <a:t>OpenTelemetry SDK or a commercial RUM product?</a:t>
            </a:r>
          </a:p>
          <a:p>
            <a:pPr algn="l" marL="164592" indent="-146304">
              <a:spcAft>
                <a:spcPts val="200"/>
              </a:spcAft>
              <a:buChar char="•"/>
            </a:pPr>
            <a:r>
              <a:rPr sz="1050" b="0" i="0">
                <a:solidFill>
                  <a:schemeClr val="tx1"/>
                </a:solidFill>
              </a:rPr>
              <a:t>Consent and sampling rate per app release.</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11247120" cy="731520"/>
          </a:xfrm>
          <a:prstGeom prst="rect">
            <a:avLst/>
          </a:prstGeom>
          <a:noFill/>
          <a:ln/>
        </p:spPr>
        <p:txBody>
          <a:bodyPr wrap="square" rtlCol="0" anchor="ctr"/>
          <a:lstStyle/>
          <a:p>
            <a:pPr algn="l" indent="0" marL="0">
              <a:buNone/>
            </a:pPr>
            <a:r>
              <a:rPr lang="en-US" sz="3000" b="1" dirty="0">
                <a:solidFill>
                  <a:schemeClr val="tx1"/>
                </a:solidFill>
              </a:rPr>
              <a:t>Implementation steps</a:t>
            </a:r>
            <a:endParaRPr lang="en-US" sz="3000" dirty="0"/>
          </a:p>
        </p:txBody>
      </p:sp>
      <p:sp>
        <p:nvSpPr>
          <p:cNvPr id="3" name="Step 1"/>
          <p:cNvSpPr/>
          <p:nvPr/>
        </p:nvSpPr>
        <p:spPr>
          <a:xfrm>
            <a:off x="457200" y="1325880"/>
            <a:ext cx="2606040" cy="2148840"/>
          </a:xfrm>
          <a:prstGeom prst="roundRect">
            <a:avLst>
              <a:gd name="adj" fmla="val 4255"/>
            </a:avLst>
          </a:prstGeom>
          <a:solidFill>
            <a:schemeClr val="bg2"/>
          </a:solidFill>
          <a:ln w="12700">
            <a:solidFill>
              <a:schemeClr val="bg2"/>
            </a:solidFill>
            <a:prstDash val="solid"/>
          </a:ln>
        </p:spPr>
        <p:txBody>
          <a:bodyPr/>
          <a:p/>
        </p:txBody>
      </p:sp>
      <p:sp>
        <p:nvSpPr>
          <p:cNvPr id="4" name="Shape 2"/>
          <p:cNvSpPr/>
          <p:nvPr/>
        </p:nvSpPr>
        <p:spPr>
          <a:xfrm>
            <a:off x="685800" y="1554480"/>
            <a:ext cx="502920" cy="502920"/>
          </a:xfrm>
          <a:prstGeom prst="ellipse">
            <a:avLst/>
          </a:prstGeom>
          <a:solidFill>
            <a:schemeClr val="accent2"/>
          </a:solidFill>
          <a:ln w="6350">
            <a:solidFill>
              <a:schemeClr val="accent2"/>
            </a:solidFill>
            <a:prstDash val="solid"/>
          </a:ln>
        </p:spPr>
        <p:txBody>
          <a:bodyPr/>
          <a:p/>
        </p:txBody>
      </p:sp>
      <p:sp>
        <p:nvSpPr>
          <p:cNvPr id="5" name="Text 3"/>
          <p:cNvSpPr txBox="1"/>
          <p:nvPr/>
        </p:nvSpPr>
        <p:spPr>
          <a:xfrm>
            <a:off x="685800" y="1554480"/>
            <a:ext cx="502920" cy="502920"/>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6" name="Text 4"/>
          <p:cNvSpPr txBox="1"/>
          <p:nvPr/>
        </p:nvSpPr>
        <p:spPr>
          <a:xfrm>
            <a:off x="685800" y="2194560"/>
            <a:ext cx="2148840" cy="548640"/>
          </a:xfrm>
          <a:prstGeom prst="rect">
            <a:avLst/>
          </a:prstGeom>
          <a:noFill/>
          <a:ln/>
        </p:spPr>
        <p:txBody>
          <a:bodyPr wrap="square" lIns="0" tIns="0" rIns="0" bIns="0" rtlCol="0" anchor="t"/>
          <a:lstStyle/>
          <a:p>
            <a:pPr indent="0" marL="0">
              <a:buNone/>
            </a:pPr>
            <a:r>
              <a:rPr lang="en-US" sz="1500" b="1" dirty="0">
                <a:solidFill>
                  <a:schemeClr val="tx1"/>
                </a:solidFill>
              </a:rPr>
              <a:t>Enable user workload monitoring</a:t>
            </a:r>
            <a:endParaRPr lang="en-US" sz="1500" dirty="0"/>
          </a:p>
        </p:txBody>
      </p:sp>
      <p:sp>
        <p:nvSpPr>
          <p:cNvPr id="7" name="Text 5"/>
          <p:cNvSpPr txBox="1"/>
          <p:nvPr/>
        </p:nvSpPr>
        <p:spPr>
          <a:xfrm>
            <a:off x="685800" y="2743200"/>
            <a:ext cx="2148840" cy="640080"/>
          </a:xfrm>
          <a:prstGeom prst="rect">
            <a:avLst/>
          </a:prstGeom>
          <a:noFill/>
          <a:ln/>
        </p:spPr>
        <p:txBody>
          <a:bodyPr wrap="square" lIns="0" tIns="0" rIns="0" bIns="0" rtlCol="0" anchor="t"/>
          <a:lstStyle/>
          <a:p>
            <a:pPr indent="0" marL="0">
              <a:buNone/>
            </a:pPr>
            <a:r>
              <a:rPr lang="en-US" sz="1200" dirty="0">
                <a:solidFill>
                  <a:schemeClr val="tx2"/>
                </a:solidFill>
              </a:rPr>
              <a:t>cluster-monitoring-config: enableUserWorkload</a:t>
            </a:r>
            <a:endParaRPr lang="en-US" sz="1200" dirty="0"/>
          </a:p>
        </p:txBody>
      </p:sp>
      <p:sp>
        <p:nvSpPr>
          <p:cNvPr id="8" name="Step 2"/>
          <p:cNvSpPr/>
          <p:nvPr/>
        </p:nvSpPr>
        <p:spPr>
          <a:xfrm>
            <a:off x="3337560" y="1325880"/>
            <a:ext cx="2606040" cy="2148840"/>
          </a:xfrm>
          <a:prstGeom prst="roundRect">
            <a:avLst>
              <a:gd name="adj" fmla="val 4255"/>
            </a:avLst>
          </a:prstGeom>
          <a:solidFill>
            <a:schemeClr val="bg2"/>
          </a:solidFill>
          <a:ln w="12700">
            <a:solidFill>
              <a:schemeClr val="bg2"/>
            </a:solidFill>
            <a:prstDash val="solid"/>
          </a:ln>
        </p:spPr>
        <p:txBody>
          <a:bodyPr/>
          <a:p/>
        </p:txBody>
      </p:sp>
      <p:sp>
        <p:nvSpPr>
          <p:cNvPr id="9" name="Shape 7"/>
          <p:cNvSpPr/>
          <p:nvPr/>
        </p:nvSpPr>
        <p:spPr>
          <a:xfrm>
            <a:off x="3566160" y="1554480"/>
            <a:ext cx="502920" cy="502920"/>
          </a:xfrm>
          <a:prstGeom prst="ellipse">
            <a:avLst/>
          </a:prstGeom>
          <a:solidFill>
            <a:schemeClr val="accent2"/>
          </a:solidFill>
          <a:ln w="6350">
            <a:solidFill>
              <a:schemeClr val="accent2"/>
            </a:solidFill>
            <a:prstDash val="solid"/>
          </a:ln>
        </p:spPr>
        <p:txBody>
          <a:bodyPr/>
          <a:p/>
        </p:txBody>
      </p:sp>
      <p:sp>
        <p:nvSpPr>
          <p:cNvPr id="10" name="Text 8"/>
          <p:cNvSpPr txBox="1"/>
          <p:nvPr/>
        </p:nvSpPr>
        <p:spPr>
          <a:xfrm>
            <a:off x="3566160" y="1554480"/>
            <a:ext cx="502920" cy="502920"/>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1" name="Text 9"/>
          <p:cNvSpPr txBox="1"/>
          <p:nvPr/>
        </p:nvSpPr>
        <p:spPr>
          <a:xfrm>
            <a:off x="3566160" y="2194560"/>
            <a:ext cx="2148840" cy="548640"/>
          </a:xfrm>
          <a:prstGeom prst="rect">
            <a:avLst/>
          </a:prstGeom>
          <a:noFill/>
          <a:ln/>
        </p:spPr>
        <p:txBody>
          <a:bodyPr wrap="square" lIns="0" tIns="0" rIns="0" bIns="0" rtlCol="0" anchor="t"/>
          <a:lstStyle/>
          <a:p>
            <a:pPr indent="0" marL="0">
              <a:buNone/>
            </a:pPr>
            <a:r>
              <a:rPr lang="en-US" sz="1500" b="1" dirty="0">
                <a:solidFill>
                  <a:schemeClr val="tx1"/>
                </a:solidFill>
              </a:rPr>
              <a:t>Scrape the mesh</a:t>
            </a:r>
            <a:endParaRPr lang="en-US" sz="1500" dirty="0"/>
          </a:p>
        </p:txBody>
      </p:sp>
      <p:sp>
        <p:nvSpPr>
          <p:cNvPr id="12" name="Text 10"/>
          <p:cNvSpPr txBox="1"/>
          <p:nvPr/>
        </p:nvSpPr>
        <p:spPr>
          <a:xfrm>
            <a:off x="3566160" y="2743200"/>
            <a:ext cx="2148840" cy="640080"/>
          </a:xfrm>
          <a:prstGeom prst="rect">
            <a:avLst/>
          </a:prstGeom>
          <a:noFill/>
          <a:ln/>
        </p:spPr>
        <p:txBody>
          <a:bodyPr wrap="square" lIns="0" tIns="0" rIns="0" bIns="0" rtlCol="0" anchor="t"/>
          <a:lstStyle/>
          <a:p>
            <a:pPr indent="0" marL="0">
              <a:buNone/>
            </a:pPr>
            <a:r>
              <a:rPr lang="en-US" sz="1200" dirty="0">
                <a:solidFill>
                  <a:schemeClr val="tx2"/>
                </a:solidFill>
              </a:rPr>
              <a:t>PodMonitor for sidecars, ServiceMonitor for istiod</a:t>
            </a:r>
            <a:endParaRPr lang="en-US" sz="1200" dirty="0"/>
          </a:p>
        </p:txBody>
      </p:sp>
      <p:sp>
        <p:nvSpPr>
          <p:cNvPr id="13" name="Step 3"/>
          <p:cNvSpPr/>
          <p:nvPr/>
        </p:nvSpPr>
        <p:spPr>
          <a:xfrm>
            <a:off x="6217920" y="1325880"/>
            <a:ext cx="2606040" cy="2148840"/>
          </a:xfrm>
          <a:prstGeom prst="roundRect">
            <a:avLst>
              <a:gd name="adj" fmla="val 4255"/>
            </a:avLst>
          </a:prstGeom>
          <a:solidFill>
            <a:schemeClr val="bg2"/>
          </a:solidFill>
          <a:ln w="12700">
            <a:solidFill>
              <a:schemeClr val="bg2"/>
            </a:solidFill>
            <a:prstDash val="solid"/>
          </a:ln>
        </p:spPr>
        <p:txBody>
          <a:bodyPr/>
          <a:p/>
        </p:txBody>
      </p:sp>
      <p:sp>
        <p:nvSpPr>
          <p:cNvPr id="14" name="Shape 12"/>
          <p:cNvSpPr/>
          <p:nvPr/>
        </p:nvSpPr>
        <p:spPr>
          <a:xfrm>
            <a:off x="6446520" y="1554480"/>
            <a:ext cx="502920" cy="502920"/>
          </a:xfrm>
          <a:prstGeom prst="ellipse">
            <a:avLst/>
          </a:prstGeom>
          <a:solidFill>
            <a:schemeClr val="accent2"/>
          </a:solidFill>
          <a:ln w="6350">
            <a:solidFill>
              <a:schemeClr val="accent2"/>
            </a:solidFill>
            <a:prstDash val="solid"/>
          </a:ln>
        </p:spPr>
        <p:txBody>
          <a:bodyPr/>
          <a:p/>
        </p:txBody>
      </p:sp>
      <p:sp>
        <p:nvSpPr>
          <p:cNvPr id="15" name="Text 13"/>
          <p:cNvSpPr txBox="1"/>
          <p:nvPr/>
        </p:nvSpPr>
        <p:spPr>
          <a:xfrm>
            <a:off x="6446520" y="1554480"/>
            <a:ext cx="502920" cy="502920"/>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6" name="Text 14"/>
          <p:cNvSpPr txBox="1"/>
          <p:nvPr/>
        </p:nvSpPr>
        <p:spPr>
          <a:xfrm>
            <a:off x="6446520" y="2194560"/>
            <a:ext cx="2148840" cy="548640"/>
          </a:xfrm>
          <a:prstGeom prst="rect">
            <a:avLst/>
          </a:prstGeom>
          <a:noFill/>
          <a:ln/>
        </p:spPr>
        <p:txBody>
          <a:bodyPr wrap="square" lIns="0" tIns="0" rIns="0" bIns="0" rtlCol="0" anchor="t"/>
          <a:lstStyle/>
          <a:p>
            <a:pPr indent="0" marL="0">
              <a:buNone/>
            </a:pPr>
            <a:r>
              <a:rPr lang="en-US" sz="1500" b="1" dirty="0">
                <a:solidFill>
                  <a:schemeClr val="tx1"/>
                </a:solidFill>
              </a:rPr>
              <a:t>Connect Kiali</a:t>
            </a:r>
            <a:endParaRPr lang="en-US" sz="1500" dirty="0"/>
          </a:p>
        </p:txBody>
      </p:sp>
      <p:sp>
        <p:nvSpPr>
          <p:cNvPr id="17" name="Text 15"/>
          <p:cNvSpPr txBox="1"/>
          <p:nvPr/>
        </p:nvSpPr>
        <p:spPr>
          <a:xfrm>
            <a:off x="6446520" y="2743200"/>
            <a:ext cx="2148840" cy="640080"/>
          </a:xfrm>
          <a:prstGeom prst="rect">
            <a:avLst/>
          </a:prstGeom>
          <a:noFill/>
          <a:ln/>
        </p:spPr>
        <p:txBody>
          <a:bodyPr wrap="square" lIns="0" tIns="0" rIns="0" bIns="0" rtlCol="0" anchor="t"/>
          <a:lstStyle/>
          <a:p>
            <a:pPr indent="0" marL="0">
              <a:buNone/>
            </a:pPr>
            <a:r>
              <a:rPr lang="en-US" sz="1200" dirty="0">
                <a:solidFill>
                  <a:schemeClr val="tx2"/>
                </a:solidFill>
              </a:rPr>
              <a:t>Point to Thanos Querier; service graph live</a:t>
            </a:r>
            <a:endParaRPr lang="en-US" sz="1200" dirty="0"/>
          </a:p>
        </p:txBody>
      </p:sp>
      <p:sp>
        <p:nvSpPr>
          <p:cNvPr id="18" name="Step 4"/>
          <p:cNvSpPr/>
          <p:nvPr/>
        </p:nvSpPr>
        <p:spPr>
          <a:xfrm>
            <a:off x="9098280" y="1325880"/>
            <a:ext cx="2606040" cy="2148840"/>
          </a:xfrm>
          <a:prstGeom prst="roundRect">
            <a:avLst>
              <a:gd name="adj" fmla="val 4255"/>
            </a:avLst>
          </a:prstGeom>
          <a:solidFill>
            <a:schemeClr val="bg2"/>
          </a:solidFill>
          <a:ln w="12700">
            <a:solidFill>
              <a:schemeClr val="bg2"/>
            </a:solidFill>
            <a:prstDash val="solid"/>
          </a:ln>
        </p:spPr>
        <p:txBody>
          <a:bodyPr/>
          <a:p/>
        </p:txBody>
      </p:sp>
      <p:sp>
        <p:nvSpPr>
          <p:cNvPr id="19" name="Shape 17"/>
          <p:cNvSpPr/>
          <p:nvPr/>
        </p:nvSpPr>
        <p:spPr>
          <a:xfrm>
            <a:off x="9326880" y="1554480"/>
            <a:ext cx="502920" cy="502920"/>
          </a:xfrm>
          <a:prstGeom prst="ellipse">
            <a:avLst/>
          </a:prstGeom>
          <a:solidFill>
            <a:schemeClr val="accent1"/>
          </a:solidFill>
          <a:ln w="6350">
            <a:solidFill>
              <a:schemeClr val="accent1"/>
            </a:solidFill>
            <a:prstDash val="solid"/>
          </a:ln>
        </p:spPr>
        <p:txBody>
          <a:bodyPr/>
          <a:p/>
        </p:txBody>
      </p:sp>
      <p:sp>
        <p:nvSpPr>
          <p:cNvPr id="20" name="Text 18"/>
          <p:cNvSpPr txBox="1"/>
          <p:nvPr/>
        </p:nvSpPr>
        <p:spPr>
          <a:xfrm>
            <a:off x="9326880" y="1554480"/>
            <a:ext cx="502920" cy="502920"/>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21" name="Text 19"/>
          <p:cNvSpPr txBox="1"/>
          <p:nvPr/>
        </p:nvSpPr>
        <p:spPr>
          <a:xfrm>
            <a:off x="9326880" y="2194560"/>
            <a:ext cx="2148840" cy="548640"/>
          </a:xfrm>
          <a:prstGeom prst="rect">
            <a:avLst/>
          </a:prstGeom>
          <a:noFill/>
          <a:ln/>
        </p:spPr>
        <p:txBody>
          <a:bodyPr wrap="square" lIns="0" tIns="0" rIns="0" bIns="0" rtlCol="0" anchor="t"/>
          <a:lstStyle/>
          <a:p>
            <a:pPr indent="0" marL="0">
              <a:buNone/>
            </a:pPr>
            <a:r>
              <a:rPr lang="en-US" sz="1500" b="1" dirty="0">
                <a:solidFill>
                  <a:schemeClr val="tx1"/>
                </a:solidFill>
              </a:rPr>
              <a:t>Deploy trace and log stores</a:t>
            </a:r>
            <a:endParaRPr lang="en-US" sz="1500" dirty="0"/>
          </a:p>
        </p:txBody>
      </p:sp>
      <p:sp>
        <p:nvSpPr>
          <p:cNvPr id="22" name="Text 20"/>
          <p:cNvSpPr txBox="1"/>
          <p:nvPr/>
        </p:nvSpPr>
        <p:spPr>
          <a:xfrm>
            <a:off x="9326880" y="2743200"/>
            <a:ext cx="2148840" cy="640080"/>
          </a:xfrm>
          <a:prstGeom prst="rect">
            <a:avLst/>
          </a:prstGeom>
          <a:noFill/>
          <a:ln/>
        </p:spPr>
        <p:txBody>
          <a:bodyPr wrap="square" lIns="0" tIns="0" rIns="0" bIns="0" rtlCol="0" anchor="t"/>
          <a:lstStyle/>
          <a:p>
            <a:pPr indent="0" marL="0">
              <a:buNone/>
            </a:pPr>
            <a:r>
              <a:rPr lang="en-US" sz="1200" dirty="0">
                <a:solidFill>
                  <a:schemeClr val="tx2"/>
                </a:solidFill>
              </a:rPr>
              <a:t>Tempo, Loki and Red Hat build of OpenTelemetry</a:t>
            </a:r>
            <a:endParaRPr lang="en-US" sz="1200" dirty="0"/>
          </a:p>
        </p:txBody>
      </p:sp>
      <p:sp>
        <p:nvSpPr>
          <p:cNvPr id="23" name="Step 5"/>
          <p:cNvSpPr/>
          <p:nvPr/>
        </p:nvSpPr>
        <p:spPr>
          <a:xfrm>
            <a:off x="457200" y="3749040"/>
            <a:ext cx="2606040" cy="2148840"/>
          </a:xfrm>
          <a:prstGeom prst="roundRect">
            <a:avLst>
              <a:gd name="adj" fmla="val 4255"/>
            </a:avLst>
          </a:prstGeom>
          <a:solidFill>
            <a:schemeClr val="accent6"/>
          </a:solidFill>
          <a:ln w="12700">
            <a:solidFill>
              <a:schemeClr val="accent6"/>
            </a:solidFill>
            <a:prstDash val="solid"/>
          </a:ln>
        </p:spPr>
        <p:txBody>
          <a:bodyPr/>
          <a:p/>
        </p:txBody>
      </p:sp>
      <p:sp>
        <p:nvSpPr>
          <p:cNvPr id="24" name="Shape 22"/>
          <p:cNvSpPr/>
          <p:nvPr/>
        </p:nvSpPr>
        <p:spPr>
          <a:xfrm>
            <a:off x="685800" y="3977640"/>
            <a:ext cx="502920" cy="502920"/>
          </a:xfrm>
          <a:prstGeom prst="ellipse">
            <a:avLst/>
          </a:prstGeom>
          <a:solidFill>
            <a:schemeClr val="accent1"/>
          </a:solidFill>
          <a:ln w="6350">
            <a:solidFill>
              <a:schemeClr val="accent1"/>
            </a:solidFill>
            <a:prstDash val="solid"/>
          </a:ln>
        </p:spPr>
        <p:txBody>
          <a:bodyPr/>
          <a:p/>
        </p:txBody>
      </p:sp>
      <p:sp>
        <p:nvSpPr>
          <p:cNvPr id="25" name="Text 23"/>
          <p:cNvSpPr txBox="1"/>
          <p:nvPr/>
        </p:nvSpPr>
        <p:spPr>
          <a:xfrm>
            <a:off x="685800" y="3977640"/>
            <a:ext cx="502920" cy="502920"/>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26" name="Text 24"/>
          <p:cNvSpPr txBox="1"/>
          <p:nvPr/>
        </p:nvSpPr>
        <p:spPr>
          <a:xfrm>
            <a:off x="685800" y="4617720"/>
            <a:ext cx="2148840" cy="548640"/>
          </a:xfrm>
          <a:prstGeom prst="rect">
            <a:avLst/>
          </a:prstGeom>
          <a:noFill/>
          <a:ln/>
        </p:spPr>
        <p:txBody>
          <a:bodyPr wrap="square" lIns="0" tIns="0" rIns="0" bIns="0" rtlCol="0" anchor="t"/>
          <a:lstStyle/>
          <a:p>
            <a:pPr indent="0" marL="0">
              <a:buNone/>
            </a:pPr>
            <a:r>
              <a:rPr lang="en-US" sz="1500" b="1" dirty="0">
                <a:solidFill>
                  <a:schemeClr val="tx1"/>
                </a:solidFill>
              </a:rPr>
              <a:t>Send traces and access logs</a:t>
            </a:r>
            <a:endParaRPr lang="en-US" sz="1500" dirty="0"/>
          </a:p>
        </p:txBody>
      </p:sp>
      <p:sp>
        <p:nvSpPr>
          <p:cNvPr id="27" name="Text 25"/>
          <p:cNvSpPr txBox="1"/>
          <p:nvPr/>
        </p:nvSpPr>
        <p:spPr>
          <a:xfrm>
            <a:off x="685800" y="5166360"/>
            <a:ext cx="2148840" cy="640080"/>
          </a:xfrm>
          <a:prstGeom prst="rect">
            <a:avLst/>
          </a:prstGeom>
          <a:noFill/>
          <a:ln/>
        </p:spPr>
        <p:txBody>
          <a:bodyPr wrap="square" lIns="0" tIns="0" rIns="0" bIns="0" rtlCol="0" anchor="t"/>
          <a:lstStyle/>
          <a:p>
            <a:pPr indent="0" marL="0">
              <a:buNone/>
            </a:pPr>
            <a:r>
              <a:rPr lang="en-US" sz="1200" dirty="0">
                <a:solidFill>
                  <a:schemeClr val="tx2"/>
                </a:solidFill>
              </a:rPr>
              <a:t>Telemetry API providers; tail sampling keeps all errors</a:t>
            </a:r>
            <a:endParaRPr lang="en-US" sz="1200" dirty="0"/>
          </a:p>
        </p:txBody>
      </p:sp>
      <p:sp>
        <p:nvSpPr>
          <p:cNvPr id="28" name="Step 6"/>
          <p:cNvSpPr/>
          <p:nvPr/>
        </p:nvSpPr>
        <p:spPr>
          <a:xfrm>
            <a:off x="3337560" y="3749040"/>
            <a:ext cx="2606040" cy="2148840"/>
          </a:xfrm>
          <a:prstGeom prst="roundRect">
            <a:avLst>
              <a:gd name="adj" fmla="val 4255"/>
            </a:avLst>
          </a:prstGeom>
          <a:solidFill>
            <a:schemeClr val="accent6"/>
          </a:solidFill>
          <a:ln w="12700">
            <a:solidFill>
              <a:schemeClr val="accent6"/>
            </a:solidFill>
            <a:prstDash val="solid"/>
          </a:ln>
        </p:spPr>
        <p:txBody>
          <a:bodyPr/>
          <a:p/>
        </p:txBody>
      </p:sp>
      <p:sp>
        <p:nvSpPr>
          <p:cNvPr id="29" name="Shape 27"/>
          <p:cNvSpPr/>
          <p:nvPr/>
        </p:nvSpPr>
        <p:spPr>
          <a:xfrm>
            <a:off x="3566160" y="3977640"/>
            <a:ext cx="502920" cy="502920"/>
          </a:xfrm>
          <a:prstGeom prst="ellipse">
            <a:avLst/>
          </a:prstGeom>
          <a:solidFill>
            <a:schemeClr val="accent1"/>
          </a:solidFill>
          <a:ln w="6350">
            <a:solidFill>
              <a:schemeClr val="accent1"/>
            </a:solidFill>
            <a:prstDash val="solid"/>
          </a:ln>
        </p:spPr>
        <p:txBody>
          <a:bodyPr/>
          <a:p/>
        </p:txBody>
      </p:sp>
      <p:sp>
        <p:nvSpPr>
          <p:cNvPr id="30" name="Text 28"/>
          <p:cNvSpPr txBox="1"/>
          <p:nvPr/>
        </p:nvSpPr>
        <p:spPr>
          <a:xfrm>
            <a:off x="3566160" y="3977640"/>
            <a:ext cx="502920" cy="502920"/>
          </a:xfrm>
          <a:prstGeom prst="rect">
            <a:avLst/>
          </a:prstGeom>
          <a:noFill/>
          <a:ln/>
        </p:spPr>
        <p:txBody>
          <a:bodyPr wrap="square" lIns="0" tIns="0" rIns="0" bIns="0" rtlCol="0" anchor="ctr"/>
          <a:lstStyle/>
          <a:p>
            <a:pPr algn="ctr" indent="0" marL="0">
              <a:buNone/>
            </a:pPr>
            <a:r>
              <a:rPr lang="en-US" sz="1400" b="1" dirty="0">
                <a:solidFill>
                  <a:schemeClr val="bg1"/>
                </a:solidFill>
              </a:rPr>
              <a:t>6</a:t>
            </a:r>
            <a:endParaRPr lang="en-US" sz="1400" dirty="0"/>
          </a:p>
        </p:txBody>
      </p:sp>
      <p:sp>
        <p:nvSpPr>
          <p:cNvPr id="31" name="Text 29"/>
          <p:cNvSpPr txBox="1"/>
          <p:nvPr/>
        </p:nvSpPr>
        <p:spPr>
          <a:xfrm>
            <a:off x="3566160" y="4617720"/>
            <a:ext cx="2148840" cy="548640"/>
          </a:xfrm>
          <a:prstGeom prst="rect">
            <a:avLst/>
          </a:prstGeom>
          <a:noFill/>
          <a:ln/>
        </p:spPr>
        <p:txBody>
          <a:bodyPr wrap="square" lIns="0" tIns="0" rIns="0" bIns="0" rtlCol="0" anchor="t"/>
          <a:lstStyle/>
          <a:p>
            <a:pPr indent="0" marL="0">
              <a:buNone/>
            </a:pPr>
            <a:r>
              <a:rPr lang="en-US" sz="1500" b="1" dirty="0">
                <a:solidFill>
                  <a:schemeClr val="tx1"/>
                </a:solidFill>
              </a:rPr>
              <a:t>Fix trace propagation</a:t>
            </a:r>
            <a:endParaRPr lang="en-US" sz="1500" dirty="0"/>
          </a:p>
        </p:txBody>
      </p:sp>
      <p:sp>
        <p:nvSpPr>
          <p:cNvPr id="32" name="Text 30"/>
          <p:cNvSpPr txBox="1"/>
          <p:nvPr/>
        </p:nvSpPr>
        <p:spPr>
          <a:xfrm>
            <a:off x="3566160" y="5166360"/>
            <a:ext cx="2148840" cy="640080"/>
          </a:xfrm>
          <a:prstGeom prst="rect">
            <a:avLst/>
          </a:prstGeom>
          <a:noFill/>
          <a:ln/>
        </p:spPr>
        <p:txBody>
          <a:bodyPr wrap="square" lIns="0" tIns="0" rIns="0" bIns="0" rtlCol="0" anchor="t"/>
          <a:lstStyle/>
          <a:p>
            <a:pPr indent="0" marL="0">
              <a:buNone/>
            </a:pPr>
            <a:r>
              <a:rPr lang="en-US" sz="1200" dirty="0">
                <a:solidFill>
                  <a:schemeClr val="tx2"/>
                </a:solidFill>
              </a:rPr>
              <a:t>OTel auto-instrumentation via annotations</a:t>
            </a:r>
            <a:endParaRPr lang="en-US" sz="1200" dirty="0"/>
          </a:p>
        </p:txBody>
      </p:sp>
      <p:sp>
        <p:nvSpPr>
          <p:cNvPr id="33" name="Step 7"/>
          <p:cNvSpPr/>
          <p:nvPr/>
        </p:nvSpPr>
        <p:spPr>
          <a:xfrm>
            <a:off x="6217920" y="3749040"/>
            <a:ext cx="2606040" cy="2148840"/>
          </a:xfrm>
          <a:prstGeom prst="roundRect">
            <a:avLst>
              <a:gd name="adj" fmla="val 4255"/>
            </a:avLst>
          </a:prstGeom>
          <a:solidFill>
            <a:schemeClr val="accent6"/>
          </a:solidFill>
          <a:ln w="12700">
            <a:solidFill>
              <a:schemeClr val="accent6"/>
            </a:solidFill>
            <a:prstDash val="solid"/>
          </a:ln>
        </p:spPr>
        <p:txBody>
          <a:bodyPr/>
          <a:p/>
        </p:txBody>
      </p:sp>
      <p:sp>
        <p:nvSpPr>
          <p:cNvPr id="34" name="Shape 32"/>
          <p:cNvSpPr/>
          <p:nvPr/>
        </p:nvSpPr>
        <p:spPr>
          <a:xfrm>
            <a:off x="6446520" y="3977640"/>
            <a:ext cx="502920" cy="502920"/>
          </a:xfrm>
          <a:prstGeom prst="ellipse">
            <a:avLst/>
          </a:prstGeom>
          <a:solidFill>
            <a:schemeClr val="accent4"/>
          </a:solidFill>
          <a:ln w="6350">
            <a:solidFill>
              <a:schemeClr val="accent4"/>
            </a:solidFill>
            <a:prstDash val="solid"/>
          </a:ln>
        </p:spPr>
        <p:txBody>
          <a:bodyPr/>
          <a:p/>
        </p:txBody>
      </p:sp>
      <p:sp>
        <p:nvSpPr>
          <p:cNvPr id="35" name="Text 33"/>
          <p:cNvSpPr txBox="1"/>
          <p:nvPr/>
        </p:nvSpPr>
        <p:spPr>
          <a:xfrm>
            <a:off x="6446520" y="3977640"/>
            <a:ext cx="502920" cy="502920"/>
          </a:xfrm>
          <a:prstGeom prst="rect">
            <a:avLst/>
          </a:prstGeom>
          <a:noFill/>
          <a:ln/>
        </p:spPr>
        <p:txBody>
          <a:bodyPr wrap="square" lIns="0" tIns="0" rIns="0" bIns="0" rtlCol="0" anchor="ctr"/>
          <a:lstStyle/>
          <a:p>
            <a:pPr algn="ctr" indent="0" marL="0">
              <a:buNone/>
            </a:pPr>
            <a:r>
              <a:rPr lang="en-US" sz="1400" b="1" dirty="0">
                <a:solidFill>
                  <a:schemeClr val="bg1"/>
                </a:solidFill>
              </a:rPr>
              <a:t>7</a:t>
            </a:r>
            <a:endParaRPr lang="en-US" sz="1400" dirty="0"/>
          </a:p>
        </p:txBody>
      </p:sp>
      <p:sp>
        <p:nvSpPr>
          <p:cNvPr id="36" name="Text 34"/>
          <p:cNvSpPr txBox="1"/>
          <p:nvPr/>
        </p:nvSpPr>
        <p:spPr>
          <a:xfrm>
            <a:off x="6446520" y="4617720"/>
            <a:ext cx="2148840" cy="548640"/>
          </a:xfrm>
          <a:prstGeom prst="rect">
            <a:avLst/>
          </a:prstGeom>
          <a:noFill/>
          <a:ln/>
        </p:spPr>
        <p:txBody>
          <a:bodyPr wrap="square" lIns="0" tIns="0" rIns="0" bIns="0" rtlCol="0" anchor="t"/>
          <a:lstStyle/>
          <a:p>
            <a:pPr indent="0" marL="0">
              <a:buNone/>
            </a:pPr>
            <a:r>
              <a:rPr lang="en-US" sz="1500" b="1" dirty="0">
                <a:solidFill>
                  <a:schemeClr val="tx1"/>
                </a:solidFill>
              </a:rPr>
              <a:t>Register externals</a:t>
            </a:r>
            <a:endParaRPr lang="en-US" sz="1500" dirty="0"/>
          </a:p>
        </p:txBody>
      </p:sp>
      <p:sp>
        <p:nvSpPr>
          <p:cNvPr id="37" name="Text 35"/>
          <p:cNvSpPr txBox="1"/>
          <p:nvPr/>
        </p:nvSpPr>
        <p:spPr>
          <a:xfrm>
            <a:off x="6446520" y="5166360"/>
            <a:ext cx="2148840" cy="640080"/>
          </a:xfrm>
          <a:prstGeom prst="rect">
            <a:avLst/>
          </a:prstGeom>
          <a:noFill/>
          <a:ln/>
        </p:spPr>
        <p:txBody>
          <a:bodyPr wrap="square" lIns="0" tIns="0" rIns="0" bIns="0" rtlCol="0" anchor="t"/>
          <a:lstStyle/>
          <a:p>
            <a:pPr indent="0" marL="0">
              <a:buNone/>
            </a:pPr>
            <a:r>
              <a:rPr lang="en-US" sz="1200" dirty="0">
                <a:solidFill>
                  <a:schemeClr val="tx2"/>
                </a:solidFill>
              </a:rPr>
              <a:t>ServiceEntries, DestinationRules for TLS</a:t>
            </a:r>
            <a:endParaRPr lang="en-US" sz="1200" dirty="0"/>
          </a:p>
        </p:txBody>
      </p:sp>
      <p:sp>
        <p:nvSpPr>
          <p:cNvPr id="38" name="Step 8"/>
          <p:cNvSpPr/>
          <p:nvPr/>
        </p:nvSpPr>
        <p:spPr>
          <a:xfrm>
            <a:off x="9098280" y="3749040"/>
            <a:ext cx="2606040" cy="2148840"/>
          </a:xfrm>
          <a:prstGeom prst="roundRect">
            <a:avLst>
              <a:gd name="adj" fmla="val 4255"/>
            </a:avLst>
          </a:prstGeom>
          <a:solidFill>
            <a:schemeClr val="accent6"/>
          </a:solidFill>
          <a:ln w="12700">
            <a:solidFill>
              <a:schemeClr val="accent6"/>
            </a:solidFill>
            <a:prstDash val="solid"/>
          </a:ln>
        </p:spPr>
        <p:txBody>
          <a:bodyPr/>
          <a:p/>
        </p:txBody>
      </p:sp>
      <p:sp>
        <p:nvSpPr>
          <p:cNvPr id="39" name="Shape 37"/>
          <p:cNvSpPr/>
          <p:nvPr/>
        </p:nvSpPr>
        <p:spPr>
          <a:xfrm>
            <a:off x="9326880" y="3977640"/>
            <a:ext cx="502920" cy="502920"/>
          </a:xfrm>
          <a:prstGeom prst="ellipse">
            <a:avLst/>
          </a:prstGeom>
          <a:solidFill>
            <a:schemeClr val="accent4"/>
          </a:solidFill>
          <a:ln w="6350">
            <a:solidFill>
              <a:schemeClr val="accent4"/>
            </a:solidFill>
            <a:prstDash val="solid"/>
          </a:ln>
        </p:spPr>
        <p:txBody>
          <a:bodyPr/>
          <a:p/>
        </p:txBody>
      </p:sp>
      <p:sp>
        <p:nvSpPr>
          <p:cNvPr id="40" name="Text 38"/>
          <p:cNvSpPr txBox="1"/>
          <p:nvPr/>
        </p:nvSpPr>
        <p:spPr>
          <a:xfrm>
            <a:off x="9326880" y="3977640"/>
            <a:ext cx="502920" cy="502920"/>
          </a:xfrm>
          <a:prstGeom prst="rect">
            <a:avLst/>
          </a:prstGeom>
          <a:noFill/>
          <a:ln/>
        </p:spPr>
        <p:txBody>
          <a:bodyPr wrap="square" lIns="0" tIns="0" rIns="0" bIns="0" rtlCol="0" anchor="ctr"/>
          <a:lstStyle/>
          <a:p>
            <a:pPr algn="ctr" indent="0" marL="0">
              <a:buNone/>
            </a:pPr>
            <a:r>
              <a:rPr lang="en-US" sz="1400" b="1" dirty="0">
                <a:solidFill>
                  <a:schemeClr val="bg1"/>
                </a:solidFill>
              </a:rPr>
              <a:t>8</a:t>
            </a:r>
            <a:endParaRPr lang="en-US" sz="1400" dirty="0"/>
          </a:p>
        </p:txBody>
      </p:sp>
      <p:sp>
        <p:nvSpPr>
          <p:cNvPr id="41" name="Text 39"/>
          <p:cNvSpPr txBox="1"/>
          <p:nvPr/>
        </p:nvSpPr>
        <p:spPr>
          <a:xfrm>
            <a:off x="9326880" y="4617720"/>
            <a:ext cx="2148840" cy="548640"/>
          </a:xfrm>
          <a:prstGeom prst="rect">
            <a:avLst/>
          </a:prstGeom>
          <a:noFill/>
          <a:ln/>
        </p:spPr>
        <p:txBody>
          <a:bodyPr wrap="square" lIns="0" tIns="0" rIns="0" bIns="0" rtlCol="0" anchor="t"/>
          <a:lstStyle/>
          <a:p>
            <a:pPr indent="0" marL="0">
              <a:buNone/>
            </a:pPr>
            <a:r>
              <a:rPr lang="en-US" sz="1500" b="1" dirty="0">
                <a:solidFill>
                  <a:schemeClr val="tx1"/>
                </a:solidFill>
              </a:rPr>
              <a:t>Verify end to end</a:t>
            </a:r>
            <a:endParaRPr lang="en-US" sz="1500" dirty="0"/>
          </a:p>
        </p:txBody>
      </p:sp>
      <p:sp>
        <p:nvSpPr>
          <p:cNvPr id="42" name="Text 40"/>
          <p:cNvSpPr txBox="1"/>
          <p:nvPr/>
        </p:nvSpPr>
        <p:spPr>
          <a:xfrm>
            <a:off x="9326880" y="5166360"/>
            <a:ext cx="2148840" cy="640080"/>
          </a:xfrm>
          <a:prstGeom prst="rect">
            <a:avLst/>
          </a:prstGeom>
          <a:noFill/>
          <a:ln/>
        </p:spPr>
        <p:txBody>
          <a:bodyPr wrap="square" lIns="0" tIns="0" rIns="0" bIns="0" rtlCol="0" anchor="t"/>
          <a:lstStyle/>
          <a:p>
            <a:pPr indent="0" marL="0">
              <a:buNone/>
            </a:pPr>
            <a:r>
              <a:rPr lang="en-US" sz="1200" dirty="0">
                <a:solidFill>
                  <a:schemeClr val="tx2"/>
                </a:solidFill>
              </a:rPr>
              <a:t>Kiali nodes named, one unbroken trace</a:t>
            </a:r>
            <a:endParaRPr lang="en-US" sz="12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731520" y="457200"/>
            <a:ext cx="10698480" cy="822960"/>
          </a:xfrm>
          <a:prstGeom prst="rect">
            <a:avLst/>
          </a:prstGeom>
          <a:noFill/>
          <a:ln/>
        </p:spPr>
        <p:txBody>
          <a:bodyPr wrap="square" lIns="0" tIns="0" rIns="0" bIns="0" rtlCol="0" anchor="ctr"/>
          <a:lstStyle/>
          <a:p>
            <a:pPr indent="0" marL="0">
              <a:buNone/>
            </a:pPr>
            <a:r>
              <a:rPr lang="en-US" sz="3400" b="1" dirty="0">
                <a:solidFill>
                  <a:schemeClr val="bg1"/>
                </a:solidFill>
              </a:rPr>
              <a:t>Start with one journey, then scale</a:t>
            </a:r>
            <a:endParaRPr lang="en-US" sz="3400" dirty="0"/>
          </a:p>
        </p:txBody>
      </p:sp>
      <p:sp>
        <p:nvSpPr>
          <p:cNvPr id="3" name="Shape 1"/>
          <p:cNvSpPr/>
          <p:nvPr/>
        </p:nvSpPr>
        <p:spPr>
          <a:xfrm>
            <a:off x="731520" y="1691640"/>
            <a:ext cx="548640" cy="548640"/>
          </a:xfrm>
          <a:prstGeom prst="ellipse">
            <a:avLst/>
          </a:prstGeom>
          <a:solidFill>
            <a:schemeClr val="accent3"/>
          </a:solidFill>
          <a:ln w="6350">
            <a:solidFill>
              <a:schemeClr val="accent3"/>
            </a:solidFill>
            <a:prstDash val="solid"/>
          </a:ln>
        </p:spPr>
      </p:sp>
      <p:sp>
        <p:nvSpPr>
          <p:cNvPr id="4" name="Text 2"/>
          <p:cNvSpPr txBox="1"/>
          <p:nvPr/>
        </p:nvSpPr>
        <p:spPr>
          <a:xfrm>
            <a:off x="731520" y="1691640"/>
            <a:ext cx="548640" cy="548640"/>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5" name="Shape 3"/>
          <p:cNvSpPr/>
          <p:nvPr/>
        </p:nvSpPr>
        <p:spPr>
          <a:xfrm>
            <a:off x="1325880" y="1965960"/>
            <a:ext cx="914400" cy="0"/>
          </a:xfrm>
          <a:prstGeom prst="line">
            <a:avLst/>
          </a:prstGeom>
          <a:noFill/>
          <a:ln w="15875">
            <a:solidFill>
              <a:schemeClr val="tx2"/>
            </a:solidFill>
            <a:prstDash val="solid"/>
          </a:ln>
        </p:spPr>
      </p:sp>
      <p:sp>
        <p:nvSpPr>
          <p:cNvPr id="6" name="Shape 4"/>
          <p:cNvSpPr/>
          <p:nvPr/>
        </p:nvSpPr>
        <p:spPr>
          <a:xfrm>
            <a:off x="2240280" y="1691640"/>
            <a:ext cx="548640" cy="548640"/>
          </a:xfrm>
          <a:prstGeom prst="ellipse">
            <a:avLst/>
          </a:prstGeom>
          <a:solidFill>
            <a:schemeClr val="accent1"/>
          </a:solidFill>
          <a:ln w="6350">
            <a:solidFill>
              <a:schemeClr val="accent1"/>
            </a:solidFill>
            <a:prstDash val="solid"/>
          </a:ln>
        </p:spPr>
      </p:sp>
      <p:sp>
        <p:nvSpPr>
          <p:cNvPr id="7" name="Text 5"/>
          <p:cNvSpPr txBox="1"/>
          <p:nvPr/>
        </p:nvSpPr>
        <p:spPr>
          <a:xfrm>
            <a:off x="2240280" y="1691640"/>
            <a:ext cx="548640" cy="548640"/>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8" name="Shape 6"/>
          <p:cNvSpPr/>
          <p:nvPr/>
        </p:nvSpPr>
        <p:spPr>
          <a:xfrm>
            <a:off x="2834640" y="1965960"/>
            <a:ext cx="914400" cy="0"/>
          </a:xfrm>
          <a:prstGeom prst="line">
            <a:avLst/>
          </a:prstGeom>
          <a:noFill/>
          <a:ln w="15875">
            <a:solidFill>
              <a:schemeClr val="tx2"/>
            </a:solidFill>
            <a:prstDash val="solid"/>
          </a:ln>
        </p:spPr>
      </p:sp>
      <p:sp>
        <p:nvSpPr>
          <p:cNvPr id="9" name="Shape 7"/>
          <p:cNvSpPr/>
          <p:nvPr/>
        </p:nvSpPr>
        <p:spPr>
          <a:xfrm>
            <a:off x="3749040" y="1691640"/>
            <a:ext cx="548640" cy="548640"/>
          </a:xfrm>
          <a:prstGeom prst="ellipse">
            <a:avLst/>
          </a:prstGeom>
          <a:solidFill>
            <a:schemeClr val="accent1"/>
          </a:solidFill>
          <a:ln w="6350">
            <a:solidFill>
              <a:schemeClr val="accent1"/>
            </a:solidFill>
            <a:prstDash val="solid"/>
          </a:ln>
        </p:spPr>
      </p:sp>
      <p:sp>
        <p:nvSpPr>
          <p:cNvPr id="10" name="Text 8"/>
          <p:cNvSpPr txBox="1"/>
          <p:nvPr/>
        </p:nvSpPr>
        <p:spPr>
          <a:xfrm>
            <a:off x="3749040" y="1691640"/>
            <a:ext cx="548640" cy="548640"/>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1" name="Shape 9"/>
          <p:cNvSpPr/>
          <p:nvPr/>
        </p:nvSpPr>
        <p:spPr>
          <a:xfrm>
            <a:off x="4343400" y="1965960"/>
            <a:ext cx="914400" cy="0"/>
          </a:xfrm>
          <a:prstGeom prst="line">
            <a:avLst/>
          </a:prstGeom>
          <a:noFill/>
          <a:ln w="15875">
            <a:solidFill>
              <a:schemeClr val="tx2"/>
            </a:solidFill>
            <a:prstDash val="solid"/>
          </a:ln>
        </p:spPr>
      </p:sp>
      <p:sp>
        <p:nvSpPr>
          <p:cNvPr id="12" name="Shape 10"/>
          <p:cNvSpPr/>
          <p:nvPr/>
        </p:nvSpPr>
        <p:spPr>
          <a:xfrm>
            <a:off x="5257800" y="1691640"/>
            <a:ext cx="548640" cy="548640"/>
          </a:xfrm>
          <a:prstGeom prst="ellipse">
            <a:avLst/>
          </a:prstGeom>
          <a:solidFill>
            <a:schemeClr val="accent1"/>
          </a:solidFill>
          <a:ln w="6350">
            <a:solidFill>
              <a:schemeClr val="accent1"/>
            </a:solidFill>
            <a:prstDash val="solid"/>
          </a:ln>
        </p:spPr>
      </p:sp>
      <p:sp>
        <p:nvSpPr>
          <p:cNvPr id="13" name="Text 11"/>
          <p:cNvSpPr txBox="1"/>
          <p:nvPr/>
        </p:nvSpPr>
        <p:spPr>
          <a:xfrm>
            <a:off x="5257800" y="1691640"/>
            <a:ext cx="548640" cy="548640"/>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14" name="Text 12"/>
          <p:cNvSpPr txBox="1"/>
          <p:nvPr/>
        </p:nvSpPr>
        <p:spPr>
          <a:xfrm>
            <a:off x="685800" y="2377440"/>
            <a:ext cx="1371600" cy="1463040"/>
          </a:xfrm>
          <a:prstGeom prst="rect">
            <a:avLst/>
          </a:prstGeom>
          <a:noFill/>
          <a:ln/>
        </p:spPr>
        <p:txBody>
          <a:bodyPr wrap="square" lIns="0" tIns="0" rIns="0" bIns="0" rtlCol="0" anchor="t"/>
          <a:lstStyle/>
          <a:p>
            <a:pPr indent="0" marL="0">
              <a:buNone/>
            </a:pPr>
            <a:r>
              <a:rPr lang="en-US" sz="1500" b="1" dirty="0">
                <a:solidFill>
                  <a:schemeClr val="bg1"/>
                </a:solidFill>
              </a:rPr>
              <a:t>Pilot</a:t>
            </a:r>
            <a:endParaRPr lang="en-US" sz="1500" dirty="0"/>
          </a:p>
          <a:p>
            <a:pPr indent="0" marL="0">
              <a:buNone/>
            </a:pPr>
            <a:r>
              <a:rPr lang="en-US" sz="1200" dirty="0">
                <a:solidFill>
                  <a:schemeClr val="accent6"/>
                </a:solidFill>
              </a:rPr>
              <a:t>One critical journey, e.g. mobile fund transfer</a:t>
            </a:r>
            <a:endParaRPr lang="en-US" sz="1500" dirty="0"/>
          </a:p>
        </p:txBody>
      </p:sp>
      <p:sp>
        <p:nvSpPr>
          <p:cNvPr id="15" name="Text 13"/>
          <p:cNvSpPr txBox="1"/>
          <p:nvPr/>
        </p:nvSpPr>
        <p:spPr>
          <a:xfrm>
            <a:off x="2194560" y="2377440"/>
            <a:ext cx="1371600" cy="1463040"/>
          </a:xfrm>
          <a:prstGeom prst="rect">
            <a:avLst/>
          </a:prstGeom>
          <a:noFill/>
          <a:ln/>
        </p:spPr>
        <p:txBody>
          <a:bodyPr wrap="square" lIns="0" tIns="0" rIns="0" bIns="0" rtlCol="0" anchor="t"/>
          <a:lstStyle/>
          <a:p>
            <a:pPr indent="0" marL="0">
              <a:buNone/>
            </a:pPr>
            <a:r>
              <a:rPr lang="en-US" sz="1500" b="1" dirty="0">
                <a:solidFill>
                  <a:schemeClr val="bg1"/>
                </a:solidFill>
              </a:rPr>
              <a:t>Validate</a:t>
            </a:r>
            <a:endParaRPr lang="en-US" sz="1500" dirty="0"/>
          </a:p>
          <a:p>
            <a:pPr indent="0" marL="0">
              <a:buNone/>
            </a:pPr>
            <a:r>
              <a:rPr lang="en-US" sz="1200" dirty="0">
                <a:solidFill>
                  <a:schemeClr val="accent6"/>
                </a:solidFill>
              </a:rPr>
              <a:t>Unbroken traces, named external nodes</a:t>
            </a:r>
            <a:endParaRPr lang="en-US" sz="1500" dirty="0"/>
          </a:p>
        </p:txBody>
      </p:sp>
      <p:sp>
        <p:nvSpPr>
          <p:cNvPr id="16" name="Text 14"/>
          <p:cNvSpPr txBox="1"/>
          <p:nvPr/>
        </p:nvSpPr>
        <p:spPr>
          <a:xfrm>
            <a:off x="3703320" y="2377440"/>
            <a:ext cx="1371600" cy="1463040"/>
          </a:xfrm>
          <a:prstGeom prst="rect">
            <a:avLst/>
          </a:prstGeom>
          <a:noFill/>
          <a:ln/>
        </p:spPr>
        <p:txBody>
          <a:bodyPr wrap="square" lIns="0" tIns="0" rIns="0" bIns="0" rtlCol="0" anchor="t"/>
          <a:lstStyle/>
          <a:p>
            <a:pPr indent="0" marL="0">
              <a:buNone/>
            </a:pPr>
            <a:r>
              <a:rPr lang="en-US" sz="1500" b="1" dirty="0">
                <a:solidFill>
                  <a:schemeClr val="bg1"/>
                </a:solidFill>
              </a:rPr>
              <a:t>Roll out</a:t>
            </a:r>
            <a:endParaRPr lang="en-US" sz="1500" dirty="0"/>
          </a:p>
          <a:p>
            <a:pPr indent="0" marL="0">
              <a:buNone/>
            </a:pPr>
            <a:r>
              <a:rPr lang="en-US" sz="1200" dirty="0">
                <a:solidFill>
                  <a:schemeClr val="accent6"/>
                </a:solidFill>
              </a:rPr>
              <a:t>Namespace by namespace</a:t>
            </a:r>
            <a:endParaRPr lang="en-US" sz="1500" dirty="0"/>
          </a:p>
        </p:txBody>
      </p:sp>
      <p:sp>
        <p:nvSpPr>
          <p:cNvPr id="17" name="Text 15"/>
          <p:cNvSpPr txBox="1"/>
          <p:nvPr/>
        </p:nvSpPr>
        <p:spPr>
          <a:xfrm>
            <a:off x="5212080" y="2377440"/>
            <a:ext cx="1371600" cy="1463040"/>
          </a:xfrm>
          <a:prstGeom prst="rect">
            <a:avLst/>
          </a:prstGeom>
          <a:noFill/>
          <a:ln/>
        </p:spPr>
        <p:txBody>
          <a:bodyPr wrap="square" lIns="0" tIns="0" rIns="0" bIns="0" rtlCol="0" anchor="t"/>
          <a:lstStyle/>
          <a:p>
            <a:pPr indent="0" marL="0">
              <a:buNone/>
            </a:pPr>
            <a:r>
              <a:rPr lang="en-US" sz="1500" b="1" dirty="0">
                <a:solidFill>
                  <a:schemeClr val="bg1"/>
                </a:solidFill>
              </a:rPr>
              <a:t>Tune</a:t>
            </a:r>
            <a:endParaRPr lang="en-US" sz="1500" dirty="0"/>
          </a:p>
          <a:p>
            <a:pPr indent="0" marL="0">
              <a:buNone/>
            </a:pPr>
            <a:r>
              <a:rPr lang="en-US" sz="1200" dirty="0">
                <a:solidFill>
                  <a:schemeClr val="accent6"/>
                </a:solidFill>
              </a:rPr>
              <a:t>Sampling, alert thresholds, dashboards</a:t>
            </a:r>
            <a:endParaRPr lang="en-US" sz="1500" dirty="0"/>
          </a:p>
        </p:txBody>
      </p:sp>
      <p:sp>
        <p:nvSpPr>
          <p:cNvPr id="18" name="Decisions card"/>
          <p:cNvSpPr/>
          <p:nvPr/>
        </p:nvSpPr>
        <p:spPr>
          <a:xfrm>
            <a:off x="7040880" y="1554480"/>
            <a:ext cx="4389120" cy="4389120"/>
          </a:xfrm>
          <a:prstGeom prst="roundRect">
            <a:avLst>
              <a:gd name="adj" fmla="val 2083"/>
            </a:avLst>
          </a:prstGeom>
          <a:solidFill>
            <a:schemeClr val="tx2"/>
          </a:solidFill>
          <a:ln w="12700">
            <a:solidFill>
              <a:schemeClr val="tx2"/>
            </a:solidFill>
            <a:prstDash val="solid"/>
          </a:ln>
        </p:spPr>
      </p:sp>
      <p:sp>
        <p:nvSpPr>
          <p:cNvPr id="19" name="Text 17"/>
          <p:cNvSpPr txBox="1"/>
          <p:nvPr/>
        </p:nvSpPr>
        <p:spPr>
          <a:xfrm>
            <a:off x="7315200" y="1737360"/>
            <a:ext cx="3840480" cy="457200"/>
          </a:xfrm>
          <a:prstGeom prst="rect">
            <a:avLst/>
          </a:prstGeom>
          <a:noFill/>
          <a:ln/>
        </p:spPr>
        <p:txBody>
          <a:bodyPr wrap="square" lIns="0" tIns="0" rIns="0" bIns="0" rtlCol="0" anchor="ctr"/>
          <a:lstStyle/>
          <a:p>
            <a:pPr indent="0" marL="0">
              <a:buNone/>
            </a:pPr>
            <a:r>
              <a:rPr lang="en-US" sz="2000" b="1" dirty="0">
                <a:solidFill>
                  <a:schemeClr val="bg1"/>
                </a:solidFill>
              </a:rPr>
              <a:t>Decisions needed</a:t>
            </a:r>
            <a:endParaRPr lang="en-US" sz="2000" dirty="0"/>
          </a:p>
        </p:txBody>
      </p:sp>
      <p:sp>
        <p:nvSpPr>
          <p:cNvPr id="20" name="Text 18"/>
          <p:cNvSpPr txBox="1"/>
          <p:nvPr/>
        </p:nvSpPr>
        <p:spPr>
          <a:xfrm>
            <a:off x="7315200" y="2331720"/>
            <a:ext cx="3840480" cy="347472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chemeClr val="accent6"/>
                </a:solidFill>
              </a:rPr>
              <a:t>Service Mesh version (2.x or 3.x) and upgrade timing</a:t>
            </a:r>
            <a:endParaRPr lang="en-US" sz="1500" dirty="0"/>
          </a:p>
          <a:p>
            <a:pPr marL="342900" indent="-342900">
              <a:spcAft>
                <a:spcPts val="1000"/>
              </a:spcAft>
              <a:buSzPct val="100000"/>
              <a:buChar char="•"/>
            </a:pPr>
            <a:r>
              <a:rPr lang="en-US" sz="1500" dirty="0">
                <a:solidFill>
                  <a:schemeClr val="accent6"/>
                </a:solidFill>
              </a:rPr>
              <a:t>Tempo and Loki storage: monolithic for pilot, object storage for production</a:t>
            </a:r>
            <a:endParaRPr lang="en-US" sz="1500" dirty="0"/>
          </a:p>
          <a:p>
            <a:pPr marL="342900" indent="-342900">
              <a:spcAft>
                <a:spcPts val="1000"/>
              </a:spcAft>
              <a:buSzPct val="100000"/>
              <a:buChar char="•"/>
            </a:pPr>
            <a:r>
              <a:rPr lang="en-US" sz="1500" dirty="0">
                <a:solidFill>
                  <a:schemeClr val="accent6"/>
                </a:solidFill>
              </a:rPr>
              <a:t>Sampling policy and trace and log retention</a:t>
            </a:r>
            <a:endParaRPr lang="en-US" sz="1500" dirty="0"/>
          </a:p>
          <a:p>
            <a:pPr marL="342900" indent="-342900">
              <a:spcAft>
                <a:spcPts val="1000"/>
              </a:spcAft>
              <a:buSzPct val="100000"/>
              <a:buChar char="•"/>
            </a:pPr>
            <a:r>
              <a:rPr lang="en-US" sz="1500" dirty="0">
                <a:solidFill>
                  <a:schemeClr val="accent6"/>
                </a:solidFill>
              </a:rPr>
              <a:t>Pilot journey and owning team</a:t>
            </a:r>
            <a:endParaRPr lang="en-US" sz="1500" dirty="0"/>
          </a:p>
          <a:p>
            <a:pPr marL="342900" indent="-342900">
              <a:spcAft>
                <a:spcPts val="1000"/>
              </a:spcAft>
              <a:buSzPct val="100000"/>
              <a:buChar char="•"/>
            </a:pPr>
            <a:r>
              <a:rPr lang="en-US" sz="1500" dirty="0">
                <a:solidFill>
                  <a:schemeClr val="accent6"/>
                </a:solidFill>
              </a:rPr>
              <a:t>Who owns dashboards and alert routing</a:t>
            </a:r>
            <a:endParaRPr lang="en-US" sz="1500" dirty="0"/>
          </a:p>
        </p:txBody>
      </p:sp>
      <p:sp>
        <p:nvSpPr>
          <p:cNvPr id="21" name="Text 19"/>
          <p:cNvSpPr txBox="1"/>
          <p:nvPr/>
        </p:nvSpPr>
        <p:spPr>
          <a:xfrm>
            <a:off x="731520" y="4206240"/>
            <a:ext cx="5943600" cy="731520"/>
          </a:xfrm>
          <a:prstGeom prst="rect">
            <a:avLst/>
          </a:prstGeom>
          <a:noFill/>
          <a:ln/>
        </p:spPr>
        <p:txBody>
          <a:bodyPr wrap="square" lIns="0" tIns="0" rIns="0" bIns="0" rtlCol="0" anchor="ctr"/>
          <a:lstStyle/>
          <a:p>
            <a:pPr indent="0" marL="0">
              <a:buNone/>
            </a:pPr>
            <a:r>
              <a:rPr lang="en-US" sz="1400" i="1" dirty="0">
                <a:solidFill>
                  <a:schemeClr val="accent5"/>
                </a:solidFill>
              </a:rPr>
              <a:t>Phase 2: channel-side tracing and agents on VMs and databases.</a:t>
            </a:r>
            <a:endParaRPr lang="en-US" sz="1400" dirty="0"/>
          </a:p>
        </p:txBody>
      </p:sp>
      <p:sp>
        <p:nvSpPr>
          <p:cNvPr id="23" name="Text 0"/>
          <p:cNvSpPr/>
          <p:nvPr>
            <p:ph idx="100" type="title" hasCustomPrompt="1"/>
          </p:nvPr>
        </p:nvSpPr>
        <p:spPr>
          <a:xfrm>
            <a:off x="731520" y="2103120"/>
            <a:ext cx="9601200" cy="1463040"/>
          </a:xfrm>
          <a:prstGeom prst="rect">
            <a:avLst/>
          </a:prstGeom>
          <a:noFill/>
          <a:ln/>
        </p:spPr>
        <p:txBody>
          <a:bodyPr wrap="square" rtlCol="0" anchor="b"/>
          <a:lstStyle/>
          <a:p>
            <a:pPr algn="l" indent="0" marL="0">
              <a:buNone/>
            </a:pPr>
            <a:endParaRPr lang="en-US" sz="4000" dirty="0"/>
          </a:p>
        </p:txBody>
      </p:sp>
      <p:sp>
        <p:nvSpPr>
          <p:cNvPr id="24" name="Text 0"/>
          <p:cNvSpPr/>
          <p:nvPr>
            <p:ph idx="101" type="body" hasCustomPrompt="1"/>
          </p:nvPr>
        </p:nvSpPr>
        <p:spPr>
          <a:xfrm>
            <a:off x="731520" y="3703320"/>
            <a:ext cx="9601200" cy="914400"/>
          </a:xfrm>
          <a:prstGeom prst="rect">
            <a:avLst/>
          </a:prstGeom>
          <a:noFill/>
          <a:ln/>
        </p:spPr>
        <p:txBody>
          <a:bodyPr wrap="square" rtlCol="0" anchor="t"/>
          <a:lstStyle/>
          <a:p>
            <a:pPr indent="0" marL="0">
              <a:buNone/>
            </a:pPr>
            <a:endParaRPr lang="en-US" sz="1800" dirty="0"/>
          </a:p>
        </p:txBody>
      </p:sp>
    </p:spTree>
  </p:cSld>
  <p:clrMapOvr>
    <a:masterClrMapping/>
  </p:clrMapOvr>
</p:sld>
</file>

<file path=ppt/theme/theme1.xml><?xml version="1.0" encoding="utf-8"?>
<a:theme xmlns:a="http://schemas.openxmlformats.org/drawingml/2006/main" name="E2E Observability">
  <a:themeElements>
    <a:clrScheme name="E2E Observability">
      <a:dk1>
        <a:srgbClr val="16232F"/>
      </a:dk1>
      <a:lt1>
        <a:srgbClr val="FFFFFF"/>
      </a:lt1>
      <a:dk2>
        <a:srgbClr val="3E5263"/>
      </a:dk2>
      <a:lt2>
        <a:srgbClr val="EEF3F6"/>
      </a:lt2>
      <a:accent1>
        <a:srgbClr val="0E8A8C"/>
      </a:accent1>
      <a:accent2>
        <a:srgbClr val="5446B0"/>
      </a:accent2>
      <a:accent3>
        <a:srgbClr val="E4572E"/>
      </a:accent3>
      <a:accent4>
        <a:srgbClr val="F2A541"/>
      </a:accent4>
      <a:accent5>
        <a:srgbClr val="8A99A6"/>
      </a:accent5>
      <a:accent6>
        <a:srgbClr val="D7E9EA"/>
      </a:accent6>
      <a:hlink>
        <a:srgbClr val="0E8A8C"/>
      </a:hlink>
      <a:folHlink>
        <a:srgbClr val="5446B0"/>
      </a:folHlink>
    </a:clrScheme>
    <a:fontScheme name="E2E Observability">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OpenShift end-to-end observability - Phase 1 design</dc:title>
  <dc:subject>PptxGenJS Presentation</dc:subject>
  <dc:creator>PptxGenJS</dc:creator>
  <cp:lastModifiedBy>PptxGenJS</cp:lastModifiedBy>
  <cp:revision>1</cp:revision>
  <dcterms:created xsi:type="dcterms:W3CDTF">2026-10-06T08:00:32Z</dcterms:created>
  <dcterms:modified xsi:type="dcterms:W3CDTF">2026-10-06T08:00:32Z</dcterms:modified>
</cp:coreProperties>
</file>