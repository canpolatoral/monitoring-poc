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4614718-68cc-4154-4582-a0380da33d8c}">
          <p14:sldIdLst>
            <p14:sldId id="256"/>
            <p14:sldId id="257"/>
          </p14:sldIdLst>
        </p14:section>
        <p14:section name="Design" id="{97f87bb8-6435-24bc-a83b-7447fe05a654}">
          <p14:sldIdLst>
            <p14:sldId id="258"/>
            <p14:sldId id="259"/>
            <p14:sldId id="260"/>
          </p14:sldIdLst>
        </p14:section>
        <p14:section name="Implementation" id="{418bf38b-c3b0-0b07-0812-7eca9546cd53}">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22.xml"/><Relationship Id="rId8" Type="http://schemas.openxmlformats.org/officeDocument/2006/relationships/slide" Target="slides/slide23.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agree the Phase 1 design for locating failures across the transaction path, starting from the OpenShift integration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stays inside OpenShift. External systems become visible as hops without installing anything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Purple is what exists today. Teal is what Phase 1 adds. Grey systems need no installation; ServiceEntries make them visible as named nodes. Arrows show where the data goes; the pills say who opens the connection: Prometheus pulls metrics, spans and access logs are pushed over OTLP, Kiali and the console query the stores.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Metrics find the red dot; traces show where the time went; access logs say why the hop failed. Tail sampling keeps every error trace and about 10 percent of the rest (verified in the POC). Every access log carries the trace ID, so a log line opens its trace.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installing anything on VMs or DB servers, we still learn whether the hop to them is the problem. The why needs app instrumentation or agents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Steps 1-3 give metrics and the red-dot graph. Steps 4-6 give traces and access logs. Steps 7-8 bring external systems in and validate. Check field names against the Red Hat docs for the installed Service Mesh version.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agreeing the pilot journey and the open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dive for the technical audience. The POC runs the upstream projects behind the OpenShift observability stack on a local kind cluster, with the same CRDs, so the flows and numbers carry 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request, three different records. Metrics are cheap aggregates that tell you something is wrong and where. Traces follow one request across every hop and show where the time went. Logs record each event with its detail and tell you why. We use all three and link them by shared keys.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OpenTracing (2016, a tracing API) and OpenCensus (2018, Google, metrics and tracing) merged into OpenTelemetry in 2019 under the CNCF; OpenTracing was archived in 2022. OpenTelemetry defines the API, the SDKs, the OTLP wire protocol, the Collector and the semantic conventions (standard attribute names). Vendors are interchangeable because everything speaks OTLP.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trace ID is a random 16-byte value created at the first hop (the ingress gateway) and carried unchanged to every hop in the W3C traceparent header. Each operation is a span with its own 8-byte span ID and the ID of its parent. If one service does not forward the header, the trace breaks in two: that is why auto-instrumentation matters even with a mesh.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column is what we deploy on OpenShift; the POC uses the upstream project with the same CRDs. Versions follow OpenShift Service Mesh 3.4 (Istio 1.30, Kiali 2.27).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Arrows show the direction the data travels; the pill says who opens the connection. Metrics are pulled: Prometheus scrapes every sidecar every 15 s. Traces and logs are pushed over OTLP to the collector, which pushes them on to Tempo and Loki. Views query the stores on demand. Prometheus pushes firing alerts to Alertmanager.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ServiceMonitor scrapes endpoints behind a Service; sidecar metrics belong to every pod, so we select pods directly with a PodMonitor. On OpenShift user workload monitoring, a PodMonitor only sees its own namespace, so there is one per mesh namespace.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OpenTelemetryCollector CR, deployed by the operator. Two pipelines share the OTLP receiver. One replica keeps all spans of a trace together for tail sampling; to scale out, add a load-balancing exporter tier that routes by trace ID.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 sampling in Envoy decides before the request finishes, so at 10% it drops 9 of 10 error traces. Tail sampling decides after the whole trace is seen. The decision cache matters: spans arrive on different timers, and without it late spans are re-sampled and traces lose hops.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gateway route stamps the journey into W3C baggage and overwrites anything the client sent, so it cannot be spoofed. The OTel agent forwards baggage on every outbound call. The label is computed from a fixed list, so cardinality stays bounded. Never put customer or account IDs in labels.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POC storage is small and local; production moves traces and logs to object storage through TempoStack and LokiStack. Both POC gaps are closed: Prometheus now writes to a 10 Gi persistent volume (a sample read back identically after deleting the pod), and Loki's compactor enforces the 48 h retention.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request is sent to Loki through the OTel access-log provider; errors also go to stdout. The flag separates 'the target answered with an error' from 'we could not reach the target', which decides which team is called.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Correlation works because every signal carries the same keys. Hop labels (source and destination) link metrics to the spans and access logs of that hop. The trace ID links an access log line to its trace and back. The journey label filters all three. Time narrows the search. Grafana and the red-dot dashboard turn these keys into one-click links.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Kiali for engineers troubleshooting the mesh; Grafana for service owners drilling into one journey; the red-dot dashboard for the NOC, which discovers the topology itself and names the owning team; Alertmanager for on-call.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in the POC by breaking the mocked external systems for real. Metrics react within a rate window; alerts need the 1-minute 'for' period; the trace and access log give the reason; the owner comes from the observability.bank/owner annotation.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Mesh, OpenTelemetry, Tempo and Kiali resources carry over almost unchanged. What changes is how operators are installed, where metrics live and how things are exposed. Full mapping in docs/openshift-mapping.md.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960120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03320"/>
            <a:ext cx="9601200" cy="91440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6400800"/>
            <a:ext cx="5486400" cy="274320"/>
          </a:xfrm>
          <a:prstGeom prst="rect">
            <a:avLst/>
          </a:prstGeom>
          <a:noFill/>
          <a:ln/>
        </p:spPr>
        <p:txBody>
          <a:bodyPr wrap="square" rtlCol="0" anchor="ctr"/>
          <a:lstStyle/>
          <a:p>
            <a:pPr indent="0" marL="0">
              <a:buNone/>
            </a:pPr>
            <a:r>
              <a:rPr lang="en-US" sz="1000" dirty="0">
                <a:solidFill>
                  <a:schemeClr val="accent5"/>
                </a:solidFill>
              </a:rPr>
              <a:t>E2E observability  |  Phase 1 design</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9601200" cy="1463040"/>
          </a:xfrm>
          <a:prstGeom prst="rect">
            <a:avLst/>
          </a:prstGeom>
          <a:noFill/>
          <a:ln/>
        </p:spPr>
        <p:txBody>
          <a:bodyPr wrap="square" rtlCol="0" anchor="b"/>
          <a:lstStyle/>
          <a:p>
            <a:pPr algn="l" indent="0" marL="0">
              <a:buNone/>
            </a:pPr>
            <a:r>
              <a:rPr lang="en-US" sz="4000" b="1" dirty="0">
                <a:solidFill>
                  <a:schemeClr val="bg1"/>
                </a:solidFill>
              </a:rPr>
              <a:t>Finding the red dot: end-to-end observability on OpenShift</a:t>
            </a:r>
            <a:endParaRPr lang="en-US" sz="4000" dirty="0"/>
          </a:p>
        </p:txBody>
      </p:sp>
      <p:sp>
        <p:nvSpPr>
          <p:cNvPr id="3" name="Text 0"/>
          <p:cNvSpPr/>
          <p:nvPr>
            <p:ph idx="101" type="body" hasCustomPrompt="1"/>
          </p:nvPr>
        </p:nvSpPr>
        <p:spPr>
          <a:xfrm>
            <a:off x="731520" y="3703320"/>
            <a:ext cx="9601200" cy="914400"/>
          </a:xfrm>
          <a:prstGeom prst="rect">
            <a:avLst/>
          </a:prstGeom>
          <a:noFill/>
          <a:ln/>
        </p:spPr>
        <p:txBody>
          <a:bodyPr wrap="square" rtlCol="0" anchor="t"/>
          <a:lstStyle/>
          <a:p>
            <a:pPr indent="0" marL="0">
              <a:buNone/>
            </a:pPr>
            <a:r>
              <a:rPr lang="en-US" sz="1800" dirty="0">
                <a:solidFill>
                  <a:schemeClr val="accent6"/>
                </a:solidFill>
              </a:rPr>
              <a:t>Phase 1 design: mesh metrics, distributed tracing, access logs and external systems via ServiceEntries</a:t>
            </a:r>
            <a:endParaRPr lang="en-US" sz="1800" dirty="0"/>
          </a:p>
        </p:txBody>
      </p:sp>
      <p:sp>
        <p:nvSpPr>
          <p:cNvPr id="4" name="Shape 2"/>
          <p:cNvSpPr/>
          <p:nvPr/>
        </p:nvSpPr>
        <p:spPr>
          <a:xfrm>
            <a:off x="731520" y="1417320"/>
            <a:ext cx="411480" cy="411480"/>
          </a:xfrm>
          <a:prstGeom prst="ellipse">
            <a:avLst/>
          </a:prstGeom>
          <a:solidFill>
            <a:schemeClr val="accent3"/>
          </a:solidFill>
          <a:ln w="6350">
            <a:solidFill>
              <a:schemeClr val="accent3"/>
            </a:solidFill>
            <a:prstDash val="solid"/>
          </a:ln>
        </p:spPr>
        <p:txBody>
          <a:bodyPr/>
          <a:p/>
        </p:txBody>
      </p:sp>
      <p:sp>
        <p:nvSpPr>
          <p:cNvPr id="5" name="Shape 3"/>
          <p:cNvSpPr/>
          <p:nvPr/>
        </p:nvSpPr>
        <p:spPr>
          <a:xfrm>
            <a:off x="1280160" y="1417320"/>
            <a:ext cx="411480" cy="411480"/>
          </a:xfrm>
          <a:prstGeom prst="ellipse">
            <a:avLst/>
          </a:prstGeom>
          <a:solidFill>
            <a:schemeClr val="accent1"/>
          </a:solidFill>
          <a:ln w="6350">
            <a:solidFill>
              <a:schemeClr val="accent1"/>
            </a:solidFill>
            <a:prstDash val="solid"/>
          </a:ln>
        </p:spPr>
        <p:txBody>
          <a:bodyPr/>
          <a:p/>
        </p:txBody>
      </p:sp>
      <p:sp>
        <p:nvSpPr>
          <p:cNvPr id="6" name="Shape 4"/>
          <p:cNvSpPr/>
          <p:nvPr/>
        </p:nvSpPr>
        <p:spPr>
          <a:xfrm>
            <a:off x="1828800" y="1417320"/>
            <a:ext cx="411480" cy="411480"/>
          </a:xfrm>
          <a:prstGeom prst="ellipse">
            <a:avLst/>
          </a:prstGeom>
          <a:solidFill>
            <a:schemeClr val="accent2"/>
          </a:solidFill>
          <a:ln w="6350">
            <a:solidFill>
              <a:schemeClr val="accent2"/>
            </a:solidFill>
            <a:prstDash val="solid"/>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We can't see where a transaction fails today</a:t>
            </a:r>
            <a:endParaRPr lang="en-US" sz="3000" dirty="0"/>
          </a:p>
        </p:txBody>
      </p:sp>
      <p:sp>
        <p:nvSpPr>
          <p:cNvPr id="3" name="Problem card"/>
          <p:cNvSpPr/>
          <p:nvPr/>
        </p:nvSpPr>
        <p:spPr>
          <a:xfrm>
            <a:off x="457200" y="1371600"/>
            <a:ext cx="5394960" cy="3840480"/>
          </a:xfrm>
          <a:prstGeom prst="roundRect">
            <a:avLst>
              <a:gd name="adj" fmla="val 2381"/>
            </a:avLst>
          </a:prstGeom>
          <a:solidFill>
            <a:schemeClr val="bg2"/>
          </a:solidFill>
          <a:ln w="12700">
            <a:solidFill>
              <a:schemeClr val="bg2"/>
            </a:solidFill>
            <a:prstDash val="solid"/>
          </a:ln>
        </p:spPr>
        <p:txBody>
          <a:bodyPr/>
          <a:p/>
        </p:txBody>
      </p:sp>
      <p:sp>
        <p:nvSpPr>
          <p:cNvPr id="4" name="Shape 2"/>
          <p:cNvSpPr/>
          <p:nvPr/>
        </p:nvSpPr>
        <p:spPr>
          <a:xfrm>
            <a:off x="777240" y="1691640"/>
            <a:ext cx="502920" cy="502920"/>
          </a:xfrm>
          <a:prstGeom prst="ellipse">
            <a:avLst/>
          </a:prstGeom>
          <a:solidFill>
            <a:schemeClr val="accent3"/>
          </a:solidFill>
          <a:ln w="6350">
            <a:solidFill>
              <a:schemeClr val="accent3"/>
            </a:solidFill>
            <a:prstDash val="solid"/>
          </a:ln>
        </p:spPr>
        <p:txBody>
          <a:bodyPr/>
          <a:p/>
        </p:txBody>
      </p:sp>
      <p:sp>
        <p:nvSpPr>
          <p:cNvPr id="5" name="Text 3"/>
          <p:cNvSpPr txBox="1"/>
          <p:nvPr/>
        </p:nvSpPr>
        <p:spPr>
          <a:xfrm>
            <a:off x="777240" y="1691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6" name="Text 4"/>
          <p:cNvSpPr txBox="1"/>
          <p:nvPr/>
        </p:nvSpPr>
        <p:spPr>
          <a:xfrm>
            <a:off x="1463040" y="1691640"/>
            <a:ext cx="4114800" cy="502920"/>
          </a:xfrm>
          <a:prstGeom prst="rect">
            <a:avLst/>
          </a:prstGeom>
          <a:noFill/>
          <a:ln/>
        </p:spPr>
        <p:txBody>
          <a:bodyPr wrap="square" lIns="0" tIns="0" rIns="0" bIns="0" rtlCol="0" anchor="ctr"/>
          <a:lstStyle/>
          <a:p>
            <a:pPr indent="0" marL="0">
              <a:buNone/>
            </a:pPr>
            <a:r>
              <a:rPr lang="en-US" sz="2000" b="1" dirty="0">
                <a:solidFill>
                  <a:schemeClr val="tx1"/>
                </a:solidFill>
              </a:rPr>
              <a:t>The problem</a:t>
            </a:r>
            <a:endParaRPr lang="en-US" sz="2000" dirty="0"/>
          </a:p>
        </p:txBody>
      </p:sp>
      <p:sp>
        <p:nvSpPr>
          <p:cNvPr id="7" name="Text 5"/>
          <p:cNvSpPr txBox="1"/>
          <p:nvPr/>
        </p:nvSpPr>
        <p:spPr>
          <a:xfrm>
            <a:off x="777240" y="242316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When a customer journey fails, teams can't pinpoint which hop is responsible.</a:t>
            </a:r>
            <a:endParaRPr lang="en-US" sz="1500" dirty="0"/>
          </a:p>
          <a:p>
            <a:pPr marL="342900" indent="-342900">
              <a:spcAft>
                <a:spcPts val="1000"/>
              </a:spcAft>
              <a:buSzPct val="100000"/>
              <a:buChar char="•"/>
            </a:pPr>
            <a:r>
              <a:rPr lang="en-US" sz="1500" dirty="0">
                <a:solidFill>
                  <a:schemeClr val="tx2"/>
                </a:solidFill>
              </a:rPr>
              <a:t>Every transaction crosses OpenShift, so the integration layer sees the whole path.</a:t>
            </a:r>
            <a:endParaRPr lang="en-US" sz="1500" dirty="0"/>
          </a:p>
          <a:p>
            <a:pPr marL="342900" indent="-342900">
              <a:spcAft>
                <a:spcPts val="1000"/>
              </a:spcAft>
              <a:buSzPct val="100000"/>
              <a:buChar char="•"/>
            </a:pPr>
            <a:r>
              <a:rPr lang="en-US" sz="1500" dirty="0">
                <a:solidFill>
                  <a:schemeClr val="tx2"/>
                </a:solidFill>
              </a:rPr>
              <a:t>The service mesh and sidecars are already in place, but metrics, traces and access logs are not yet collected or connected.</a:t>
            </a:r>
            <a:endParaRPr lang="en-US" sz="1500" dirty="0"/>
          </a:p>
        </p:txBody>
      </p:sp>
      <p:sp>
        <p:nvSpPr>
          <p:cNvPr id="8" name="Scope card"/>
          <p:cNvSpPr/>
          <p:nvPr/>
        </p:nvSpPr>
        <p:spPr>
          <a:xfrm>
            <a:off x="6309360" y="1371600"/>
            <a:ext cx="5394960" cy="3840480"/>
          </a:xfrm>
          <a:prstGeom prst="roundRect">
            <a:avLst>
              <a:gd name="adj" fmla="val 2381"/>
            </a:avLst>
          </a:prstGeom>
          <a:solidFill>
            <a:schemeClr val="accent6"/>
          </a:solidFill>
          <a:ln w="12700">
            <a:solidFill>
              <a:schemeClr val="accent6"/>
            </a:solidFill>
            <a:prstDash val="solid"/>
          </a:ln>
        </p:spPr>
        <p:txBody>
          <a:bodyPr/>
          <a:p/>
        </p:txBody>
      </p:sp>
      <p:sp>
        <p:nvSpPr>
          <p:cNvPr id="9" name="Shape 7"/>
          <p:cNvSpPr/>
          <p:nvPr/>
        </p:nvSpPr>
        <p:spPr>
          <a:xfrm>
            <a:off x="6629400" y="1691640"/>
            <a:ext cx="502920" cy="502920"/>
          </a:xfrm>
          <a:prstGeom prst="ellipse">
            <a:avLst/>
          </a:prstGeom>
          <a:solidFill>
            <a:schemeClr val="accent1"/>
          </a:solidFill>
          <a:ln w="6350">
            <a:solidFill>
              <a:schemeClr val="accent1"/>
            </a:solidFill>
            <a:prstDash val="solid"/>
          </a:ln>
        </p:spPr>
        <p:txBody>
          <a:bodyPr/>
          <a:p/>
        </p:txBody>
      </p:sp>
      <p:sp>
        <p:nvSpPr>
          <p:cNvPr id="10" name="Text 8"/>
          <p:cNvSpPr txBox="1"/>
          <p:nvPr/>
        </p:nvSpPr>
        <p:spPr>
          <a:xfrm>
            <a:off x="6629400" y="1691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9"/>
          <p:cNvSpPr txBox="1"/>
          <p:nvPr/>
        </p:nvSpPr>
        <p:spPr>
          <a:xfrm>
            <a:off x="7315200" y="1691640"/>
            <a:ext cx="4114800" cy="502920"/>
          </a:xfrm>
          <a:prstGeom prst="rect">
            <a:avLst/>
          </a:prstGeom>
          <a:noFill/>
          <a:ln/>
        </p:spPr>
        <p:txBody>
          <a:bodyPr wrap="square" lIns="0" tIns="0" rIns="0" bIns="0" rtlCol="0" anchor="ctr"/>
          <a:lstStyle/>
          <a:p>
            <a:pPr indent="0" marL="0">
              <a:buNone/>
            </a:pPr>
            <a:r>
              <a:rPr lang="en-US" sz="2000" b="1" dirty="0">
                <a:solidFill>
                  <a:schemeClr val="tx1"/>
                </a:solidFill>
              </a:rPr>
              <a:t>Phase 1 scope</a:t>
            </a:r>
            <a:endParaRPr lang="en-US" sz="2000" dirty="0"/>
          </a:p>
        </p:txBody>
      </p:sp>
      <p:sp>
        <p:nvSpPr>
          <p:cNvPr id="12" name="Text 10"/>
          <p:cNvSpPr txBox="1"/>
          <p:nvPr/>
        </p:nvSpPr>
        <p:spPr>
          <a:xfrm>
            <a:off x="6629400" y="2423160"/>
            <a:ext cx="4846320" cy="3383280"/>
          </a:xfrm>
          <a:prstGeom prst="rect">
            <a:avLst/>
          </a:prstGeom>
          <a:noFill/>
          <a:ln/>
        </p:spPr>
        <p:txBody>
          <a:bodyPr wrap="square" lIns="0" tIns="0" rIns="0" bIns="0" rtlCol="0" anchor="t"/>
          <a:lstStyle/>
          <a:p>
            <a:pPr indent="0" marL="0">
              <a:spcAft>
                <a:spcPts val="800"/>
              </a:spcAft>
              <a:buNone/>
            </a:pPr>
            <a:r>
              <a:rPr lang="en-US" sz="1500" b="1" dirty="0">
                <a:solidFill>
                  <a:schemeClr val="tx1"/>
                </a:solidFill>
              </a:rPr>
              <a:t>In scope</a:t>
            </a:r>
            <a:endParaRPr lang="en-US" sz="1500" dirty="0"/>
          </a:p>
          <a:p>
            <a:pPr marL="342900" indent="-342900">
              <a:spcAft>
                <a:spcPts val="800"/>
              </a:spcAft>
              <a:buSzPct val="100000"/>
              <a:buChar char="•"/>
            </a:pPr>
            <a:r>
              <a:rPr lang="en-US" sz="1500" dirty="0">
                <a:solidFill>
                  <a:schemeClr val="tx2"/>
                </a:solidFill>
              </a:rPr>
              <a:t>Mesh metrics, Kiali service graph, distributed tracing, Envoy access logs, OTel auto-instrumentation</a:t>
            </a:r>
            <a:endParaRPr lang="en-US" sz="1500" dirty="0"/>
          </a:p>
          <a:p>
            <a:pPr marL="342900" indent="-342900">
              <a:spcAft>
                <a:spcPts val="800"/>
              </a:spcAft>
              <a:buSzPct val="100000"/>
              <a:buChar char="•"/>
            </a:pPr>
            <a:r>
              <a:rPr lang="en-US" sz="1500" dirty="0">
                <a:solidFill>
                  <a:schemeClr val="tx2"/>
                </a:solidFill>
              </a:rPr>
              <a:t>External VMs and databases registered as ServiceEntries</a:t>
            </a:r>
            <a:endParaRPr lang="en-US" sz="1500" dirty="0"/>
          </a:p>
          <a:p>
            <a:pPr indent="0" marL="0">
              <a:spcAft>
                <a:spcPts val="800"/>
              </a:spcAft>
              <a:buNone/>
            </a:pPr>
            <a:r>
              <a:rPr lang="en-US" sz="1500" b="1" dirty="0">
                <a:solidFill>
                  <a:schemeClr val="tx1"/>
                </a:solidFill>
              </a:rPr>
              <a:t>Not in this phase</a:t>
            </a:r>
            <a:endParaRPr lang="en-US" sz="1500" dirty="0"/>
          </a:p>
          <a:p>
            <a:pPr marL="342900" indent="-342900">
              <a:spcAft>
                <a:spcPts val="800"/>
              </a:spcAft>
              <a:buSzPct val="100000"/>
              <a:buChar char="•"/>
            </a:pPr>
            <a:r>
              <a:rPr lang="en-US" sz="1500" dirty="0">
                <a:solidFill>
                  <a:schemeClr val="tx2"/>
                </a:solidFill>
              </a:rPr>
              <a:t>Agents or exporters on VMs and database servers</a:t>
            </a:r>
            <a:endParaRPr lang="en-US" sz="1500" dirty="0"/>
          </a:p>
          <a:p>
            <a:pPr marL="342900" indent="-342900">
              <a:spcAft>
                <a:spcPts val="800"/>
              </a:spcAft>
              <a:buSzPct val="100000"/>
              <a:buChar char="•"/>
            </a:pPr>
            <a:r>
              <a:rPr lang="en-US" sz="1500" dirty="0">
                <a:solidFill>
                  <a:schemeClr val="tx2"/>
                </a:solidFill>
              </a:rPr>
              <a:t>Channel-side tracing (mobile, web, API gateway)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Target architecture</a:t>
            </a:r>
            <a:endParaRPr lang="en-US" sz="3000" dirty="0"/>
          </a:p>
        </p:txBody>
      </p:sp>
      <p:sp>
        <p:nvSpPr>
          <p:cNvPr id="3" name="Channels"/>
          <p:cNvSpPr/>
          <p:nvPr/>
        </p:nvSpPr>
        <p:spPr>
          <a:xfrm>
            <a:off x="731520" y="1188720"/>
            <a:ext cx="2560320" cy="457200"/>
          </a:xfrm>
          <a:prstGeom prst="roundRect">
            <a:avLst>
              <a:gd name="adj" fmla="val 16000"/>
            </a:avLst>
          </a:prstGeom>
          <a:solidFill>
            <a:schemeClr val="bg2"/>
          </a:solidFill>
          <a:ln w="9525">
            <a:solidFill>
              <a:schemeClr val="bg2"/>
            </a:solidFill>
            <a:prstDash val="solid"/>
          </a:ln>
        </p:spPr>
        <p:txBody>
          <a:bodyPr/>
          <a:p/>
        </p:txBody>
      </p:sp>
      <p:sp>
        <p:nvSpPr>
          <p:cNvPr id="4" name="Channels text"/>
          <p:cNvSpPr txBox="1"/>
          <p:nvPr/>
        </p:nvSpPr>
        <p:spPr>
          <a:xfrm>
            <a:off x="731520" y="1188720"/>
            <a:ext cx="2560320" cy="457200"/>
          </a:xfrm>
          <a:prstGeom prst="rect">
            <a:avLst/>
          </a:prstGeom>
          <a:noFill/>
          <a:ln/>
        </p:spPr>
        <p:txBody>
          <a:bodyPr wrap="square" lIns="635" tIns="635" rIns="635" bIns="635" rtlCol="0" anchor="ctr"/>
          <a:lstStyle/>
          <a:p>
            <a:pPr algn="ctr" indent="0" marL="0">
              <a:buNone/>
            </a:pPr>
            <a:r>
              <a:rPr lang="en-US" sz="1400" b="1" dirty="0">
                <a:solidFill>
                  <a:schemeClr val="tx1"/>
                </a:solidFill>
              </a:rPr>
              <a:t>Customer channels</a:t>
            </a:r>
            <a:endParaRPr lang="en-US" sz="1400" dirty="0"/>
          </a:p>
        </p:txBody>
      </p:sp>
      <p:sp>
        <p:nvSpPr>
          <p:cNvPr id="5" name="Cluster boundary"/>
          <p:cNvSpPr/>
          <p:nvPr/>
        </p:nvSpPr>
        <p:spPr>
          <a:xfrm>
            <a:off x="457200" y="1828800"/>
            <a:ext cx="8595360" cy="3520440"/>
          </a:xfrm>
          <a:prstGeom prst="roundRect">
            <a:avLst>
              <a:gd name="adj" fmla="val 3117"/>
            </a:avLst>
          </a:prstGeom>
          <a:solidFill>
            <a:schemeClr val="bg1"/>
          </a:solidFill>
          <a:ln w="12700">
            <a:solidFill>
              <a:schemeClr val="accent5"/>
            </a:solidFill>
            <a:prstDash val="dash"/>
          </a:ln>
        </p:spPr>
        <p:txBody>
          <a:bodyPr/>
          <a:p/>
        </p:txBody>
      </p:sp>
      <p:sp>
        <p:nvSpPr>
          <p:cNvPr id="6" name="Text 4"/>
          <p:cNvSpPr txBox="1"/>
          <p:nvPr/>
        </p:nvSpPr>
        <p:spPr>
          <a:xfrm>
            <a:off x="3657600" y="1874520"/>
            <a:ext cx="5212080" cy="365760"/>
          </a:xfrm>
          <a:prstGeom prst="rect">
            <a:avLst/>
          </a:prstGeom>
          <a:noFill/>
          <a:ln/>
        </p:spPr>
        <p:txBody>
          <a:bodyPr wrap="square" lIns="0" tIns="0" rIns="0" bIns="0" rtlCol="0" anchor="ctr"/>
          <a:lstStyle/>
          <a:p>
            <a:pPr algn="r" indent="0" marL="0">
              <a:buNone/>
            </a:pPr>
            <a:r>
              <a:rPr lang="en-US" sz="1200" b="1" dirty="0">
                <a:solidFill>
                  <a:schemeClr val="tx2"/>
                </a:solidFill>
              </a:rPr>
              <a:t>OpenShift cluster  |  service mesh, sidecars already injected</a:t>
            </a:r>
            <a:endParaRPr lang="en-US" sz="1200" dirty="0"/>
          </a:p>
        </p:txBody>
      </p:sp>
      <p:sp>
        <p:nvSpPr>
          <p:cNvPr id="7" name="Ingress"/>
          <p:cNvSpPr/>
          <p:nvPr/>
        </p:nvSpPr>
        <p:spPr>
          <a:xfrm>
            <a:off x="731520" y="228600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8" name="Ingress text"/>
          <p:cNvSpPr txBox="1"/>
          <p:nvPr/>
        </p:nvSpPr>
        <p:spPr>
          <a:xfrm>
            <a:off x="731520" y="228600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Ingress gateway</a:t>
            </a:r>
            <a:endParaRPr lang="en-US" sz="1400" dirty="0"/>
          </a:p>
          <a:p>
            <a:pPr algn="ctr" indent="0" marL="0">
              <a:buNone/>
            </a:pPr>
            <a:r>
              <a:rPr lang="en-US" sz="1100" dirty="0">
                <a:solidFill>
                  <a:schemeClr val="accent6"/>
                </a:solidFill>
              </a:rPr>
              <a:t>Trace starts here</a:t>
            </a:r>
            <a:endParaRPr lang="en-US" sz="1400" dirty="0"/>
          </a:p>
        </p:txBody>
      </p:sp>
      <p:sp>
        <p:nvSpPr>
          <p:cNvPr id="9" name="App pods"/>
          <p:cNvSpPr/>
          <p:nvPr/>
        </p:nvSpPr>
        <p:spPr>
          <a:xfrm>
            <a:off x="731520" y="324612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10" name="App pods text"/>
          <p:cNvSpPr txBox="1"/>
          <p:nvPr/>
        </p:nvSpPr>
        <p:spPr>
          <a:xfrm>
            <a:off x="731520" y="324612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App pods</a:t>
            </a:r>
            <a:endParaRPr lang="en-US" sz="1400" dirty="0"/>
          </a:p>
          <a:p>
            <a:pPr algn="ctr" indent="0" marL="0">
              <a:buNone/>
            </a:pPr>
            <a:r>
              <a:rPr lang="en-US" sz="1100" dirty="0">
                <a:solidFill>
                  <a:schemeClr val="accent6"/>
                </a:solidFill>
              </a:rPr>
              <a:t>Envoy sidecar + OTel agent</a:t>
            </a:r>
            <a:endParaRPr lang="en-US" sz="1400" dirty="0"/>
          </a:p>
        </p:txBody>
      </p:sp>
      <p:sp>
        <p:nvSpPr>
          <p:cNvPr id="11" name="ServiceEntry"/>
          <p:cNvSpPr/>
          <p:nvPr/>
        </p:nvSpPr>
        <p:spPr>
          <a:xfrm>
            <a:off x="731520" y="420624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12" name="ServiceEntry text"/>
          <p:cNvSpPr txBox="1"/>
          <p:nvPr/>
        </p:nvSpPr>
        <p:spPr>
          <a:xfrm>
            <a:off x="731520" y="420624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ServiceEntry + DR</a:t>
            </a:r>
            <a:endParaRPr lang="en-US" sz="1400" dirty="0"/>
          </a:p>
          <a:p>
            <a:pPr algn="ctr" indent="0" marL="0">
              <a:buNone/>
            </a:pPr>
            <a:r>
              <a:rPr lang="en-US" sz="1100" dirty="0">
                <a:solidFill>
                  <a:schemeClr val="accent6"/>
                </a:solidFill>
              </a:rPr>
              <a:t>Registers VMs and DBs</a:t>
            </a:r>
            <a:endParaRPr lang="en-US" sz="1400" dirty="0"/>
          </a:p>
        </p:txBody>
      </p:sp>
      <p:sp>
        <p:nvSpPr>
          <p:cNvPr id="13" name="Prometheus"/>
          <p:cNvSpPr/>
          <p:nvPr/>
        </p:nvSpPr>
        <p:spPr>
          <a:xfrm>
            <a:off x="4069080" y="228600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4" name="Prometheus text"/>
          <p:cNvSpPr txBox="1"/>
          <p:nvPr/>
        </p:nvSpPr>
        <p:spPr>
          <a:xfrm>
            <a:off x="4069080" y="228600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Prometheus (UWM)</a:t>
            </a:r>
            <a:endParaRPr lang="en-US" sz="1400" dirty="0"/>
          </a:p>
          <a:p>
            <a:pPr algn="ctr" indent="0" marL="0">
              <a:buNone/>
            </a:pPr>
            <a:r>
              <a:rPr lang="en-US" sz="1100" dirty="0">
                <a:solidFill>
                  <a:schemeClr val="accent6"/>
                </a:solidFill>
              </a:rPr>
              <a:t>Scrapes Envoy metrics</a:t>
            </a:r>
            <a:endParaRPr lang="en-US" sz="1400" dirty="0"/>
          </a:p>
        </p:txBody>
      </p:sp>
      <p:sp>
        <p:nvSpPr>
          <p:cNvPr id="15" name="Collector"/>
          <p:cNvSpPr/>
          <p:nvPr/>
        </p:nvSpPr>
        <p:spPr>
          <a:xfrm>
            <a:off x="4069080" y="324612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6" name="Collector text"/>
          <p:cNvSpPr txBox="1"/>
          <p:nvPr/>
        </p:nvSpPr>
        <p:spPr>
          <a:xfrm>
            <a:off x="4069080" y="324612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Spans and access logs (OTLP)</a:t>
            </a:r>
            <a:endParaRPr lang="en-US" sz="1400" dirty="0"/>
          </a:p>
        </p:txBody>
      </p:sp>
      <p:sp>
        <p:nvSpPr>
          <p:cNvPr id="17" name="Tempo"/>
          <p:cNvSpPr/>
          <p:nvPr/>
        </p:nvSpPr>
        <p:spPr>
          <a:xfrm>
            <a:off x="4069080" y="420624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8" name="Tempo text"/>
          <p:cNvSpPr txBox="1"/>
          <p:nvPr/>
        </p:nvSpPr>
        <p:spPr>
          <a:xfrm>
            <a:off x="4069080" y="420624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Tempo + Loki</a:t>
            </a:r>
            <a:endParaRPr lang="en-US" sz="1400" dirty="0"/>
          </a:p>
          <a:p>
            <a:pPr algn="ctr" indent="0" marL="0">
              <a:buNone/>
            </a:pPr>
            <a:r>
              <a:rPr lang="en-US" sz="1100" dirty="0">
                <a:solidFill>
                  <a:schemeClr val="accent6"/>
                </a:solidFill>
              </a:rPr>
              <a:t>Traces and access logs</a:t>
            </a:r>
            <a:endParaRPr lang="en-US" sz="1400" dirty="0"/>
          </a:p>
        </p:txBody>
      </p:sp>
      <p:sp>
        <p:nvSpPr>
          <p:cNvPr id="19" name="Kiali"/>
          <p:cNvSpPr/>
          <p:nvPr/>
        </p:nvSpPr>
        <p:spPr>
          <a:xfrm>
            <a:off x="6995160" y="2697480"/>
            <a:ext cx="2011680" cy="777240"/>
          </a:xfrm>
          <a:prstGeom prst="roundRect">
            <a:avLst>
              <a:gd name="adj" fmla="val 9412"/>
            </a:avLst>
          </a:prstGeom>
          <a:solidFill>
            <a:schemeClr val="accent6"/>
          </a:solidFill>
          <a:ln w="12700">
            <a:solidFill>
              <a:schemeClr val="accent1"/>
            </a:solidFill>
            <a:prstDash val="solid"/>
          </a:ln>
        </p:spPr>
        <p:txBody>
          <a:bodyPr/>
          <a:p/>
        </p:txBody>
      </p:sp>
      <p:sp>
        <p:nvSpPr>
          <p:cNvPr id="20" name="Kiali text"/>
          <p:cNvSpPr txBox="1"/>
          <p:nvPr/>
        </p:nvSpPr>
        <p:spPr>
          <a:xfrm>
            <a:off x="6995160" y="2697480"/>
            <a:ext cx="201168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Kiali</a:t>
            </a:r>
            <a:endParaRPr lang="en-US" sz="1400" dirty="0"/>
          </a:p>
          <a:p>
            <a:pPr algn="ctr" indent="0" marL="0">
              <a:buNone/>
            </a:pPr>
            <a:r>
              <a:rPr lang="en-US" sz="1100" dirty="0">
                <a:solidFill>
                  <a:schemeClr val="tx2"/>
                </a:solidFill>
              </a:rPr>
              <a:t>Live service graph</a:t>
            </a:r>
            <a:endParaRPr lang="en-US" sz="1400" dirty="0"/>
          </a:p>
        </p:txBody>
      </p:sp>
      <p:sp>
        <p:nvSpPr>
          <p:cNvPr id="21" name="Console"/>
          <p:cNvSpPr/>
          <p:nvPr/>
        </p:nvSpPr>
        <p:spPr>
          <a:xfrm>
            <a:off x="6995160" y="3749040"/>
            <a:ext cx="2011680" cy="777240"/>
          </a:xfrm>
          <a:prstGeom prst="roundRect">
            <a:avLst>
              <a:gd name="adj" fmla="val 9412"/>
            </a:avLst>
          </a:prstGeom>
          <a:solidFill>
            <a:schemeClr val="accent6"/>
          </a:solidFill>
          <a:ln w="12700">
            <a:solidFill>
              <a:schemeClr val="accent1"/>
            </a:solidFill>
            <a:prstDash val="solid"/>
          </a:ln>
        </p:spPr>
        <p:txBody>
          <a:bodyPr/>
          <a:p/>
        </p:txBody>
      </p:sp>
      <p:sp>
        <p:nvSpPr>
          <p:cNvPr id="22" name="Console text"/>
          <p:cNvSpPr txBox="1"/>
          <p:nvPr/>
        </p:nvSpPr>
        <p:spPr>
          <a:xfrm>
            <a:off x="6995160" y="3749040"/>
            <a:ext cx="201168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OpenShift console</a:t>
            </a:r>
            <a:endParaRPr lang="en-US" sz="1400" dirty="0"/>
          </a:p>
          <a:p>
            <a:pPr algn="ctr" indent="0" marL="0">
              <a:buNone/>
            </a:pPr>
            <a:r>
              <a:rPr lang="en-US" sz="1100" dirty="0">
                <a:solidFill>
                  <a:schemeClr val="tx2"/>
                </a:solidFill>
              </a:rPr>
              <a:t>Dashboards, traces, logs</a:t>
            </a:r>
            <a:endParaRPr lang="en-US" sz="1400" dirty="0"/>
          </a:p>
        </p:txBody>
      </p:sp>
      <p:sp>
        <p:nvSpPr>
          <p:cNvPr id="23" name="Legacy VMs"/>
          <p:cNvSpPr/>
          <p:nvPr/>
        </p:nvSpPr>
        <p:spPr>
          <a:xfrm>
            <a:off x="731520" y="5623560"/>
            <a:ext cx="2560320" cy="685800"/>
          </a:xfrm>
          <a:prstGeom prst="roundRect">
            <a:avLst>
              <a:gd name="adj" fmla="val 10667"/>
            </a:avLst>
          </a:prstGeom>
          <a:solidFill>
            <a:schemeClr val="bg2"/>
          </a:solidFill>
          <a:ln w="9525">
            <a:solidFill>
              <a:schemeClr val="bg2"/>
            </a:solidFill>
            <a:prstDash val="solid"/>
          </a:ln>
        </p:spPr>
        <p:txBody>
          <a:bodyPr/>
          <a:p/>
        </p:txBody>
      </p:sp>
      <p:sp>
        <p:nvSpPr>
          <p:cNvPr id="24" name="Legacy VMs text"/>
          <p:cNvSpPr txBox="1"/>
          <p:nvPr/>
        </p:nvSpPr>
        <p:spPr>
          <a:xfrm>
            <a:off x="731520" y="5623560"/>
            <a:ext cx="256032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Legacy apps (VMs)</a:t>
            </a:r>
            <a:endParaRPr lang="en-US" sz="1400" dirty="0"/>
          </a:p>
          <a:p>
            <a:pPr algn="ctr" indent="0" marL="0">
              <a:buNone/>
            </a:pPr>
            <a:r>
              <a:rPr lang="en-US" sz="1100" dirty="0">
                <a:solidFill>
                  <a:schemeClr val="tx2"/>
                </a:solidFill>
              </a:rPr>
              <a:t>HTTP: full metrics + spans</a:t>
            </a:r>
            <a:endParaRPr lang="en-US" sz="1400" dirty="0"/>
          </a:p>
        </p:txBody>
      </p:sp>
      <p:sp>
        <p:nvSpPr>
          <p:cNvPr id="25" name="Databases"/>
          <p:cNvSpPr/>
          <p:nvPr/>
        </p:nvSpPr>
        <p:spPr>
          <a:xfrm>
            <a:off x="4069080" y="5623560"/>
            <a:ext cx="2331720" cy="685800"/>
          </a:xfrm>
          <a:prstGeom prst="roundRect">
            <a:avLst>
              <a:gd name="adj" fmla="val 10667"/>
            </a:avLst>
          </a:prstGeom>
          <a:solidFill>
            <a:schemeClr val="bg2"/>
          </a:solidFill>
          <a:ln w="9525">
            <a:solidFill>
              <a:schemeClr val="bg2"/>
            </a:solidFill>
            <a:prstDash val="solid"/>
          </a:ln>
        </p:spPr>
        <p:txBody>
          <a:bodyPr/>
          <a:p/>
        </p:txBody>
      </p:sp>
      <p:sp>
        <p:nvSpPr>
          <p:cNvPr id="26" name="Databases text"/>
          <p:cNvSpPr txBox="1"/>
          <p:nvPr/>
        </p:nvSpPr>
        <p:spPr>
          <a:xfrm>
            <a:off x="4069080" y="5623560"/>
            <a:ext cx="233172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Databases</a:t>
            </a:r>
            <a:endParaRPr lang="en-US" sz="1400" dirty="0"/>
          </a:p>
          <a:p>
            <a:pPr algn="ctr" indent="0" marL="0">
              <a:buNone/>
            </a:pPr>
            <a:r>
              <a:rPr lang="en-US" sz="1100" dirty="0">
                <a:solidFill>
                  <a:schemeClr val="tx2"/>
                </a:solidFill>
              </a:rPr>
              <a:t>TCP: connections only</a:t>
            </a:r>
            <a:endParaRPr lang="en-US" sz="1400" dirty="0"/>
          </a:p>
        </p:txBody>
      </p:sp>
      <p:sp>
        <p:nvSpPr>
          <p:cNvPr id="27" name="Shape 25"/>
          <p:cNvSpPr/>
          <p:nvPr/>
        </p:nvSpPr>
        <p:spPr>
          <a:xfrm>
            <a:off x="2011680" y="1645920"/>
            <a:ext cx="0" cy="640080"/>
          </a:xfrm>
          <a:prstGeom prst="line">
            <a:avLst/>
          </a:prstGeom>
          <a:noFill/>
          <a:ln w="15875">
            <a:solidFill>
              <a:schemeClr val="tx2"/>
            </a:solidFill>
            <a:prstDash val="solid"/>
            <a:tailEnd type="triangle"/>
          </a:ln>
        </p:spPr>
        <p:txBody>
          <a:bodyPr/>
          <a:p/>
        </p:txBody>
      </p:sp>
      <p:sp>
        <p:nvSpPr>
          <p:cNvPr id="28" name="Shape 26"/>
          <p:cNvSpPr/>
          <p:nvPr/>
        </p:nvSpPr>
        <p:spPr>
          <a:xfrm>
            <a:off x="2011680" y="3063240"/>
            <a:ext cx="0" cy="182880"/>
          </a:xfrm>
          <a:prstGeom prst="line">
            <a:avLst/>
          </a:prstGeom>
          <a:noFill/>
          <a:ln w="15875">
            <a:solidFill>
              <a:schemeClr val="tx2"/>
            </a:solidFill>
            <a:prstDash val="solid"/>
            <a:tailEnd type="triangle"/>
          </a:ln>
        </p:spPr>
        <p:txBody>
          <a:bodyPr/>
          <a:p/>
        </p:txBody>
      </p:sp>
      <p:sp>
        <p:nvSpPr>
          <p:cNvPr id="29" name="Shape 27"/>
          <p:cNvSpPr/>
          <p:nvPr/>
        </p:nvSpPr>
        <p:spPr>
          <a:xfrm>
            <a:off x="2011680" y="4023360"/>
            <a:ext cx="0" cy="182880"/>
          </a:xfrm>
          <a:prstGeom prst="line">
            <a:avLst/>
          </a:prstGeom>
          <a:noFill/>
          <a:ln w="15875">
            <a:solidFill>
              <a:schemeClr val="tx2"/>
            </a:solidFill>
            <a:prstDash val="solid"/>
            <a:tailEnd type="triangle"/>
          </a:ln>
        </p:spPr>
        <p:txBody>
          <a:bodyPr/>
          <a:p/>
        </p:txBody>
      </p:sp>
      <p:sp>
        <p:nvSpPr>
          <p:cNvPr id="30" name="Shape 28"/>
          <p:cNvSpPr/>
          <p:nvPr/>
        </p:nvSpPr>
        <p:spPr>
          <a:xfrm>
            <a:off x="3291840" y="3749040"/>
            <a:ext cx="777240" cy="0"/>
          </a:xfrm>
          <a:prstGeom prst="line">
            <a:avLst/>
          </a:prstGeom>
          <a:noFill/>
          <a:ln w="15875">
            <a:solidFill>
              <a:schemeClr val="tx2"/>
            </a:solidFill>
            <a:prstDash val="solid"/>
            <a:tailEnd type="triangle"/>
          </a:ln>
        </p:spPr>
        <p:txBody>
          <a:bodyPr/>
          <a:p/>
        </p:txBody>
      </p:sp>
      <p:sp>
        <p:nvSpPr>
          <p:cNvPr id="31" name="Shape 29"/>
          <p:cNvSpPr/>
          <p:nvPr/>
        </p:nvSpPr>
        <p:spPr>
          <a:xfrm>
            <a:off x="3291840" y="3429000"/>
            <a:ext cx="182880" cy="0"/>
          </a:xfrm>
          <a:prstGeom prst="line">
            <a:avLst/>
          </a:prstGeom>
          <a:noFill/>
          <a:ln w="15875">
            <a:solidFill>
              <a:schemeClr val="tx2"/>
            </a:solidFill>
            <a:prstDash val="solid"/>
          </a:ln>
        </p:spPr>
        <p:txBody>
          <a:bodyPr/>
          <a:p/>
        </p:txBody>
      </p:sp>
      <p:sp>
        <p:nvSpPr>
          <p:cNvPr id="32" name="Shape 30"/>
          <p:cNvSpPr/>
          <p:nvPr/>
        </p:nvSpPr>
        <p:spPr>
          <a:xfrm>
            <a:off x="3474720" y="2674620"/>
            <a:ext cx="0" cy="754380"/>
          </a:xfrm>
          <a:prstGeom prst="line">
            <a:avLst/>
          </a:prstGeom>
          <a:noFill/>
          <a:ln w="15875">
            <a:solidFill>
              <a:schemeClr val="tx2"/>
            </a:solidFill>
            <a:prstDash val="solid"/>
          </a:ln>
        </p:spPr>
        <p:txBody>
          <a:bodyPr/>
          <a:p/>
        </p:txBody>
      </p:sp>
      <p:sp>
        <p:nvSpPr>
          <p:cNvPr id="33" name="Shape 31"/>
          <p:cNvSpPr/>
          <p:nvPr/>
        </p:nvSpPr>
        <p:spPr>
          <a:xfrm>
            <a:off x="3474720" y="2674620"/>
            <a:ext cx="594360" cy="0"/>
          </a:xfrm>
          <a:prstGeom prst="line">
            <a:avLst/>
          </a:prstGeom>
          <a:noFill/>
          <a:ln w="15875">
            <a:solidFill>
              <a:schemeClr val="tx2"/>
            </a:solidFill>
            <a:prstDash val="solid"/>
            <a:tailEnd type="triangle"/>
          </a:ln>
        </p:spPr>
        <p:txBody>
          <a:bodyPr/>
          <a:p/>
        </p:txBody>
      </p:sp>
      <p:sp>
        <p:nvSpPr>
          <p:cNvPr id="34" name="Shape 32"/>
          <p:cNvSpPr/>
          <p:nvPr/>
        </p:nvSpPr>
        <p:spPr>
          <a:xfrm>
            <a:off x="5234940" y="4023360"/>
            <a:ext cx="0" cy="182880"/>
          </a:xfrm>
          <a:prstGeom prst="line">
            <a:avLst/>
          </a:prstGeom>
          <a:noFill/>
          <a:ln w="15875">
            <a:solidFill>
              <a:schemeClr val="tx2"/>
            </a:solidFill>
            <a:prstDash val="solid"/>
            <a:tailEnd type="triangle"/>
          </a:ln>
        </p:spPr>
        <p:txBody>
          <a:bodyPr/>
          <a:p/>
        </p:txBody>
      </p:sp>
      <p:sp>
        <p:nvSpPr>
          <p:cNvPr id="35" name="Shape 33"/>
          <p:cNvSpPr/>
          <p:nvPr/>
        </p:nvSpPr>
        <p:spPr>
          <a:xfrm>
            <a:off x="6400800" y="2674620"/>
            <a:ext cx="274320" cy="0"/>
          </a:xfrm>
          <a:prstGeom prst="line">
            <a:avLst/>
          </a:prstGeom>
          <a:noFill/>
          <a:ln w="15875">
            <a:solidFill>
              <a:schemeClr val="tx2"/>
            </a:solidFill>
            <a:prstDash val="solid"/>
          </a:ln>
        </p:spPr>
        <p:txBody>
          <a:bodyPr/>
          <a:p/>
        </p:txBody>
      </p:sp>
      <p:sp>
        <p:nvSpPr>
          <p:cNvPr id="36" name="Shape 34"/>
          <p:cNvSpPr/>
          <p:nvPr/>
        </p:nvSpPr>
        <p:spPr>
          <a:xfrm>
            <a:off x="6675120" y="2674620"/>
            <a:ext cx="0" cy="411480"/>
          </a:xfrm>
          <a:prstGeom prst="line">
            <a:avLst/>
          </a:prstGeom>
          <a:noFill/>
          <a:ln w="15875">
            <a:solidFill>
              <a:schemeClr val="tx2"/>
            </a:solidFill>
            <a:prstDash val="solid"/>
          </a:ln>
        </p:spPr>
        <p:txBody>
          <a:bodyPr/>
          <a:p/>
        </p:txBody>
      </p:sp>
      <p:sp>
        <p:nvSpPr>
          <p:cNvPr id="37" name="Shape 35"/>
          <p:cNvSpPr/>
          <p:nvPr/>
        </p:nvSpPr>
        <p:spPr>
          <a:xfrm>
            <a:off x="6675120" y="3086100"/>
            <a:ext cx="320040" cy="0"/>
          </a:xfrm>
          <a:prstGeom prst="line">
            <a:avLst/>
          </a:prstGeom>
          <a:noFill/>
          <a:ln w="15875">
            <a:solidFill>
              <a:schemeClr val="tx2"/>
            </a:solidFill>
            <a:prstDash val="solid"/>
            <a:tailEnd type="triangle"/>
          </a:ln>
        </p:spPr>
        <p:txBody>
          <a:bodyPr/>
          <a:p/>
        </p:txBody>
      </p:sp>
      <p:sp>
        <p:nvSpPr>
          <p:cNvPr id="38" name="Shape 36"/>
          <p:cNvSpPr/>
          <p:nvPr/>
        </p:nvSpPr>
        <p:spPr>
          <a:xfrm>
            <a:off x="6400800" y="4594860"/>
            <a:ext cx="274320" cy="0"/>
          </a:xfrm>
          <a:prstGeom prst="line">
            <a:avLst/>
          </a:prstGeom>
          <a:noFill/>
          <a:ln w="15875">
            <a:solidFill>
              <a:schemeClr val="tx2"/>
            </a:solidFill>
            <a:prstDash val="solid"/>
          </a:ln>
        </p:spPr>
        <p:txBody>
          <a:bodyPr/>
          <a:p/>
        </p:txBody>
      </p:sp>
      <p:sp>
        <p:nvSpPr>
          <p:cNvPr id="39" name="Shape 37"/>
          <p:cNvSpPr/>
          <p:nvPr/>
        </p:nvSpPr>
        <p:spPr>
          <a:xfrm>
            <a:off x="6675120" y="4137660"/>
            <a:ext cx="0" cy="457200"/>
          </a:xfrm>
          <a:prstGeom prst="line">
            <a:avLst/>
          </a:prstGeom>
          <a:noFill/>
          <a:ln w="15875">
            <a:solidFill>
              <a:schemeClr val="tx2"/>
            </a:solidFill>
            <a:prstDash val="solid"/>
          </a:ln>
        </p:spPr>
        <p:txBody>
          <a:bodyPr/>
          <a:p/>
        </p:txBody>
      </p:sp>
      <p:sp>
        <p:nvSpPr>
          <p:cNvPr id="40" name="Shape 38"/>
          <p:cNvSpPr/>
          <p:nvPr/>
        </p:nvSpPr>
        <p:spPr>
          <a:xfrm>
            <a:off x="6675120" y="4137660"/>
            <a:ext cx="320040" cy="0"/>
          </a:xfrm>
          <a:prstGeom prst="line">
            <a:avLst/>
          </a:prstGeom>
          <a:noFill/>
          <a:ln w="15875">
            <a:solidFill>
              <a:schemeClr val="tx2"/>
            </a:solidFill>
            <a:prstDash val="solid"/>
            <a:tailEnd type="triangle"/>
          </a:ln>
        </p:spPr>
        <p:txBody>
          <a:bodyPr/>
          <a:p/>
        </p:txBody>
      </p:sp>
      <p:sp>
        <p:nvSpPr>
          <p:cNvPr id="41" name="Shape 39"/>
          <p:cNvSpPr/>
          <p:nvPr/>
        </p:nvSpPr>
        <p:spPr>
          <a:xfrm>
            <a:off x="1463040" y="4983480"/>
            <a:ext cx="0" cy="640080"/>
          </a:xfrm>
          <a:prstGeom prst="line">
            <a:avLst/>
          </a:prstGeom>
          <a:noFill/>
          <a:ln w="15875">
            <a:solidFill>
              <a:schemeClr val="tx2"/>
            </a:solidFill>
            <a:prstDash val="solid"/>
            <a:tailEnd type="triangle"/>
          </a:ln>
        </p:spPr>
        <p:txBody>
          <a:bodyPr/>
          <a:p/>
        </p:txBody>
      </p:sp>
      <p:sp>
        <p:nvSpPr>
          <p:cNvPr id="42" name="Shape 40"/>
          <p:cNvSpPr/>
          <p:nvPr/>
        </p:nvSpPr>
        <p:spPr>
          <a:xfrm>
            <a:off x="2743200" y="4983480"/>
            <a:ext cx="0" cy="457200"/>
          </a:xfrm>
          <a:prstGeom prst="line">
            <a:avLst/>
          </a:prstGeom>
          <a:noFill/>
          <a:ln w="15875">
            <a:solidFill>
              <a:schemeClr val="tx2"/>
            </a:solidFill>
            <a:prstDash val="solid"/>
          </a:ln>
        </p:spPr>
        <p:txBody>
          <a:bodyPr/>
          <a:p/>
        </p:txBody>
      </p:sp>
      <p:sp>
        <p:nvSpPr>
          <p:cNvPr id="43" name="Shape 41"/>
          <p:cNvSpPr/>
          <p:nvPr/>
        </p:nvSpPr>
        <p:spPr>
          <a:xfrm>
            <a:off x="2743200" y="5440680"/>
            <a:ext cx="2491739" cy="0"/>
          </a:xfrm>
          <a:prstGeom prst="line">
            <a:avLst/>
          </a:prstGeom>
          <a:noFill/>
          <a:ln w="15875">
            <a:solidFill>
              <a:schemeClr val="tx2"/>
            </a:solidFill>
            <a:prstDash val="solid"/>
          </a:ln>
        </p:spPr>
        <p:txBody>
          <a:bodyPr/>
          <a:p/>
        </p:txBody>
      </p:sp>
      <p:sp>
        <p:nvSpPr>
          <p:cNvPr id="44" name="Shape 42"/>
          <p:cNvSpPr/>
          <p:nvPr/>
        </p:nvSpPr>
        <p:spPr>
          <a:xfrm>
            <a:off x="5234940" y="5440680"/>
            <a:ext cx="0" cy="182880"/>
          </a:xfrm>
          <a:prstGeom prst="line">
            <a:avLst/>
          </a:prstGeom>
          <a:noFill/>
          <a:ln w="15875">
            <a:solidFill>
              <a:schemeClr val="tx2"/>
            </a:solidFill>
            <a:prstDash val="solid"/>
            <a:tailEnd type="triangle"/>
          </a:ln>
        </p:spPr>
        <p:txBody>
          <a:bodyPr/>
          <a:p/>
        </p:txBody>
      </p:sp>
      <p:sp>
        <p:nvSpPr>
          <p:cNvPr id="45" name="Key card"/>
          <p:cNvSpPr/>
          <p:nvPr/>
        </p:nvSpPr>
        <p:spPr>
          <a:xfrm>
            <a:off x="9326880" y="1828800"/>
            <a:ext cx="2377440" cy="3520440"/>
          </a:xfrm>
          <a:prstGeom prst="roundRect">
            <a:avLst>
              <a:gd name="adj" fmla="val 3846"/>
            </a:avLst>
          </a:prstGeom>
          <a:solidFill>
            <a:schemeClr val="bg2"/>
          </a:solidFill>
          <a:ln w="12700">
            <a:solidFill>
              <a:schemeClr val="bg2"/>
            </a:solidFill>
            <a:prstDash val="solid"/>
          </a:ln>
        </p:spPr>
        <p:txBody>
          <a:bodyPr/>
          <a:p/>
        </p:txBody>
      </p:sp>
      <p:sp>
        <p:nvSpPr>
          <p:cNvPr id="46" name="Text 44"/>
          <p:cNvSpPr txBox="1"/>
          <p:nvPr/>
        </p:nvSpPr>
        <p:spPr>
          <a:xfrm>
            <a:off x="9555480" y="1965960"/>
            <a:ext cx="2011680" cy="365760"/>
          </a:xfrm>
          <a:prstGeom prst="rect">
            <a:avLst/>
          </a:prstGeom>
          <a:noFill/>
          <a:ln/>
        </p:spPr>
        <p:txBody>
          <a:bodyPr wrap="square" lIns="0" tIns="0" rIns="0" bIns="0" rtlCol="0" anchor="ctr"/>
          <a:lstStyle/>
          <a:p>
            <a:pPr indent="0" marL="0">
              <a:buNone/>
            </a:pPr>
            <a:r>
              <a:rPr lang="en-US" sz="1400" b="1" dirty="0">
                <a:solidFill>
                  <a:schemeClr val="tx1"/>
                </a:solidFill>
              </a:rPr>
              <a:t>Key</a:t>
            </a:r>
            <a:endParaRPr lang="en-US" sz="1400" dirty="0"/>
          </a:p>
        </p:txBody>
      </p:sp>
      <p:sp>
        <p:nvSpPr>
          <p:cNvPr id="47" name="Shape 45"/>
          <p:cNvSpPr/>
          <p:nvPr/>
        </p:nvSpPr>
        <p:spPr>
          <a:xfrm>
            <a:off x="9555480" y="2468880"/>
            <a:ext cx="228600" cy="228600"/>
          </a:xfrm>
          <a:prstGeom prst="ellipse">
            <a:avLst/>
          </a:prstGeom>
          <a:solidFill>
            <a:schemeClr val="accent2"/>
          </a:solidFill>
          <a:ln w="6350">
            <a:solidFill>
              <a:schemeClr val="accent2"/>
            </a:solidFill>
            <a:prstDash val="solid"/>
          </a:ln>
        </p:spPr>
        <p:txBody>
          <a:bodyPr/>
          <a:p/>
        </p:txBody>
      </p:sp>
      <p:sp>
        <p:nvSpPr>
          <p:cNvPr id="48" name="Text 46"/>
          <p:cNvSpPr txBox="1"/>
          <p:nvPr/>
        </p:nvSpPr>
        <p:spPr>
          <a:xfrm>
            <a:off x="9921240" y="2423160"/>
            <a:ext cx="1691640" cy="320040"/>
          </a:xfrm>
          <a:prstGeom prst="rect">
            <a:avLst/>
          </a:prstGeom>
          <a:noFill/>
          <a:ln/>
        </p:spPr>
        <p:txBody>
          <a:bodyPr wrap="square" lIns="0" tIns="0" rIns="0" bIns="0" rtlCol="0" anchor="ctr"/>
          <a:lstStyle/>
          <a:p>
            <a:pPr indent="0" marL="0">
              <a:buNone/>
            </a:pPr>
            <a:r>
              <a:rPr lang="en-US" sz="1100" dirty="0">
                <a:solidFill>
                  <a:schemeClr val="tx2"/>
                </a:solidFill>
              </a:rPr>
              <a:t>Mesh request path</a:t>
            </a:r>
            <a:endParaRPr lang="en-US" sz="1100" dirty="0"/>
          </a:p>
        </p:txBody>
      </p:sp>
      <p:sp>
        <p:nvSpPr>
          <p:cNvPr id="49" name="Shape 47"/>
          <p:cNvSpPr/>
          <p:nvPr/>
        </p:nvSpPr>
        <p:spPr>
          <a:xfrm>
            <a:off x="9555480" y="2880360"/>
            <a:ext cx="228600" cy="228600"/>
          </a:xfrm>
          <a:prstGeom prst="ellipse">
            <a:avLst/>
          </a:prstGeom>
          <a:solidFill>
            <a:schemeClr val="accent1"/>
          </a:solidFill>
          <a:ln w="6350">
            <a:solidFill>
              <a:schemeClr val="accent1"/>
            </a:solidFill>
            <a:prstDash val="solid"/>
          </a:ln>
        </p:spPr>
        <p:txBody>
          <a:bodyPr/>
          <a:p/>
        </p:txBody>
      </p:sp>
      <p:sp>
        <p:nvSpPr>
          <p:cNvPr id="50" name="Text 48"/>
          <p:cNvSpPr txBox="1"/>
          <p:nvPr/>
        </p:nvSpPr>
        <p:spPr>
          <a:xfrm>
            <a:off x="9921240" y="2834640"/>
            <a:ext cx="1691640" cy="320040"/>
          </a:xfrm>
          <a:prstGeom prst="rect">
            <a:avLst/>
          </a:prstGeom>
          <a:noFill/>
          <a:ln/>
        </p:spPr>
        <p:txBody>
          <a:bodyPr wrap="square" lIns="0" tIns="0" rIns="0" bIns="0" rtlCol="0" anchor="ctr"/>
          <a:lstStyle/>
          <a:p>
            <a:pPr indent="0" marL="0">
              <a:buNone/>
            </a:pPr>
            <a:r>
              <a:rPr lang="en-US" sz="1100" dirty="0">
                <a:solidFill>
                  <a:schemeClr val="tx2"/>
                </a:solidFill>
              </a:rPr>
              <a:t>Observability stack</a:t>
            </a:r>
            <a:endParaRPr lang="en-US" sz="1100" dirty="0"/>
          </a:p>
        </p:txBody>
      </p:sp>
      <p:sp>
        <p:nvSpPr>
          <p:cNvPr id="51" name="Shape 49"/>
          <p:cNvSpPr/>
          <p:nvPr/>
        </p:nvSpPr>
        <p:spPr>
          <a:xfrm>
            <a:off x="9555480" y="3291840"/>
            <a:ext cx="228600" cy="228600"/>
          </a:xfrm>
          <a:prstGeom prst="ellipse">
            <a:avLst/>
          </a:prstGeom>
          <a:solidFill>
            <a:schemeClr val="accent5"/>
          </a:solidFill>
          <a:ln w="6350">
            <a:solidFill>
              <a:schemeClr val="accent5"/>
            </a:solidFill>
            <a:prstDash val="solid"/>
          </a:ln>
        </p:spPr>
        <p:txBody>
          <a:bodyPr/>
          <a:p/>
        </p:txBody>
      </p:sp>
      <p:sp>
        <p:nvSpPr>
          <p:cNvPr id="52" name="Text 50"/>
          <p:cNvSpPr txBox="1"/>
          <p:nvPr/>
        </p:nvSpPr>
        <p:spPr>
          <a:xfrm>
            <a:off x="9921240" y="3246120"/>
            <a:ext cx="1691640" cy="320040"/>
          </a:xfrm>
          <a:prstGeom prst="rect">
            <a:avLst/>
          </a:prstGeom>
          <a:noFill/>
          <a:ln/>
        </p:spPr>
        <p:txBody>
          <a:bodyPr wrap="square" lIns="0" tIns="0" rIns="0" bIns="0" rtlCol="0" anchor="ctr"/>
          <a:lstStyle/>
          <a:p>
            <a:pPr indent="0" marL="0">
              <a:buNone/>
            </a:pPr>
            <a:r>
              <a:rPr lang="en-US" sz="1100" dirty="0">
                <a:solidFill>
                  <a:schemeClr val="tx2"/>
                </a:solidFill>
              </a:rPr>
              <a:t>Outside cluster</a:t>
            </a:r>
            <a:endParaRPr lang="en-US" sz="1100" dirty="0"/>
          </a:p>
        </p:txBody>
      </p:sp>
      <p:sp>
        <p:nvSpPr>
          <p:cNvPr id="53" name="Shape 51"/>
          <p:cNvSpPr/>
          <p:nvPr/>
        </p:nvSpPr>
        <p:spPr>
          <a:xfrm>
            <a:off x="9555480" y="3703320"/>
            <a:ext cx="228600" cy="228600"/>
          </a:xfrm>
          <a:prstGeom prst="ellipse">
            <a:avLst/>
          </a:prstGeom>
          <a:solidFill>
            <a:schemeClr val="accent3"/>
          </a:solidFill>
          <a:ln w="6350">
            <a:solidFill>
              <a:schemeClr val="accent3"/>
            </a:solidFill>
            <a:prstDash val="solid"/>
          </a:ln>
        </p:spPr>
        <p:txBody>
          <a:bodyPr/>
          <a:p/>
        </p:txBody>
      </p:sp>
      <p:sp>
        <p:nvSpPr>
          <p:cNvPr id="54" name="Text 52"/>
          <p:cNvSpPr txBox="1"/>
          <p:nvPr/>
        </p:nvSpPr>
        <p:spPr>
          <a:xfrm>
            <a:off x="9921240" y="3657600"/>
            <a:ext cx="1691640" cy="320040"/>
          </a:xfrm>
          <a:prstGeom prst="rect">
            <a:avLst/>
          </a:prstGeom>
          <a:noFill/>
          <a:ln/>
        </p:spPr>
        <p:txBody>
          <a:bodyPr wrap="square" lIns="0" tIns="0" rIns="0" bIns="0" rtlCol="0" anchor="ctr"/>
          <a:lstStyle/>
          <a:p>
            <a:pPr indent="0" marL="0">
              <a:buNone/>
            </a:pPr>
            <a:r>
              <a:rPr lang="en-US" sz="1100" dirty="0">
                <a:solidFill>
                  <a:schemeClr val="tx2"/>
                </a:solidFill>
              </a:rPr>
              <a:t>Red dot: failing hop</a:t>
            </a:r>
            <a:endParaRPr lang="en-US" sz="1100" dirty="0"/>
          </a:p>
        </p:txBody>
      </p:sp>
      <p:sp>
        <p:nvSpPr>
          <p:cNvPr id="55" name="Text 53"/>
          <p:cNvSpPr txBox="1"/>
          <p:nvPr/>
        </p:nvSpPr>
        <p:spPr>
          <a:xfrm>
            <a:off x="9555480" y="4114800"/>
            <a:ext cx="2011680" cy="566928"/>
          </a:xfrm>
          <a:prstGeom prst="rect">
            <a:avLst/>
          </a:prstGeom>
          <a:noFill/>
          <a:ln/>
        </p:spPr>
        <p:txBody>
          <a:bodyPr wrap="square" lIns="0" tIns="0" rIns="0" bIns="0" rtlCol="0" anchor="t"/>
          <a:lstStyle/>
          <a:p>
            <a:pPr indent="0" marL="0">
              <a:buNone/>
            </a:pPr>
            <a:r>
              <a:rPr lang="en-US" sz="1100" i="1" dirty="0">
                <a:solidFill>
                  <a:schemeClr val="tx2"/>
                </a:solidFill>
              </a:rPr>
              <a:t>Kiali turns an edge red when its error rate or latency crosses a threshold.</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
        <p:nvSpPr>
          <p:cNvPr id="56" name="Rounded Rectangle 55"/>
          <p:cNvSpPr/>
          <p:nvPr/>
        </p:nvSpPr>
        <p:spPr>
          <a:xfrm>
            <a:off x="3561587" y="2368296"/>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57" name="Rounded Rectangle 56"/>
          <p:cNvSpPr/>
          <p:nvPr/>
        </p:nvSpPr>
        <p:spPr>
          <a:xfrm>
            <a:off x="3451860" y="3447287"/>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8" name="Rounded Rectangle 57"/>
          <p:cNvSpPr/>
          <p:nvPr/>
        </p:nvSpPr>
        <p:spPr>
          <a:xfrm>
            <a:off x="5372100" y="4027932"/>
            <a:ext cx="457200" cy="173736"/>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9" name="Rounded Rectangle 58"/>
          <p:cNvSpPr/>
          <p:nvPr/>
        </p:nvSpPr>
        <p:spPr>
          <a:xfrm>
            <a:off x="6446520" y="2350008"/>
            <a:ext cx="512064"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0" name="Rounded Rectangle 59"/>
          <p:cNvSpPr/>
          <p:nvPr/>
        </p:nvSpPr>
        <p:spPr>
          <a:xfrm>
            <a:off x="6446520" y="4681728"/>
            <a:ext cx="512064"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1" name="Rounded Rectangle 60"/>
          <p:cNvSpPr/>
          <p:nvPr/>
        </p:nvSpPr>
        <p:spPr>
          <a:xfrm>
            <a:off x="9555480" y="4654296"/>
            <a:ext cx="47548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2" name="TextBox 61"/>
          <p:cNvSpPr txBox="1"/>
          <p:nvPr/>
        </p:nvSpPr>
        <p:spPr>
          <a:xfrm>
            <a:off x="10104120" y="4681728"/>
            <a:ext cx="1554480" cy="201168"/>
          </a:xfrm>
          <a:prstGeom prst="rect">
            <a:avLst/>
          </a:prstGeom>
          <a:noFill/>
        </p:spPr>
        <p:txBody>
          <a:bodyPr wrap="square" lIns="0" rIns="0" tIns="0" bIns="0">
            <a:spAutoFit/>
          </a:bodyPr>
          <a:lstStyle/>
          <a:p>
            <a:pPr algn="l"/>
            <a:r>
              <a:rPr sz="900" i="0">
                <a:solidFill>
                  <a:schemeClr val="tx2"/>
                </a:solidFill>
              </a:rPr>
              <a:t>sender sends (OTLP)</a:t>
            </a:r>
          </a:p>
        </p:txBody>
      </p:sp>
      <p:sp>
        <p:nvSpPr>
          <p:cNvPr id="63" name="Rounded Rectangle 62"/>
          <p:cNvSpPr/>
          <p:nvPr/>
        </p:nvSpPr>
        <p:spPr>
          <a:xfrm>
            <a:off x="9555480" y="4873752"/>
            <a:ext cx="47548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64" name="TextBox 63"/>
          <p:cNvSpPr txBox="1"/>
          <p:nvPr/>
        </p:nvSpPr>
        <p:spPr>
          <a:xfrm>
            <a:off x="10104120" y="4901184"/>
            <a:ext cx="1554480" cy="201168"/>
          </a:xfrm>
          <a:prstGeom prst="rect">
            <a:avLst/>
          </a:prstGeom>
          <a:noFill/>
        </p:spPr>
        <p:txBody>
          <a:bodyPr wrap="square" lIns="0" rIns="0" tIns="0" bIns="0">
            <a:spAutoFit/>
          </a:bodyPr>
          <a:lstStyle/>
          <a:p>
            <a:pPr algn="l"/>
            <a:r>
              <a:rPr sz="900" i="0">
                <a:solidFill>
                  <a:schemeClr val="tx2"/>
                </a:solidFill>
              </a:rPr>
              <a:t>Prometheus scrapes</a:t>
            </a:r>
          </a:p>
        </p:txBody>
      </p:sp>
      <p:sp>
        <p:nvSpPr>
          <p:cNvPr id="65" name="Rounded Rectangle 64"/>
          <p:cNvSpPr/>
          <p:nvPr/>
        </p:nvSpPr>
        <p:spPr>
          <a:xfrm>
            <a:off x="9555480" y="5093207"/>
            <a:ext cx="47548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6" name="TextBox 65"/>
          <p:cNvSpPr txBox="1"/>
          <p:nvPr/>
        </p:nvSpPr>
        <p:spPr>
          <a:xfrm>
            <a:off x="10104120" y="5120640"/>
            <a:ext cx="1554480" cy="201168"/>
          </a:xfrm>
          <a:prstGeom prst="rect">
            <a:avLst/>
          </a:prstGeom>
          <a:noFill/>
        </p:spPr>
        <p:txBody>
          <a:bodyPr wrap="square" lIns="0" rIns="0" tIns="0" bIns="0">
            <a:spAutoFit/>
          </a:bodyPr>
          <a:lstStyle/>
          <a:p>
            <a:pPr algn="l"/>
            <a:r>
              <a:rPr sz="900" i="0">
                <a:solidFill>
                  <a:schemeClr val="tx2"/>
                </a:solidFill>
              </a:rPr>
              <a:t>view reads the store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Three telemetry flows, one view</a:t>
            </a:r>
            <a:endParaRPr lang="en-US" sz="3000" dirty="0"/>
          </a:p>
        </p:txBody>
      </p:sp>
      <p:sp>
        <p:nvSpPr>
          <p:cNvPr id="3" name="Shape 1"/>
          <p:cNvSpPr/>
          <p:nvPr/>
        </p:nvSpPr>
        <p:spPr>
          <a:xfrm>
            <a:off x="457200" y="1234440"/>
            <a:ext cx="457200" cy="457200"/>
          </a:xfrm>
          <a:prstGeom prst="ellipse">
            <a:avLst/>
          </a:prstGeom>
          <a:solidFill>
            <a:schemeClr val="accent2"/>
          </a:solidFill>
          <a:ln w="6350">
            <a:solidFill>
              <a:schemeClr val="accent2"/>
            </a:solidFill>
            <a:prstDash val="solid"/>
          </a:ln>
        </p:spPr>
        <p:txBody>
          <a:bodyPr/>
          <a:p/>
        </p:txBody>
      </p:sp>
      <p:sp>
        <p:nvSpPr>
          <p:cNvPr id="4" name="Text 2"/>
          <p:cNvSpPr txBox="1"/>
          <p:nvPr/>
        </p:nvSpPr>
        <p:spPr>
          <a:xfrm>
            <a:off x="1051560" y="118872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Metrics</a:t>
            </a:r>
            <a:endParaRPr lang="en-US" sz="2000" dirty="0"/>
          </a:p>
        </p:txBody>
      </p:sp>
      <p:sp>
        <p:nvSpPr>
          <p:cNvPr id="5" name="Metrics step 1"/>
          <p:cNvSpPr/>
          <p:nvPr/>
        </p:nvSpPr>
        <p:spPr>
          <a:xfrm>
            <a:off x="45720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6" name="Metrics step 1 text"/>
          <p:cNvSpPr txBox="1"/>
          <p:nvPr/>
        </p:nvSpPr>
        <p:spPr>
          <a:xfrm>
            <a:off x="45720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sidecar</a:t>
            </a:r>
            <a:endParaRPr lang="en-US" sz="1400" dirty="0"/>
          </a:p>
          <a:p>
            <a:pPr algn="ctr" indent="0" marL="0">
              <a:buNone/>
            </a:pPr>
            <a:r>
              <a:rPr lang="en-US" sz="1100" dirty="0">
                <a:solidFill>
                  <a:schemeClr val="accent6"/>
                </a:solidFill>
              </a:rPr>
              <a:t>Rate, errors, latency</a:t>
            </a:r>
            <a:endParaRPr lang="en-US" sz="1400" dirty="0"/>
          </a:p>
        </p:txBody>
      </p:sp>
      <p:sp>
        <p:nvSpPr>
          <p:cNvPr id="7" name="Shape 5"/>
          <p:cNvSpPr/>
          <p:nvPr/>
        </p:nvSpPr>
        <p:spPr>
          <a:xfrm>
            <a:off x="2679192" y="2144268"/>
            <a:ext cx="737616" cy="0"/>
          </a:xfrm>
          <a:prstGeom prst="line">
            <a:avLst/>
          </a:prstGeom>
          <a:noFill/>
          <a:ln w="15875">
            <a:solidFill>
              <a:schemeClr val="tx2"/>
            </a:solidFill>
            <a:prstDash val="solid"/>
            <a:tailEnd type="triangle"/>
          </a:ln>
        </p:spPr>
        <p:txBody>
          <a:bodyPr/>
          <a:p/>
        </p:txBody>
      </p:sp>
      <p:sp>
        <p:nvSpPr>
          <p:cNvPr id="8" name="Metrics step 2"/>
          <p:cNvSpPr/>
          <p:nvPr/>
        </p:nvSpPr>
        <p:spPr>
          <a:xfrm>
            <a:off x="348996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9" name="Metrics step 2 text"/>
          <p:cNvSpPr txBox="1"/>
          <p:nvPr/>
        </p:nvSpPr>
        <p:spPr>
          <a:xfrm>
            <a:off x="348996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PodMonitor</a:t>
            </a:r>
            <a:endParaRPr lang="en-US" sz="1400" dirty="0"/>
          </a:p>
          <a:p>
            <a:pPr algn="ctr" indent="0" marL="0">
              <a:buNone/>
            </a:pPr>
            <a:r>
              <a:rPr lang="en-US" sz="1100" dirty="0">
                <a:solidFill>
                  <a:schemeClr val="accent6"/>
                </a:solidFill>
              </a:rPr>
              <a:t>Per mesh namespace</a:t>
            </a:r>
            <a:endParaRPr lang="en-US" sz="1400" dirty="0"/>
          </a:p>
        </p:txBody>
      </p:sp>
      <p:sp>
        <p:nvSpPr>
          <p:cNvPr id="10" name="Shape 8"/>
          <p:cNvSpPr/>
          <p:nvPr/>
        </p:nvSpPr>
        <p:spPr>
          <a:xfrm>
            <a:off x="5711952" y="2144268"/>
            <a:ext cx="737616" cy="0"/>
          </a:xfrm>
          <a:prstGeom prst="line">
            <a:avLst/>
          </a:prstGeom>
          <a:noFill/>
          <a:ln w="15875">
            <a:solidFill>
              <a:schemeClr val="tx2"/>
            </a:solidFill>
            <a:prstDash val="solid"/>
            <a:tailEnd type="triangle"/>
          </a:ln>
        </p:spPr>
        <p:txBody>
          <a:bodyPr/>
          <a:p/>
        </p:txBody>
      </p:sp>
      <p:sp>
        <p:nvSpPr>
          <p:cNvPr id="11" name="Metrics step 3"/>
          <p:cNvSpPr/>
          <p:nvPr/>
        </p:nvSpPr>
        <p:spPr>
          <a:xfrm>
            <a:off x="652272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12" name="Metrics step 3 text"/>
          <p:cNvSpPr txBox="1"/>
          <p:nvPr/>
        </p:nvSpPr>
        <p:spPr>
          <a:xfrm>
            <a:off x="652272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Prometheus (UWM)</a:t>
            </a:r>
            <a:endParaRPr lang="en-US" sz="1400" dirty="0"/>
          </a:p>
          <a:p>
            <a:pPr algn="ctr" indent="0" marL="0">
              <a:buNone/>
            </a:pPr>
            <a:r>
              <a:rPr lang="en-US" sz="1100" dirty="0">
                <a:solidFill>
                  <a:schemeClr val="accent6"/>
                </a:solidFill>
              </a:rPr>
              <a:t>Cluster monitoring</a:t>
            </a:r>
            <a:endParaRPr lang="en-US" sz="1400" dirty="0"/>
          </a:p>
        </p:txBody>
      </p:sp>
      <p:sp>
        <p:nvSpPr>
          <p:cNvPr id="13" name="Shape 11"/>
          <p:cNvSpPr/>
          <p:nvPr/>
        </p:nvSpPr>
        <p:spPr>
          <a:xfrm>
            <a:off x="8744712" y="2144268"/>
            <a:ext cx="737616" cy="0"/>
          </a:xfrm>
          <a:prstGeom prst="line">
            <a:avLst/>
          </a:prstGeom>
          <a:noFill/>
          <a:ln w="15875">
            <a:solidFill>
              <a:schemeClr val="tx2"/>
            </a:solidFill>
            <a:prstDash val="solid"/>
            <a:tailEnd type="triangle"/>
          </a:ln>
        </p:spPr>
        <p:txBody>
          <a:bodyPr/>
          <a:p/>
        </p:txBody>
      </p:sp>
      <p:sp>
        <p:nvSpPr>
          <p:cNvPr id="14" name="Metrics step 4"/>
          <p:cNvSpPr/>
          <p:nvPr/>
        </p:nvSpPr>
        <p:spPr>
          <a:xfrm>
            <a:off x="9555480" y="1755648"/>
            <a:ext cx="2148840" cy="777240"/>
          </a:xfrm>
          <a:prstGeom prst="roundRect">
            <a:avLst>
              <a:gd name="adj" fmla="val 8000"/>
            </a:avLst>
          </a:prstGeom>
          <a:solidFill>
            <a:schemeClr val="accent6"/>
          </a:solidFill>
          <a:ln w="12700">
            <a:solidFill>
              <a:schemeClr val="accent2"/>
            </a:solidFill>
            <a:prstDash val="solid"/>
          </a:ln>
        </p:spPr>
        <p:txBody>
          <a:bodyPr/>
          <a:p/>
        </p:txBody>
      </p:sp>
      <p:sp>
        <p:nvSpPr>
          <p:cNvPr id="15" name="Metrics step 4 text"/>
          <p:cNvSpPr txBox="1"/>
          <p:nvPr/>
        </p:nvSpPr>
        <p:spPr>
          <a:xfrm>
            <a:off x="955548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Kiali + alerts</a:t>
            </a:r>
            <a:endParaRPr lang="en-US" sz="1400" dirty="0"/>
          </a:p>
          <a:p>
            <a:pPr algn="ctr" indent="0" marL="0">
              <a:buNone/>
            </a:pPr>
            <a:r>
              <a:rPr lang="en-US" sz="1100" dirty="0">
                <a:solidFill>
                  <a:schemeClr val="tx2"/>
                </a:solidFill>
              </a:rPr>
              <a:t>Graph, dashboards</a:t>
            </a:r>
            <a:endParaRPr lang="en-US" sz="1400" dirty="0"/>
          </a:p>
        </p:txBody>
      </p:sp>
      <p:sp>
        <p:nvSpPr>
          <p:cNvPr id="16" name="Text 14"/>
          <p:cNvSpPr txBox="1"/>
          <p:nvPr/>
        </p:nvSpPr>
        <p:spPr>
          <a:xfrm>
            <a:off x="457200" y="260604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which hop is failing or slow, right now.</a:t>
            </a:r>
            <a:endParaRPr lang="en-US" sz="1300" dirty="0"/>
          </a:p>
        </p:txBody>
      </p:sp>
      <p:sp>
        <p:nvSpPr>
          <p:cNvPr id="17" name="Shape 15"/>
          <p:cNvSpPr/>
          <p:nvPr/>
        </p:nvSpPr>
        <p:spPr>
          <a:xfrm>
            <a:off x="457200" y="2926079"/>
            <a:ext cx="457200" cy="457200"/>
          </a:xfrm>
          <a:prstGeom prst="ellipse">
            <a:avLst/>
          </a:prstGeom>
          <a:solidFill>
            <a:schemeClr val="accent1"/>
          </a:solidFill>
          <a:ln w="6350">
            <a:solidFill>
              <a:schemeClr val="accent1"/>
            </a:solidFill>
            <a:prstDash val="solid"/>
          </a:ln>
        </p:spPr>
        <p:txBody>
          <a:bodyPr/>
          <a:p/>
        </p:txBody>
      </p:sp>
      <p:sp>
        <p:nvSpPr>
          <p:cNvPr id="18" name="Text 16"/>
          <p:cNvSpPr txBox="1"/>
          <p:nvPr/>
        </p:nvSpPr>
        <p:spPr>
          <a:xfrm>
            <a:off x="1051560" y="288036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Traces</a:t>
            </a:r>
            <a:endParaRPr lang="en-US" sz="2000" dirty="0"/>
          </a:p>
        </p:txBody>
      </p:sp>
      <p:sp>
        <p:nvSpPr>
          <p:cNvPr id="19" name="Traces step 1"/>
          <p:cNvSpPr/>
          <p:nvPr/>
        </p:nvSpPr>
        <p:spPr>
          <a:xfrm>
            <a:off x="45720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0" name="Traces step 1 text"/>
          <p:cNvSpPr txBox="1"/>
          <p:nvPr/>
        </p:nvSpPr>
        <p:spPr>
          <a:xfrm>
            <a:off x="45720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 OTel agent</a:t>
            </a:r>
            <a:endParaRPr lang="en-US" sz="1400" dirty="0"/>
          </a:p>
          <a:p>
            <a:pPr algn="ctr" indent="0" marL="0">
              <a:buNone/>
            </a:pPr>
            <a:r>
              <a:rPr lang="en-US" sz="1100" dirty="0">
                <a:solidFill>
                  <a:schemeClr val="accent6"/>
                </a:solidFill>
              </a:rPr>
              <a:t>Spans per hop and call</a:t>
            </a:r>
            <a:endParaRPr lang="en-US" sz="1400" dirty="0"/>
          </a:p>
        </p:txBody>
      </p:sp>
      <p:sp>
        <p:nvSpPr>
          <p:cNvPr id="21" name="Shape 19"/>
          <p:cNvSpPr/>
          <p:nvPr/>
        </p:nvSpPr>
        <p:spPr>
          <a:xfrm>
            <a:off x="2679192" y="3835908"/>
            <a:ext cx="737616" cy="0"/>
          </a:xfrm>
          <a:prstGeom prst="line">
            <a:avLst/>
          </a:prstGeom>
          <a:noFill/>
          <a:ln w="15875">
            <a:solidFill>
              <a:schemeClr val="tx2"/>
            </a:solidFill>
            <a:prstDash val="solid"/>
            <a:tailEnd type="triangle"/>
          </a:ln>
        </p:spPr>
        <p:txBody>
          <a:bodyPr/>
          <a:p/>
        </p:txBody>
      </p:sp>
      <p:sp>
        <p:nvSpPr>
          <p:cNvPr id="22" name="Traces step 2"/>
          <p:cNvSpPr/>
          <p:nvPr/>
        </p:nvSpPr>
        <p:spPr>
          <a:xfrm>
            <a:off x="348996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3" name="Traces step 2 text"/>
          <p:cNvSpPr txBox="1"/>
          <p:nvPr/>
        </p:nvSpPr>
        <p:spPr>
          <a:xfrm>
            <a:off x="348996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OTLP, tail sampling</a:t>
            </a:r>
            <a:endParaRPr lang="en-US" sz="1400" dirty="0"/>
          </a:p>
        </p:txBody>
      </p:sp>
      <p:sp>
        <p:nvSpPr>
          <p:cNvPr id="24" name="Shape 22"/>
          <p:cNvSpPr/>
          <p:nvPr/>
        </p:nvSpPr>
        <p:spPr>
          <a:xfrm>
            <a:off x="5711952" y="3835908"/>
            <a:ext cx="737616" cy="0"/>
          </a:xfrm>
          <a:prstGeom prst="line">
            <a:avLst/>
          </a:prstGeom>
          <a:noFill/>
          <a:ln w="15875">
            <a:solidFill>
              <a:schemeClr val="tx2"/>
            </a:solidFill>
            <a:prstDash val="solid"/>
            <a:tailEnd type="triangle"/>
          </a:ln>
        </p:spPr>
        <p:txBody>
          <a:bodyPr/>
          <a:p/>
        </p:txBody>
      </p:sp>
      <p:sp>
        <p:nvSpPr>
          <p:cNvPr id="25" name="Traces step 3"/>
          <p:cNvSpPr/>
          <p:nvPr/>
        </p:nvSpPr>
        <p:spPr>
          <a:xfrm>
            <a:off x="652272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6" name="Traces step 3 text"/>
          <p:cNvSpPr txBox="1"/>
          <p:nvPr/>
        </p:nvSpPr>
        <p:spPr>
          <a:xfrm>
            <a:off x="652272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Tempo</a:t>
            </a:r>
            <a:endParaRPr lang="en-US" sz="1400" dirty="0"/>
          </a:p>
          <a:p>
            <a:pPr algn="ctr" indent="0" marL="0">
              <a:buNone/>
            </a:pPr>
            <a:r>
              <a:rPr lang="en-US" sz="1100" dirty="0">
                <a:solidFill>
                  <a:schemeClr val="accent6"/>
                </a:solidFill>
              </a:rPr>
              <a:t>Trace storage</a:t>
            </a:r>
            <a:endParaRPr lang="en-US" sz="1400" dirty="0"/>
          </a:p>
        </p:txBody>
      </p:sp>
      <p:sp>
        <p:nvSpPr>
          <p:cNvPr id="27" name="Shape 25"/>
          <p:cNvSpPr/>
          <p:nvPr/>
        </p:nvSpPr>
        <p:spPr>
          <a:xfrm>
            <a:off x="8744712" y="3835908"/>
            <a:ext cx="737616" cy="0"/>
          </a:xfrm>
          <a:prstGeom prst="line">
            <a:avLst/>
          </a:prstGeom>
          <a:noFill/>
          <a:ln w="15875">
            <a:solidFill>
              <a:schemeClr val="tx2"/>
            </a:solidFill>
            <a:prstDash val="solid"/>
            <a:tailEnd type="triangle"/>
          </a:ln>
        </p:spPr>
        <p:txBody>
          <a:bodyPr/>
          <a:p/>
        </p:txBody>
      </p:sp>
      <p:sp>
        <p:nvSpPr>
          <p:cNvPr id="28" name="Traces step 4"/>
          <p:cNvSpPr/>
          <p:nvPr/>
        </p:nvSpPr>
        <p:spPr>
          <a:xfrm>
            <a:off x="9555480" y="3447288"/>
            <a:ext cx="2148840" cy="777240"/>
          </a:xfrm>
          <a:prstGeom prst="roundRect">
            <a:avLst>
              <a:gd name="adj" fmla="val 8000"/>
            </a:avLst>
          </a:prstGeom>
          <a:solidFill>
            <a:schemeClr val="accent6"/>
          </a:solidFill>
          <a:ln w="12700">
            <a:solidFill>
              <a:schemeClr val="accent1"/>
            </a:solidFill>
            <a:prstDash val="solid"/>
          </a:ln>
        </p:spPr>
        <p:txBody>
          <a:bodyPr/>
          <a:p/>
        </p:txBody>
      </p:sp>
      <p:sp>
        <p:nvSpPr>
          <p:cNvPr id="29" name="Traces step 4 text"/>
          <p:cNvSpPr txBox="1"/>
          <p:nvPr/>
        </p:nvSpPr>
        <p:spPr>
          <a:xfrm>
            <a:off x="955548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Console tracing UI</a:t>
            </a:r>
            <a:endParaRPr lang="en-US" sz="1400" dirty="0"/>
          </a:p>
          <a:p>
            <a:pPr algn="ctr" indent="0" marL="0">
              <a:buNone/>
            </a:pPr>
            <a:r>
              <a:rPr lang="en-US" sz="1100" dirty="0">
                <a:solidFill>
                  <a:schemeClr val="tx2"/>
                </a:solidFill>
              </a:rPr>
              <a:t>Linked from Kiali</a:t>
            </a:r>
            <a:endParaRPr lang="en-US" sz="1400" dirty="0"/>
          </a:p>
        </p:txBody>
      </p:sp>
      <p:sp>
        <p:nvSpPr>
          <p:cNvPr id="30" name="Text 28"/>
          <p:cNvSpPr txBox="1"/>
          <p:nvPr/>
        </p:nvSpPr>
        <p:spPr>
          <a:xfrm>
            <a:off x="457200" y="429768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where the time went inside one specific transaction, including DB calls.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
        <p:nvSpPr>
          <p:cNvPr id="31" name="Rounded Rectangle 30"/>
          <p:cNvSpPr/>
          <p:nvPr/>
        </p:nvSpPr>
        <p:spPr>
          <a:xfrm>
            <a:off x="2764536" y="1842515"/>
            <a:ext cx="56692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32" name="TextBox 31"/>
          <p:cNvSpPr txBox="1"/>
          <p:nvPr/>
        </p:nvSpPr>
        <p:spPr>
          <a:xfrm>
            <a:off x="2624328" y="2208275"/>
            <a:ext cx="847344" cy="292608"/>
          </a:xfrm>
          <a:prstGeom prst="rect">
            <a:avLst/>
          </a:prstGeom>
          <a:noFill/>
        </p:spPr>
        <p:txBody>
          <a:bodyPr wrap="square" lIns="0" rIns="0" tIns="0" bIns="0">
            <a:spAutoFit/>
          </a:bodyPr>
          <a:lstStyle/>
          <a:p>
            <a:pPr algn="ctr"/>
            <a:r>
              <a:rPr sz="850" i="0">
                <a:solidFill>
                  <a:schemeClr val="tx2"/>
                </a:solidFill>
              </a:rPr>
              <a:t>scraped :15020</a:t>
            </a:r>
          </a:p>
        </p:txBody>
      </p:sp>
      <p:sp>
        <p:nvSpPr>
          <p:cNvPr id="33" name="Rounded Rectangle 32"/>
          <p:cNvSpPr/>
          <p:nvPr/>
        </p:nvSpPr>
        <p:spPr>
          <a:xfrm>
            <a:off x="5797296" y="1842515"/>
            <a:ext cx="56692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34" name="TextBox 33"/>
          <p:cNvSpPr txBox="1"/>
          <p:nvPr/>
        </p:nvSpPr>
        <p:spPr>
          <a:xfrm>
            <a:off x="5657088" y="2208275"/>
            <a:ext cx="847344" cy="292608"/>
          </a:xfrm>
          <a:prstGeom prst="rect">
            <a:avLst/>
          </a:prstGeom>
          <a:noFill/>
        </p:spPr>
        <p:txBody>
          <a:bodyPr wrap="square" lIns="0" rIns="0" tIns="0" bIns="0">
            <a:spAutoFit/>
          </a:bodyPr>
          <a:lstStyle/>
          <a:p>
            <a:pPr algn="ctr"/>
            <a:r>
              <a:rPr sz="850" i="0">
                <a:solidFill>
                  <a:schemeClr val="tx2"/>
                </a:solidFill>
              </a:rPr>
              <a:t>targets for scrape</a:t>
            </a:r>
          </a:p>
        </p:txBody>
      </p:sp>
      <p:sp>
        <p:nvSpPr>
          <p:cNvPr id="35" name="Rounded Rectangle 34"/>
          <p:cNvSpPr/>
          <p:nvPr/>
        </p:nvSpPr>
        <p:spPr>
          <a:xfrm>
            <a:off x="8830056" y="1842515"/>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36" name="TextBox 35"/>
          <p:cNvSpPr txBox="1"/>
          <p:nvPr/>
        </p:nvSpPr>
        <p:spPr>
          <a:xfrm>
            <a:off x="8689848" y="2208275"/>
            <a:ext cx="847344" cy="292608"/>
          </a:xfrm>
          <a:prstGeom prst="rect">
            <a:avLst/>
          </a:prstGeom>
          <a:noFill/>
        </p:spPr>
        <p:txBody>
          <a:bodyPr wrap="square" lIns="0" rIns="0" tIns="0" bIns="0">
            <a:spAutoFit/>
          </a:bodyPr>
          <a:lstStyle/>
          <a:p>
            <a:pPr algn="ctr"/>
            <a:r>
              <a:rPr sz="850" i="0">
                <a:solidFill>
                  <a:schemeClr val="tx2"/>
                </a:solidFill>
              </a:rPr>
              <a:t>PromQL</a:t>
            </a:r>
          </a:p>
        </p:txBody>
      </p:sp>
      <p:sp>
        <p:nvSpPr>
          <p:cNvPr id="37" name="Rounded Rectangle 36"/>
          <p:cNvSpPr/>
          <p:nvPr/>
        </p:nvSpPr>
        <p:spPr>
          <a:xfrm>
            <a:off x="2764536" y="353415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38" name="TextBox 37"/>
          <p:cNvSpPr txBox="1"/>
          <p:nvPr/>
        </p:nvSpPr>
        <p:spPr>
          <a:xfrm>
            <a:off x="2624328" y="3899916"/>
            <a:ext cx="847344" cy="292608"/>
          </a:xfrm>
          <a:prstGeom prst="rect">
            <a:avLst/>
          </a:prstGeom>
          <a:noFill/>
        </p:spPr>
        <p:txBody>
          <a:bodyPr wrap="square" lIns="0" rIns="0" tIns="0" bIns="0">
            <a:spAutoFit/>
          </a:bodyPr>
          <a:lstStyle/>
          <a:p>
            <a:pPr algn="ctr"/>
            <a:r>
              <a:rPr sz="850" i="0">
                <a:solidFill>
                  <a:schemeClr val="tx2"/>
                </a:solidFill>
              </a:rPr>
              <a:t>OTLP</a:t>
            </a:r>
          </a:p>
        </p:txBody>
      </p:sp>
      <p:sp>
        <p:nvSpPr>
          <p:cNvPr id="39" name="Rounded Rectangle 38"/>
          <p:cNvSpPr/>
          <p:nvPr/>
        </p:nvSpPr>
        <p:spPr>
          <a:xfrm>
            <a:off x="5797296" y="353415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40" name="TextBox 39"/>
          <p:cNvSpPr txBox="1"/>
          <p:nvPr/>
        </p:nvSpPr>
        <p:spPr>
          <a:xfrm>
            <a:off x="5657088" y="3899916"/>
            <a:ext cx="847344" cy="292608"/>
          </a:xfrm>
          <a:prstGeom prst="rect">
            <a:avLst/>
          </a:prstGeom>
          <a:noFill/>
        </p:spPr>
        <p:txBody>
          <a:bodyPr wrap="square" lIns="0" rIns="0" tIns="0" bIns="0">
            <a:spAutoFit/>
          </a:bodyPr>
          <a:lstStyle/>
          <a:p>
            <a:pPr algn="ctr"/>
            <a:r>
              <a:rPr sz="850" i="0">
                <a:solidFill>
                  <a:schemeClr val="tx2"/>
                </a:solidFill>
              </a:rPr>
              <a:t>OTLP</a:t>
            </a:r>
          </a:p>
        </p:txBody>
      </p:sp>
      <p:sp>
        <p:nvSpPr>
          <p:cNvPr id="41" name="Rounded Rectangle 40"/>
          <p:cNvSpPr/>
          <p:nvPr/>
        </p:nvSpPr>
        <p:spPr>
          <a:xfrm>
            <a:off x="8830056" y="3534156"/>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42" name="TextBox 41"/>
          <p:cNvSpPr txBox="1"/>
          <p:nvPr/>
        </p:nvSpPr>
        <p:spPr>
          <a:xfrm>
            <a:off x="8689848" y="3899916"/>
            <a:ext cx="847344" cy="292608"/>
          </a:xfrm>
          <a:prstGeom prst="rect">
            <a:avLst/>
          </a:prstGeom>
          <a:noFill/>
        </p:spPr>
        <p:txBody>
          <a:bodyPr wrap="square" lIns="0" rIns="0" tIns="0" bIns="0">
            <a:spAutoFit/>
          </a:bodyPr>
          <a:lstStyle/>
          <a:p>
            <a:pPr algn="ctr"/>
            <a:r>
              <a:rPr sz="850" i="0">
                <a:solidFill>
                  <a:schemeClr val="tx2"/>
                </a:solidFill>
              </a:rPr>
              <a:t>TraceQL</a:t>
            </a:r>
          </a:p>
        </p:txBody>
      </p:sp>
      <p:sp>
        <p:nvSpPr>
          <p:cNvPr id="43" name="Logs icon"/>
          <p:cNvSpPr/>
          <p:nvPr/>
        </p:nvSpPr>
        <p:spPr>
          <a:xfrm>
            <a:off x="457200" y="4617720"/>
            <a:ext cx="457200" cy="457200"/>
          </a:xfrm>
          <a:prstGeom prst="ellipse">
            <a:avLst/>
          </a:prstGeom>
          <a:solidFill>
            <a:schemeClr val="tx2"/>
          </a:solidFill>
          <a:ln w="6350">
            <a:solidFill>
              <a:schemeClr val="tx2"/>
            </a:solidFill>
            <a:prstDash val="solid"/>
          </a:ln>
        </p:spPr>
        <p:txBody>
          <a:bodyPr/>
          <a:p/>
        </p:txBody>
      </p:sp>
      <p:sp>
        <p:nvSpPr>
          <p:cNvPr id="44" name="Logs label"/>
          <p:cNvSpPr txBox="1"/>
          <p:nvPr/>
        </p:nvSpPr>
        <p:spPr>
          <a:xfrm>
            <a:off x="1051560" y="457200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Logs</a:t>
            </a:r>
            <a:endParaRPr lang="en-US" sz="2000" dirty="0"/>
          </a:p>
        </p:txBody>
      </p:sp>
      <p:sp>
        <p:nvSpPr>
          <p:cNvPr id="45" name="Logs answer"/>
          <p:cNvSpPr txBox="1"/>
          <p:nvPr/>
        </p:nvSpPr>
        <p:spPr>
          <a:xfrm>
            <a:off x="457200" y="598932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why the hop failed: timeout, refused connection or no healthy upstream (Envoy flags UT, UF, UH).</a:t>
            </a:r>
            <a:endParaRPr lang="en-US" sz="1300" dirty="0"/>
          </a:p>
        </p:txBody>
      </p:sp>
      <p:sp>
        <p:nvSpPr>
          <p:cNvPr id="46" name="Logs arrow 1"/>
          <p:cNvSpPr/>
          <p:nvPr/>
        </p:nvSpPr>
        <p:spPr>
          <a:xfrm>
            <a:off x="2679192" y="5527548"/>
            <a:ext cx="737616" cy="0"/>
          </a:xfrm>
          <a:prstGeom prst="line">
            <a:avLst/>
          </a:prstGeom>
          <a:noFill/>
          <a:ln w="15875">
            <a:solidFill>
              <a:schemeClr val="tx2"/>
            </a:solidFill>
            <a:prstDash val="solid"/>
            <a:tailEnd type="triangle"/>
          </a:ln>
        </p:spPr>
        <p:txBody>
          <a:bodyPr/>
          <a:p/>
        </p:txBody>
      </p:sp>
      <p:sp>
        <p:nvSpPr>
          <p:cNvPr id="47" name="Logs arrow 2"/>
          <p:cNvSpPr/>
          <p:nvPr/>
        </p:nvSpPr>
        <p:spPr>
          <a:xfrm>
            <a:off x="5711952" y="5527548"/>
            <a:ext cx="737616" cy="0"/>
          </a:xfrm>
          <a:prstGeom prst="line">
            <a:avLst/>
          </a:prstGeom>
          <a:noFill/>
          <a:ln w="15875">
            <a:solidFill>
              <a:schemeClr val="tx2"/>
            </a:solidFill>
            <a:prstDash val="solid"/>
            <a:tailEnd type="triangle"/>
          </a:ln>
        </p:spPr>
        <p:txBody>
          <a:bodyPr/>
          <a:p/>
        </p:txBody>
      </p:sp>
      <p:sp>
        <p:nvSpPr>
          <p:cNvPr id="48" name="Logs arrow 3"/>
          <p:cNvSpPr/>
          <p:nvPr/>
        </p:nvSpPr>
        <p:spPr>
          <a:xfrm>
            <a:off x="8744712" y="5527548"/>
            <a:ext cx="737616" cy="0"/>
          </a:xfrm>
          <a:prstGeom prst="line">
            <a:avLst/>
          </a:prstGeom>
          <a:noFill/>
          <a:ln w="15875">
            <a:solidFill>
              <a:schemeClr val="tx2"/>
            </a:solidFill>
            <a:prstDash val="solid"/>
            <a:tailEnd type="triangle"/>
          </a:ln>
        </p:spPr>
        <p:txBody>
          <a:bodyPr/>
          <a:p/>
        </p:txBody>
      </p:sp>
      <p:sp>
        <p:nvSpPr>
          <p:cNvPr id="49" name="Logs step 1"/>
          <p:cNvSpPr/>
          <p:nvPr/>
        </p:nvSpPr>
        <p:spPr>
          <a:xfrm>
            <a:off x="45720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0" name="Logs step 1 text"/>
          <p:cNvSpPr txBox="1"/>
          <p:nvPr/>
        </p:nvSpPr>
        <p:spPr>
          <a:xfrm>
            <a:off x="45720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access log</a:t>
            </a:r>
            <a:endParaRPr lang="en-US" sz="1400" dirty="0"/>
          </a:p>
          <a:p>
            <a:pPr algn="ctr" indent="0" marL="0">
              <a:buNone/>
            </a:pPr>
            <a:r>
              <a:rPr lang="en-US" sz="1100" dirty="0">
                <a:solidFill>
                  <a:schemeClr val="accent6"/>
                </a:solidFill>
              </a:rPr>
              <a:t>Every request, response flags</a:t>
            </a:r>
            <a:endParaRPr lang="en-US" sz="1400" dirty="0"/>
          </a:p>
        </p:txBody>
      </p:sp>
      <p:sp>
        <p:nvSpPr>
          <p:cNvPr id="51" name="Logs step 2"/>
          <p:cNvSpPr/>
          <p:nvPr/>
        </p:nvSpPr>
        <p:spPr>
          <a:xfrm>
            <a:off x="348996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2" name="Logs step 2 text"/>
          <p:cNvSpPr txBox="1"/>
          <p:nvPr/>
        </p:nvSpPr>
        <p:spPr>
          <a:xfrm>
            <a:off x="348996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OTLP, journey tagging</a:t>
            </a:r>
            <a:endParaRPr lang="en-US" sz="1400" dirty="0"/>
          </a:p>
        </p:txBody>
      </p:sp>
      <p:sp>
        <p:nvSpPr>
          <p:cNvPr id="53" name="Logs step 3"/>
          <p:cNvSpPr/>
          <p:nvPr/>
        </p:nvSpPr>
        <p:spPr>
          <a:xfrm>
            <a:off x="652272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4" name="Logs step 3 text"/>
          <p:cNvSpPr txBox="1"/>
          <p:nvPr/>
        </p:nvSpPr>
        <p:spPr>
          <a:xfrm>
            <a:off x="652272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Loki</a:t>
            </a:r>
            <a:endParaRPr lang="en-US" sz="1400" dirty="0"/>
          </a:p>
          <a:p>
            <a:pPr algn="ctr" indent="0" marL="0">
              <a:buNone/>
            </a:pPr>
            <a:r>
              <a:rPr lang="en-US" sz="1100" dirty="0">
                <a:solidFill>
                  <a:schemeClr val="accent6"/>
                </a:solidFill>
              </a:rPr>
              <a:t>Log storage</a:t>
            </a:r>
            <a:endParaRPr lang="en-US" sz="1400" dirty="0"/>
          </a:p>
        </p:txBody>
      </p:sp>
      <p:sp>
        <p:nvSpPr>
          <p:cNvPr id="55" name="Logs step 4"/>
          <p:cNvSpPr/>
          <p:nvPr/>
        </p:nvSpPr>
        <p:spPr>
          <a:xfrm>
            <a:off x="9555480" y="5138928"/>
            <a:ext cx="2148840" cy="777240"/>
          </a:xfrm>
          <a:prstGeom prst="roundRect">
            <a:avLst>
              <a:gd name="adj" fmla="val 8000"/>
            </a:avLst>
          </a:prstGeom>
          <a:solidFill>
            <a:schemeClr val="accent6"/>
          </a:solidFill>
          <a:ln w="12700">
            <a:solidFill>
              <a:schemeClr val="tx2"/>
            </a:solidFill>
            <a:prstDash val="solid"/>
          </a:ln>
        </p:spPr>
        <p:txBody>
          <a:bodyPr/>
          <a:p/>
        </p:txBody>
      </p:sp>
      <p:sp>
        <p:nvSpPr>
          <p:cNvPr id="56" name="Logs step 4 text"/>
          <p:cNvSpPr txBox="1"/>
          <p:nvPr/>
        </p:nvSpPr>
        <p:spPr>
          <a:xfrm>
            <a:off x="955548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Grafana + dashboard</a:t>
            </a:r>
            <a:endParaRPr lang="en-US" sz="1400" dirty="0"/>
          </a:p>
          <a:p>
            <a:pPr algn="ctr" indent="0" marL="0">
              <a:buNone/>
            </a:pPr>
            <a:r>
              <a:rPr lang="en-US" sz="1100" dirty="0">
                <a:solidFill>
                  <a:schemeClr val="tx2"/>
                </a:solidFill>
              </a:rPr>
              <a:t>Linked to traces by trace ID</a:t>
            </a:r>
            <a:endParaRPr lang="en-US" sz="1400" dirty="0"/>
          </a:p>
        </p:txBody>
      </p:sp>
      <p:sp>
        <p:nvSpPr>
          <p:cNvPr id="57" name="Rounded Rectangle 56"/>
          <p:cNvSpPr/>
          <p:nvPr/>
        </p:nvSpPr>
        <p:spPr>
          <a:xfrm>
            <a:off x="2764536" y="522579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8" name="TextBox 57"/>
          <p:cNvSpPr txBox="1"/>
          <p:nvPr/>
        </p:nvSpPr>
        <p:spPr>
          <a:xfrm>
            <a:off x="2624328" y="5591556"/>
            <a:ext cx="847344" cy="292608"/>
          </a:xfrm>
          <a:prstGeom prst="rect">
            <a:avLst/>
          </a:prstGeom>
          <a:noFill/>
        </p:spPr>
        <p:txBody>
          <a:bodyPr wrap="square" lIns="0" rIns="0" tIns="0" bIns="0">
            <a:spAutoFit/>
          </a:bodyPr>
          <a:lstStyle/>
          <a:p>
            <a:pPr algn="ctr"/>
            <a:r>
              <a:rPr sz="850" i="0">
                <a:solidFill>
                  <a:schemeClr val="tx2"/>
                </a:solidFill>
              </a:rPr>
              <a:t>OTLP (access log)</a:t>
            </a:r>
          </a:p>
        </p:txBody>
      </p:sp>
      <p:sp>
        <p:nvSpPr>
          <p:cNvPr id="59" name="Rounded Rectangle 58"/>
          <p:cNvSpPr/>
          <p:nvPr/>
        </p:nvSpPr>
        <p:spPr>
          <a:xfrm>
            <a:off x="5797296" y="522579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0" name="TextBox 59"/>
          <p:cNvSpPr txBox="1"/>
          <p:nvPr/>
        </p:nvSpPr>
        <p:spPr>
          <a:xfrm>
            <a:off x="5657088" y="5591556"/>
            <a:ext cx="847344" cy="292608"/>
          </a:xfrm>
          <a:prstGeom prst="rect">
            <a:avLst/>
          </a:prstGeom>
          <a:noFill/>
        </p:spPr>
        <p:txBody>
          <a:bodyPr wrap="square" lIns="0" rIns="0" tIns="0" bIns="0">
            <a:spAutoFit/>
          </a:bodyPr>
          <a:lstStyle/>
          <a:p>
            <a:pPr algn="ctr"/>
            <a:r>
              <a:rPr sz="850" i="0">
                <a:solidFill>
                  <a:schemeClr val="tx2"/>
                </a:solidFill>
              </a:rPr>
              <a:t>OTLP over HTTP</a:t>
            </a:r>
          </a:p>
        </p:txBody>
      </p:sp>
      <p:sp>
        <p:nvSpPr>
          <p:cNvPr id="61" name="Rounded Rectangle 60"/>
          <p:cNvSpPr/>
          <p:nvPr/>
        </p:nvSpPr>
        <p:spPr>
          <a:xfrm>
            <a:off x="8830056" y="5225796"/>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2" name="TextBox 61"/>
          <p:cNvSpPr txBox="1"/>
          <p:nvPr/>
        </p:nvSpPr>
        <p:spPr>
          <a:xfrm>
            <a:off x="8689848" y="5591556"/>
            <a:ext cx="847344" cy="292608"/>
          </a:xfrm>
          <a:prstGeom prst="rect">
            <a:avLst/>
          </a:prstGeom>
          <a:noFill/>
        </p:spPr>
        <p:txBody>
          <a:bodyPr wrap="square" lIns="0" rIns="0" tIns="0" bIns="0">
            <a:spAutoFit/>
          </a:bodyPr>
          <a:lstStyle/>
          <a:p>
            <a:pPr algn="ctr"/>
            <a:r>
              <a:rPr sz="850" i="0">
                <a:solidFill>
                  <a:schemeClr val="tx2"/>
                </a:solidFill>
              </a:rPr>
              <a:t>LogQL</a:t>
            </a:r>
          </a:p>
        </p:txBody>
      </p:sp>
      <p:sp>
        <p:nvSpPr>
          <p:cNvPr id="63" name="Rounded Rectangle 62"/>
          <p:cNvSpPr/>
          <p:nvPr/>
        </p:nvSpPr>
        <p:spPr>
          <a:xfrm>
            <a:off x="3840480" y="1225295"/>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4" name="TextBox 63"/>
          <p:cNvSpPr txBox="1"/>
          <p:nvPr/>
        </p:nvSpPr>
        <p:spPr>
          <a:xfrm>
            <a:off x="4498848" y="1243584"/>
            <a:ext cx="2011680" cy="228600"/>
          </a:xfrm>
          <a:prstGeom prst="rect">
            <a:avLst/>
          </a:prstGeom>
          <a:noFill/>
        </p:spPr>
        <p:txBody>
          <a:bodyPr wrap="square" lIns="0" rIns="0" tIns="0" bIns="0">
            <a:spAutoFit/>
          </a:bodyPr>
          <a:lstStyle/>
          <a:p>
            <a:pPr algn="l"/>
            <a:r>
              <a:rPr sz="1000" i="0">
                <a:solidFill>
                  <a:schemeClr val="tx2"/>
                </a:solidFill>
              </a:rPr>
              <a:t>sender opens the connection</a:t>
            </a:r>
          </a:p>
        </p:txBody>
      </p:sp>
      <p:sp>
        <p:nvSpPr>
          <p:cNvPr id="65" name="Rounded Rectangle 64"/>
          <p:cNvSpPr/>
          <p:nvPr/>
        </p:nvSpPr>
        <p:spPr>
          <a:xfrm>
            <a:off x="6537960" y="1225295"/>
            <a:ext cx="56692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66" name="TextBox 65"/>
          <p:cNvSpPr txBox="1"/>
          <p:nvPr/>
        </p:nvSpPr>
        <p:spPr>
          <a:xfrm>
            <a:off x="7196328" y="1243584"/>
            <a:ext cx="2011680" cy="228600"/>
          </a:xfrm>
          <a:prstGeom prst="rect">
            <a:avLst/>
          </a:prstGeom>
          <a:noFill/>
        </p:spPr>
        <p:txBody>
          <a:bodyPr wrap="square" lIns="0" rIns="0" tIns="0" bIns="0">
            <a:spAutoFit/>
          </a:bodyPr>
          <a:lstStyle/>
          <a:p>
            <a:pPr algn="l"/>
            <a:r>
              <a:rPr sz="1000" i="0">
                <a:solidFill>
                  <a:schemeClr val="tx2"/>
                </a:solidFill>
              </a:rPr>
              <a:t>Prometheus scrapes the target</a:t>
            </a:r>
          </a:p>
        </p:txBody>
      </p:sp>
      <p:sp>
        <p:nvSpPr>
          <p:cNvPr id="67" name="Rounded Rectangle 66"/>
          <p:cNvSpPr/>
          <p:nvPr/>
        </p:nvSpPr>
        <p:spPr>
          <a:xfrm>
            <a:off x="9235440" y="1225295"/>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8" name="TextBox 67"/>
          <p:cNvSpPr txBox="1"/>
          <p:nvPr/>
        </p:nvSpPr>
        <p:spPr>
          <a:xfrm>
            <a:off x="9893808" y="1243584"/>
            <a:ext cx="2011680" cy="228600"/>
          </a:xfrm>
          <a:prstGeom prst="rect">
            <a:avLst/>
          </a:prstGeom>
          <a:noFill/>
        </p:spPr>
        <p:txBody>
          <a:bodyPr wrap="square" lIns="0" rIns="0" tIns="0" bIns="0">
            <a:spAutoFit/>
          </a:bodyPr>
          <a:lstStyle/>
          <a:p>
            <a:pPr algn="l"/>
            <a:r>
              <a:rPr sz="1000" i="0">
                <a:solidFill>
                  <a:schemeClr val="tx2"/>
                </a:solidFill>
              </a:rPr>
              <a:t>view asks the store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What we see for external systems, with no installs</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2926080"/>
                <a:gridCol w="2743200"/>
                <a:gridCol w="2194560"/>
                <a:gridCol w="3383280"/>
              </a:tblGrid>
              <a:tr h="685800">
                <a:tc>
                  <a:txBody>
                    <a:bodyPr/>
                    <a:lstStyle/>
                    <a:p>
                      <a:pPr indent="0" marL="0">
                        <a:buNone/>
                      </a:pPr>
                      <a:r>
                        <a:rPr lang="en-US" sz="1400" b="1" dirty="0">
                          <a:solidFill>
                            <a:schemeClr val="bg1"/>
                          </a:solidFill>
                        </a:rPr>
                        <a:t>External call</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Metrics</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Traces</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What to configure</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r>
              <a:tr h="685800">
                <a:tc>
                  <a:txBody>
                    <a:bodyPr/>
                    <a:lstStyle/>
                    <a:p>
                      <a:pPr indent="0" marL="0">
                        <a:buNone/>
                      </a:pPr>
                      <a:r>
                        <a:rPr lang="en-US" sz="1300" b="1" dirty="0">
                          <a:solidFill>
                            <a:schemeClr val="tx1"/>
                          </a:solidFill>
                        </a:rPr>
                        <a:t>Legacy VM over HTTP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Full: rate, status codes, latency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Outbound span per call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ServiceEntry with protocol HTTP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Legacy VM over HTTPS (app does TLS)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TCP only: bytes, connections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None</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Move TLS to the sidecar (see next row)</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Legacy VM over HTTPS (sidecar does TLS)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Full: rate, status codes, latency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Outbound span per call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App calls http://, DestinationRule TLS SIMPLE or MUTUAL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Database (Oracle, PostgreSQL, etc.)</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TCP only: connections, failures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None from the mesh</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ServiceEntry with protocol TCP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Database via app instrumentation</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Query timing in spans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JDBC span per query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OTel auto-instrumentation on app pods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457200" y="5669280"/>
            <a:ext cx="11247120" cy="457200"/>
          </a:xfrm>
          <a:prstGeom prst="rect">
            <a:avLst/>
          </a:prstGeom>
          <a:noFill/>
          <a:ln/>
        </p:spPr>
        <p:txBody>
          <a:bodyPr wrap="square" lIns="0" tIns="0" rIns="0" bIns="0" rtlCol="0" anchor="ctr"/>
          <a:lstStyle/>
          <a:p>
            <a:pPr indent="0" marL="0">
              <a:buNone/>
            </a:pPr>
            <a:r>
              <a:rPr lang="en-US" sz="1300" i="1" dirty="0">
                <a:solidFill>
                  <a:schemeClr val="tx2"/>
                </a:solidFill>
              </a:rPr>
              <a:t>Also enable Envoy access logs: response flags UF, UH and UT separate connection failures from errors returned by the target.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How the telemetry pipeline works</a:t>
            </a:r>
          </a:p>
        </p:txBody>
      </p:sp>
      <p:sp>
        <p:nvSpPr>
          <p:cNvPr id="3" name="Text Placeholder 2"/>
          <p:cNvSpPr>
            <a:spLocks noGrp="1"/>
          </p:cNvSpPr>
          <p:nvPr>
            <p:ph type="body" idx="101"/>
          </p:nvPr>
        </p:nvSpPr>
        <p:spPr/>
        <p:txBody>
          <a:bodyPr/>
          <a:lstStyle/>
          <a:p>
            <a:r>
              <a:t>Collection, processing, storage and visualization in detail. Every number in this section was measured in the local POC that mirrors this design.</a:t>
            </a:r>
          </a:p>
        </p:txBody>
      </p:sp>
      <p:sp>
        <p:nvSpPr>
          <p:cNvPr id="4" name="Oval 3"/>
          <p:cNvSpPr/>
          <p:nvPr/>
        </p:nvSpPr>
        <p:spPr>
          <a:xfrm>
            <a:off x="731520" y="1417320"/>
            <a:ext cx="411480" cy="41148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280160" y="141732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28800" y="1417320"/>
            <a:ext cx="411480" cy="4114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Metrics, logs and traces: three views of one request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481328"/>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Metrics</a:t>
            </a:r>
          </a:p>
        </p:txBody>
      </p:sp>
      <p:sp>
        <p:nvSpPr>
          <p:cNvPr id="7" name="TextBox 6"/>
          <p:cNvSpPr txBox="1"/>
          <p:nvPr/>
        </p:nvSpPr>
        <p:spPr>
          <a:xfrm>
            <a:off x="685800" y="1965960"/>
            <a:ext cx="3154680" cy="320040"/>
          </a:xfrm>
          <a:prstGeom prst="rect">
            <a:avLst/>
          </a:prstGeom>
          <a:noFill/>
        </p:spPr>
        <p:txBody>
          <a:bodyPr wrap="square" lIns="0" rIns="0" tIns="0" bIns="0" anchor="t">
            <a:spAutoFit/>
          </a:bodyPr>
          <a:lstStyle/>
          <a:p>
            <a:pPr algn="l">
              <a:spcAft>
                <a:spcPts val="400"/>
              </a:spcAft>
            </a:pPr>
            <a:r>
              <a:rPr sz="1300" b="1" i="0">
                <a:solidFill>
                  <a:schemeClr val="accent2"/>
                </a:solidFill>
              </a:rPr>
              <a:t>Numbers aggregated over time</a:t>
            </a:r>
          </a:p>
        </p:txBody>
      </p:sp>
      <p:sp>
        <p:nvSpPr>
          <p:cNvPr id="8" name="TextBox 7"/>
          <p:cNvSpPr txBox="1"/>
          <p:nvPr/>
        </p:nvSpPr>
        <p:spPr>
          <a:xfrm>
            <a:off x="68580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A counter or histogram with labels, sampled every 15 s.</a:t>
            </a:r>
          </a:p>
          <a:p>
            <a:pPr algn="l" marL="164592" indent="-146304">
              <a:spcAft>
                <a:spcPts val="500"/>
              </a:spcAft>
              <a:buChar char="•"/>
            </a:pPr>
            <a:r>
              <a:rPr sz="1200" b="0" i="0">
                <a:solidFill>
                  <a:schemeClr val="tx1"/>
                </a:solidFill>
              </a:rPr>
              <a:t>Cheap: one series per label combination, not per request.</a:t>
            </a:r>
          </a:p>
          <a:p>
            <a:pPr algn="l" marL="164592" indent="-146304">
              <a:spcAft>
                <a:spcPts val="500"/>
              </a:spcAft>
              <a:buChar char="•"/>
            </a:pPr>
            <a:r>
              <a:rPr sz="1200" b="0" i="0">
                <a:solidFill>
                  <a:schemeClr val="tx1"/>
                </a:solidFill>
              </a:rPr>
              <a:t>Tells you THAT something is wrong, and on which hop.</a:t>
            </a:r>
          </a:p>
        </p:txBody>
      </p:sp>
      <p:sp>
        <p:nvSpPr>
          <p:cNvPr id="9" name="Rounded Rectangle 8"/>
          <p:cNvSpPr/>
          <p:nvPr/>
        </p:nvSpPr>
        <p:spPr>
          <a:xfrm>
            <a:off x="68580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istio_requests_total{source="payments",
  dest="core-banking", code="504"} 1234</a:t>
            </a:r>
          </a:p>
        </p:txBody>
      </p:sp>
      <p:sp>
        <p:nvSpPr>
          <p:cNvPr id="10" name="TextBox 9"/>
          <p:cNvSpPr txBox="1"/>
          <p:nvPr/>
        </p:nvSpPr>
        <p:spPr>
          <a:xfrm>
            <a:off x="68580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Prometheus · PromQL</a:t>
            </a:r>
          </a:p>
        </p:txBody>
      </p:sp>
      <p:sp>
        <p:nvSpPr>
          <p:cNvPr id="11" name="Rounded Rectangle 10"/>
          <p:cNvSpPr/>
          <p:nvPr/>
        </p:nvSpPr>
        <p:spPr>
          <a:xfrm>
            <a:off x="425196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480560" y="1481328"/>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348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Traces</a:t>
            </a:r>
          </a:p>
        </p:txBody>
      </p:sp>
      <p:sp>
        <p:nvSpPr>
          <p:cNvPr id="14" name="TextBox 13"/>
          <p:cNvSpPr txBox="1"/>
          <p:nvPr/>
        </p:nvSpPr>
        <p:spPr>
          <a:xfrm>
            <a:off x="4480560" y="1965960"/>
            <a:ext cx="3154680" cy="320040"/>
          </a:xfrm>
          <a:prstGeom prst="rect">
            <a:avLst/>
          </a:prstGeom>
          <a:noFill/>
        </p:spPr>
        <p:txBody>
          <a:bodyPr wrap="square" lIns="0" rIns="0" tIns="0" bIns="0" anchor="t">
            <a:spAutoFit/>
          </a:bodyPr>
          <a:lstStyle/>
          <a:p>
            <a:pPr algn="l">
              <a:spcAft>
                <a:spcPts val="400"/>
              </a:spcAft>
            </a:pPr>
            <a:r>
              <a:rPr sz="1300" b="1" i="0">
                <a:solidFill>
                  <a:schemeClr val="accent1"/>
                </a:solidFill>
              </a:rPr>
              <a:t>One request, end to end</a:t>
            </a:r>
          </a:p>
        </p:txBody>
      </p:sp>
      <p:sp>
        <p:nvSpPr>
          <p:cNvPr id="15" name="TextBox 14"/>
          <p:cNvSpPr txBox="1"/>
          <p:nvPr/>
        </p:nvSpPr>
        <p:spPr>
          <a:xfrm>
            <a:off x="448056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A tree of spans sharing one trace ID; each span is one operation with start, duration and status.</a:t>
            </a:r>
          </a:p>
          <a:p>
            <a:pPr algn="l" marL="164592" indent="-146304">
              <a:spcAft>
                <a:spcPts val="500"/>
              </a:spcAft>
              <a:buChar char="•"/>
            </a:pPr>
            <a:r>
              <a:rPr sz="1200" b="0" i="0">
                <a:solidFill>
                  <a:schemeClr val="tx1"/>
                </a:solidFill>
              </a:rPr>
              <a:t>Sampled: we keep errors and about 10%.</a:t>
            </a:r>
          </a:p>
          <a:p>
            <a:pPr algn="l" marL="164592" indent="-146304">
              <a:spcAft>
                <a:spcPts val="500"/>
              </a:spcAft>
              <a:buChar char="•"/>
            </a:pPr>
            <a:r>
              <a:rPr sz="1200" b="0" i="0">
                <a:solidFill>
                  <a:schemeClr val="tx1"/>
                </a:solidFill>
              </a:rPr>
              <a:t>Tells you WHERE the time went.</a:t>
            </a:r>
          </a:p>
        </p:txBody>
      </p:sp>
      <p:sp>
        <p:nvSpPr>
          <p:cNvPr id="16" name="Rounded Rectangle 15"/>
          <p:cNvSpPr/>
          <p:nvPr/>
        </p:nvSpPr>
        <p:spPr>
          <a:xfrm>
            <a:off x="448056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gateway  ████████████ 3.0 s
 payments ███████████ 3.0 s
  core banking ██████████ 3.0 s</a:t>
            </a:r>
          </a:p>
        </p:txBody>
      </p:sp>
      <p:sp>
        <p:nvSpPr>
          <p:cNvPr id="17" name="TextBox 16"/>
          <p:cNvSpPr txBox="1"/>
          <p:nvPr/>
        </p:nvSpPr>
        <p:spPr>
          <a:xfrm>
            <a:off x="448056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Tempo · TraceQL</a:t>
            </a:r>
          </a:p>
        </p:txBody>
      </p:sp>
      <p:sp>
        <p:nvSpPr>
          <p:cNvPr id="18" name="Rounded Rectangle 17"/>
          <p:cNvSpPr/>
          <p:nvPr/>
        </p:nvSpPr>
        <p:spPr>
          <a:xfrm>
            <a:off x="804672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75320" y="1481328"/>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Logs</a:t>
            </a:r>
          </a:p>
        </p:txBody>
      </p:sp>
      <p:sp>
        <p:nvSpPr>
          <p:cNvPr id="21" name="TextBox 20"/>
          <p:cNvSpPr txBox="1"/>
          <p:nvPr/>
        </p:nvSpPr>
        <p:spPr>
          <a:xfrm>
            <a:off x="8275320" y="1965960"/>
            <a:ext cx="3154680" cy="320040"/>
          </a:xfrm>
          <a:prstGeom prst="rect">
            <a:avLst/>
          </a:prstGeom>
          <a:noFill/>
        </p:spPr>
        <p:txBody>
          <a:bodyPr wrap="square" lIns="0" rIns="0" tIns="0" bIns="0" anchor="t">
            <a:spAutoFit/>
          </a:bodyPr>
          <a:lstStyle/>
          <a:p>
            <a:pPr algn="l">
              <a:spcAft>
                <a:spcPts val="400"/>
              </a:spcAft>
            </a:pPr>
            <a:r>
              <a:rPr sz="1300" b="1" i="0">
                <a:solidFill>
                  <a:schemeClr val="tx2"/>
                </a:solidFill>
              </a:rPr>
              <a:t>One record per event</a:t>
            </a:r>
          </a:p>
        </p:txBody>
      </p:sp>
      <p:sp>
        <p:nvSpPr>
          <p:cNvPr id="22" name="TextBox 21"/>
          <p:cNvSpPr txBox="1"/>
          <p:nvPr/>
        </p:nvSpPr>
        <p:spPr>
          <a:xfrm>
            <a:off x="827532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Timestamped text plus fields, here one Envoy access log per request.</a:t>
            </a:r>
          </a:p>
          <a:p>
            <a:pPr algn="l" marL="164592" indent="-146304">
              <a:spcAft>
                <a:spcPts val="500"/>
              </a:spcAft>
              <a:buChar char="•"/>
            </a:pPr>
            <a:r>
              <a:rPr sz="1200" b="0" i="0">
                <a:solidFill>
                  <a:schemeClr val="tx1"/>
                </a:solidFill>
              </a:rPr>
              <a:t>Detailed and higher volume.</a:t>
            </a:r>
          </a:p>
          <a:p>
            <a:pPr algn="l" marL="164592" indent="-146304">
              <a:spcAft>
                <a:spcPts val="500"/>
              </a:spcAft>
              <a:buChar char="•"/>
            </a:pPr>
            <a:r>
              <a:rPr sz="1200" b="0" i="0">
                <a:solidFill>
                  <a:schemeClr val="tx1"/>
                </a:solidFill>
              </a:rPr>
              <a:t>Tells you WHY: response flag, upstream, error detail.</a:t>
            </a:r>
          </a:p>
        </p:txBody>
      </p:sp>
      <p:sp>
        <p:nvSpPr>
          <p:cNvPr id="23" name="Rounded Rectangle 22"/>
          <p:cNvSpPr/>
          <p:nvPr/>
        </p:nvSpPr>
        <p:spPr>
          <a:xfrm>
            <a:off x="827532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"POST /ledger" 504 UT
  upstream=core-banking 3001ms
  trace_id=2ba91a03eb16...</a:t>
            </a:r>
          </a:p>
        </p:txBody>
      </p:sp>
      <p:sp>
        <p:nvSpPr>
          <p:cNvPr id="24" name="TextBox 23"/>
          <p:cNvSpPr txBox="1"/>
          <p:nvPr/>
        </p:nvSpPr>
        <p:spPr>
          <a:xfrm>
            <a:off x="827532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Loki · LogQL</a:t>
            </a:r>
          </a:p>
        </p:txBody>
      </p:sp>
      <p:sp>
        <p:nvSpPr>
          <p:cNvPr id="25" name="TextBox 24"/>
          <p:cNvSpPr txBox="1"/>
          <p:nvPr/>
        </p:nvSpPr>
        <p:spPr>
          <a:xfrm>
            <a:off x="457200" y="603504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Metrics find the red dot, traces show where the time went, logs say why. One trace ID ties a log line to its trace.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OpenTelemetry: one open standard for all three signals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3657600" cy="274320"/>
          </a:xfrm>
          <a:prstGeom prst="rect">
            <a:avLst/>
          </a:prstGeom>
          <a:noFill/>
        </p:spPr>
        <p:txBody>
          <a:bodyPr wrap="square" lIns="0" rIns="0" tIns="0" bIns="0" anchor="t">
            <a:spAutoFit/>
          </a:bodyPr>
          <a:lstStyle/>
          <a:p>
            <a:pPr algn="l">
              <a:spcAft>
                <a:spcPts val="400"/>
              </a:spcAft>
            </a:pPr>
            <a:r>
              <a:rPr sz="1100" b="1" i="0">
                <a:solidFill>
                  <a:schemeClr val="tx2"/>
                </a:solidFill>
              </a:rPr>
              <a:t>WHERE IT CAME FROM</a:t>
            </a:r>
          </a:p>
        </p:txBody>
      </p:sp>
      <p:sp>
        <p:nvSpPr>
          <p:cNvPr id="5" name="Rounded Rectangle 4"/>
          <p:cNvSpPr/>
          <p:nvPr/>
        </p:nvSpPr>
        <p:spPr>
          <a:xfrm>
            <a:off x="457200" y="1554480"/>
            <a:ext cx="868680" cy="384048"/>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2016</a:t>
            </a:r>
          </a:p>
        </p:txBody>
      </p:sp>
      <p:sp>
        <p:nvSpPr>
          <p:cNvPr id="6" name="TextBox 5"/>
          <p:cNvSpPr txBox="1"/>
          <p:nvPr/>
        </p:nvSpPr>
        <p:spPr>
          <a:xfrm>
            <a:off x="1463040" y="1508760"/>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OpenTracing</a:t>
            </a:r>
          </a:p>
        </p:txBody>
      </p:sp>
      <p:sp>
        <p:nvSpPr>
          <p:cNvPr id="7" name="TextBox 6"/>
          <p:cNvSpPr txBox="1"/>
          <p:nvPr/>
        </p:nvSpPr>
        <p:spPr>
          <a:xfrm>
            <a:off x="1463040" y="1810512"/>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Vendor-neutral tracing API</a:t>
            </a:r>
          </a:p>
        </p:txBody>
      </p:sp>
      <p:sp>
        <p:nvSpPr>
          <p:cNvPr id="8" name="Rounded Rectangle 7"/>
          <p:cNvSpPr/>
          <p:nvPr/>
        </p:nvSpPr>
        <p:spPr>
          <a:xfrm>
            <a:off x="457200" y="2578608"/>
            <a:ext cx="868680" cy="384048"/>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2018</a:t>
            </a:r>
          </a:p>
        </p:txBody>
      </p:sp>
      <p:sp>
        <p:nvSpPr>
          <p:cNvPr id="9" name="TextBox 8"/>
          <p:cNvSpPr txBox="1"/>
          <p:nvPr/>
        </p:nvSpPr>
        <p:spPr>
          <a:xfrm>
            <a:off x="1463040" y="2532888"/>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OpenCensus</a:t>
            </a:r>
          </a:p>
        </p:txBody>
      </p:sp>
      <p:sp>
        <p:nvSpPr>
          <p:cNvPr id="10" name="TextBox 9"/>
          <p:cNvSpPr txBox="1"/>
          <p:nvPr/>
        </p:nvSpPr>
        <p:spPr>
          <a:xfrm>
            <a:off x="1463040" y="2834640"/>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Google: metrics + traces</a:t>
            </a:r>
          </a:p>
        </p:txBody>
      </p:sp>
      <p:cxnSp>
        <p:nvCxnSpPr>
          <p:cNvPr id="11" name="Connector 10"/>
          <p:cNvCxnSpPr/>
          <p:nvPr/>
        </p:nvCxnSpPr>
        <p:spPr>
          <a:xfrm>
            <a:off x="891540" y="1938528"/>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7200" y="3602736"/>
            <a:ext cx="868680" cy="38404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2019</a:t>
            </a:r>
          </a:p>
        </p:txBody>
      </p:sp>
      <p:sp>
        <p:nvSpPr>
          <p:cNvPr id="13" name="TextBox 12"/>
          <p:cNvSpPr txBox="1"/>
          <p:nvPr/>
        </p:nvSpPr>
        <p:spPr>
          <a:xfrm>
            <a:off x="1463040" y="3557016"/>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OpenTelemetry</a:t>
            </a:r>
          </a:p>
        </p:txBody>
      </p:sp>
      <p:sp>
        <p:nvSpPr>
          <p:cNvPr id="14" name="TextBox 13"/>
          <p:cNvSpPr txBox="1"/>
          <p:nvPr/>
        </p:nvSpPr>
        <p:spPr>
          <a:xfrm>
            <a:off x="1463040" y="3858768"/>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Merger under the CNCF</a:t>
            </a:r>
          </a:p>
        </p:txBody>
      </p:sp>
      <p:cxnSp>
        <p:nvCxnSpPr>
          <p:cNvPr id="15" name="Connector 14"/>
          <p:cNvCxnSpPr/>
          <p:nvPr/>
        </p:nvCxnSpPr>
        <p:spPr>
          <a:xfrm>
            <a:off x="891540" y="2962656"/>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4626864"/>
            <a:ext cx="868680" cy="38404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Today</a:t>
            </a:r>
          </a:p>
        </p:txBody>
      </p:sp>
      <p:sp>
        <p:nvSpPr>
          <p:cNvPr id="17" name="TextBox 16"/>
          <p:cNvSpPr txBox="1"/>
          <p:nvPr/>
        </p:nvSpPr>
        <p:spPr>
          <a:xfrm>
            <a:off x="1463040" y="4581144"/>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OTel 1.x</a:t>
            </a:r>
          </a:p>
        </p:txBody>
      </p:sp>
      <p:sp>
        <p:nvSpPr>
          <p:cNvPr id="18" name="TextBox 17"/>
          <p:cNvSpPr txBox="1"/>
          <p:nvPr/>
        </p:nvSpPr>
        <p:spPr>
          <a:xfrm>
            <a:off x="1463040" y="4882896"/>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Traces, metrics, logs stable</a:t>
            </a:r>
          </a:p>
        </p:txBody>
      </p:sp>
      <p:cxnSp>
        <p:nvCxnSpPr>
          <p:cNvPr id="19" name="Connector 18"/>
          <p:cNvCxnSpPr/>
          <p:nvPr/>
        </p:nvCxnSpPr>
        <p:spPr>
          <a:xfrm>
            <a:off x="891540" y="3986784"/>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0" y="1188720"/>
            <a:ext cx="7132320" cy="274320"/>
          </a:xfrm>
          <a:prstGeom prst="rect">
            <a:avLst/>
          </a:prstGeom>
          <a:noFill/>
        </p:spPr>
        <p:txBody>
          <a:bodyPr wrap="square" lIns="0" rIns="0" tIns="0" bIns="0" anchor="t">
            <a:spAutoFit/>
          </a:bodyPr>
          <a:lstStyle/>
          <a:p>
            <a:pPr algn="l">
              <a:spcAft>
                <a:spcPts val="400"/>
              </a:spcAft>
            </a:pPr>
            <a:r>
              <a:rPr sz="1100" b="1" i="0">
                <a:solidFill>
                  <a:schemeClr val="tx2"/>
                </a:solidFill>
              </a:rPr>
              <a:t>BUILDING BLOCKS AND HOW WE USE THEM</a:t>
            </a:r>
          </a:p>
        </p:txBody>
      </p:sp>
      <p:sp>
        <p:nvSpPr>
          <p:cNvPr id="21" name="Rounded Rectangle 20"/>
          <p:cNvSpPr/>
          <p:nvPr/>
        </p:nvSpPr>
        <p:spPr>
          <a:xfrm>
            <a:off x="4572000" y="1554480"/>
            <a:ext cx="2377440" cy="713232"/>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API + SDK</a:t>
            </a:r>
          </a:p>
        </p:txBody>
      </p:sp>
      <p:sp>
        <p:nvSpPr>
          <p:cNvPr id="22" name="TextBox 21"/>
          <p:cNvSpPr txBox="1"/>
          <p:nvPr/>
        </p:nvSpPr>
        <p:spPr>
          <a:xfrm>
            <a:off x="7132320" y="153619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Create spans, metrics, logs; the SDK samples, batches and exports</a:t>
            </a:r>
          </a:p>
        </p:txBody>
      </p:sp>
      <p:sp>
        <p:nvSpPr>
          <p:cNvPr id="23" name="TextBox 22"/>
          <p:cNvSpPr txBox="1"/>
          <p:nvPr/>
        </p:nvSpPr>
        <p:spPr>
          <a:xfrm>
            <a:off x="7132320" y="192024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In the app process</a:t>
            </a:r>
          </a:p>
        </p:txBody>
      </p:sp>
      <p:sp>
        <p:nvSpPr>
          <p:cNvPr id="24" name="Rounded Rectangle 23"/>
          <p:cNvSpPr/>
          <p:nvPr/>
        </p:nvSpPr>
        <p:spPr>
          <a:xfrm>
            <a:off x="4572000" y="2423160"/>
            <a:ext cx="2377440" cy="713232"/>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Auto-instrumentation agent</a:t>
            </a:r>
          </a:p>
        </p:txBody>
      </p:sp>
      <p:sp>
        <p:nvSpPr>
          <p:cNvPr id="25" name="TextBox 24"/>
          <p:cNvSpPr txBox="1"/>
          <p:nvPr/>
        </p:nvSpPr>
        <p:spPr>
          <a:xfrm>
            <a:off x="7132320" y="240487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Wraps frameworks (Flask, requests, JDBC) with no code change; propagates context</a:t>
            </a:r>
          </a:p>
        </p:txBody>
      </p:sp>
      <p:sp>
        <p:nvSpPr>
          <p:cNvPr id="26" name="TextBox 25"/>
          <p:cNvSpPr txBox="1"/>
          <p:nvPr/>
        </p:nvSpPr>
        <p:spPr>
          <a:xfrm>
            <a:off x="7132320" y="278892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Injected by the Instrumentation CR</a:t>
            </a:r>
          </a:p>
        </p:txBody>
      </p:sp>
      <p:sp>
        <p:nvSpPr>
          <p:cNvPr id="27" name="Rounded Rectangle 26"/>
          <p:cNvSpPr/>
          <p:nvPr/>
        </p:nvSpPr>
        <p:spPr>
          <a:xfrm>
            <a:off x="4572000" y="3291839"/>
            <a:ext cx="2377440" cy="713232"/>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OTLP</a:t>
            </a:r>
          </a:p>
        </p:txBody>
      </p:sp>
      <p:sp>
        <p:nvSpPr>
          <p:cNvPr id="28" name="TextBox 27"/>
          <p:cNvSpPr txBox="1"/>
          <p:nvPr/>
        </p:nvSpPr>
        <p:spPr>
          <a:xfrm>
            <a:off x="7132320" y="3273551"/>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Wire protocol for all three signals, over gRPC (4317) or HTTP (4318)</a:t>
            </a:r>
          </a:p>
        </p:txBody>
      </p:sp>
      <p:sp>
        <p:nvSpPr>
          <p:cNvPr id="29" name="TextBox 28"/>
          <p:cNvSpPr txBox="1"/>
          <p:nvPr/>
        </p:nvSpPr>
        <p:spPr>
          <a:xfrm>
            <a:off x="7132320" y="3657599"/>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Spoken by Envoy, the agent, the Collector, Tempo, Loki</a:t>
            </a:r>
          </a:p>
        </p:txBody>
      </p:sp>
      <p:sp>
        <p:nvSpPr>
          <p:cNvPr id="30" name="Rounded Rectangle 29"/>
          <p:cNvSpPr/>
          <p:nvPr/>
        </p:nvSpPr>
        <p:spPr>
          <a:xfrm>
            <a:off x="4572000" y="4160520"/>
            <a:ext cx="2377440" cy="713232"/>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Collector</a:t>
            </a:r>
          </a:p>
        </p:txBody>
      </p:sp>
      <p:sp>
        <p:nvSpPr>
          <p:cNvPr id="31" name="TextBox 30"/>
          <p:cNvSpPr txBox="1"/>
          <p:nvPr/>
        </p:nvSpPr>
        <p:spPr>
          <a:xfrm>
            <a:off x="7132320" y="414223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Receivers, processors, exporters: tags, samples and routes data</a:t>
            </a:r>
          </a:p>
        </p:txBody>
      </p:sp>
      <p:sp>
        <p:nvSpPr>
          <p:cNvPr id="32" name="TextBox 31"/>
          <p:cNvSpPr txBox="1"/>
          <p:nvPr/>
        </p:nvSpPr>
        <p:spPr>
          <a:xfrm>
            <a:off x="7132320" y="452628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Red Hat build of OpenTelemetry Collector</a:t>
            </a:r>
          </a:p>
        </p:txBody>
      </p:sp>
      <p:sp>
        <p:nvSpPr>
          <p:cNvPr id="33" name="Rounded Rectangle 32"/>
          <p:cNvSpPr/>
          <p:nvPr/>
        </p:nvSpPr>
        <p:spPr>
          <a:xfrm>
            <a:off x="4572000" y="5029200"/>
            <a:ext cx="2377440" cy="713232"/>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Semantic conventions</a:t>
            </a:r>
          </a:p>
        </p:txBody>
      </p:sp>
      <p:sp>
        <p:nvSpPr>
          <p:cNvPr id="34" name="TextBox 33"/>
          <p:cNvSpPr txBox="1"/>
          <p:nvPr/>
        </p:nvSpPr>
        <p:spPr>
          <a:xfrm>
            <a:off x="7132320" y="501091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Standard attribute names: http.status_code, service.name, db.system</a:t>
            </a:r>
          </a:p>
        </p:txBody>
      </p:sp>
      <p:sp>
        <p:nvSpPr>
          <p:cNvPr id="35" name="TextBox 34"/>
          <p:cNvSpPr txBox="1"/>
          <p:nvPr/>
        </p:nvSpPr>
        <p:spPr>
          <a:xfrm>
            <a:off x="7132320" y="539496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Same names in every tool</a:t>
            </a:r>
          </a:p>
        </p:txBody>
      </p:sp>
      <p:sp>
        <p:nvSpPr>
          <p:cNvPr id="36" name="TextBox 35"/>
          <p:cNvSpPr txBox="1"/>
          <p:nvPr/>
        </p:nvSpPr>
        <p:spPr>
          <a:xfrm>
            <a:off x="457200" y="59893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Envoy in the mesh speaks OTLP natively, so mesh spans and app spans land in the same trace.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Anatomy of a trace: trace ID, span ID and context propagation</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THE W3C traceparent HEADER, FORWARDED ON EVERY CALL</a:t>
            </a:r>
          </a:p>
        </p:txBody>
      </p:sp>
      <p:sp>
        <p:nvSpPr>
          <p:cNvPr id="5" name="Rounded Rectangle 4"/>
          <p:cNvSpPr/>
          <p:nvPr/>
        </p:nvSpPr>
        <p:spPr>
          <a:xfrm>
            <a:off x="457200" y="1554480"/>
            <a:ext cx="548640" cy="50292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00</a:t>
            </a:r>
          </a:p>
        </p:txBody>
      </p:sp>
      <p:sp>
        <p:nvSpPr>
          <p:cNvPr id="6" name="TextBox 5"/>
          <p:cNvSpPr txBox="1"/>
          <p:nvPr/>
        </p:nvSpPr>
        <p:spPr>
          <a:xfrm>
            <a:off x="457200" y="2121408"/>
            <a:ext cx="548640" cy="457200"/>
          </a:xfrm>
          <a:prstGeom prst="rect">
            <a:avLst/>
          </a:prstGeom>
          <a:noFill/>
        </p:spPr>
        <p:txBody>
          <a:bodyPr wrap="square" lIns="0" rIns="0" tIns="0" bIns="0" anchor="t">
            <a:spAutoFit/>
          </a:bodyPr>
          <a:lstStyle/>
          <a:p>
            <a:pPr algn="ctr">
              <a:spcAft>
                <a:spcPts val="400"/>
              </a:spcAft>
            </a:pPr>
            <a:r>
              <a:rPr sz="1050" b="0" i="0">
                <a:solidFill>
                  <a:schemeClr val="tx2"/>
                </a:solidFill>
              </a:rPr>
              <a:t>version</a:t>
            </a:r>
          </a:p>
        </p:txBody>
      </p:sp>
      <p:sp>
        <p:nvSpPr>
          <p:cNvPr id="7" name="TextBox 6"/>
          <p:cNvSpPr txBox="1"/>
          <p:nvPr/>
        </p:nvSpPr>
        <p:spPr>
          <a:xfrm>
            <a:off x="1033272" y="1572768"/>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8" name="Rounded Rectangle 7"/>
          <p:cNvSpPr/>
          <p:nvPr/>
        </p:nvSpPr>
        <p:spPr>
          <a:xfrm>
            <a:off x="1234440" y="1554480"/>
            <a:ext cx="4846320" cy="5029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2ba91a03eb16935db767e177972f85b8</a:t>
            </a:r>
          </a:p>
        </p:txBody>
      </p:sp>
      <p:sp>
        <p:nvSpPr>
          <p:cNvPr id="9" name="TextBox 8"/>
          <p:cNvSpPr txBox="1"/>
          <p:nvPr/>
        </p:nvSpPr>
        <p:spPr>
          <a:xfrm>
            <a:off x="1234440" y="2121408"/>
            <a:ext cx="4846320" cy="457200"/>
          </a:xfrm>
          <a:prstGeom prst="rect">
            <a:avLst/>
          </a:prstGeom>
          <a:noFill/>
        </p:spPr>
        <p:txBody>
          <a:bodyPr wrap="square" lIns="0" rIns="0" tIns="0" bIns="0" anchor="t">
            <a:spAutoFit/>
          </a:bodyPr>
          <a:lstStyle/>
          <a:p>
            <a:pPr algn="ctr">
              <a:spcAft>
                <a:spcPts val="400"/>
              </a:spcAft>
            </a:pPr>
            <a:r>
              <a:rPr sz="1050" b="0" i="0">
                <a:solidFill>
                  <a:schemeClr val="tx2"/>
                </a:solidFill>
              </a:rPr>
              <a:t>trace-id: 16 bytes, same for the whole transaction</a:t>
            </a:r>
          </a:p>
        </p:txBody>
      </p:sp>
      <p:sp>
        <p:nvSpPr>
          <p:cNvPr id="10" name="TextBox 9"/>
          <p:cNvSpPr txBox="1"/>
          <p:nvPr/>
        </p:nvSpPr>
        <p:spPr>
          <a:xfrm>
            <a:off x="6108192" y="1572768"/>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11" name="Rounded Rectangle 10"/>
          <p:cNvSpPr/>
          <p:nvPr/>
        </p:nvSpPr>
        <p:spPr>
          <a:xfrm>
            <a:off x="6309360" y="1554480"/>
            <a:ext cx="2834640" cy="50292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b7ad6b7169203331</a:t>
            </a:r>
          </a:p>
        </p:txBody>
      </p:sp>
      <p:sp>
        <p:nvSpPr>
          <p:cNvPr id="12" name="TextBox 11"/>
          <p:cNvSpPr txBox="1"/>
          <p:nvPr/>
        </p:nvSpPr>
        <p:spPr>
          <a:xfrm>
            <a:off x="6309360" y="2121408"/>
            <a:ext cx="2834640" cy="457200"/>
          </a:xfrm>
          <a:prstGeom prst="rect">
            <a:avLst/>
          </a:prstGeom>
          <a:noFill/>
        </p:spPr>
        <p:txBody>
          <a:bodyPr wrap="square" lIns="0" rIns="0" tIns="0" bIns="0" anchor="t">
            <a:spAutoFit/>
          </a:bodyPr>
          <a:lstStyle/>
          <a:p>
            <a:pPr algn="ctr">
              <a:spcAft>
                <a:spcPts val="400"/>
              </a:spcAft>
            </a:pPr>
            <a:r>
              <a:rPr sz="1050" b="0" i="0">
                <a:solidFill>
                  <a:schemeClr val="tx2"/>
                </a:solidFill>
              </a:rPr>
              <a:t>parent-id: 8 bytes, the span that made this call</a:t>
            </a:r>
          </a:p>
        </p:txBody>
      </p:sp>
      <p:sp>
        <p:nvSpPr>
          <p:cNvPr id="13" name="TextBox 12"/>
          <p:cNvSpPr txBox="1"/>
          <p:nvPr/>
        </p:nvSpPr>
        <p:spPr>
          <a:xfrm>
            <a:off x="9171432" y="1572768"/>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14" name="Rounded Rectangle 13"/>
          <p:cNvSpPr/>
          <p:nvPr/>
        </p:nvSpPr>
        <p:spPr>
          <a:xfrm>
            <a:off x="9372600" y="1554480"/>
            <a:ext cx="1188720" cy="502920"/>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tx1"/>
                </a:solidFill>
                <a:latin typeface="Courier New"/>
              </a:rPr>
              <a:t>01</a:t>
            </a:r>
          </a:p>
        </p:txBody>
      </p:sp>
      <p:sp>
        <p:nvSpPr>
          <p:cNvPr id="15" name="TextBox 14"/>
          <p:cNvSpPr txBox="1"/>
          <p:nvPr/>
        </p:nvSpPr>
        <p:spPr>
          <a:xfrm>
            <a:off x="9372600" y="2121408"/>
            <a:ext cx="1188720" cy="457200"/>
          </a:xfrm>
          <a:prstGeom prst="rect">
            <a:avLst/>
          </a:prstGeom>
          <a:noFill/>
        </p:spPr>
        <p:txBody>
          <a:bodyPr wrap="square" lIns="0" rIns="0" tIns="0" bIns="0" anchor="t">
            <a:spAutoFit/>
          </a:bodyPr>
          <a:lstStyle/>
          <a:p>
            <a:pPr algn="ctr">
              <a:spcAft>
                <a:spcPts val="400"/>
              </a:spcAft>
            </a:pPr>
            <a:r>
              <a:rPr sz="1050" b="0" i="0">
                <a:solidFill>
                  <a:schemeClr val="tx2"/>
                </a:solidFill>
              </a:rPr>
              <a:t>flags: 01 = sampled</a:t>
            </a:r>
          </a:p>
        </p:txBody>
      </p:sp>
      <p:sp>
        <p:nvSpPr>
          <p:cNvPr id="16" name="TextBox 15"/>
          <p:cNvSpPr txBox="1"/>
          <p:nvPr/>
        </p:nvSpPr>
        <p:spPr>
          <a:xfrm>
            <a:off x="457200" y="2697480"/>
            <a:ext cx="6949440" cy="274320"/>
          </a:xfrm>
          <a:prstGeom prst="rect">
            <a:avLst/>
          </a:prstGeom>
          <a:noFill/>
        </p:spPr>
        <p:txBody>
          <a:bodyPr wrap="square" lIns="0" rIns="0" tIns="0" bIns="0" anchor="t">
            <a:spAutoFit/>
          </a:bodyPr>
          <a:lstStyle/>
          <a:p>
            <a:pPr algn="l">
              <a:spcAft>
                <a:spcPts val="400"/>
              </a:spcAft>
            </a:pPr>
            <a:r>
              <a:rPr sz="1100" b="1" i="0">
                <a:solidFill>
                  <a:schemeClr val="tx2"/>
                </a:solidFill>
              </a:rPr>
              <a:t>ONE FUND-TRANSFER TRACE (12 SPANS, SIMPLIFIED)</a:t>
            </a:r>
          </a:p>
        </p:txBody>
      </p:sp>
      <p:sp>
        <p:nvSpPr>
          <p:cNvPr id="17" name="TextBox 16"/>
          <p:cNvSpPr txBox="1"/>
          <p:nvPr/>
        </p:nvSpPr>
        <p:spPr>
          <a:xfrm>
            <a:off x="457200" y="3063240"/>
            <a:ext cx="2514600" cy="274320"/>
          </a:xfrm>
          <a:prstGeom prst="rect">
            <a:avLst/>
          </a:prstGeom>
          <a:noFill/>
        </p:spPr>
        <p:txBody>
          <a:bodyPr wrap="square" lIns="0" rIns="0" tIns="0" bIns="0" anchor="t">
            <a:spAutoFit/>
          </a:bodyPr>
          <a:lstStyle/>
          <a:p>
            <a:pPr algn="l">
              <a:spcAft>
                <a:spcPts val="400"/>
              </a:spcAft>
            </a:pPr>
            <a:r>
              <a:rPr sz="1150" b="1" i="0">
                <a:solidFill>
                  <a:schemeClr val="tx1"/>
                </a:solidFill>
              </a:rPr>
              <a:t>ingress gateway</a:t>
            </a:r>
          </a:p>
        </p:txBody>
      </p:sp>
      <p:sp>
        <p:nvSpPr>
          <p:cNvPr id="18" name="TextBox 17"/>
          <p:cNvSpPr txBox="1"/>
          <p:nvPr/>
        </p:nvSpPr>
        <p:spPr>
          <a:xfrm>
            <a:off x="457200" y="3310128"/>
            <a:ext cx="2514600" cy="256032"/>
          </a:xfrm>
          <a:prstGeom prst="rect">
            <a:avLst/>
          </a:prstGeom>
          <a:noFill/>
        </p:spPr>
        <p:txBody>
          <a:bodyPr wrap="square" lIns="0" rIns="0" tIns="0" bIns="0" anchor="t">
            <a:spAutoFit/>
          </a:bodyPr>
          <a:lstStyle/>
          <a:p>
            <a:pPr algn="l">
              <a:spcAft>
                <a:spcPts val="400"/>
              </a:spcAft>
            </a:pPr>
            <a:r>
              <a:rPr sz="950" b="0" i="0">
                <a:solidFill>
                  <a:schemeClr val="tx2"/>
                </a:solidFill>
              </a:rPr>
              <a:t>root span, starts the trace</a:t>
            </a:r>
          </a:p>
        </p:txBody>
      </p:sp>
      <p:sp>
        <p:nvSpPr>
          <p:cNvPr id="19" name="Rounded Rectangle 18"/>
          <p:cNvSpPr/>
          <p:nvPr/>
        </p:nvSpPr>
        <p:spPr>
          <a:xfrm>
            <a:off x="3017520" y="3136392"/>
            <a:ext cx="4389120" cy="329184"/>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3630168"/>
            <a:ext cx="2350008" cy="274320"/>
          </a:xfrm>
          <a:prstGeom prst="rect">
            <a:avLst/>
          </a:prstGeom>
          <a:noFill/>
        </p:spPr>
        <p:txBody>
          <a:bodyPr wrap="square" lIns="0" rIns="0" tIns="0" bIns="0" anchor="t">
            <a:spAutoFit/>
          </a:bodyPr>
          <a:lstStyle/>
          <a:p>
            <a:pPr algn="l">
              <a:spcAft>
                <a:spcPts val="400"/>
              </a:spcAft>
            </a:pPr>
            <a:r>
              <a:rPr sz="1150" b="1" i="0">
                <a:solidFill>
                  <a:schemeClr val="tx1"/>
                </a:solidFill>
              </a:rPr>
              <a:t>payments-svc sidecar</a:t>
            </a:r>
          </a:p>
        </p:txBody>
      </p:sp>
      <p:sp>
        <p:nvSpPr>
          <p:cNvPr id="21" name="TextBox 20"/>
          <p:cNvSpPr txBox="1"/>
          <p:nvPr/>
        </p:nvSpPr>
        <p:spPr>
          <a:xfrm>
            <a:off x="621792" y="3877056"/>
            <a:ext cx="2350008" cy="256032"/>
          </a:xfrm>
          <a:prstGeom prst="rect">
            <a:avLst/>
          </a:prstGeom>
          <a:noFill/>
        </p:spPr>
        <p:txBody>
          <a:bodyPr wrap="square" lIns="0" rIns="0" tIns="0" bIns="0" anchor="t">
            <a:spAutoFit/>
          </a:bodyPr>
          <a:lstStyle/>
          <a:p>
            <a:pPr algn="l">
              <a:spcAft>
                <a:spcPts val="400"/>
              </a:spcAft>
            </a:pPr>
            <a:r>
              <a:rPr sz="950" b="0" i="0">
                <a:solidFill>
                  <a:schemeClr val="tx2"/>
                </a:solidFill>
              </a:rPr>
              <a:t>server span</a:t>
            </a:r>
          </a:p>
        </p:txBody>
      </p:sp>
      <p:sp>
        <p:nvSpPr>
          <p:cNvPr id="22" name="Rounded Rectangle 21"/>
          <p:cNvSpPr/>
          <p:nvPr/>
        </p:nvSpPr>
        <p:spPr>
          <a:xfrm>
            <a:off x="3105302" y="3703320"/>
            <a:ext cx="4301337" cy="329184"/>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4197096"/>
            <a:ext cx="2185416" cy="274320"/>
          </a:xfrm>
          <a:prstGeom prst="rect">
            <a:avLst/>
          </a:prstGeom>
          <a:noFill/>
        </p:spPr>
        <p:txBody>
          <a:bodyPr wrap="square" lIns="0" rIns="0" tIns="0" bIns="0" anchor="t">
            <a:spAutoFit/>
          </a:bodyPr>
          <a:lstStyle/>
          <a:p>
            <a:pPr algn="l">
              <a:spcAft>
                <a:spcPts val="400"/>
              </a:spcAft>
            </a:pPr>
            <a:r>
              <a:rPr sz="1150" b="1" i="0">
                <a:solidFill>
                  <a:schemeClr val="tx1"/>
                </a:solidFill>
              </a:rPr>
              <a:t>POST /transfer</a:t>
            </a:r>
          </a:p>
        </p:txBody>
      </p:sp>
      <p:sp>
        <p:nvSpPr>
          <p:cNvPr id="24" name="TextBox 23"/>
          <p:cNvSpPr txBox="1"/>
          <p:nvPr/>
        </p:nvSpPr>
        <p:spPr>
          <a:xfrm>
            <a:off x="786384" y="4443983"/>
            <a:ext cx="2185416" cy="256032"/>
          </a:xfrm>
          <a:prstGeom prst="rect">
            <a:avLst/>
          </a:prstGeom>
          <a:noFill/>
        </p:spPr>
        <p:txBody>
          <a:bodyPr wrap="square" lIns="0" rIns="0" tIns="0" bIns="0" anchor="t">
            <a:spAutoFit/>
          </a:bodyPr>
          <a:lstStyle/>
          <a:p>
            <a:pPr algn="l">
              <a:spcAft>
                <a:spcPts val="400"/>
              </a:spcAft>
            </a:pPr>
            <a:r>
              <a:rPr sz="950" b="0" i="0">
                <a:solidFill>
                  <a:schemeClr val="tx2"/>
                </a:solidFill>
              </a:rPr>
              <a:t>app span (OTel agent)</a:t>
            </a:r>
          </a:p>
        </p:txBody>
      </p:sp>
      <p:sp>
        <p:nvSpPr>
          <p:cNvPr id="25" name="Rounded Rectangle 24"/>
          <p:cNvSpPr/>
          <p:nvPr/>
        </p:nvSpPr>
        <p:spPr>
          <a:xfrm>
            <a:off x="3236976" y="4270248"/>
            <a:ext cx="4125772" cy="329184"/>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50976" y="4764024"/>
            <a:ext cx="2020824" cy="274320"/>
          </a:xfrm>
          <a:prstGeom prst="rect">
            <a:avLst/>
          </a:prstGeom>
          <a:noFill/>
        </p:spPr>
        <p:txBody>
          <a:bodyPr wrap="square" lIns="0" rIns="0" tIns="0" bIns="0" anchor="t">
            <a:spAutoFit/>
          </a:bodyPr>
          <a:lstStyle/>
          <a:p>
            <a:pPr algn="l">
              <a:spcAft>
                <a:spcPts val="400"/>
              </a:spcAft>
            </a:pPr>
            <a:r>
              <a:rPr sz="1150" b="1" i="0">
                <a:solidFill>
                  <a:schemeClr val="tx1"/>
                </a:solidFill>
              </a:rPr>
              <a:t>POST core banking</a:t>
            </a:r>
          </a:p>
        </p:txBody>
      </p:sp>
      <p:sp>
        <p:nvSpPr>
          <p:cNvPr id="27" name="TextBox 26"/>
          <p:cNvSpPr txBox="1"/>
          <p:nvPr/>
        </p:nvSpPr>
        <p:spPr>
          <a:xfrm>
            <a:off x="950976" y="5010912"/>
            <a:ext cx="2020824" cy="256032"/>
          </a:xfrm>
          <a:prstGeom prst="rect">
            <a:avLst/>
          </a:prstGeom>
          <a:noFill/>
        </p:spPr>
        <p:txBody>
          <a:bodyPr wrap="square" lIns="0" rIns="0" tIns="0" bIns="0" anchor="t">
            <a:spAutoFit/>
          </a:bodyPr>
          <a:lstStyle/>
          <a:p>
            <a:pPr algn="l">
              <a:spcAft>
                <a:spcPts val="400"/>
              </a:spcAft>
            </a:pPr>
            <a:r>
              <a:rPr sz="950" b="0" i="0">
                <a:solidFill>
                  <a:schemeClr val="tx2"/>
                </a:solidFill>
              </a:rPr>
              <a:t>client span, 504 UT</a:t>
            </a:r>
          </a:p>
        </p:txBody>
      </p:sp>
      <p:sp>
        <p:nvSpPr>
          <p:cNvPr id="28" name="Rounded Rectangle 27"/>
          <p:cNvSpPr/>
          <p:nvPr/>
        </p:nvSpPr>
        <p:spPr>
          <a:xfrm>
            <a:off x="3368649" y="4837176"/>
            <a:ext cx="3774643" cy="329184"/>
          </a:xfrm>
          <a:prstGeom prst="roundRect">
            <a:avLst>
              <a:gd name="adj" fmla="val 30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17520" y="5349240"/>
            <a:ext cx="4389120" cy="274320"/>
          </a:xfrm>
          <a:prstGeom prst="rect">
            <a:avLst/>
          </a:prstGeom>
          <a:noFill/>
        </p:spPr>
        <p:txBody>
          <a:bodyPr wrap="square" lIns="0" rIns="0" tIns="0" bIns="0" anchor="t">
            <a:spAutoFit/>
          </a:bodyPr>
          <a:lstStyle/>
          <a:p>
            <a:pPr algn="l">
              <a:spcAft>
                <a:spcPts val="400"/>
              </a:spcAft>
            </a:pPr>
            <a:r>
              <a:rPr sz="1050" b="0" i="1">
                <a:solidFill>
                  <a:schemeClr val="tx2"/>
                </a:solidFill>
              </a:rPr>
              <a:t>time  -&gt;   all spans share trace-id 2ba91a03...</a:t>
            </a:r>
          </a:p>
        </p:txBody>
      </p:sp>
      <p:sp>
        <p:nvSpPr>
          <p:cNvPr id="30" name="Rounded Rectangle 29"/>
          <p:cNvSpPr/>
          <p:nvPr/>
        </p:nvSpPr>
        <p:spPr>
          <a:xfrm>
            <a:off x="7772400" y="2697480"/>
            <a:ext cx="3931920" cy="30632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500"/>
              </a:spcAft>
            </a:pPr>
            <a:r>
              <a:rPr sz="1400" b="1" i="0">
                <a:solidFill>
                  <a:schemeClr val="tx1"/>
                </a:solidFill>
              </a:rPr>
              <a:t>Key terms</a:t>
            </a:r>
          </a:p>
          <a:p>
            <a:pPr algn="l">
              <a:spcAft>
                <a:spcPts val="500"/>
              </a:spcAft>
            </a:pPr>
            <a:r>
              <a:rPr sz="1150" b="1" i="0">
                <a:solidFill>
                  <a:schemeClr val="tx1"/>
                </a:solidFill>
              </a:rPr>
              <a:t>Span: </a:t>
            </a:r>
            <a:r>
              <a:rPr sz="1150" b="0" i="0">
                <a:solidFill>
                  <a:schemeClr val="tx1"/>
                </a:solidFill>
              </a:rPr>
              <a:t>one operation: name, start, duration, status, attributes, parent span ID.</a:t>
            </a:r>
          </a:p>
          <a:p>
            <a:pPr algn="l">
              <a:spcAft>
                <a:spcPts val="500"/>
              </a:spcAft>
            </a:pPr>
            <a:r>
              <a:rPr sz="1150" b="1" i="0">
                <a:solidFill>
                  <a:schemeClr val="tx1"/>
                </a:solidFill>
              </a:rPr>
              <a:t>Trace: </a:t>
            </a:r>
            <a:r>
              <a:rPr sz="1150" b="0" i="0">
                <a:solidFill>
                  <a:schemeClr val="tx1"/>
                </a:solidFill>
              </a:rPr>
              <a:t>all spans with the same trace ID, a tree rooted at the gateway.</a:t>
            </a:r>
          </a:p>
          <a:p>
            <a:pPr algn="l">
              <a:spcAft>
                <a:spcPts val="500"/>
              </a:spcAft>
            </a:pPr>
            <a:r>
              <a:rPr sz="1150" b="1" i="0">
                <a:solidFill>
                  <a:schemeClr val="tx1"/>
                </a:solidFill>
              </a:rPr>
              <a:t>Context propagation: </a:t>
            </a:r>
            <a:r>
              <a:rPr sz="1150" b="0" i="0">
                <a:solidFill>
                  <a:schemeClr val="tx1"/>
                </a:solidFill>
              </a:rPr>
              <a:t>each hop forwards traceparent; Envoy and the OTel agent do it for us.</a:t>
            </a:r>
          </a:p>
          <a:p>
            <a:pPr algn="l">
              <a:spcAft>
                <a:spcPts val="500"/>
              </a:spcAft>
            </a:pPr>
            <a:r>
              <a:rPr sz="1150" b="1" i="0">
                <a:solidFill>
                  <a:schemeClr val="tx1"/>
                </a:solidFill>
              </a:rPr>
              <a:t>Baggage: </a:t>
            </a:r>
            <a:r>
              <a:rPr sz="1150" b="0" i="0">
                <a:solidFill>
                  <a:schemeClr val="tx1"/>
                </a:solidFill>
              </a:rPr>
              <a:t>a second header with key=value pairs; we use it for journey and channel.</a:t>
            </a:r>
          </a:p>
          <a:p>
            <a:pPr algn="l">
              <a:spcAft>
                <a:spcPts val="500"/>
              </a:spcAft>
            </a:pPr>
            <a:r>
              <a:rPr sz="1150" b="1" i="0">
                <a:solidFill>
                  <a:schemeClr val="tx1"/>
                </a:solidFill>
              </a:rPr>
              <a:t>Sampling: </a:t>
            </a:r>
            <a:r>
              <a:rPr sz="1150" b="0" i="0">
                <a:solidFill>
                  <a:schemeClr val="tx1"/>
                </a:solidFill>
              </a:rPr>
              <a:t>the flags byte says whether to record; the collector decides what to keep.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The stack: one component per job</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graphicFrame>
        <p:nvGraphicFramePr>
          <p:cNvPr id="4" name="Table 3"/>
          <p:cNvGraphicFramePr>
            <a:graphicFrameLocks noGrp="1"/>
          </p:cNvGraphicFramePr>
          <p:nvPr/>
        </p:nvGraphicFramePr>
        <p:xfrm>
          <a:off x="457200" y="1234440"/>
          <a:ext cx="11247120" cy="4535424"/>
        </p:xfrm>
        <a:graphic>
          <a:graphicData uri="http://schemas.openxmlformats.org/drawingml/2006/table">
            <a:tbl>
              <a:tblPr firstRow="0" bandRow="0">
                <a:tableStyleId>{5940675A-B579-460E-94D1-54222C63F5DA}</a:tableStyleId>
              </a:tblPr>
              <a:tblGrid>
                <a:gridCol w="1920240"/>
                <a:gridCol w="3154680"/>
                <a:gridCol w="2743200"/>
                <a:gridCol w="3429000"/>
              </a:tblGrid>
              <a:tr h="566928">
                <a:tc>
                  <a:txBody>
                    <a:bodyPr wrap="square"/>
                    <a:lstStyle/>
                    <a:p>
                      <a:r>
                        <a:rPr sz="1100" b="1" i="0">
                          <a:solidFill>
                            <a:schemeClr val="bg1"/>
                          </a:solidFill>
                        </a:rPr>
                        <a:t>Job</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OpenShift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Local POC (upstream, same CRDs)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How we use it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66928">
                <a:tc>
                  <a:txBody>
                    <a:bodyPr wrap="square"/>
                    <a:lstStyle/>
                    <a:p>
                      <a:r>
                        <a:rPr sz="1150" b="1" i="0">
                          <a:solidFill>
                            <a:schemeClr val="tx1"/>
                          </a:solidFill>
                        </a:rPr>
                        <a:t>Telemetry source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OpenShift Service Mesh 3.4 (Istio 1.30)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Sail Operator + Istio 1.30.5</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Envoy sidecars emit metrics, spans and access logs for every hop, no code change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App instrumentation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Red Hat build of OpenTelemetry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OpenTelemetry Operator 0.160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Instrumentation CR injects the OTel agent: app and DB spans, baggage propagation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Telemetry pipeline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Red Hat build of OpenTelemetry Collector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OTel Collector (contrib) 0.160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Receives OTLP, tags journeys, tail-samples traces, routes to Tempo and Loki</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Metrics and alerts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OpenShift Monitoring (user workload): Prometheus, Thanos Querier,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kube-prometheus-stack: Prometheus 3,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Scrapes sidecars and istiod; evaluates hop and journey alert rules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Trace store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Tempo Operator: TempoMonolithic, then TempoStack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Tempo Operator 0.22, Tempo 2.10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Stores sampled traces; TraceQL search by journey, flag, service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Log store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Loki Operator: LokiStack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Loki 3.6 (single binary)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Stores Envoy access logs; LogQL by flag, hop, trace ID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Visualization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Kiali, OpenShift console, Grafana Operator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Kiali 2.27, Grafana 13, red-dot dashboard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Live graph, journey drill-down, NOC view with the failing hop and its owner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5" name="TextBox 4"/>
          <p:cNvSpPr txBox="1"/>
          <p:nvPr/>
        </p:nvSpPr>
        <p:spPr>
          <a:xfrm>
            <a:off x="457200" y="594360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Same CRDs on both sides, so manifests move to OpenShift almost unchanged. Nothing is installed on VMs or database servers.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End-to-end data flow: who sends, who pulls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920240" cy="274320"/>
          </a:xfrm>
          <a:prstGeom prst="rect">
            <a:avLst/>
          </a:prstGeom>
          <a:noFill/>
        </p:spPr>
        <p:txBody>
          <a:bodyPr wrap="square" lIns="0" rIns="0" tIns="0" bIns="0" anchor="t">
            <a:spAutoFit/>
          </a:bodyPr>
          <a:lstStyle/>
          <a:p>
            <a:pPr algn="l">
              <a:spcAft>
                <a:spcPts val="400"/>
              </a:spcAft>
            </a:pPr>
            <a:r>
              <a:rPr sz="1100" b="1" i="0">
                <a:solidFill>
                  <a:schemeClr val="tx2"/>
                </a:solidFill>
              </a:rPr>
              <a:t>SOURCES</a:t>
            </a:r>
          </a:p>
        </p:txBody>
      </p:sp>
      <p:sp>
        <p:nvSpPr>
          <p:cNvPr id="5" name="TextBox 4"/>
          <p:cNvSpPr txBox="1"/>
          <p:nvPr/>
        </p:nvSpPr>
        <p:spPr>
          <a:xfrm>
            <a:off x="2880360" y="1188720"/>
            <a:ext cx="1920240" cy="274320"/>
          </a:xfrm>
          <a:prstGeom prst="rect">
            <a:avLst/>
          </a:prstGeom>
          <a:noFill/>
        </p:spPr>
        <p:txBody>
          <a:bodyPr wrap="square" lIns="0" rIns="0" tIns="0" bIns="0" anchor="t">
            <a:spAutoFit/>
          </a:bodyPr>
          <a:lstStyle/>
          <a:p>
            <a:pPr algn="l">
              <a:spcAft>
                <a:spcPts val="400"/>
              </a:spcAft>
            </a:pPr>
            <a:r>
              <a:rPr sz="1100" b="1" i="0">
                <a:solidFill>
                  <a:schemeClr val="tx2"/>
                </a:solidFill>
              </a:rPr>
              <a:t>COLLECTION</a:t>
            </a:r>
          </a:p>
        </p:txBody>
      </p:sp>
      <p:sp>
        <p:nvSpPr>
          <p:cNvPr id="6" name="TextBox 5"/>
          <p:cNvSpPr txBox="1"/>
          <p:nvPr/>
        </p:nvSpPr>
        <p:spPr>
          <a:xfrm>
            <a:off x="5303520" y="1188720"/>
            <a:ext cx="1828800" cy="274320"/>
          </a:xfrm>
          <a:prstGeom prst="rect">
            <a:avLst/>
          </a:prstGeom>
          <a:noFill/>
        </p:spPr>
        <p:txBody>
          <a:bodyPr wrap="square" lIns="0" rIns="0" tIns="0" bIns="0" anchor="t">
            <a:spAutoFit/>
          </a:bodyPr>
          <a:lstStyle/>
          <a:p>
            <a:pPr algn="l">
              <a:spcAft>
                <a:spcPts val="400"/>
              </a:spcAft>
            </a:pPr>
            <a:r>
              <a:rPr sz="1100" b="1" i="0">
                <a:solidFill>
                  <a:schemeClr val="tx2"/>
                </a:solidFill>
              </a:rPr>
              <a:t>PROCESSING</a:t>
            </a:r>
          </a:p>
        </p:txBody>
      </p:sp>
      <p:sp>
        <p:nvSpPr>
          <p:cNvPr id="7" name="TextBox 6"/>
          <p:cNvSpPr txBox="1"/>
          <p:nvPr/>
        </p:nvSpPr>
        <p:spPr>
          <a:xfrm>
            <a:off x="7635240" y="1188720"/>
            <a:ext cx="1783080" cy="274320"/>
          </a:xfrm>
          <a:prstGeom prst="rect">
            <a:avLst/>
          </a:prstGeom>
          <a:noFill/>
        </p:spPr>
        <p:txBody>
          <a:bodyPr wrap="square" lIns="0" rIns="0" tIns="0" bIns="0" anchor="t">
            <a:spAutoFit/>
          </a:bodyPr>
          <a:lstStyle/>
          <a:p>
            <a:pPr algn="l">
              <a:spcAft>
                <a:spcPts val="400"/>
              </a:spcAft>
            </a:pPr>
            <a:r>
              <a:rPr sz="1100" b="1" i="0">
                <a:solidFill>
                  <a:schemeClr val="tx2"/>
                </a:solidFill>
              </a:rPr>
              <a:t>STORAGE</a:t>
            </a:r>
          </a:p>
        </p:txBody>
      </p:sp>
      <p:sp>
        <p:nvSpPr>
          <p:cNvPr id="8" name="TextBox 7"/>
          <p:cNvSpPr txBox="1"/>
          <p:nvPr/>
        </p:nvSpPr>
        <p:spPr>
          <a:xfrm>
            <a:off x="9966960" y="1188720"/>
            <a:ext cx="1737360" cy="274320"/>
          </a:xfrm>
          <a:prstGeom prst="rect">
            <a:avLst/>
          </a:prstGeom>
          <a:noFill/>
        </p:spPr>
        <p:txBody>
          <a:bodyPr wrap="square" lIns="0" rIns="0" tIns="0" bIns="0" anchor="t">
            <a:spAutoFit/>
          </a:bodyPr>
          <a:lstStyle/>
          <a:p>
            <a:pPr algn="l">
              <a:spcAft>
                <a:spcPts val="400"/>
              </a:spcAft>
            </a:pPr>
            <a:r>
              <a:rPr sz="1100" b="1" i="0">
                <a:solidFill>
                  <a:schemeClr val="tx2"/>
                </a:solidFill>
              </a:rPr>
              <a:t>VIEWS</a:t>
            </a:r>
          </a:p>
        </p:txBody>
      </p:sp>
      <p:sp>
        <p:nvSpPr>
          <p:cNvPr id="9" name="Rounded Rectangle 8"/>
          <p:cNvSpPr/>
          <p:nvPr/>
        </p:nvSpPr>
        <p:spPr>
          <a:xfrm>
            <a:off x="457200" y="155448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sidecars + gateway</a:t>
            </a:r>
          </a:p>
          <a:p>
            <a:pPr algn="ctr">
              <a:spcAft>
                <a:spcPts val="400"/>
              </a:spcAft>
            </a:pPr>
            <a:r>
              <a:rPr sz="1000" b="0" i="0">
                <a:solidFill>
                  <a:schemeClr val="bg1"/>
                </a:solidFill>
              </a:rPr>
              <a:t>Expose :15020/stats/prometheus</a:t>
            </a:r>
          </a:p>
        </p:txBody>
      </p:sp>
      <p:sp>
        <p:nvSpPr>
          <p:cNvPr id="10" name="Rounded Rectangle 9"/>
          <p:cNvSpPr/>
          <p:nvPr/>
        </p:nvSpPr>
        <p:spPr>
          <a:xfrm>
            <a:off x="2880360" y="155448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Prometheus scrape</a:t>
            </a:r>
          </a:p>
          <a:p>
            <a:pPr algn="ctr">
              <a:spcAft>
                <a:spcPts val="400"/>
              </a:spcAft>
            </a:pPr>
            <a:r>
              <a:rPr sz="1000" b="0" i="0">
                <a:solidFill>
                  <a:schemeClr val="bg1"/>
                </a:solidFill>
              </a:rPr>
              <a:t>Targets from PodMonitor / ServiceMonitor, every 15 s</a:t>
            </a:r>
          </a:p>
        </p:txBody>
      </p:sp>
      <p:sp>
        <p:nvSpPr>
          <p:cNvPr id="11" name="Rounded Rectangle 10"/>
          <p:cNvSpPr/>
          <p:nvPr/>
        </p:nvSpPr>
        <p:spPr>
          <a:xfrm>
            <a:off x="7635240" y="155448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Prometheus TSDB</a:t>
            </a:r>
          </a:p>
          <a:p>
            <a:pPr algn="ctr">
              <a:spcAft>
                <a:spcPts val="400"/>
              </a:spcAft>
            </a:pPr>
            <a:r>
              <a:rPr sz="1000" b="0" i="0">
                <a:solidFill>
                  <a:schemeClr val="bg1"/>
                </a:solidFill>
              </a:rPr>
              <a:t>10 Gi PV, 2 days</a:t>
            </a:r>
          </a:p>
        </p:txBody>
      </p:sp>
      <p:cxnSp>
        <p:nvCxnSpPr>
          <p:cNvPr id="12" name="Connector 11"/>
          <p:cNvCxnSpPr/>
          <p:nvPr/>
        </p:nvCxnSpPr>
        <p:spPr>
          <a:xfrm>
            <a:off x="237744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400300" y="1709928"/>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PULL</a:t>
            </a:r>
          </a:p>
        </p:txBody>
      </p:sp>
      <p:cxnSp>
        <p:nvCxnSpPr>
          <p:cNvPr id="14" name="Connector 13"/>
          <p:cNvCxnSpPr/>
          <p:nvPr/>
        </p:nvCxnSpPr>
        <p:spPr>
          <a:xfrm>
            <a:off x="9418320" y="201168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464040" y="170992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16" name="Rounded Rectangle 15"/>
          <p:cNvSpPr/>
          <p:nvPr/>
        </p:nvSpPr>
        <p:spPr>
          <a:xfrm>
            <a:off x="457200" y="278892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 app OTel agent</a:t>
            </a:r>
          </a:p>
          <a:p>
            <a:pPr algn="ctr">
              <a:spcAft>
                <a:spcPts val="400"/>
              </a:spcAft>
            </a:pPr>
            <a:r>
              <a:rPr sz="1000" b="0" i="0">
                <a:solidFill>
                  <a:schemeClr val="bg1"/>
                </a:solidFill>
              </a:rPr>
              <a:t>Spans; traceparent + baggage</a:t>
            </a:r>
          </a:p>
        </p:txBody>
      </p:sp>
      <p:sp>
        <p:nvSpPr>
          <p:cNvPr id="17" name="Rounded Rectangle 16"/>
          <p:cNvSpPr/>
          <p:nvPr/>
        </p:nvSpPr>
        <p:spPr>
          <a:xfrm>
            <a:off x="2880360" y="278892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OTLP receiver</a:t>
            </a:r>
          </a:p>
          <a:p>
            <a:pPr algn="ctr">
              <a:spcAft>
                <a:spcPts val="400"/>
              </a:spcAft>
            </a:pPr>
            <a:r>
              <a:rPr sz="1000" b="0" i="0">
                <a:solidFill>
                  <a:schemeClr val="bg1"/>
                </a:solidFill>
              </a:rPr>
              <a:t>Envoy gRPC :4317, apps HTTP :4318</a:t>
            </a:r>
          </a:p>
        </p:txBody>
      </p:sp>
      <p:sp>
        <p:nvSpPr>
          <p:cNvPr id="18" name="Rounded Rectangle 17"/>
          <p:cNvSpPr/>
          <p:nvPr/>
        </p:nvSpPr>
        <p:spPr>
          <a:xfrm>
            <a:off x="7635240" y="278892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Tempo</a:t>
            </a:r>
          </a:p>
          <a:p>
            <a:pPr algn="ctr">
              <a:spcAft>
                <a:spcPts val="400"/>
              </a:spcAft>
            </a:pPr>
            <a:r>
              <a:rPr sz="1000" b="0" i="0">
                <a:solidFill>
                  <a:schemeClr val="bg1"/>
                </a:solidFill>
              </a:rPr>
              <a:t>vParquet4 blocks, 14 days</a:t>
            </a:r>
          </a:p>
        </p:txBody>
      </p:sp>
      <p:cxnSp>
        <p:nvCxnSpPr>
          <p:cNvPr id="19" name="Connector 18"/>
          <p:cNvCxnSpPr/>
          <p:nvPr/>
        </p:nvCxnSpPr>
        <p:spPr>
          <a:xfrm>
            <a:off x="237744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400300" y="294436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21" name="Connector 20"/>
          <p:cNvCxnSpPr/>
          <p:nvPr/>
        </p:nvCxnSpPr>
        <p:spPr>
          <a:xfrm>
            <a:off x="9418320" y="324612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64040" y="294436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23" name="Rounded Rectangle 22"/>
          <p:cNvSpPr/>
          <p:nvPr/>
        </p:nvSpPr>
        <p:spPr>
          <a:xfrm>
            <a:off x="457200" y="402336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access log</a:t>
            </a:r>
          </a:p>
          <a:p>
            <a:pPr algn="ctr">
              <a:spcAft>
                <a:spcPts val="400"/>
              </a:spcAft>
            </a:pPr>
            <a:r>
              <a:rPr sz="1000" b="0" i="0">
                <a:solidFill>
                  <a:schemeClr val="bg1"/>
                </a:solidFill>
              </a:rPr>
              <a:t>Every request, response flags</a:t>
            </a:r>
          </a:p>
        </p:txBody>
      </p:sp>
      <p:sp>
        <p:nvSpPr>
          <p:cNvPr id="24" name="Rounded Rectangle 23"/>
          <p:cNvSpPr/>
          <p:nvPr/>
        </p:nvSpPr>
        <p:spPr>
          <a:xfrm>
            <a:off x="2880360" y="402336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OTLP receiver</a:t>
            </a:r>
          </a:p>
          <a:p>
            <a:pPr algn="ctr">
              <a:spcAft>
                <a:spcPts val="400"/>
              </a:spcAft>
            </a:pPr>
            <a:r>
              <a:rPr sz="1000" b="0" i="0">
                <a:solidFill>
                  <a:schemeClr val="bg1"/>
                </a:solidFill>
              </a:rPr>
              <a:t>Envoy access-log sink, gRPC :4317</a:t>
            </a:r>
          </a:p>
        </p:txBody>
      </p:sp>
      <p:sp>
        <p:nvSpPr>
          <p:cNvPr id="25" name="Rounded Rectangle 24"/>
          <p:cNvSpPr/>
          <p:nvPr/>
        </p:nvSpPr>
        <p:spPr>
          <a:xfrm>
            <a:off x="7635240" y="402336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Loki</a:t>
            </a:r>
          </a:p>
          <a:p>
            <a:pPr algn="ctr">
              <a:spcAft>
                <a:spcPts val="400"/>
              </a:spcAft>
            </a:pPr>
            <a:r>
              <a:rPr sz="1000" b="0" i="0">
                <a:solidFill>
                  <a:schemeClr val="bg1"/>
                </a:solidFill>
              </a:rPr>
              <a:t>Chunks + index, 48 h</a:t>
            </a:r>
          </a:p>
        </p:txBody>
      </p:sp>
      <p:cxnSp>
        <p:nvCxnSpPr>
          <p:cNvPr id="26" name="Connector 25"/>
          <p:cNvCxnSpPr/>
          <p:nvPr/>
        </p:nvCxnSpPr>
        <p:spPr>
          <a:xfrm>
            <a:off x="237744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2400300" y="417880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28" name="Connector 27"/>
          <p:cNvCxnSpPr/>
          <p:nvPr/>
        </p:nvCxnSpPr>
        <p:spPr>
          <a:xfrm>
            <a:off x="9418320" y="448056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464040" y="417880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30" name="Rounded Rectangle 29"/>
          <p:cNvSpPr/>
          <p:nvPr/>
        </p:nvSpPr>
        <p:spPr>
          <a:xfrm>
            <a:off x="5303520" y="1554480"/>
            <a:ext cx="182880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Rule evaluation</a:t>
            </a:r>
          </a:p>
          <a:p>
            <a:pPr algn="ctr">
              <a:spcAft>
                <a:spcPts val="400"/>
              </a:spcAft>
            </a:pPr>
            <a:r>
              <a:rPr sz="1000" b="1" i="0">
                <a:solidFill>
                  <a:schemeClr val="bg1"/>
                </a:solidFill>
              </a:rPr>
              <a:t>Inside Prometheus: 5 alert rules, every 15 s</a:t>
            </a:r>
          </a:p>
        </p:txBody>
      </p:sp>
      <p:sp>
        <p:nvSpPr>
          <p:cNvPr id="31" name="Rounded Rectangle 30"/>
          <p:cNvSpPr/>
          <p:nvPr/>
        </p:nvSpPr>
        <p:spPr>
          <a:xfrm>
            <a:off x="5303520" y="2788920"/>
            <a:ext cx="1828800" cy="21488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OTel Collector</a:t>
            </a:r>
          </a:p>
          <a:p>
            <a:pPr algn="ctr">
              <a:spcAft>
                <a:spcPts val="400"/>
              </a:spcAft>
            </a:pPr>
            <a:r>
              <a:rPr sz="1000" b="1" i="0">
                <a:solidFill>
                  <a:schemeClr val="bg1"/>
                </a:solidFill>
              </a:rPr>
              <a:t>Journey tagging</a:t>
            </a:r>
          </a:p>
          <a:p>
            <a:pPr algn="ctr">
              <a:spcAft>
                <a:spcPts val="400"/>
              </a:spcAft>
            </a:pPr>
            <a:r>
              <a:rPr sz="1000" b="1" i="0">
                <a:solidFill>
                  <a:schemeClr val="bg1"/>
                </a:solidFill>
              </a:rPr>
              <a:t>Tail sampling (traces)</a:t>
            </a:r>
          </a:p>
          <a:p>
            <a:pPr algn="ctr">
              <a:spcAft>
                <a:spcPts val="400"/>
              </a:spcAft>
            </a:pPr>
            <a:r>
              <a:rPr sz="1000" b="1" i="0">
                <a:solidFill>
                  <a:schemeClr val="bg1"/>
                </a:solidFill>
              </a:rPr>
              <a:t>Batching, routing</a:t>
            </a:r>
          </a:p>
        </p:txBody>
      </p:sp>
      <p:cxnSp>
        <p:nvCxnSpPr>
          <p:cNvPr id="32" name="Connector 31"/>
          <p:cNvCxnSpPr/>
          <p:nvPr/>
        </p:nvCxnSpPr>
        <p:spPr>
          <a:xfrm>
            <a:off x="480060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13232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80060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4823460" y="294436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36" name="Connector 35"/>
          <p:cNvCxnSpPr/>
          <p:nvPr/>
        </p:nvCxnSpPr>
        <p:spPr>
          <a:xfrm>
            <a:off x="713232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7155179" y="294436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38" name="Connector 37"/>
          <p:cNvCxnSpPr/>
          <p:nvPr/>
        </p:nvCxnSpPr>
        <p:spPr>
          <a:xfrm>
            <a:off x="480060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4823460" y="417880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40" name="Connector 39"/>
          <p:cNvCxnSpPr/>
          <p:nvPr/>
        </p:nvCxnSpPr>
        <p:spPr>
          <a:xfrm>
            <a:off x="713232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7155179" y="417880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sp>
        <p:nvSpPr>
          <p:cNvPr id="42" name="Rounded Rectangle 41"/>
          <p:cNvSpPr/>
          <p:nvPr/>
        </p:nvSpPr>
        <p:spPr>
          <a:xfrm>
            <a:off x="9966960" y="160020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Kiali</a:t>
            </a:r>
          </a:p>
          <a:p>
            <a:pPr algn="ctr">
              <a:spcAft>
                <a:spcPts val="400"/>
              </a:spcAft>
            </a:pPr>
            <a:r>
              <a:rPr sz="1000" b="0" i="0">
                <a:solidFill>
                  <a:schemeClr val="tx1"/>
                </a:solidFill>
              </a:rPr>
              <a:t>Metrics + traces</a:t>
            </a:r>
          </a:p>
        </p:txBody>
      </p:sp>
      <p:sp>
        <p:nvSpPr>
          <p:cNvPr id="43" name="Rounded Rectangle 42"/>
          <p:cNvSpPr/>
          <p:nvPr/>
        </p:nvSpPr>
        <p:spPr>
          <a:xfrm>
            <a:off x="9966960" y="283464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Grafana</a:t>
            </a:r>
          </a:p>
          <a:p>
            <a:pPr algn="ctr">
              <a:spcAft>
                <a:spcPts val="400"/>
              </a:spcAft>
            </a:pPr>
            <a:r>
              <a:rPr sz="1000" b="0" i="0">
                <a:solidFill>
                  <a:schemeClr val="tx1"/>
                </a:solidFill>
              </a:rPr>
              <a:t>All three signals</a:t>
            </a:r>
          </a:p>
        </p:txBody>
      </p:sp>
      <p:sp>
        <p:nvSpPr>
          <p:cNvPr id="44" name="Rounded Rectangle 43"/>
          <p:cNvSpPr/>
          <p:nvPr/>
        </p:nvSpPr>
        <p:spPr>
          <a:xfrm>
            <a:off x="9966960" y="406908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Red-dot dashboard</a:t>
            </a:r>
          </a:p>
          <a:p>
            <a:pPr algn="ctr">
              <a:spcAft>
                <a:spcPts val="400"/>
              </a:spcAft>
            </a:pPr>
            <a:r>
              <a:rPr sz="1000" b="0" i="0">
                <a:solidFill>
                  <a:schemeClr val="tx1"/>
                </a:solidFill>
              </a:rPr>
              <a:t>All three + alerts</a:t>
            </a:r>
          </a:p>
        </p:txBody>
      </p:sp>
      <p:sp>
        <p:nvSpPr>
          <p:cNvPr id="45" name="Rounded Rectangle 44"/>
          <p:cNvSpPr/>
          <p:nvPr/>
        </p:nvSpPr>
        <p:spPr>
          <a:xfrm>
            <a:off x="9966960" y="5074920"/>
            <a:ext cx="1737360" cy="64008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Alertmanager</a:t>
            </a:r>
          </a:p>
          <a:p>
            <a:pPr algn="ctr">
              <a:spcAft>
                <a:spcPts val="400"/>
              </a:spcAft>
            </a:pPr>
            <a:r>
              <a:rPr sz="1000" b="0" i="0">
                <a:solidFill>
                  <a:schemeClr val="tx1"/>
                </a:solidFill>
              </a:rPr>
              <a:t>Alerts pushed by the rules</a:t>
            </a:r>
          </a:p>
        </p:txBody>
      </p:sp>
      <p:sp>
        <p:nvSpPr>
          <p:cNvPr id="46" name="Rounded Rectangle 45"/>
          <p:cNvSpPr/>
          <p:nvPr/>
        </p:nvSpPr>
        <p:spPr>
          <a:xfrm>
            <a:off x="484632" y="5888736"/>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sp>
        <p:nvSpPr>
          <p:cNvPr id="47" name="TextBox 46"/>
          <p:cNvSpPr txBox="1"/>
          <p:nvPr/>
        </p:nvSpPr>
        <p:spPr>
          <a:xfrm>
            <a:off x="1051560" y="587044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sender opens the connection and sends (OTLP)</a:t>
            </a:r>
          </a:p>
        </p:txBody>
      </p:sp>
      <p:sp>
        <p:nvSpPr>
          <p:cNvPr id="48" name="Rounded Rectangle 47"/>
          <p:cNvSpPr/>
          <p:nvPr/>
        </p:nvSpPr>
        <p:spPr>
          <a:xfrm>
            <a:off x="4233672" y="5888736"/>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PULL</a:t>
            </a:r>
          </a:p>
        </p:txBody>
      </p:sp>
      <p:sp>
        <p:nvSpPr>
          <p:cNvPr id="49" name="TextBox 48"/>
          <p:cNvSpPr txBox="1"/>
          <p:nvPr/>
        </p:nvSpPr>
        <p:spPr>
          <a:xfrm>
            <a:off x="4800600" y="587044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Prometheus opens the connection and scrapes</a:t>
            </a:r>
          </a:p>
        </p:txBody>
      </p:sp>
      <p:sp>
        <p:nvSpPr>
          <p:cNvPr id="50" name="Rounded Rectangle 49"/>
          <p:cNvSpPr/>
          <p:nvPr/>
        </p:nvSpPr>
        <p:spPr>
          <a:xfrm>
            <a:off x="7982711" y="5888736"/>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51" name="TextBox 50"/>
          <p:cNvSpPr txBox="1"/>
          <p:nvPr/>
        </p:nvSpPr>
        <p:spPr>
          <a:xfrm>
            <a:off x="8549640" y="587044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a view asks the store on demand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Metrics: how Prometheus finds and scrapes every sidecar</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Oval 3"/>
          <p:cNvSpPr/>
          <p:nvPr/>
        </p:nvSpPr>
        <p:spPr>
          <a:xfrm>
            <a:off x="457200" y="132588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1</a:t>
            </a:r>
          </a:p>
        </p:txBody>
      </p:sp>
      <p:sp>
        <p:nvSpPr>
          <p:cNvPr id="5" name="TextBox 4"/>
          <p:cNvSpPr txBox="1"/>
          <p:nvPr/>
        </p:nvSpPr>
        <p:spPr>
          <a:xfrm>
            <a:off x="1005840" y="1280160"/>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PodMonitor / ServiceMonitor CRs</a:t>
            </a:r>
          </a:p>
        </p:txBody>
      </p:sp>
      <p:sp>
        <p:nvSpPr>
          <p:cNvPr id="6" name="TextBox 5"/>
          <p:cNvSpPr txBox="1"/>
          <p:nvPr/>
        </p:nvSpPr>
        <p:spPr>
          <a:xfrm>
            <a:off x="1005840" y="1609343"/>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Declare what to scrape: every pod with an istio-proxy container (one PodMonitor per mesh namespace) and the istiod Service.</a:t>
            </a:r>
          </a:p>
        </p:txBody>
      </p:sp>
      <p:cxnSp>
        <p:nvCxnSpPr>
          <p:cNvPr id="7" name="Connector 6"/>
          <p:cNvCxnSpPr/>
          <p:nvPr/>
        </p:nvCxnSpPr>
        <p:spPr>
          <a:xfrm>
            <a:off x="649224" y="1737360"/>
            <a:ext cx="0" cy="512064"/>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57200" y="2267711"/>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2</a:t>
            </a:r>
          </a:p>
        </p:txBody>
      </p:sp>
      <p:sp>
        <p:nvSpPr>
          <p:cNvPr id="9" name="TextBox 8"/>
          <p:cNvSpPr txBox="1"/>
          <p:nvPr/>
        </p:nvSpPr>
        <p:spPr>
          <a:xfrm>
            <a:off x="1005840" y="2221991"/>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Prometheus Operator</a:t>
            </a:r>
          </a:p>
        </p:txBody>
      </p:sp>
      <p:sp>
        <p:nvSpPr>
          <p:cNvPr id="10" name="TextBox 9"/>
          <p:cNvSpPr txBox="1"/>
          <p:nvPr/>
        </p:nvSpPr>
        <p:spPr>
          <a:xfrm>
            <a:off x="1005840" y="2551175"/>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Watches the CRs and generates the Prometheus scrape configuration. Nobody edits prometheus.yml.</a:t>
            </a:r>
          </a:p>
        </p:txBody>
      </p:sp>
      <p:cxnSp>
        <p:nvCxnSpPr>
          <p:cNvPr id="11" name="Connector 10"/>
          <p:cNvCxnSpPr/>
          <p:nvPr/>
        </p:nvCxnSpPr>
        <p:spPr>
          <a:xfrm>
            <a:off x="649224" y="2679191"/>
            <a:ext cx="0" cy="512065"/>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457200" y="3209544"/>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3</a:t>
            </a:r>
          </a:p>
        </p:txBody>
      </p:sp>
      <p:sp>
        <p:nvSpPr>
          <p:cNvPr id="13" name="TextBox 12"/>
          <p:cNvSpPr txBox="1"/>
          <p:nvPr/>
        </p:nvSpPr>
        <p:spPr>
          <a:xfrm>
            <a:off x="1005840" y="3163824"/>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Kubernetes service discovery</a:t>
            </a:r>
          </a:p>
        </p:txBody>
      </p:sp>
      <p:sp>
        <p:nvSpPr>
          <p:cNvPr id="14" name="TextBox 13"/>
          <p:cNvSpPr txBox="1"/>
          <p:nvPr/>
        </p:nvSpPr>
        <p:spPr>
          <a:xfrm>
            <a:off x="1005840" y="3493008"/>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Prometheus lists pods through the Kubernetes API. Relabeling keeps istio-proxy and reads the prometheus.io/port annotation.</a:t>
            </a:r>
          </a:p>
        </p:txBody>
      </p:sp>
      <p:cxnSp>
        <p:nvCxnSpPr>
          <p:cNvPr id="15" name="Connector 14"/>
          <p:cNvCxnSpPr/>
          <p:nvPr/>
        </p:nvCxnSpPr>
        <p:spPr>
          <a:xfrm>
            <a:off x="649224" y="3621024"/>
            <a:ext cx="0" cy="512063"/>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57200" y="4151376"/>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4</a:t>
            </a:r>
          </a:p>
        </p:txBody>
      </p:sp>
      <p:sp>
        <p:nvSpPr>
          <p:cNvPr id="17" name="TextBox 16"/>
          <p:cNvSpPr txBox="1"/>
          <p:nvPr/>
        </p:nvSpPr>
        <p:spPr>
          <a:xfrm>
            <a:off x="1005840" y="4105656"/>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Scrape every 15 s</a:t>
            </a:r>
          </a:p>
        </p:txBody>
      </p:sp>
      <p:sp>
        <p:nvSpPr>
          <p:cNvPr id="18" name="TextBox 17"/>
          <p:cNvSpPr txBox="1"/>
          <p:nvPr/>
        </p:nvSpPr>
        <p:spPr>
          <a:xfrm>
            <a:off x="1005840" y="4434840"/>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HTTP GET :15020/stats/prometheus on each sidecar: request counts, status codes, flags and latency histograms per hop.</a:t>
            </a:r>
          </a:p>
        </p:txBody>
      </p:sp>
      <p:cxnSp>
        <p:nvCxnSpPr>
          <p:cNvPr id="19" name="Connector 18"/>
          <p:cNvCxnSpPr/>
          <p:nvPr/>
        </p:nvCxnSpPr>
        <p:spPr>
          <a:xfrm>
            <a:off x="649224" y="4562856"/>
            <a:ext cx="0" cy="512064"/>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5093207"/>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5</a:t>
            </a:r>
          </a:p>
        </p:txBody>
      </p:sp>
      <p:sp>
        <p:nvSpPr>
          <p:cNvPr id="21" name="TextBox 20"/>
          <p:cNvSpPr txBox="1"/>
          <p:nvPr/>
        </p:nvSpPr>
        <p:spPr>
          <a:xfrm>
            <a:off x="1005840" y="5047488"/>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Store, evaluate, alert</a:t>
            </a:r>
          </a:p>
        </p:txBody>
      </p:sp>
      <p:sp>
        <p:nvSpPr>
          <p:cNvPr id="22" name="TextBox 21"/>
          <p:cNvSpPr txBox="1"/>
          <p:nvPr/>
        </p:nvSpPr>
        <p:spPr>
          <a:xfrm>
            <a:off x="1005840" y="5376672"/>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Samples go to the TSDB; alert rules run every 15 s; firing alerts go to Alertmanager. Views query with PromQL.</a:t>
            </a:r>
          </a:p>
        </p:txBody>
      </p:sp>
      <p:sp>
        <p:nvSpPr>
          <p:cNvPr id="23" name="Rounded Rectangle 22"/>
          <p:cNvSpPr/>
          <p:nvPr/>
        </p:nvSpPr>
        <p:spPr>
          <a:xfrm>
            <a:off x="6766560" y="1280160"/>
            <a:ext cx="4937760" cy="16002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400"/>
              </a:spcAft>
            </a:pPr>
            <a:r>
              <a:rPr sz="1300" b="1" i="0">
                <a:solidFill>
                  <a:schemeClr val="tx1"/>
                </a:solidFill>
              </a:rPr>
              <a:t>PodMonitor for sidecars, ServiceMonitor for istiod</a:t>
            </a:r>
          </a:p>
          <a:p>
            <a:pPr algn="l">
              <a:spcAft>
                <a:spcPts val="400"/>
              </a:spcAft>
            </a:pPr>
            <a:r>
              <a:rPr sz="1150" b="0" i="0">
                <a:solidFill>
                  <a:schemeClr val="tx2"/>
                </a:solidFill>
              </a:rPr>
              <a:t>A ServiceMonitor scrapes the endpoints behind a Service. Sidecar metrics belong to each pod, not to one Service port, so we select pods. istiod has a monitoring Service (port 15014).</a:t>
            </a:r>
          </a:p>
        </p:txBody>
      </p:sp>
      <p:sp>
        <p:nvSpPr>
          <p:cNvPr id="24" name="Rounded Rectangle 23"/>
          <p:cNvSpPr/>
          <p:nvPr/>
        </p:nvSpPr>
        <p:spPr>
          <a:xfrm>
            <a:off x="6766560" y="3017520"/>
            <a:ext cx="4937760" cy="19659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100"/>
              </a:spcAft>
            </a:pPr>
            <a:r>
              <a:rPr sz="1300" b="1" i="0">
                <a:solidFill>
                  <a:schemeClr val="bg1"/>
                </a:solidFill>
              </a:rPr>
              <a:t>One sample, every label we need</a:t>
            </a:r>
          </a:p>
          <a:p>
            <a:pPr algn="l">
              <a:spcAft>
                <a:spcPts val="100"/>
              </a:spcAft>
            </a:pPr>
            <a:r>
              <a:rPr sz="1100" b="0" i="0">
                <a:solidFill>
                  <a:schemeClr val="bg1"/>
                </a:solidFill>
                <a:latin typeface="Courier New"/>
              </a:rPr>
              <a:t>istio_requests_total{</a:t>
            </a:r>
          </a:p>
          <a:p>
            <a:pPr algn="l">
              <a:spcAft>
                <a:spcPts val="100"/>
              </a:spcAft>
            </a:pPr>
            <a:r>
              <a:rPr sz="1100" b="0" i="0">
                <a:solidFill>
                  <a:schemeClr val="bg1"/>
                </a:solidFill>
                <a:latin typeface="Courier New"/>
              </a:rPr>
              <a:t>  source_workload="payments-svc",</a:t>
            </a:r>
          </a:p>
          <a:p>
            <a:pPr algn="l">
              <a:spcAft>
                <a:spcPts val="100"/>
              </a:spcAft>
            </a:pPr>
            <a:r>
              <a:rPr sz="1100" b="0" i="0">
                <a:solidFill>
                  <a:schemeClr val="bg1"/>
                </a:solidFill>
                <a:latin typeface="Courier New"/>
              </a:rPr>
              <a:t>  destination_service_name="core-banking",</a:t>
            </a:r>
          </a:p>
          <a:p>
            <a:pPr algn="l">
              <a:spcAft>
                <a:spcPts val="100"/>
              </a:spcAft>
            </a:pPr>
            <a:r>
              <a:rPr sz="1100" b="0" i="0">
                <a:solidFill>
                  <a:schemeClr val="bg1"/>
                </a:solidFill>
                <a:latin typeface="Courier New"/>
              </a:rPr>
              <a:t>  response_code="504", response_flags="UT",</a:t>
            </a:r>
          </a:p>
          <a:p>
            <a:pPr algn="l">
              <a:spcAft>
                <a:spcPts val="100"/>
              </a:spcAft>
            </a:pPr>
            <a:r>
              <a:rPr sz="1100" b="0" i="0">
                <a:solidFill>
                  <a:schemeClr val="bg1"/>
                </a:solidFill>
                <a:latin typeface="Courier New"/>
              </a:rPr>
              <a:t>  journey="fund-transfer", channel="mobile"}</a:t>
            </a:r>
          </a:p>
        </p:txBody>
      </p:sp>
      <p:sp>
        <p:nvSpPr>
          <p:cNvPr id="25" name="Rounded Rectangle 24"/>
          <p:cNvSpPr/>
          <p:nvPr/>
        </p:nvSpPr>
        <p:spPr>
          <a:xfrm>
            <a:off x="6766560" y="5120640"/>
            <a:ext cx="4937760" cy="868680"/>
          </a:xfrm>
          <a:prstGeom prst="roundRect">
            <a:avLst>
              <a:gd name="adj" fmla="val 8000"/>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8755" bIns="98755"/>
          <a:lstStyle/>
          <a:p>
            <a:pPr algn="l">
              <a:spcAft>
                <a:spcPts val="400"/>
              </a:spcAft>
            </a:pPr>
            <a:r>
              <a:rPr sz="1150" b="1" i="0">
                <a:solidFill>
                  <a:schemeClr val="tx1"/>
                </a:solidFill>
              </a:rPr>
              <a:t>OpenShift: </a:t>
            </a:r>
            <a:r>
              <a:rPr sz="1150" b="0" i="0">
                <a:solidFill>
                  <a:schemeClr val="tx1"/>
                </a:solidFill>
              </a:rPr>
              <a:t>user workload monitoring runs this Prometheus; Kiali and dashboards query Thanos Querier on port 9091 with a token.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Inside the OpenTelemetry Collector</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2194560" cy="274320"/>
          </a:xfrm>
          <a:prstGeom prst="rect">
            <a:avLst/>
          </a:prstGeom>
          <a:noFill/>
        </p:spPr>
        <p:txBody>
          <a:bodyPr wrap="square" lIns="0" rIns="0" tIns="0" bIns="0" anchor="t">
            <a:spAutoFit/>
          </a:bodyPr>
          <a:lstStyle/>
          <a:p>
            <a:pPr algn="l">
              <a:spcAft>
                <a:spcPts val="400"/>
              </a:spcAft>
            </a:pPr>
            <a:r>
              <a:rPr sz="1100" b="1" i="0">
                <a:solidFill>
                  <a:schemeClr val="tx2"/>
                </a:solidFill>
              </a:rPr>
              <a:t>RECEIVER</a:t>
            </a:r>
          </a:p>
        </p:txBody>
      </p:sp>
      <p:sp>
        <p:nvSpPr>
          <p:cNvPr id="5" name="TextBox 4"/>
          <p:cNvSpPr txBox="1"/>
          <p:nvPr/>
        </p:nvSpPr>
        <p:spPr>
          <a:xfrm>
            <a:off x="2926080" y="1188720"/>
            <a:ext cx="6035040" cy="274320"/>
          </a:xfrm>
          <a:prstGeom prst="rect">
            <a:avLst/>
          </a:prstGeom>
          <a:noFill/>
        </p:spPr>
        <p:txBody>
          <a:bodyPr wrap="square" lIns="0" rIns="0" tIns="0" bIns="0" anchor="t">
            <a:spAutoFit/>
          </a:bodyPr>
          <a:lstStyle/>
          <a:p>
            <a:pPr algn="l">
              <a:spcAft>
                <a:spcPts val="400"/>
              </a:spcAft>
            </a:pPr>
            <a:r>
              <a:rPr sz="1100" b="1" i="0">
                <a:solidFill>
                  <a:schemeClr val="tx2"/>
                </a:solidFill>
              </a:rPr>
              <a:t>PROCESSORS (in order)</a:t>
            </a:r>
          </a:p>
        </p:txBody>
      </p:sp>
      <p:sp>
        <p:nvSpPr>
          <p:cNvPr id="6" name="TextBox 5"/>
          <p:cNvSpPr txBox="1"/>
          <p:nvPr/>
        </p:nvSpPr>
        <p:spPr>
          <a:xfrm>
            <a:off x="9372600" y="1188720"/>
            <a:ext cx="2331720" cy="274320"/>
          </a:xfrm>
          <a:prstGeom prst="rect">
            <a:avLst/>
          </a:prstGeom>
          <a:noFill/>
        </p:spPr>
        <p:txBody>
          <a:bodyPr wrap="square" lIns="0" rIns="0" tIns="0" bIns="0" anchor="t">
            <a:spAutoFit/>
          </a:bodyPr>
          <a:lstStyle/>
          <a:p>
            <a:pPr algn="l">
              <a:spcAft>
                <a:spcPts val="400"/>
              </a:spcAft>
            </a:pPr>
            <a:r>
              <a:rPr sz="1100" b="1" i="0">
                <a:solidFill>
                  <a:schemeClr val="tx2"/>
                </a:solidFill>
              </a:rPr>
              <a:t>EXPORTERS</a:t>
            </a:r>
          </a:p>
        </p:txBody>
      </p:sp>
      <p:sp>
        <p:nvSpPr>
          <p:cNvPr id="7" name="Rounded Rectangle 6"/>
          <p:cNvSpPr/>
          <p:nvPr/>
        </p:nvSpPr>
        <p:spPr>
          <a:xfrm>
            <a:off x="457200" y="1554480"/>
            <a:ext cx="2194560" cy="233172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400" b="1" i="0">
                <a:solidFill>
                  <a:schemeClr val="bg1"/>
                </a:solidFill>
              </a:rPr>
              <a:t>otlp</a:t>
            </a:r>
          </a:p>
          <a:p>
            <a:pPr algn="ctr">
              <a:spcAft>
                <a:spcPts val="400"/>
              </a:spcAft>
            </a:pPr>
            <a:r>
              <a:rPr sz="1100" b="0" i="0">
                <a:solidFill>
                  <a:schemeClr val="bg1"/>
                </a:solidFill>
              </a:rPr>
              <a:t>gRPC :4317</a:t>
            </a:r>
          </a:p>
          <a:p>
            <a:pPr algn="ctr">
              <a:spcAft>
                <a:spcPts val="400"/>
              </a:spcAft>
            </a:pPr>
            <a:r>
              <a:rPr sz="1050" b="0" i="0">
                <a:solidFill>
                  <a:schemeClr val="bg1"/>
                </a:solidFill>
              </a:rPr>
              <a:t>Envoy spans + access logs</a:t>
            </a:r>
          </a:p>
          <a:p>
            <a:pPr algn="ctr">
              <a:spcAft>
                <a:spcPts val="400"/>
              </a:spcAft>
            </a:pPr>
            <a:r>
              <a:rPr sz="1100" b="0" i="0">
                <a:solidFill>
                  <a:schemeClr val="bg1"/>
                </a:solidFill>
              </a:rPr>
              <a:t>HTTP :4318</a:t>
            </a:r>
          </a:p>
          <a:p>
            <a:pPr algn="ctr">
              <a:spcAft>
                <a:spcPts val="400"/>
              </a:spcAft>
            </a:pPr>
            <a:r>
              <a:rPr sz="1050" b="0" i="0">
                <a:solidFill>
                  <a:schemeClr val="bg1"/>
                </a:solidFill>
              </a:rPr>
              <a:t>app agents</a:t>
            </a:r>
          </a:p>
        </p:txBody>
      </p:sp>
      <p:sp>
        <p:nvSpPr>
          <p:cNvPr id="8" name="TextBox 7"/>
          <p:cNvSpPr txBox="1"/>
          <p:nvPr/>
        </p:nvSpPr>
        <p:spPr>
          <a:xfrm>
            <a:off x="2926080" y="1536192"/>
            <a:ext cx="914400" cy="274320"/>
          </a:xfrm>
          <a:prstGeom prst="rect">
            <a:avLst/>
          </a:prstGeom>
          <a:noFill/>
        </p:spPr>
        <p:txBody>
          <a:bodyPr wrap="square" lIns="0" rIns="0" tIns="0" bIns="0" anchor="t">
            <a:spAutoFit/>
          </a:bodyPr>
          <a:lstStyle/>
          <a:p>
            <a:pPr algn="l">
              <a:spcAft>
                <a:spcPts val="400"/>
              </a:spcAft>
            </a:pPr>
            <a:r>
              <a:rPr sz="1100" b="1" i="1">
                <a:solidFill>
                  <a:schemeClr val="accent1"/>
                </a:solidFill>
              </a:rPr>
              <a:t>traces</a:t>
            </a:r>
          </a:p>
        </p:txBody>
      </p:sp>
      <p:sp>
        <p:nvSpPr>
          <p:cNvPr id="9" name="Rounded Rectangle 8"/>
          <p:cNvSpPr/>
          <p:nvPr/>
        </p:nvSpPr>
        <p:spPr>
          <a:xfrm>
            <a:off x="292608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memory_limiter</a:t>
            </a:r>
          </a:p>
        </p:txBody>
      </p:sp>
      <p:sp>
        <p:nvSpPr>
          <p:cNvPr id="10" name="Rounded Rectangle 9"/>
          <p:cNvSpPr/>
          <p:nvPr/>
        </p:nvSpPr>
        <p:spPr>
          <a:xfrm>
            <a:off x="448056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transform/journey</a:t>
            </a:r>
          </a:p>
        </p:txBody>
      </p:sp>
      <p:cxnSp>
        <p:nvCxnSpPr>
          <p:cNvPr id="11" name="Connector 10"/>
          <p:cNvCxnSpPr/>
          <p:nvPr/>
        </p:nvCxnSpPr>
        <p:spPr>
          <a:xfrm>
            <a:off x="4297680" y="219456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035040" y="1828800"/>
            <a:ext cx="1371600" cy="731520"/>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tail_sampling</a:t>
            </a:r>
          </a:p>
        </p:txBody>
      </p:sp>
      <p:cxnSp>
        <p:nvCxnSpPr>
          <p:cNvPr id="13" name="Connector 12"/>
          <p:cNvCxnSpPr/>
          <p:nvPr/>
        </p:nvCxnSpPr>
        <p:spPr>
          <a:xfrm>
            <a:off x="5852159" y="2194560"/>
            <a:ext cx="182881"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batch</a:t>
            </a:r>
          </a:p>
        </p:txBody>
      </p:sp>
      <p:cxnSp>
        <p:nvCxnSpPr>
          <p:cNvPr id="15" name="Connector 14"/>
          <p:cNvCxnSpPr/>
          <p:nvPr/>
        </p:nvCxnSpPr>
        <p:spPr>
          <a:xfrm>
            <a:off x="7406640" y="219456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61120" y="2194560"/>
            <a:ext cx="4114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372600" y="1828800"/>
            <a:ext cx="233172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otlp to Tempo :4317</a:t>
            </a:r>
          </a:p>
        </p:txBody>
      </p:sp>
      <p:cxnSp>
        <p:nvCxnSpPr>
          <p:cNvPr id="18" name="Connector 17"/>
          <p:cNvCxnSpPr/>
          <p:nvPr/>
        </p:nvCxnSpPr>
        <p:spPr>
          <a:xfrm>
            <a:off x="2651760" y="2194560"/>
            <a:ext cx="2743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926080" y="2862072"/>
            <a:ext cx="914400" cy="274320"/>
          </a:xfrm>
          <a:prstGeom prst="rect">
            <a:avLst/>
          </a:prstGeom>
          <a:noFill/>
        </p:spPr>
        <p:txBody>
          <a:bodyPr wrap="square" lIns="0" rIns="0" tIns="0" bIns="0" anchor="t">
            <a:spAutoFit/>
          </a:bodyPr>
          <a:lstStyle/>
          <a:p>
            <a:pPr algn="l">
              <a:spcAft>
                <a:spcPts val="400"/>
              </a:spcAft>
            </a:pPr>
            <a:r>
              <a:rPr sz="1100" b="1" i="1">
                <a:solidFill>
                  <a:schemeClr val="accent1"/>
                </a:solidFill>
              </a:rPr>
              <a:t>logs</a:t>
            </a:r>
          </a:p>
        </p:txBody>
      </p:sp>
      <p:sp>
        <p:nvSpPr>
          <p:cNvPr id="20" name="Rounded Rectangle 19"/>
          <p:cNvSpPr/>
          <p:nvPr/>
        </p:nvSpPr>
        <p:spPr>
          <a:xfrm>
            <a:off x="292608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memory_limiter</a:t>
            </a:r>
          </a:p>
        </p:txBody>
      </p:sp>
      <p:sp>
        <p:nvSpPr>
          <p:cNvPr id="21" name="Rounded Rectangle 20"/>
          <p:cNvSpPr/>
          <p:nvPr/>
        </p:nvSpPr>
        <p:spPr>
          <a:xfrm>
            <a:off x="448056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transform/journey</a:t>
            </a:r>
          </a:p>
        </p:txBody>
      </p:sp>
      <p:cxnSp>
        <p:nvCxnSpPr>
          <p:cNvPr id="22" name="Connector 21"/>
          <p:cNvCxnSpPr/>
          <p:nvPr/>
        </p:nvCxnSpPr>
        <p:spPr>
          <a:xfrm>
            <a:off x="4297680" y="3520439"/>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03504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batch</a:t>
            </a:r>
          </a:p>
        </p:txBody>
      </p:sp>
      <p:cxnSp>
        <p:nvCxnSpPr>
          <p:cNvPr id="24" name="Connector 23"/>
          <p:cNvCxnSpPr/>
          <p:nvPr/>
        </p:nvCxnSpPr>
        <p:spPr>
          <a:xfrm>
            <a:off x="5852159" y="3520439"/>
            <a:ext cx="182881"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06640" y="3520439"/>
            <a:ext cx="196596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372600" y="3154679"/>
            <a:ext cx="233172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otlphttp to Loki /otlp</a:t>
            </a:r>
          </a:p>
        </p:txBody>
      </p:sp>
      <p:cxnSp>
        <p:nvCxnSpPr>
          <p:cNvPr id="27" name="Connector 26"/>
          <p:cNvCxnSpPr/>
          <p:nvPr/>
        </p:nvCxnSpPr>
        <p:spPr>
          <a:xfrm>
            <a:off x="2651760" y="3520439"/>
            <a:ext cx="2743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5720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memory_limiter</a:t>
            </a:r>
          </a:p>
          <a:p>
            <a:pPr algn="l">
              <a:spcAft>
                <a:spcPts val="400"/>
              </a:spcAft>
            </a:pPr>
            <a:r>
              <a:rPr sz="1150" b="0" i="0">
                <a:solidFill>
                  <a:schemeClr val="tx2"/>
                </a:solidFill>
              </a:rPr>
              <a:t>Refuses data at 80% of the memory limit, so a burst slows senders instead of crashing the collector.</a:t>
            </a:r>
          </a:p>
        </p:txBody>
      </p:sp>
      <p:sp>
        <p:nvSpPr>
          <p:cNvPr id="29" name="Rounded Rectangle 28"/>
          <p:cNvSpPr/>
          <p:nvPr/>
        </p:nvSpPr>
        <p:spPr>
          <a:xfrm>
            <a:off x="329184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transform/journey</a:t>
            </a:r>
          </a:p>
          <a:p>
            <a:pPr algn="l">
              <a:spcAft>
                <a:spcPts val="400"/>
              </a:spcAft>
            </a:pPr>
            <a:r>
              <a:rPr sz="1150" b="0" i="0">
                <a:solidFill>
                  <a:schemeClr val="tx2"/>
                </a:solidFill>
              </a:rPr>
              <a:t>OTTL extracts journey and channel from the W3C baggage tag (fixed list only) and names the Loki stream after the workload.</a:t>
            </a:r>
          </a:p>
        </p:txBody>
      </p:sp>
      <p:sp>
        <p:nvSpPr>
          <p:cNvPr id="30" name="Rounded Rectangle 29"/>
          <p:cNvSpPr/>
          <p:nvPr/>
        </p:nvSpPr>
        <p:spPr>
          <a:xfrm>
            <a:off x="612648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tail_sampling</a:t>
            </a:r>
          </a:p>
          <a:p>
            <a:pPr algn="l">
              <a:spcAft>
                <a:spcPts val="400"/>
              </a:spcAft>
            </a:pPr>
            <a:r>
              <a:rPr sz="1150" b="0" i="0">
                <a:solidFill>
                  <a:schemeClr val="tx2"/>
                </a:solidFill>
              </a:rPr>
              <a:t>Holds each trace for 15 s, then keeps errors, 5xx, Envoy failure flags, traces over 1.5 s and 10% of the rest.</a:t>
            </a:r>
          </a:p>
        </p:txBody>
      </p:sp>
      <p:sp>
        <p:nvSpPr>
          <p:cNvPr id="31" name="Rounded Rectangle 30"/>
          <p:cNvSpPr/>
          <p:nvPr/>
        </p:nvSpPr>
        <p:spPr>
          <a:xfrm>
            <a:off x="896112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batch</a:t>
            </a:r>
          </a:p>
          <a:p>
            <a:pPr algn="l">
              <a:spcAft>
                <a:spcPts val="400"/>
              </a:spcAft>
            </a:pPr>
            <a:r>
              <a:rPr sz="1150" b="0" i="0">
                <a:solidFill>
                  <a:schemeClr val="tx2"/>
                </a:solidFill>
              </a:rPr>
              <a:t>Sends up to 1,024 items or every 2 s, so Tempo and Loki get fewer, larger writes.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Tail sampling: keep every failure, about 10% of the rest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3291840" cy="658368"/>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Envoy samples 100%</a:t>
            </a:r>
          </a:p>
        </p:txBody>
      </p:sp>
      <p:sp>
        <p:nvSpPr>
          <p:cNvPr id="5" name="Rounded Rectangle 4"/>
          <p:cNvSpPr/>
          <p:nvPr/>
        </p:nvSpPr>
        <p:spPr>
          <a:xfrm>
            <a:off x="457200" y="21945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Collector holds each trace 15 s</a:t>
            </a:r>
          </a:p>
        </p:txBody>
      </p:sp>
      <p:cxnSp>
        <p:nvCxnSpPr>
          <p:cNvPr id="6" name="Connector 5"/>
          <p:cNvCxnSpPr/>
          <p:nvPr/>
        </p:nvCxnSpPr>
        <p:spPr>
          <a:xfrm>
            <a:off x="2103120" y="19385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57200" y="3108960"/>
            <a:ext cx="3291840" cy="658368"/>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tx1"/>
                </a:solidFill>
              </a:rPr>
              <a:t>Any policy matches: keep</a:t>
            </a:r>
          </a:p>
        </p:txBody>
      </p:sp>
      <p:cxnSp>
        <p:nvCxnSpPr>
          <p:cNvPr id="8" name="Connector 7"/>
          <p:cNvCxnSpPr/>
          <p:nvPr/>
        </p:nvCxnSpPr>
        <p:spPr>
          <a:xfrm>
            <a:off x="2103120" y="28529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 y="40233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Decision cache for late spans</a:t>
            </a:r>
          </a:p>
        </p:txBody>
      </p:sp>
      <p:cxnSp>
        <p:nvCxnSpPr>
          <p:cNvPr id="10" name="Connector 9"/>
          <p:cNvCxnSpPr/>
          <p:nvPr/>
        </p:nvCxnSpPr>
        <p:spPr>
          <a:xfrm>
            <a:off x="2103120" y="37673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57200" y="49377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Tempo</a:t>
            </a:r>
          </a:p>
        </p:txBody>
      </p:sp>
      <p:cxnSp>
        <p:nvCxnSpPr>
          <p:cNvPr id="12" name="Connector 11"/>
          <p:cNvCxnSpPr/>
          <p:nvPr/>
        </p:nvCxnSpPr>
        <p:spPr>
          <a:xfrm>
            <a:off x="2103120" y="46817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160520" y="1234440"/>
            <a:ext cx="3291840" cy="274320"/>
          </a:xfrm>
          <a:prstGeom prst="rect">
            <a:avLst/>
          </a:prstGeom>
          <a:noFill/>
        </p:spPr>
        <p:txBody>
          <a:bodyPr wrap="square" lIns="0" rIns="0" tIns="0" bIns="0" anchor="t">
            <a:spAutoFit/>
          </a:bodyPr>
          <a:lstStyle/>
          <a:p>
            <a:pPr algn="l">
              <a:spcAft>
                <a:spcPts val="400"/>
              </a:spcAft>
            </a:pPr>
            <a:r>
              <a:rPr sz="1100" b="1" i="0">
                <a:solidFill>
                  <a:schemeClr val="tx2"/>
                </a:solidFill>
              </a:rPr>
              <a:t>KEEP POLICIES</a:t>
            </a:r>
          </a:p>
        </p:txBody>
      </p:sp>
      <p:sp>
        <p:nvSpPr>
          <p:cNvPr id="14" name="Rounded Rectangle 13"/>
          <p:cNvSpPr/>
          <p:nvPr/>
        </p:nvSpPr>
        <p:spPr>
          <a:xfrm>
            <a:off x="4160520" y="1554480"/>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Status ERROR</a:t>
            </a:r>
            <a:r>
              <a:rPr sz="1100" b="0" i="0">
                <a:solidFill>
                  <a:schemeClr val="tx2"/>
                </a:solidFill>
              </a:rPr>
              <a:t>   any span failed</a:t>
            </a:r>
          </a:p>
        </p:txBody>
      </p:sp>
      <p:sp>
        <p:nvSpPr>
          <p:cNvPr id="15" name="Rounded Rectangle 14"/>
          <p:cNvSpPr/>
          <p:nvPr/>
        </p:nvSpPr>
        <p:spPr>
          <a:xfrm>
            <a:off x="4160520" y="2304288"/>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HTTP 5xx</a:t>
            </a:r>
            <a:r>
              <a:rPr sz="1100" b="0" i="0">
                <a:solidFill>
                  <a:schemeClr val="tx2"/>
                </a:solidFill>
              </a:rPr>
              <a:t>   on any hop</a:t>
            </a:r>
          </a:p>
        </p:txBody>
      </p:sp>
      <p:sp>
        <p:nvSpPr>
          <p:cNvPr id="16" name="Rounded Rectangle 15"/>
          <p:cNvSpPr/>
          <p:nvPr/>
        </p:nvSpPr>
        <p:spPr>
          <a:xfrm>
            <a:off x="4160520" y="3054096"/>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Envoy flag</a:t>
            </a:r>
            <a:r>
              <a:rPr sz="1100" b="0" i="0">
                <a:solidFill>
                  <a:schemeClr val="tx2"/>
                </a:solidFill>
              </a:rPr>
              <a:t>   UF, UH, UT, URX, ...</a:t>
            </a:r>
          </a:p>
        </p:txBody>
      </p:sp>
      <p:sp>
        <p:nvSpPr>
          <p:cNvPr id="17" name="Rounded Rectangle 16"/>
          <p:cNvSpPr/>
          <p:nvPr/>
        </p:nvSpPr>
        <p:spPr>
          <a:xfrm>
            <a:off x="4160520" y="3803904"/>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Slower than 1.5 s</a:t>
            </a:r>
            <a:r>
              <a:rPr sz="1100" b="0" i="0">
                <a:solidFill>
                  <a:schemeClr val="tx2"/>
                </a:solidFill>
              </a:rPr>
              <a:t>   end to end</a:t>
            </a:r>
          </a:p>
        </p:txBody>
      </p:sp>
      <p:sp>
        <p:nvSpPr>
          <p:cNvPr id="18" name="Rounded Rectangle 17"/>
          <p:cNvSpPr/>
          <p:nvPr/>
        </p:nvSpPr>
        <p:spPr>
          <a:xfrm>
            <a:off x="4160520" y="4553712"/>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10% probabilistic</a:t>
            </a:r>
            <a:r>
              <a:rPr sz="1100" b="0" i="0">
                <a:solidFill>
                  <a:schemeClr val="tx2"/>
                </a:solidFill>
              </a:rPr>
              <a:t>   baseline sample</a:t>
            </a:r>
          </a:p>
        </p:txBody>
      </p:sp>
      <p:sp>
        <p:nvSpPr>
          <p:cNvPr id="19" name="TextBox 18"/>
          <p:cNvSpPr txBox="1"/>
          <p:nvPr/>
        </p:nvSpPr>
        <p:spPr>
          <a:xfrm>
            <a:off x="7818120" y="1325880"/>
            <a:ext cx="3931920" cy="685800"/>
          </a:xfrm>
          <a:prstGeom prst="rect">
            <a:avLst/>
          </a:prstGeom>
          <a:noFill/>
        </p:spPr>
        <p:txBody>
          <a:bodyPr wrap="square" lIns="0" rIns="0" tIns="0" bIns="0" anchor="t">
            <a:spAutoFit/>
          </a:bodyPr>
          <a:lstStyle/>
          <a:p>
            <a:pPr algn="l">
              <a:spcAft>
                <a:spcPts val="400"/>
              </a:spcAft>
            </a:pPr>
            <a:r>
              <a:rPr sz="4000" b="1" i="0">
                <a:solidFill>
                  <a:schemeClr val="accent1"/>
                </a:solidFill>
              </a:rPr>
              <a:t>9%</a:t>
            </a:r>
          </a:p>
        </p:txBody>
      </p:sp>
      <p:sp>
        <p:nvSpPr>
          <p:cNvPr id="20" name="TextBox 19"/>
          <p:cNvSpPr txBox="1"/>
          <p:nvPr/>
        </p:nvSpPr>
        <p:spPr>
          <a:xfrm>
            <a:off x="7818120" y="20391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of healthy traces stored</a:t>
            </a:r>
          </a:p>
        </p:txBody>
      </p:sp>
      <p:sp>
        <p:nvSpPr>
          <p:cNvPr id="21" name="TextBox 20"/>
          <p:cNvSpPr txBox="1"/>
          <p:nvPr/>
        </p:nvSpPr>
        <p:spPr>
          <a:xfrm>
            <a:off x="7818120" y="23317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102 of 1,103 in a 90 s sample</a:t>
            </a:r>
          </a:p>
        </p:txBody>
      </p:sp>
      <p:sp>
        <p:nvSpPr>
          <p:cNvPr id="22" name="TextBox 21"/>
          <p:cNvSpPr txBox="1"/>
          <p:nvPr/>
        </p:nvSpPr>
        <p:spPr>
          <a:xfrm>
            <a:off x="7818120" y="2926080"/>
            <a:ext cx="3931920" cy="685800"/>
          </a:xfrm>
          <a:prstGeom prst="rect">
            <a:avLst/>
          </a:prstGeom>
          <a:noFill/>
        </p:spPr>
        <p:txBody>
          <a:bodyPr wrap="square" lIns="0" rIns="0" tIns="0" bIns="0" anchor="t">
            <a:spAutoFit/>
          </a:bodyPr>
          <a:lstStyle/>
          <a:p>
            <a:pPr algn="l">
              <a:spcAft>
                <a:spcPts val="400"/>
              </a:spcAft>
            </a:pPr>
            <a:r>
              <a:rPr sz="4000" b="1" i="0">
                <a:solidFill>
                  <a:schemeClr val="accent1"/>
                </a:solidFill>
              </a:rPr>
              <a:t>100%</a:t>
            </a:r>
          </a:p>
        </p:txBody>
      </p:sp>
      <p:sp>
        <p:nvSpPr>
          <p:cNvPr id="23" name="TextBox 22"/>
          <p:cNvSpPr txBox="1"/>
          <p:nvPr/>
        </p:nvSpPr>
        <p:spPr>
          <a:xfrm>
            <a:off x="7818120" y="36393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of error traces stored</a:t>
            </a:r>
          </a:p>
        </p:txBody>
      </p:sp>
      <p:sp>
        <p:nvSpPr>
          <p:cNvPr id="24" name="TextBox 23"/>
          <p:cNvSpPr txBox="1"/>
          <p:nvPr/>
        </p:nvSpPr>
        <p:spPr>
          <a:xfrm>
            <a:off x="7818120" y="39319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every UT / UF / UH failure</a:t>
            </a:r>
          </a:p>
        </p:txBody>
      </p:sp>
      <p:sp>
        <p:nvSpPr>
          <p:cNvPr id="25" name="TextBox 24"/>
          <p:cNvSpPr txBox="1"/>
          <p:nvPr/>
        </p:nvSpPr>
        <p:spPr>
          <a:xfrm>
            <a:off x="7818120" y="4526280"/>
            <a:ext cx="3931920" cy="685800"/>
          </a:xfrm>
          <a:prstGeom prst="rect">
            <a:avLst/>
          </a:prstGeom>
          <a:noFill/>
        </p:spPr>
        <p:txBody>
          <a:bodyPr wrap="square" lIns="0" rIns="0" tIns="0" bIns="0" anchor="t">
            <a:spAutoFit/>
          </a:bodyPr>
          <a:lstStyle/>
          <a:p>
            <a:pPr algn="l">
              <a:spcAft>
                <a:spcPts val="400"/>
              </a:spcAft>
            </a:pPr>
            <a:r>
              <a:rPr sz="4000" b="1" i="0">
                <a:solidFill>
                  <a:schemeClr val="accent2"/>
                </a:solidFill>
              </a:rPr>
              <a:t>12 / 12</a:t>
            </a:r>
          </a:p>
        </p:txBody>
      </p:sp>
      <p:sp>
        <p:nvSpPr>
          <p:cNvPr id="26" name="TextBox 25"/>
          <p:cNvSpPr txBox="1"/>
          <p:nvPr/>
        </p:nvSpPr>
        <p:spPr>
          <a:xfrm>
            <a:off x="7818120" y="52395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spans in a fund transfer</a:t>
            </a:r>
          </a:p>
        </p:txBody>
      </p:sp>
      <p:sp>
        <p:nvSpPr>
          <p:cNvPr id="27" name="TextBox 26"/>
          <p:cNvSpPr txBox="1"/>
          <p:nvPr/>
        </p:nvSpPr>
        <p:spPr>
          <a:xfrm>
            <a:off x="7818120" y="55321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was 3 of 12 before the decision cache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Journey tagging: one label from gateway to every hop</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325880"/>
            <a:ext cx="2560320" cy="132588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Customer request</a:t>
            </a:r>
          </a:p>
          <a:p>
            <a:pPr algn="ctr">
              <a:spcAft>
                <a:spcPts val="400"/>
              </a:spcAft>
            </a:pPr>
            <a:r>
              <a:rPr sz="1100" b="0" i="0">
                <a:solidFill>
                  <a:schemeClr val="bg1"/>
                </a:solidFill>
              </a:rPr>
              <a:t>POST /api/transfers
x-channel: mobile</a:t>
            </a:r>
          </a:p>
        </p:txBody>
      </p:sp>
      <p:sp>
        <p:nvSpPr>
          <p:cNvPr id="5" name="Rounded Rectangle 4"/>
          <p:cNvSpPr/>
          <p:nvPr/>
        </p:nvSpPr>
        <p:spPr>
          <a:xfrm>
            <a:off x="333756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Ingress gateway</a:t>
            </a:r>
          </a:p>
          <a:p>
            <a:pPr algn="ctr">
              <a:spcAft>
                <a:spcPts val="400"/>
              </a:spcAft>
            </a:pPr>
            <a:r>
              <a:rPr sz="1100" b="0" i="0">
                <a:solidFill>
                  <a:schemeClr val="bg1"/>
                </a:solidFill>
              </a:rPr>
              <a:t>Route sets baggage:
journey=fund-transfer,
channel=mobile</a:t>
            </a:r>
          </a:p>
        </p:txBody>
      </p:sp>
      <p:cxnSp>
        <p:nvCxnSpPr>
          <p:cNvPr id="6" name="Connector 5"/>
          <p:cNvCxnSpPr/>
          <p:nvPr/>
        </p:nvCxnSpPr>
        <p:spPr>
          <a:xfrm>
            <a:off x="301752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21792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payments-svc</a:t>
            </a:r>
          </a:p>
          <a:p>
            <a:pPr algn="ctr">
              <a:spcAft>
                <a:spcPts val="400"/>
              </a:spcAft>
            </a:pPr>
            <a:r>
              <a:rPr sz="1100" b="0" i="0">
                <a:solidFill>
                  <a:schemeClr val="bg1"/>
                </a:solidFill>
              </a:rPr>
              <a:t>OTel agent forwards
baggage on each call</a:t>
            </a:r>
          </a:p>
        </p:txBody>
      </p:sp>
      <p:cxnSp>
        <p:nvCxnSpPr>
          <p:cNvPr id="8" name="Connector 7"/>
          <p:cNvCxnSpPr/>
          <p:nvPr/>
        </p:nvCxnSpPr>
        <p:spPr>
          <a:xfrm>
            <a:off x="589788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09828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core-banking hop</a:t>
            </a:r>
          </a:p>
          <a:p>
            <a:pPr algn="ctr">
              <a:spcAft>
                <a:spcPts val="400"/>
              </a:spcAft>
            </a:pPr>
            <a:r>
              <a:rPr sz="1100" b="0" i="0">
                <a:solidFill>
                  <a:schemeClr val="bg1"/>
                </a:solidFill>
              </a:rPr>
              <a:t>Sidecar sees the same
baggage header</a:t>
            </a:r>
          </a:p>
        </p:txBody>
      </p:sp>
      <p:cxnSp>
        <p:nvCxnSpPr>
          <p:cNvPr id="10" name="Connector 9"/>
          <p:cNvCxnSpPr/>
          <p:nvPr/>
        </p:nvCxnSpPr>
        <p:spPr>
          <a:xfrm>
            <a:off x="877824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724912"/>
            <a:ext cx="11247120" cy="274320"/>
          </a:xfrm>
          <a:prstGeom prst="rect">
            <a:avLst/>
          </a:prstGeom>
          <a:noFill/>
        </p:spPr>
        <p:txBody>
          <a:bodyPr wrap="square" lIns="0" rIns="0" tIns="0" bIns="0" anchor="t">
            <a:spAutoFit/>
          </a:bodyPr>
          <a:lstStyle/>
          <a:p>
            <a:pPr algn="l">
              <a:spcAft>
                <a:spcPts val="400"/>
              </a:spcAft>
            </a:pPr>
            <a:r>
              <a:rPr sz="1150" b="0" i="1">
                <a:solidFill>
                  <a:schemeClr val="tx2"/>
                </a:solidFill>
              </a:rPr>
              <a:t>Every sidecar and the collector turn that one header into three outputs:</a:t>
            </a:r>
          </a:p>
        </p:txBody>
      </p:sp>
      <p:sp>
        <p:nvSpPr>
          <p:cNvPr id="12" name="Rounded Rectangle 11"/>
          <p:cNvSpPr/>
          <p:nvPr/>
        </p:nvSpPr>
        <p:spPr>
          <a:xfrm>
            <a:off x="45720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Metric label</a:t>
            </a:r>
          </a:p>
          <a:p>
            <a:pPr algn="l">
              <a:spcAft>
                <a:spcPts val="400"/>
              </a:spcAft>
            </a:pPr>
            <a:r>
              <a:rPr sz="1150" b="0" i="0">
                <a:solidFill>
                  <a:schemeClr val="tx2"/>
                </a:solidFill>
              </a:rPr>
              <a:t>Telemetry API tagOverrides (CEL) maps baggage to a fixed label value</a:t>
            </a:r>
          </a:p>
          <a:p>
            <a:pPr algn="l">
              <a:spcAft>
                <a:spcPts val="400"/>
              </a:spcAft>
            </a:pPr>
            <a:r>
              <a:rPr sz="1050" b="0" i="0">
                <a:solidFill>
                  <a:schemeClr val="accent1"/>
                </a:solidFill>
                <a:latin typeface="Courier New"/>
              </a:rPr>
              <a:t>istio_requests_total{
  journey="fund-transfer"}</a:t>
            </a:r>
          </a:p>
        </p:txBody>
      </p:sp>
      <p:sp>
        <p:nvSpPr>
          <p:cNvPr id="13" name="Rounded Rectangle 12"/>
          <p:cNvSpPr/>
          <p:nvPr/>
        </p:nvSpPr>
        <p:spPr>
          <a:xfrm>
            <a:off x="425196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Span attribute</a:t>
            </a:r>
          </a:p>
          <a:p>
            <a:pPr algn="l">
              <a:spcAft>
                <a:spcPts val="400"/>
              </a:spcAft>
            </a:pPr>
            <a:r>
              <a:rPr sz="1150" b="0" i="0">
                <a:solidFill>
                  <a:schemeClr val="tx2"/>
                </a:solidFill>
              </a:rPr>
              <a:t>Envoy records baggage as a span tag; the collector's OTTL turns it into span.journey</a:t>
            </a:r>
          </a:p>
          <a:p>
            <a:pPr algn="l">
              <a:spcAft>
                <a:spcPts val="400"/>
              </a:spcAft>
            </a:pPr>
            <a:r>
              <a:rPr sz="1050" b="0" i="0">
                <a:solidFill>
                  <a:schemeClr val="accent1"/>
                </a:solidFill>
                <a:latin typeface="Courier New"/>
              </a:rPr>
              <a:t>{ span.journey =
    "fund-transfer" }</a:t>
            </a:r>
          </a:p>
        </p:txBody>
      </p:sp>
      <p:sp>
        <p:nvSpPr>
          <p:cNvPr id="14" name="Rounded Rectangle 13"/>
          <p:cNvSpPr/>
          <p:nvPr/>
        </p:nvSpPr>
        <p:spPr>
          <a:xfrm>
            <a:off x="804672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Log field</a:t>
            </a:r>
          </a:p>
          <a:p>
            <a:pPr algn="l">
              <a:spcAft>
                <a:spcPts val="400"/>
              </a:spcAft>
            </a:pPr>
            <a:r>
              <a:rPr sz="1150" b="0" i="0">
                <a:solidFill>
                  <a:schemeClr val="tx2"/>
                </a:solidFill>
              </a:rPr>
              <a:t>Access log carries %REQ(BAGGAGE)%; the collector extracts journey for Loki</a:t>
            </a:r>
          </a:p>
          <a:p>
            <a:pPr algn="l">
              <a:spcAft>
                <a:spcPts val="400"/>
              </a:spcAft>
            </a:pPr>
            <a:r>
              <a:rPr sz="1050" b="0" i="0">
                <a:solidFill>
                  <a:schemeClr val="accent1"/>
                </a:solidFill>
                <a:latin typeface="Courier New"/>
              </a:rPr>
              <a:t>{service_name="payments-svc"}
  | journey="fund-transfer"</a:t>
            </a:r>
          </a:p>
        </p:txBody>
      </p:sp>
      <p:sp>
        <p:nvSpPr>
          <p:cNvPr id="15" name="Rounded Rectangle 14"/>
          <p:cNvSpPr/>
          <p:nvPr/>
        </p:nvSpPr>
        <p:spPr>
          <a:xfrm>
            <a:off x="457200" y="5120640"/>
            <a:ext cx="11247120" cy="7772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spcAft>
                <a:spcPts val="400"/>
              </a:spcAft>
            </a:pPr>
            <a:r>
              <a:rPr sz="1200" b="1" i="0">
                <a:solidFill>
                  <a:schemeClr val="bg1"/>
                </a:solidFill>
              </a:rPr>
              <a:t>Fixed list: </a:t>
            </a:r>
            <a:r>
              <a:rPr sz="1200" b="0" i="0">
                <a:solidFill>
                  <a:schemeClr val="bg1"/>
                </a:solidFill>
              </a:rPr>
              <a:t>fund-transfer, balance-check, card-payment, login, loan-application. Anything else becomes "other". Adding a journey is a deliberate change in three places: Telemetry CEL, collector regex, gateway route.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Where the data lives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graphicFrame>
        <p:nvGraphicFramePr>
          <p:cNvPr id="4" name="Table 3"/>
          <p:cNvGraphicFramePr>
            <a:graphicFrameLocks noGrp="1"/>
          </p:cNvGraphicFramePr>
          <p:nvPr/>
        </p:nvGraphicFramePr>
        <p:xfrm>
          <a:off x="457200" y="1234440"/>
          <a:ext cx="11247120" cy="4279392"/>
        </p:xfrm>
        <a:graphic>
          <a:graphicData uri="http://schemas.openxmlformats.org/drawingml/2006/table">
            <a:tbl>
              <a:tblPr firstRow="0" bandRow="0">
                <a:tableStyleId>{5940675A-B579-460E-94D1-54222C63F5DA}</a:tableStyleId>
              </a:tblPr>
              <a:tblGrid>
                <a:gridCol w="1188720"/>
                <a:gridCol w="3200400"/>
                <a:gridCol w="2103120"/>
                <a:gridCol w="2377440"/>
                <a:gridCol w="1463040"/>
                <a:gridCol w="914400"/>
              </a:tblGrid>
              <a:tr h="713232">
                <a:tc>
                  <a:txBody>
                    <a:bodyPr wrap="square"/>
                    <a:lstStyle/>
                    <a:p>
                      <a:r>
                        <a:rPr sz="1100" b="1" i="0">
                          <a:solidFill>
                            <a:schemeClr val="bg1"/>
                          </a:solidFill>
                        </a:rPr>
                        <a:t>Signal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Store and format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Local POC</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OpenShift production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Retention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Query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713232">
                <a:tc>
                  <a:txBody>
                    <a:bodyPr wrap="square"/>
                    <a:lstStyle/>
                    <a:p>
                      <a:r>
                        <a:rPr sz="1100" b="1" i="0">
                          <a:solidFill>
                            <a:schemeClr val="tx1"/>
                          </a:solidFill>
                        </a:rPr>
                        <a:t>Metrics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Prometheus TSDB: in-memory head + write-ahead log, compacted 2-hour blocks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accent1"/>
                          </a:solidFill>
                        </a:rPr>
                        <a:t>10 Gi persistent volume (survives restarts)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UWM Prometheus on a PVC; Thanos Querier for queries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2 days or 8 GB</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PromQL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713232">
                <a:tc>
                  <a:txBody>
                    <a:bodyPr wrap="square"/>
                    <a:lstStyle/>
                    <a:p>
                      <a:r>
                        <a:rPr sz="1100" b="1" i="0">
                          <a:solidFill>
                            <a:schemeClr val="tx1"/>
                          </a:solidFill>
                        </a:rPr>
                        <a:t>Traces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Tempo: WAL, then Apache Parquet blocks (vParquet4) with bloom filters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5 Gi persistent volume, local backend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TempoStack on S3-compatible object storage (ODF, MinIO)</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14 days (default 336 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TraceQL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713232">
                <a:tc>
                  <a:txBody>
                    <a:bodyPr wrap="square"/>
                    <a:lstStyle/>
                    <a:p>
                      <a:r>
                        <a:rPr sz="1100" b="1" i="0">
                          <a:solidFill>
                            <a:schemeClr val="tx1"/>
                          </a:solidFill>
                        </a:rPr>
                        <a:t>Logs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Loki: compressed chunks + TSDB index; labels service_name, namespace; other fields as structured metadata</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5 Gi persistent volume, filesystem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LokiStack on object storage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accent1"/>
                          </a:solidFill>
                        </a:rPr>
                        <a:t>48 h, deleted by the compactor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LogQL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713232">
                <a:tc>
                  <a:txBody>
                    <a:bodyPr wrap="square"/>
                    <a:lstStyle/>
                    <a:p>
                      <a:r>
                        <a:rPr sz="1100" b="1" i="0">
                          <a:solidFill>
                            <a:schemeClr val="tx1"/>
                          </a:solidFill>
                        </a:rPr>
                        <a:t>Alerts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Alertmanager: alert state and silences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emptyDir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Platform or UWM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While firing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API v2</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713232">
                <a:tc>
                  <a:txBody>
                    <a:bodyPr wrap="square"/>
                    <a:lstStyle/>
                    <a:p>
                      <a:r>
                        <a:rPr sz="1100" b="1" i="0">
                          <a:solidFill>
                            <a:schemeClr val="tx1"/>
                          </a:solidFill>
                        </a:rPr>
                        <a:t>Dashboards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Grafana: dashboards as code (ConfigMap), SQLite for settings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In the pod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Grafana Operator CRs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Versioned in Git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5" name="TextBox 4"/>
          <p:cNvSpPr txBox="1"/>
          <p:nvPr/>
        </p:nvSpPr>
        <p:spPr>
          <a:xfrm>
            <a:off x="457200" y="566928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Verified: metrics survive a Prometheus restart; the Loki compactor enforces the 48 h retention.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Envoy access logs: the why behind a red edge</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5120640" cy="35204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spcAft>
                <a:spcPts val="600"/>
              </a:spcAft>
            </a:pPr>
            <a:r>
              <a:rPr sz="1300" b="1" i="0">
                <a:solidFill>
                  <a:schemeClr val="bg1"/>
                </a:solidFill>
              </a:rPr>
              <a:t>One access-log record (payments-svc)</a:t>
            </a:r>
          </a:p>
          <a:p>
            <a:pPr algn="l">
              <a:spcAft>
                <a:spcPts val="600"/>
              </a:spcAft>
            </a:pPr>
            <a:r>
              <a:rPr sz="1300" b="0" i="0">
                <a:solidFill>
                  <a:schemeClr val="bg1"/>
                </a:solidFill>
                <a:latin typeface="Courier New"/>
              </a:rPr>
              <a:t>upstream_cluster = outbound|80||core-banking</a:t>
            </a:r>
          </a:p>
          <a:p>
            <a:pPr algn="l">
              <a:spcAft>
                <a:spcPts val="600"/>
              </a:spcAft>
            </a:pPr>
            <a:r>
              <a:rPr sz="1300" b="0" i="0">
                <a:solidFill>
                  <a:schemeClr val="bg1"/>
                </a:solidFill>
                <a:latin typeface="Courier New"/>
              </a:rPr>
              <a:t>response_code    = 504</a:t>
            </a:r>
          </a:p>
          <a:p>
            <a:pPr algn="l">
              <a:spcAft>
                <a:spcPts val="600"/>
              </a:spcAft>
            </a:pPr>
            <a:r>
              <a:rPr sz="1300" b="1" i="0">
                <a:solidFill>
                  <a:schemeClr val="accent4"/>
                </a:solidFill>
                <a:latin typeface="Courier New"/>
              </a:rPr>
              <a:t>response_flags   = UT</a:t>
            </a:r>
          </a:p>
          <a:p>
            <a:pPr algn="l">
              <a:spcAft>
                <a:spcPts val="600"/>
              </a:spcAft>
            </a:pPr>
            <a:r>
              <a:rPr sz="1300" b="0" i="0">
                <a:solidFill>
                  <a:schemeClr val="bg1"/>
                </a:solidFill>
                <a:latin typeface="Courier New"/>
              </a:rPr>
              <a:t>duration_ms      = 3001</a:t>
            </a:r>
          </a:p>
          <a:p>
            <a:pPr algn="l">
              <a:spcAft>
                <a:spcPts val="600"/>
              </a:spcAft>
            </a:pPr>
            <a:r>
              <a:rPr sz="1300" b="0" i="0">
                <a:solidFill>
                  <a:schemeClr val="bg1"/>
                </a:solidFill>
                <a:latin typeface="Courier New"/>
              </a:rPr>
              <a:t>journey          = fund-transfer</a:t>
            </a:r>
          </a:p>
          <a:p>
            <a:pPr algn="l">
              <a:spcAft>
                <a:spcPts val="600"/>
              </a:spcAft>
            </a:pPr>
            <a:r>
              <a:rPr sz="1300" b="0" i="0">
                <a:solidFill>
                  <a:schemeClr val="bg1"/>
                </a:solidFill>
                <a:latin typeface="Courier New"/>
              </a:rPr>
              <a:t>trace_id         = 2ba91a03eb16...</a:t>
            </a:r>
          </a:p>
          <a:p>
            <a:pPr algn="l">
              <a:spcAft>
                <a:spcPts val="600"/>
              </a:spcAft>
            </a:pPr>
            <a:r>
              <a:rPr sz="600" b="0" i="0">
                <a:solidFill>
                  <a:schemeClr val="bg1"/>
                </a:solidFill>
              </a:rPr>
              <a:t/>
            </a:r>
          </a:p>
          <a:p>
            <a:pPr algn="l">
              <a:spcAft>
                <a:spcPts val="600"/>
              </a:spcAft>
            </a:pPr>
            <a:r>
              <a:rPr sz="1300" b="0" i="0">
                <a:solidFill>
                  <a:schemeClr val="bg1"/>
                </a:solidFill>
              </a:rPr>
              <a:t>Path: Envoy  &gt;  OTLP access-log provider (gRPC)  &gt;  Collector  &gt;  Loki</a:t>
            </a:r>
          </a:p>
          <a:p>
            <a:pPr algn="l">
              <a:spcAft>
                <a:spcPts val="600"/>
              </a:spcAft>
            </a:pPr>
            <a:r>
              <a:rPr sz="1300" b="0" i="1">
                <a:solidFill>
                  <a:schemeClr val="bg1"/>
                </a:solidFill>
              </a:rPr>
              <a:t>trace_id links the log line to its trace in Tempo</a:t>
            </a:r>
          </a:p>
        </p:txBody>
      </p:sp>
      <p:graphicFrame>
        <p:nvGraphicFramePr>
          <p:cNvPr id="5" name="Table 4"/>
          <p:cNvGraphicFramePr>
            <a:graphicFrameLocks noGrp="1"/>
          </p:cNvGraphicFramePr>
          <p:nvPr/>
        </p:nvGraphicFramePr>
        <p:xfrm>
          <a:off x="5943600" y="1280160"/>
          <a:ext cx="5760720" cy="3511296"/>
        </p:xfrm>
        <a:graphic>
          <a:graphicData uri="http://schemas.openxmlformats.org/drawingml/2006/table">
            <a:tbl>
              <a:tblPr firstRow="0" bandRow="0">
                <a:tableStyleId>{5940675A-B579-460E-94D1-54222C63F5DA}</a:tableStyleId>
              </a:tblPr>
              <a:tblGrid>
                <a:gridCol w="640080"/>
                <a:gridCol w="1691640"/>
                <a:gridCol w="2331720"/>
                <a:gridCol w="1097280"/>
              </a:tblGrid>
              <a:tr h="585216">
                <a:tc>
                  <a:txBody>
                    <a:bodyPr wrap="square"/>
                    <a:lstStyle/>
                    <a:p>
                      <a:r>
                        <a:rPr sz="1100" b="1" i="0">
                          <a:solidFill>
                            <a:schemeClr val="bg1"/>
                          </a:solidFill>
                        </a:rPr>
                        <a:t>Flag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Meaning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Seen in the POC when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Call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85216">
                <a:tc>
                  <a:txBody>
                    <a:bodyPr wrap="square"/>
                    <a:lstStyle/>
                    <a:p>
                      <a:r>
                        <a:rPr sz="1100" b="1" i="0">
                          <a:solidFill>
                            <a:schemeClr val="accent3"/>
                          </a:solidFill>
                        </a:rPr>
                        <a:t>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Upstream request timeout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Core banking slower than the 3 s route timeout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Owner of the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85216">
                <a:tc>
                  <a:txBody>
                    <a:bodyPr wrap="square"/>
                    <a:lstStyle/>
                    <a:p>
                      <a:r>
                        <a:rPr sz="1100" b="1" i="0">
                          <a:solidFill>
                            <a:schemeClr val="accent3"/>
                          </a:solidFill>
                        </a:rPr>
                        <a:t>UF</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Upstream connection failure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Database or card switch refuses connections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Owner or network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85216">
                <a:tc>
                  <a:txBody>
                    <a:bodyPr wrap="square"/>
                    <a:lstStyle/>
                    <a:p>
                      <a:r>
                        <a:rPr sz="1100" b="1" i="0">
                          <a:solidFill>
                            <a:schemeClr val="accent3"/>
                          </a:solidFill>
                        </a:rPr>
                        <a:t>UH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No healthy upstream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Card switch ejected by outlier detection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Owner of the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85216">
                <a:tc>
                  <a:txBody>
                    <a:bodyPr wrap="square"/>
                    <a:lstStyle/>
                    <a:p>
                      <a:r>
                        <a:rPr sz="1100" b="1" i="0">
                          <a:solidFill>
                            <a:schemeClr val="accent3"/>
                          </a:solidFill>
                        </a:rPr>
                        <a:t>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Retry limit exceeded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Paired with UF after Envoy retried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As for UF</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85216">
                <a:tc>
                  <a:txBody>
                    <a:bodyPr wrap="square"/>
                    <a:lstStyle/>
                    <a:p>
                      <a:r>
                        <a:rPr sz="1100" b="1" i="0">
                          <a:solidFill>
                            <a:schemeClr val="accent3"/>
                          </a:solidFill>
                        </a:rPr>
                        <a:t>UC</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Connection closed mid-request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Sidecar sent plaintext to a TLS port (config)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Mesh config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6" name="TextBox 5"/>
          <p:cNvSpPr txBox="1"/>
          <p:nvPr/>
        </p:nvSpPr>
        <p:spPr>
          <a:xfrm>
            <a:off x="457200" y="50749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Example LogQL:  {service_name="payments-svc"} | response_flags !=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Correlation: how one failure links across all three signals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SHARED KEYS</a:t>
            </a:r>
          </a:p>
        </p:txBody>
      </p:sp>
      <p:sp>
        <p:nvSpPr>
          <p:cNvPr id="5" name="Rounded Rectangle 4"/>
          <p:cNvSpPr/>
          <p:nvPr/>
        </p:nvSpPr>
        <p:spPr>
          <a:xfrm>
            <a:off x="45720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Hop</a:t>
            </a:r>
          </a:p>
          <a:p>
            <a:pPr algn="l">
              <a:spcAft>
                <a:spcPts val="400"/>
              </a:spcAft>
            </a:pPr>
            <a:r>
              <a:rPr sz="1100" b="0" i="0">
                <a:solidFill>
                  <a:schemeClr val="tx2"/>
                </a:solidFill>
              </a:rPr>
              <a:t>source + destination</a:t>
            </a:r>
          </a:p>
          <a:p>
            <a:pPr algn="l">
              <a:spcAft>
                <a:spcPts val="400"/>
              </a:spcAft>
            </a:pPr>
            <a:r>
              <a:rPr sz="1100" b="0" i="0">
                <a:solidFill>
                  <a:schemeClr val="accent1"/>
                </a:solidFill>
              </a:rPr>
              <a:t>in metrics, spans, access logs</a:t>
            </a:r>
          </a:p>
        </p:txBody>
      </p:sp>
      <p:sp>
        <p:nvSpPr>
          <p:cNvPr id="6" name="Oval 5"/>
          <p:cNvSpPr/>
          <p:nvPr/>
        </p:nvSpPr>
        <p:spPr>
          <a:xfrm>
            <a:off x="2852928" y="1572768"/>
            <a:ext cx="182880" cy="1828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9184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Trace ID</a:t>
            </a:r>
          </a:p>
          <a:p>
            <a:pPr algn="l">
              <a:spcAft>
                <a:spcPts val="400"/>
              </a:spcAft>
            </a:pPr>
            <a:r>
              <a:rPr sz="1100" b="0" i="0">
                <a:solidFill>
                  <a:schemeClr val="tx2"/>
                </a:solidFill>
              </a:rPr>
              <a:t>16-byte W3C ID</a:t>
            </a:r>
          </a:p>
          <a:p>
            <a:pPr algn="l">
              <a:spcAft>
                <a:spcPts val="400"/>
              </a:spcAft>
            </a:pPr>
            <a:r>
              <a:rPr sz="1100" b="0" i="0">
                <a:solidFill>
                  <a:schemeClr val="accent1"/>
                </a:solidFill>
              </a:rPr>
              <a:t>in spans, access logs</a:t>
            </a:r>
          </a:p>
        </p:txBody>
      </p:sp>
      <p:sp>
        <p:nvSpPr>
          <p:cNvPr id="8" name="Oval 7"/>
          <p:cNvSpPr/>
          <p:nvPr/>
        </p:nvSpPr>
        <p:spPr>
          <a:xfrm>
            <a:off x="5687568" y="1572768"/>
            <a:ext cx="182880" cy="1828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Journey</a:t>
            </a:r>
          </a:p>
          <a:p>
            <a:pPr algn="l">
              <a:spcAft>
                <a:spcPts val="400"/>
              </a:spcAft>
            </a:pPr>
            <a:r>
              <a:rPr sz="1100" b="0" i="0">
                <a:solidFill>
                  <a:schemeClr val="tx2"/>
                </a:solidFill>
              </a:rPr>
              <a:t>baggage, fixed list</a:t>
            </a:r>
          </a:p>
          <a:p>
            <a:pPr algn="l">
              <a:spcAft>
                <a:spcPts val="400"/>
              </a:spcAft>
            </a:pPr>
            <a:r>
              <a:rPr sz="1100" b="0" i="0">
                <a:solidFill>
                  <a:schemeClr val="accent1"/>
                </a:solidFill>
              </a:rPr>
              <a:t>in metrics, spans, access logs</a:t>
            </a:r>
          </a:p>
        </p:txBody>
      </p:sp>
      <p:sp>
        <p:nvSpPr>
          <p:cNvPr id="10" name="Oval 9"/>
          <p:cNvSpPr/>
          <p:nvPr/>
        </p:nvSpPr>
        <p:spPr>
          <a:xfrm>
            <a:off x="8522208" y="1572768"/>
            <a:ext cx="182880" cy="182880"/>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96112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Time window</a:t>
            </a:r>
          </a:p>
          <a:p>
            <a:pPr algn="l">
              <a:spcAft>
                <a:spcPts val="400"/>
              </a:spcAft>
            </a:pPr>
            <a:r>
              <a:rPr sz="1100" b="0" i="0">
                <a:solidFill>
                  <a:schemeClr val="tx2"/>
                </a:solidFill>
              </a:rPr>
              <a:t>same minutes</a:t>
            </a:r>
          </a:p>
          <a:p>
            <a:pPr algn="l">
              <a:spcAft>
                <a:spcPts val="400"/>
              </a:spcAft>
            </a:pPr>
            <a:r>
              <a:rPr sz="1100" b="0" i="0">
                <a:solidFill>
                  <a:schemeClr val="accent1"/>
                </a:solidFill>
              </a:rPr>
              <a:t>in all three</a:t>
            </a:r>
          </a:p>
        </p:txBody>
      </p:sp>
      <p:sp>
        <p:nvSpPr>
          <p:cNvPr id="12" name="Oval 11"/>
          <p:cNvSpPr/>
          <p:nvPr/>
        </p:nvSpPr>
        <p:spPr>
          <a:xfrm>
            <a:off x="11356848" y="1572768"/>
            <a:ext cx="182880" cy="182880"/>
          </a:xfrm>
          <a:prstGeom prst="ellipse">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9748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FOLLOWING ONE FAILURE (CORE BANKING SLOW)</a:t>
            </a:r>
          </a:p>
        </p:txBody>
      </p:sp>
      <p:sp>
        <p:nvSpPr>
          <p:cNvPr id="14" name="Rounded Rectangle 13"/>
          <p:cNvSpPr/>
          <p:nvPr/>
        </p:nvSpPr>
        <p:spPr>
          <a:xfrm>
            <a:off x="457200" y="3017520"/>
            <a:ext cx="2103120" cy="16002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1  Metrics</a:t>
            </a:r>
          </a:p>
          <a:p>
            <a:pPr algn="l">
              <a:spcAft>
                <a:spcPts val="600"/>
              </a:spcAft>
            </a:pPr>
            <a:r>
              <a:rPr sz="1100" b="0" i="0">
                <a:solidFill>
                  <a:schemeClr val="bg1"/>
                </a:solidFill>
              </a:rPr>
              <a:t>Alert: payments-svc to core banking at 38% errors</a:t>
            </a:r>
          </a:p>
          <a:p>
            <a:pPr algn="l">
              <a:spcAft>
                <a:spcPts val="600"/>
              </a:spcAft>
            </a:pPr>
            <a:r>
              <a:rPr sz="1050" b="0" i="1">
                <a:solidFill>
                  <a:schemeClr val="bg1"/>
                </a:solidFill>
              </a:rPr>
              <a:t>Key: hop</a:t>
            </a:r>
          </a:p>
        </p:txBody>
      </p:sp>
      <p:sp>
        <p:nvSpPr>
          <p:cNvPr id="15" name="Rounded Rectangle 14"/>
          <p:cNvSpPr/>
          <p:nvPr/>
        </p:nvSpPr>
        <p:spPr>
          <a:xfrm>
            <a:off x="2743200" y="3017520"/>
            <a:ext cx="2103120" cy="1600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2  Traces</a:t>
            </a:r>
          </a:p>
          <a:p>
            <a:pPr algn="l">
              <a:spcAft>
                <a:spcPts val="600"/>
              </a:spcAft>
            </a:pPr>
            <a:r>
              <a:rPr sz="1100" b="0" i="0">
                <a:solidFill>
                  <a:schemeClr val="bg1"/>
                </a:solidFill>
              </a:rPr>
              <a:t>Search error spans on that hop in the same minutes (TraceQL)</a:t>
            </a:r>
          </a:p>
          <a:p>
            <a:pPr algn="l">
              <a:spcAft>
                <a:spcPts val="600"/>
              </a:spcAft>
            </a:pPr>
            <a:r>
              <a:rPr sz="1050" b="0" i="1">
                <a:solidFill>
                  <a:schemeClr val="bg1"/>
                </a:solidFill>
              </a:rPr>
              <a:t>Key: hop + time</a:t>
            </a:r>
          </a:p>
        </p:txBody>
      </p:sp>
      <p:cxnSp>
        <p:nvCxnSpPr>
          <p:cNvPr id="16" name="Connector 15"/>
          <p:cNvCxnSpPr/>
          <p:nvPr/>
        </p:nvCxnSpPr>
        <p:spPr>
          <a:xfrm>
            <a:off x="2560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29200" y="3017520"/>
            <a:ext cx="2103120" cy="1600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3  The trace</a:t>
            </a:r>
          </a:p>
          <a:p>
            <a:pPr algn="l">
              <a:spcAft>
                <a:spcPts val="600"/>
              </a:spcAft>
            </a:pPr>
            <a:r>
              <a:rPr sz="1100" b="0" i="0">
                <a:solidFill>
                  <a:schemeClr val="bg1"/>
                </a:solidFill>
              </a:rPr>
              <a:t>3.0 of 3.0 s waiting on core banking</a:t>
            </a:r>
          </a:p>
          <a:p>
            <a:pPr algn="l">
              <a:spcAft>
                <a:spcPts val="600"/>
              </a:spcAft>
            </a:pPr>
            <a:r>
              <a:rPr sz="1050" b="0" i="1">
                <a:solidFill>
                  <a:schemeClr val="bg1"/>
                </a:solidFill>
              </a:rPr>
              <a:t>Gives: trace ID 2ba91a03...</a:t>
            </a:r>
          </a:p>
        </p:txBody>
      </p:sp>
      <p:cxnSp>
        <p:nvCxnSpPr>
          <p:cNvPr id="18" name="Connector 17"/>
          <p:cNvCxnSpPr/>
          <p:nvPr/>
        </p:nvCxnSpPr>
        <p:spPr>
          <a:xfrm>
            <a:off x="4846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315200" y="3017520"/>
            <a:ext cx="2103120" cy="16002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4  Logs</a:t>
            </a:r>
          </a:p>
          <a:p>
            <a:pPr algn="l">
              <a:spcAft>
                <a:spcPts val="600"/>
              </a:spcAft>
            </a:pPr>
            <a:r>
              <a:rPr sz="1100" b="0" i="0">
                <a:solidFill>
                  <a:schemeClr val="bg1"/>
                </a:solidFill>
              </a:rPr>
              <a:t>Fetch the access logs with that trace ID: 504, flag UT (LogQL)</a:t>
            </a:r>
          </a:p>
          <a:p>
            <a:pPr algn="l">
              <a:spcAft>
                <a:spcPts val="600"/>
              </a:spcAft>
            </a:pPr>
            <a:r>
              <a:rPr sz="1050" b="0" i="1">
                <a:solidFill>
                  <a:schemeClr val="bg1"/>
                </a:solidFill>
              </a:rPr>
              <a:t>Key: trace ID</a:t>
            </a:r>
          </a:p>
        </p:txBody>
      </p:sp>
      <p:cxnSp>
        <p:nvCxnSpPr>
          <p:cNvPr id="20" name="Connector 19"/>
          <p:cNvCxnSpPr/>
          <p:nvPr/>
        </p:nvCxnSpPr>
        <p:spPr>
          <a:xfrm>
            <a:off x="7132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601200" y="3017520"/>
            <a:ext cx="2103120" cy="1600200"/>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5  Owner</a:t>
            </a:r>
          </a:p>
          <a:p>
            <a:pPr algn="l">
              <a:spcAft>
                <a:spcPts val="600"/>
              </a:spcAft>
            </a:pPr>
            <a:r>
              <a:rPr sz="1100" b="0" i="0">
                <a:solidFill>
                  <a:schemeClr val="bg1"/>
                </a:solidFill>
              </a:rPr>
              <a:t>Owner annotation on the ServiceEntry: core banking team</a:t>
            </a:r>
          </a:p>
          <a:p>
            <a:pPr algn="l">
              <a:spcAft>
                <a:spcPts val="600"/>
              </a:spcAft>
            </a:pPr>
            <a:r>
              <a:rPr sz="1050" b="0" i="1">
                <a:solidFill>
                  <a:schemeClr val="bg1"/>
                </a:solidFill>
              </a:rPr>
              <a:t>Key: hop</a:t>
            </a:r>
          </a:p>
        </p:txBody>
      </p:sp>
      <p:cxnSp>
        <p:nvCxnSpPr>
          <p:cNvPr id="22" name="Connector 21"/>
          <p:cNvCxnSpPr/>
          <p:nvPr/>
        </p:nvCxnSpPr>
        <p:spPr>
          <a:xfrm>
            <a:off x="9418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 y="4800600"/>
            <a:ext cx="11247120" cy="7772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spcAft>
                <a:spcPts val="300"/>
              </a:spcAft>
            </a:pPr>
            <a:r>
              <a:rPr sz="1100" b="1" i="0">
                <a:solidFill>
                  <a:schemeClr val="accent6"/>
                </a:solidFill>
              </a:rPr>
              <a:t>TraceQL  </a:t>
            </a:r>
            <a:r>
              <a:rPr sz="1100" b="0" i="0">
                <a:solidFill>
                  <a:schemeClr val="bg1"/>
                </a:solidFill>
                <a:latin typeface="Courier New"/>
              </a:rPr>
              <a:t>{ span.upstream_cluster =~ ".*core-banking.poc.internal.*" &amp;&amp; status = error }</a:t>
            </a:r>
          </a:p>
          <a:p>
            <a:pPr algn="l">
              <a:spcAft>
                <a:spcPts val="300"/>
              </a:spcAft>
            </a:pPr>
            <a:r>
              <a:rPr sz="1100" b="1" i="0">
                <a:solidFill>
                  <a:schemeClr val="accent6"/>
                </a:solidFill>
              </a:rPr>
              <a:t>LogQL    </a:t>
            </a:r>
            <a:r>
              <a:rPr sz="1100" b="0" i="0">
                <a:solidFill>
                  <a:schemeClr val="bg1"/>
                </a:solidFill>
                <a:latin typeface="Courier New"/>
              </a:rPr>
              <a:t>{service_name="payments-svc"} | trace_id="2ba91a03eb16935db767e177972f85b8"</a:t>
            </a:r>
          </a:p>
        </p:txBody>
      </p:sp>
      <p:sp>
        <p:nvSpPr>
          <p:cNvPr id="24" name="TextBox 23"/>
          <p:cNvSpPr txBox="1"/>
          <p:nvPr/>
        </p:nvSpPr>
        <p:spPr>
          <a:xfrm>
            <a:off x="457200" y="571500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One-click links: Loki trace_id opens Tempo; Tempo spans open their Loki logs; Kiali opens traces; the red-dot dashboard links all three.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Four views on the same data</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pic>
        <p:nvPicPr>
          <p:cNvPr id="4" name="Picture 3" descr="kiali-graph.png"/>
          <p:cNvPicPr>
            <a:picLocks noChangeAspect="1"/>
          </p:cNvPicPr>
          <p:nvPr/>
        </p:nvPicPr>
        <p:blipFill>
          <a:blip r:embed="rId3"/>
          <a:stretch>
            <a:fillRect/>
          </a:stretch>
        </p:blipFill>
        <p:spPr>
          <a:xfrm>
            <a:off x="457200" y="1280160"/>
            <a:ext cx="3495527" cy="1920240"/>
          </a:xfrm>
          <a:prstGeom prst="rect">
            <a:avLst/>
          </a:prstGeom>
        </p:spPr>
      </p:pic>
      <p:pic>
        <p:nvPicPr>
          <p:cNvPr id="5" name="Picture 4" descr="grafana-journey.png"/>
          <p:cNvPicPr>
            <a:picLocks noChangeAspect="1"/>
          </p:cNvPicPr>
          <p:nvPr/>
        </p:nvPicPr>
        <p:blipFill>
          <a:blip r:embed="rId4"/>
          <a:stretch>
            <a:fillRect/>
          </a:stretch>
        </p:blipFill>
        <p:spPr>
          <a:xfrm>
            <a:off x="4227046" y="1280160"/>
            <a:ext cx="2603715" cy="1920240"/>
          </a:xfrm>
          <a:prstGeom prst="rect">
            <a:avLst/>
          </a:prstGeom>
        </p:spPr>
      </p:pic>
      <p:pic>
        <p:nvPicPr>
          <p:cNvPr id="6" name="Picture 5" descr="red-dot-dashboard.png"/>
          <p:cNvPicPr>
            <a:picLocks noChangeAspect="1"/>
          </p:cNvPicPr>
          <p:nvPr/>
        </p:nvPicPr>
        <p:blipFill>
          <a:blip r:embed="rId5"/>
          <a:stretch>
            <a:fillRect/>
          </a:stretch>
        </p:blipFill>
        <p:spPr>
          <a:xfrm>
            <a:off x="7105081" y="1280160"/>
            <a:ext cx="4608576" cy="1920240"/>
          </a:xfrm>
          <a:prstGeom prst="rect">
            <a:avLst/>
          </a:prstGeom>
        </p:spPr>
      </p:pic>
      <p:sp>
        <p:nvSpPr>
          <p:cNvPr id="7" name="TextBox 6"/>
          <p:cNvSpPr txBox="1"/>
          <p:nvPr/>
        </p:nvSpPr>
        <p:spPr>
          <a:xfrm>
            <a:off x="457200" y="3383280"/>
            <a:ext cx="3495526" cy="320040"/>
          </a:xfrm>
          <a:prstGeom prst="rect">
            <a:avLst/>
          </a:prstGeom>
          <a:noFill/>
        </p:spPr>
        <p:txBody>
          <a:bodyPr wrap="square" lIns="0" rIns="0" tIns="0" bIns="0" anchor="t">
            <a:spAutoFit/>
          </a:bodyPr>
          <a:lstStyle/>
          <a:p>
            <a:pPr algn="l">
              <a:spcAft>
                <a:spcPts val="400"/>
              </a:spcAft>
            </a:pPr>
            <a:r>
              <a:rPr sz="1350" b="1" i="0">
                <a:solidFill>
                  <a:schemeClr val="tx1"/>
                </a:solidFill>
              </a:rPr>
              <a:t>Kiali</a:t>
            </a:r>
          </a:p>
        </p:txBody>
      </p:sp>
      <p:sp>
        <p:nvSpPr>
          <p:cNvPr id="8" name="TextBox 7"/>
          <p:cNvSpPr txBox="1"/>
          <p:nvPr/>
        </p:nvSpPr>
        <p:spPr>
          <a:xfrm>
            <a:off x="457200" y="3703320"/>
            <a:ext cx="3495526" cy="731520"/>
          </a:xfrm>
          <a:prstGeom prst="rect">
            <a:avLst/>
          </a:prstGeom>
          <a:noFill/>
        </p:spPr>
        <p:txBody>
          <a:bodyPr wrap="square" lIns="0" rIns="0" tIns="0" bIns="0" anchor="t">
            <a:spAutoFit/>
          </a:bodyPr>
          <a:lstStyle/>
          <a:p>
            <a:pPr algn="l">
              <a:spcAft>
                <a:spcPts val="400"/>
              </a:spcAft>
            </a:pPr>
            <a:r>
              <a:rPr sz="1150" b="0" i="0">
                <a:solidFill>
                  <a:schemeClr val="tx2"/>
                </a:solidFill>
              </a:rPr>
              <a:t>Live graph from Prometheus; traces from Tempo per node. Audience: mesh engineers.</a:t>
            </a:r>
          </a:p>
        </p:txBody>
      </p:sp>
      <p:sp>
        <p:nvSpPr>
          <p:cNvPr id="9" name="TextBox 8"/>
          <p:cNvSpPr txBox="1"/>
          <p:nvPr/>
        </p:nvSpPr>
        <p:spPr>
          <a:xfrm>
            <a:off x="4227046" y="3383280"/>
            <a:ext cx="2603715" cy="320040"/>
          </a:xfrm>
          <a:prstGeom prst="rect">
            <a:avLst/>
          </a:prstGeom>
          <a:noFill/>
        </p:spPr>
        <p:txBody>
          <a:bodyPr wrap="square" lIns="0" rIns="0" tIns="0" bIns="0" anchor="t">
            <a:spAutoFit/>
          </a:bodyPr>
          <a:lstStyle/>
          <a:p>
            <a:pPr algn="l">
              <a:spcAft>
                <a:spcPts val="400"/>
              </a:spcAft>
            </a:pPr>
            <a:r>
              <a:rPr sz="1350" b="1" i="0">
                <a:solidFill>
                  <a:schemeClr val="tx1"/>
                </a:solidFill>
              </a:rPr>
              <a:t>Grafana journey dashboard</a:t>
            </a:r>
          </a:p>
        </p:txBody>
      </p:sp>
      <p:sp>
        <p:nvSpPr>
          <p:cNvPr id="10" name="TextBox 9"/>
          <p:cNvSpPr txBox="1"/>
          <p:nvPr/>
        </p:nvSpPr>
        <p:spPr>
          <a:xfrm>
            <a:off x="4227046" y="3703320"/>
            <a:ext cx="2603715" cy="731520"/>
          </a:xfrm>
          <a:prstGeom prst="rect">
            <a:avLst/>
          </a:prstGeom>
          <a:noFill/>
        </p:spPr>
        <p:txBody>
          <a:bodyPr wrap="square" lIns="0" rIns="0" tIns="0" bIns="0" anchor="t">
            <a:spAutoFit/>
          </a:bodyPr>
          <a:lstStyle/>
          <a:p>
            <a:pPr algn="l">
              <a:spcAft>
                <a:spcPts val="400"/>
              </a:spcAft>
            </a:pPr>
            <a:r>
              <a:rPr sz="1150" b="0" i="0">
                <a:solidFill>
                  <a:schemeClr val="tx2"/>
                </a:solidFill>
              </a:rPr>
              <a:t>Journey variable; hops, flags, Loki logs, Tempo traces. Audience: service owners.</a:t>
            </a:r>
          </a:p>
        </p:txBody>
      </p:sp>
      <p:sp>
        <p:nvSpPr>
          <p:cNvPr id="11" name="TextBox 10"/>
          <p:cNvSpPr txBox="1"/>
          <p:nvPr/>
        </p:nvSpPr>
        <p:spPr>
          <a:xfrm>
            <a:off x="7105081" y="3383280"/>
            <a:ext cx="4608576" cy="320040"/>
          </a:xfrm>
          <a:prstGeom prst="rect">
            <a:avLst/>
          </a:prstGeom>
          <a:noFill/>
        </p:spPr>
        <p:txBody>
          <a:bodyPr wrap="square" lIns="0" rIns="0" tIns="0" bIns="0" anchor="t">
            <a:spAutoFit/>
          </a:bodyPr>
          <a:lstStyle/>
          <a:p>
            <a:pPr algn="l">
              <a:spcAft>
                <a:spcPts val="400"/>
              </a:spcAft>
            </a:pPr>
            <a:r>
              <a:rPr sz="1350" b="1" i="0">
                <a:solidFill>
                  <a:schemeClr val="tx1"/>
                </a:solidFill>
              </a:rPr>
              <a:t>Red-dot dashboard</a:t>
            </a:r>
          </a:p>
        </p:txBody>
      </p:sp>
      <p:sp>
        <p:nvSpPr>
          <p:cNvPr id="12" name="TextBox 11"/>
          <p:cNvSpPr txBox="1"/>
          <p:nvPr/>
        </p:nvSpPr>
        <p:spPr>
          <a:xfrm>
            <a:off x="7105081" y="3703320"/>
            <a:ext cx="4608576" cy="731520"/>
          </a:xfrm>
          <a:prstGeom prst="rect">
            <a:avLst/>
          </a:prstGeom>
          <a:noFill/>
        </p:spPr>
        <p:txBody>
          <a:bodyPr wrap="square" lIns="0" rIns="0" tIns="0" bIns="0" anchor="t">
            <a:spAutoFit/>
          </a:bodyPr>
          <a:lstStyle/>
          <a:p>
            <a:pPr algn="l">
              <a:spcAft>
                <a:spcPts val="400"/>
              </a:spcAft>
            </a:pPr>
            <a:r>
              <a:rPr sz="1150" b="0" i="0">
                <a:solidFill>
                  <a:schemeClr val="tx2"/>
                </a:solidFill>
              </a:rPr>
              <a:t>Topology discovered from metrics; red dot, evidence and owner. Audience: NOC.</a:t>
            </a:r>
          </a:p>
        </p:txBody>
      </p:sp>
      <p:sp>
        <p:nvSpPr>
          <p:cNvPr id="13" name="Rounded Rectangle 12"/>
          <p:cNvSpPr/>
          <p:nvPr/>
        </p:nvSpPr>
        <p:spPr>
          <a:xfrm>
            <a:off x="457200" y="4754880"/>
            <a:ext cx="1124712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spcAft>
                <a:spcPts val="400"/>
              </a:spcAft>
            </a:pPr>
            <a:r>
              <a:rPr sz="1250" b="1" i="0">
                <a:solidFill>
                  <a:schemeClr val="tx1"/>
                </a:solidFill>
              </a:rPr>
              <a:t>Alertmanager (on-call): </a:t>
            </a:r>
            <a:r>
              <a:rPr sz="1250" b="0" i="0">
                <a:solidFill>
                  <a:schemeClr val="tx1"/>
                </a:solidFill>
              </a:rPr>
              <a:t>5 rules from Prometheus. Hop error rate over 5%, hop p95 over 1 s, TCP connect failures, journey error rate over 5%, journey p95 over 2 s. Each fires after 1 minute.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From symptom to owner in under two minutes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Oval 3"/>
          <p:cNvSpPr/>
          <p:nvPr/>
        </p:nvSpPr>
        <p:spPr>
          <a:xfrm>
            <a:off x="1325880" y="1325880"/>
            <a:ext cx="411480" cy="41148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0 s</a:t>
            </a:r>
          </a:p>
        </p:txBody>
      </p:sp>
      <p:sp>
        <p:nvSpPr>
          <p:cNvPr id="6" name="TextBox 5"/>
          <p:cNvSpPr txBox="1"/>
          <p:nvPr/>
        </p:nvSpPr>
        <p:spPr>
          <a:xfrm>
            <a:off x="457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Fault starts</a:t>
            </a:r>
          </a:p>
        </p:txBody>
      </p:sp>
      <p:sp>
        <p:nvSpPr>
          <p:cNvPr id="7" name="Oval 6"/>
          <p:cNvSpPr/>
          <p:nvPr/>
        </p:nvSpPr>
        <p:spPr>
          <a:xfrm>
            <a:off x="3611880"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1737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~30 s</a:t>
            </a:r>
          </a:p>
        </p:txBody>
      </p:sp>
      <p:sp>
        <p:nvSpPr>
          <p:cNvPr id="10" name="TextBox 9"/>
          <p:cNvSpPr txBox="1"/>
          <p:nvPr/>
        </p:nvSpPr>
        <p:spPr>
          <a:xfrm>
            <a:off x="2743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Edge turns red (1 m rate)</a:t>
            </a:r>
          </a:p>
        </p:txBody>
      </p:sp>
      <p:sp>
        <p:nvSpPr>
          <p:cNvPr id="11" name="Oval 10"/>
          <p:cNvSpPr/>
          <p:nvPr/>
        </p:nvSpPr>
        <p:spPr>
          <a:xfrm>
            <a:off x="5897880"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4023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~60-90 s</a:t>
            </a:r>
          </a:p>
        </p:txBody>
      </p:sp>
      <p:sp>
        <p:nvSpPr>
          <p:cNvPr id="14" name="TextBox 13"/>
          <p:cNvSpPr txBox="1"/>
          <p:nvPr/>
        </p:nvSpPr>
        <p:spPr>
          <a:xfrm>
            <a:off x="5029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Alert fires (for: 1m)</a:t>
            </a:r>
          </a:p>
        </p:txBody>
      </p:sp>
      <p:sp>
        <p:nvSpPr>
          <p:cNvPr id="15" name="Oval 14"/>
          <p:cNvSpPr/>
          <p:nvPr/>
        </p:nvSpPr>
        <p:spPr>
          <a:xfrm>
            <a:off x="8183879"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309360" y="1531620"/>
            <a:ext cx="1874519"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315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Seconds</a:t>
            </a:r>
          </a:p>
        </p:txBody>
      </p:sp>
      <p:sp>
        <p:nvSpPr>
          <p:cNvPr id="18" name="TextBox 17"/>
          <p:cNvSpPr txBox="1"/>
          <p:nvPr/>
        </p:nvSpPr>
        <p:spPr>
          <a:xfrm>
            <a:off x="7315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Trace + access-log flag</a:t>
            </a:r>
          </a:p>
        </p:txBody>
      </p:sp>
      <p:sp>
        <p:nvSpPr>
          <p:cNvPr id="19" name="Oval 18"/>
          <p:cNvSpPr/>
          <p:nvPr/>
        </p:nvSpPr>
        <p:spPr>
          <a:xfrm>
            <a:off x="10469880" y="1325880"/>
            <a:ext cx="411480" cy="4114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8595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601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Same view</a:t>
            </a:r>
          </a:p>
        </p:txBody>
      </p:sp>
      <p:sp>
        <p:nvSpPr>
          <p:cNvPr id="22" name="TextBox 21"/>
          <p:cNvSpPr txBox="1"/>
          <p:nvPr/>
        </p:nvSpPr>
        <p:spPr>
          <a:xfrm>
            <a:off x="9601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Owner team named</a:t>
            </a:r>
          </a:p>
        </p:txBody>
      </p:sp>
      <p:graphicFrame>
        <p:nvGraphicFramePr>
          <p:cNvPr id="23" name="Table 22"/>
          <p:cNvGraphicFramePr>
            <a:graphicFrameLocks noGrp="1"/>
          </p:cNvGraphicFramePr>
          <p:nvPr/>
        </p:nvGraphicFramePr>
        <p:xfrm>
          <a:off x="457200" y="2926080"/>
          <a:ext cx="11247120" cy="2651760"/>
        </p:xfrm>
        <a:graphic>
          <a:graphicData uri="http://schemas.openxmlformats.org/drawingml/2006/table">
            <a:tbl>
              <a:tblPr firstRow="0" bandRow="0">
                <a:tableStyleId>{5940675A-B579-460E-94D1-54222C63F5DA}</a:tableStyleId>
              </a:tblPr>
              <a:tblGrid>
                <a:gridCol w="2606040"/>
                <a:gridCol w="3611880"/>
                <a:gridCol w="1234440"/>
                <a:gridCol w="1463040"/>
                <a:gridCol w="2331720"/>
              </a:tblGrid>
              <a:tr h="530352">
                <a:tc>
                  <a:txBody>
                    <a:bodyPr wrap="square"/>
                    <a:lstStyle/>
                    <a:p>
                      <a:r>
                        <a:rPr sz="1100" b="1" i="0">
                          <a:solidFill>
                            <a:schemeClr val="bg1"/>
                          </a:solidFill>
                        </a:rPr>
                        <a:t>Scenario (injected)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Red dot found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Envoy flag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Alerts after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Routed to</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30352">
                <a:tc>
                  <a:txBody>
                    <a:bodyPr wrap="square"/>
                    <a:lstStyle/>
                    <a:p>
                      <a:r>
                        <a:rPr sz="1150" b="1" i="0">
                          <a:solidFill>
                            <a:schemeClr val="tx1"/>
                          </a:solidFill>
                        </a:rPr>
                        <a:t>Core banking slow (1-4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payments-svc to Core banking, 35-46% errors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accent3"/>
                          </a:solidFill>
                        </a:rPr>
                        <a:t>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82-96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Core banking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30352">
                <a:tc>
                  <a:txBody>
                    <a:bodyPr wrap="square"/>
                    <a:lstStyle/>
                    <a:p>
                      <a:r>
                        <a:rPr sz="1150" b="1" i="0">
                          <a:solidFill>
                            <a:schemeClr val="tx1"/>
                          </a:solidFill>
                        </a:rPr>
                        <a:t>Oracle DB unreachable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accounts-svc to Oracle DB (TCP)</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accent3"/>
                          </a:solidFill>
                        </a:rPr>
                        <a:t>UF, 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31-91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DBA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30352">
                <a:tc>
                  <a:txBody>
                    <a:bodyPr wrap="square"/>
                    <a:lstStyle/>
                    <a:p>
                      <a:r>
                        <a:rPr sz="1150" b="1" i="0">
                          <a:solidFill>
                            <a:schemeClr val="tx1"/>
                          </a:solidFill>
                        </a:rPr>
                        <a:t>Card switch down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cards-svc to Card switch, 100% errors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accent3"/>
                          </a:solidFill>
                        </a:rPr>
                        <a:t>UF, then UH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72-96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Card switch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30352">
                <a:tc>
                  <a:txBody>
                    <a:bodyPr wrap="square"/>
                    <a:lstStyle/>
                    <a:p>
                      <a:r>
                        <a:rPr sz="1150" b="1" i="0">
                          <a:solidFill>
                            <a:schemeClr val="tx1"/>
                          </a:solidFill>
                        </a:rPr>
                        <a:t>New service added, then broken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loans-svc to Credit bureau (discovered in 41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accent3"/>
                          </a:solidFill>
                        </a:rPr>
                        <a:t>UF, 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31 s to red dot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Credit bureau partner desk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bl>
          </a:graphicData>
        </a:graphic>
      </p:graphicFrame>
      <p:sp>
        <p:nvSpPr>
          <p:cNvPr id="24" name="TextBox 23"/>
          <p:cNvSpPr txBox="1"/>
          <p:nvPr/>
        </p:nvSpPr>
        <p:spPr>
          <a:xfrm>
            <a:off x="457200" y="57607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Each failure was found on the right hop, with the right flag, and routed to the right team.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Moving the POC to OpenShift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1</a:t>
            </a:r>
          </a:p>
        </p:txBody>
      </p:sp>
      <p:sp>
        <p:nvSpPr>
          <p:cNvPr id="6" name="TextBox 5"/>
          <p:cNvSpPr txBox="1"/>
          <p:nvPr/>
        </p:nvSpPr>
        <p:spPr>
          <a:xfrm>
            <a:off x="123444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Install</a:t>
            </a:r>
          </a:p>
        </p:txBody>
      </p:sp>
      <p:sp>
        <p:nvSpPr>
          <p:cNvPr id="7" name="TextBox 6"/>
          <p:cNvSpPr txBox="1"/>
          <p:nvPr/>
        </p:nvSpPr>
        <p:spPr>
          <a:xfrm>
            <a:off x="68580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OperatorHub (OLM) instead of Helm; no cert-manager, service-ca issues webhook certificates.</a:t>
            </a:r>
          </a:p>
        </p:txBody>
      </p:sp>
      <p:sp>
        <p:nvSpPr>
          <p:cNvPr id="8" name="Rounded Rectangle 7"/>
          <p:cNvSpPr/>
          <p:nvPr/>
        </p:nvSpPr>
        <p:spPr>
          <a:xfrm>
            <a:off x="425196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48056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2</a:t>
            </a:r>
          </a:p>
        </p:txBody>
      </p:sp>
      <p:sp>
        <p:nvSpPr>
          <p:cNvPr id="10" name="TextBox 9"/>
          <p:cNvSpPr txBox="1"/>
          <p:nvPr/>
        </p:nvSpPr>
        <p:spPr>
          <a:xfrm>
            <a:off x="502920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Metrics</a:t>
            </a:r>
          </a:p>
        </p:txBody>
      </p:sp>
      <p:sp>
        <p:nvSpPr>
          <p:cNvPr id="11" name="TextBox 10"/>
          <p:cNvSpPr txBox="1"/>
          <p:nvPr/>
        </p:nvSpPr>
        <p:spPr>
          <a:xfrm>
            <a:off x="448056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Do not install kube-prometheus-stack. Enable user workload monitoring; query Thanos Querier with a token.</a:t>
            </a:r>
          </a:p>
        </p:txBody>
      </p:sp>
      <p:sp>
        <p:nvSpPr>
          <p:cNvPr id="12" name="Rounded Rectangle 11"/>
          <p:cNvSpPr/>
          <p:nvPr/>
        </p:nvSpPr>
        <p:spPr>
          <a:xfrm>
            <a:off x="804672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7532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3</a:t>
            </a:r>
          </a:p>
        </p:txBody>
      </p:sp>
      <p:sp>
        <p:nvSpPr>
          <p:cNvPr id="14" name="TextBox 13"/>
          <p:cNvSpPr txBox="1"/>
          <p:nvPr/>
        </p:nvSpPr>
        <p:spPr>
          <a:xfrm>
            <a:off x="882396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Storage</a:t>
            </a:r>
          </a:p>
        </p:txBody>
      </p:sp>
      <p:sp>
        <p:nvSpPr>
          <p:cNvPr id="15" name="TextBox 14"/>
          <p:cNvSpPr txBox="1"/>
          <p:nvPr/>
        </p:nvSpPr>
        <p:spPr>
          <a:xfrm>
            <a:off x="827532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TempoStack and LokiStack on S3-compatible object storage; persistent Prometheus.</a:t>
            </a:r>
          </a:p>
        </p:txBody>
      </p:sp>
      <p:sp>
        <p:nvSpPr>
          <p:cNvPr id="16" name="Rounded Rectangle 15"/>
          <p:cNvSpPr/>
          <p:nvPr/>
        </p:nvSpPr>
        <p:spPr>
          <a:xfrm>
            <a:off x="45720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85800" y="3749039"/>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4</a:t>
            </a:r>
          </a:p>
        </p:txBody>
      </p:sp>
      <p:sp>
        <p:nvSpPr>
          <p:cNvPr id="18" name="TextBox 17"/>
          <p:cNvSpPr txBox="1"/>
          <p:nvPr/>
        </p:nvSpPr>
        <p:spPr>
          <a:xfrm>
            <a:off x="123444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Exposure</a:t>
            </a:r>
          </a:p>
        </p:txBody>
      </p:sp>
      <p:sp>
        <p:nvSpPr>
          <p:cNvPr id="19" name="TextBox 18"/>
          <p:cNvSpPr txBox="1"/>
          <p:nvPr/>
        </p:nvSpPr>
        <p:spPr>
          <a:xfrm>
            <a:off x="68580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Routes with OAuth instead of NodePorts; Kiali uses the openshift auth strategy.</a:t>
            </a:r>
          </a:p>
        </p:txBody>
      </p:sp>
      <p:sp>
        <p:nvSpPr>
          <p:cNvPr id="20" name="Rounded Rectangle 19"/>
          <p:cNvSpPr/>
          <p:nvPr/>
        </p:nvSpPr>
        <p:spPr>
          <a:xfrm>
            <a:off x="425196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80560" y="3749039"/>
            <a:ext cx="384048" cy="384048"/>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5</a:t>
            </a:r>
          </a:p>
        </p:txBody>
      </p:sp>
      <p:sp>
        <p:nvSpPr>
          <p:cNvPr id="22" name="TextBox 21"/>
          <p:cNvSpPr txBox="1"/>
          <p:nvPr/>
        </p:nvSpPr>
        <p:spPr>
          <a:xfrm>
            <a:off x="502920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External TLS</a:t>
            </a:r>
          </a:p>
        </p:txBody>
      </p:sp>
      <p:sp>
        <p:nvSpPr>
          <p:cNvPr id="23" name="TextBox 22"/>
          <p:cNvSpPr txBox="1"/>
          <p:nvPr/>
        </p:nvSpPr>
        <p:spPr>
          <a:xfrm>
            <a:off x="448056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Bank CA in a ConfigMap, credentialName configmap://. A Secret without workloadSelector is ignored.</a:t>
            </a:r>
          </a:p>
        </p:txBody>
      </p:sp>
      <p:sp>
        <p:nvSpPr>
          <p:cNvPr id="24" name="Rounded Rectangle 23"/>
          <p:cNvSpPr/>
          <p:nvPr/>
        </p:nvSpPr>
        <p:spPr>
          <a:xfrm>
            <a:off x="804672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75320" y="3749039"/>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6</a:t>
            </a:r>
          </a:p>
        </p:txBody>
      </p:sp>
      <p:sp>
        <p:nvSpPr>
          <p:cNvPr id="26" name="TextBox 25"/>
          <p:cNvSpPr txBox="1"/>
          <p:nvPr/>
        </p:nvSpPr>
        <p:spPr>
          <a:xfrm>
            <a:off x="882396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Unchanged</a:t>
            </a:r>
          </a:p>
        </p:txBody>
      </p:sp>
      <p:sp>
        <p:nvSpPr>
          <p:cNvPr id="27" name="TextBox 26"/>
          <p:cNvSpPr txBox="1"/>
          <p:nvPr/>
        </p:nvSpPr>
        <p:spPr>
          <a:xfrm>
            <a:off x="827532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Istio, IstioCNI, Telemetry, ServiceEntries, OTel CRs, TempoMonolithic, PodMonitors, alert rules.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Implementation steps</a:t>
            </a:r>
            <a:endParaRPr lang="en-US" sz="3000" dirty="0"/>
          </a:p>
        </p:txBody>
      </p:sp>
      <p:sp>
        <p:nvSpPr>
          <p:cNvPr id="3" name="Step 1"/>
          <p:cNvSpPr/>
          <p:nvPr/>
        </p:nvSpPr>
        <p:spPr>
          <a:xfrm>
            <a:off x="45720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4" name="Shape 2"/>
          <p:cNvSpPr/>
          <p:nvPr/>
        </p:nvSpPr>
        <p:spPr>
          <a:xfrm>
            <a:off x="685800" y="1554480"/>
            <a:ext cx="502920" cy="502920"/>
          </a:xfrm>
          <a:prstGeom prst="ellipse">
            <a:avLst/>
          </a:prstGeom>
          <a:solidFill>
            <a:schemeClr val="accent2"/>
          </a:solidFill>
          <a:ln w="6350">
            <a:solidFill>
              <a:schemeClr val="accent2"/>
            </a:solidFill>
            <a:prstDash val="solid"/>
          </a:ln>
        </p:spPr>
        <p:txBody>
          <a:bodyPr/>
          <a:p/>
        </p:txBody>
      </p:sp>
      <p:sp>
        <p:nvSpPr>
          <p:cNvPr id="5" name="Text 3"/>
          <p:cNvSpPr txBox="1"/>
          <p:nvPr/>
        </p:nvSpPr>
        <p:spPr>
          <a:xfrm>
            <a:off x="68580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68580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Enable user workload monitoring</a:t>
            </a:r>
            <a:endParaRPr lang="en-US" sz="1500" dirty="0"/>
          </a:p>
        </p:txBody>
      </p:sp>
      <p:sp>
        <p:nvSpPr>
          <p:cNvPr id="7" name="Text 5"/>
          <p:cNvSpPr txBox="1"/>
          <p:nvPr/>
        </p:nvSpPr>
        <p:spPr>
          <a:xfrm>
            <a:off x="68580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cluster-monitoring-config: enableUserWorkload</a:t>
            </a:r>
            <a:endParaRPr lang="en-US" sz="1200" dirty="0"/>
          </a:p>
        </p:txBody>
      </p:sp>
      <p:sp>
        <p:nvSpPr>
          <p:cNvPr id="8" name="Step 2"/>
          <p:cNvSpPr/>
          <p:nvPr/>
        </p:nvSpPr>
        <p:spPr>
          <a:xfrm>
            <a:off x="333756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9" name="Shape 7"/>
          <p:cNvSpPr/>
          <p:nvPr/>
        </p:nvSpPr>
        <p:spPr>
          <a:xfrm>
            <a:off x="3566160" y="1554480"/>
            <a:ext cx="502920" cy="502920"/>
          </a:xfrm>
          <a:prstGeom prst="ellipse">
            <a:avLst/>
          </a:prstGeom>
          <a:solidFill>
            <a:schemeClr val="accent2"/>
          </a:solidFill>
          <a:ln w="6350">
            <a:solidFill>
              <a:schemeClr val="accent2"/>
            </a:solidFill>
            <a:prstDash val="solid"/>
          </a:ln>
        </p:spPr>
        <p:txBody>
          <a:bodyPr/>
          <a:p/>
        </p:txBody>
      </p:sp>
      <p:sp>
        <p:nvSpPr>
          <p:cNvPr id="10" name="Text 8"/>
          <p:cNvSpPr txBox="1"/>
          <p:nvPr/>
        </p:nvSpPr>
        <p:spPr>
          <a:xfrm>
            <a:off x="356616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356616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Scrape the mesh</a:t>
            </a:r>
            <a:endParaRPr lang="en-US" sz="1500" dirty="0"/>
          </a:p>
        </p:txBody>
      </p:sp>
      <p:sp>
        <p:nvSpPr>
          <p:cNvPr id="12" name="Text 10"/>
          <p:cNvSpPr txBox="1"/>
          <p:nvPr/>
        </p:nvSpPr>
        <p:spPr>
          <a:xfrm>
            <a:off x="356616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PodMonitor for sidecars, ServiceMonitor for istiod</a:t>
            </a:r>
            <a:endParaRPr lang="en-US" sz="1200" dirty="0"/>
          </a:p>
        </p:txBody>
      </p:sp>
      <p:sp>
        <p:nvSpPr>
          <p:cNvPr id="13" name="Step 3"/>
          <p:cNvSpPr/>
          <p:nvPr/>
        </p:nvSpPr>
        <p:spPr>
          <a:xfrm>
            <a:off x="621792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14" name="Shape 12"/>
          <p:cNvSpPr/>
          <p:nvPr/>
        </p:nvSpPr>
        <p:spPr>
          <a:xfrm>
            <a:off x="6446520" y="1554480"/>
            <a:ext cx="502920" cy="502920"/>
          </a:xfrm>
          <a:prstGeom prst="ellipse">
            <a:avLst/>
          </a:prstGeom>
          <a:solidFill>
            <a:schemeClr val="accent2"/>
          </a:solidFill>
          <a:ln w="6350">
            <a:solidFill>
              <a:schemeClr val="accent2"/>
            </a:solidFill>
            <a:prstDash val="solid"/>
          </a:ln>
        </p:spPr>
        <p:txBody>
          <a:bodyPr/>
          <a:p/>
        </p:txBody>
      </p:sp>
      <p:sp>
        <p:nvSpPr>
          <p:cNvPr id="15" name="Text 13"/>
          <p:cNvSpPr txBox="1"/>
          <p:nvPr/>
        </p:nvSpPr>
        <p:spPr>
          <a:xfrm>
            <a:off x="644652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644652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Connect Kiali</a:t>
            </a:r>
            <a:endParaRPr lang="en-US" sz="1500" dirty="0"/>
          </a:p>
        </p:txBody>
      </p:sp>
      <p:sp>
        <p:nvSpPr>
          <p:cNvPr id="17" name="Text 15"/>
          <p:cNvSpPr txBox="1"/>
          <p:nvPr/>
        </p:nvSpPr>
        <p:spPr>
          <a:xfrm>
            <a:off x="644652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Point to Thanos Querier; service graph live</a:t>
            </a:r>
            <a:endParaRPr lang="en-US" sz="1200" dirty="0"/>
          </a:p>
        </p:txBody>
      </p:sp>
      <p:sp>
        <p:nvSpPr>
          <p:cNvPr id="18" name="Step 4"/>
          <p:cNvSpPr/>
          <p:nvPr/>
        </p:nvSpPr>
        <p:spPr>
          <a:xfrm>
            <a:off x="909828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19" name="Shape 17"/>
          <p:cNvSpPr/>
          <p:nvPr/>
        </p:nvSpPr>
        <p:spPr>
          <a:xfrm>
            <a:off x="9326880" y="1554480"/>
            <a:ext cx="502920" cy="502920"/>
          </a:xfrm>
          <a:prstGeom prst="ellipse">
            <a:avLst/>
          </a:prstGeom>
          <a:solidFill>
            <a:schemeClr val="accent1"/>
          </a:solidFill>
          <a:ln w="6350">
            <a:solidFill>
              <a:schemeClr val="accent1"/>
            </a:solidFill>
            <a:prstDash val="solid"/>
          </a:ln>
        </p:spPr>
        <p:txBody>
          <a:bodyPr/>
          <a:p/>
        </p:txBody>
      </p:sp>
      <p:sp>
        <p:nvSpPr>
          <p:cNvPr id="20" name="Text 18"/>
          <p:cNvSpPr txBox="1"/>
          <p:nvPr/>
        </p:nvSpPr>
        <p:spPr>
          <a:xfrm>
            <a:off x="932688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932688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Deploy trace and log stores</a:t>
            </a:r>
            <a:endParaRPr lang="en-US" sz="1500" dirty="0"/>
          </a:p>
        </p:txBody>
      </p:sp>
      <p:sp>
        <p:nvSpPr>
          <p:cNvPr id="22" name="Text 20"/>
          <p:cNvSpPr txBox="1"/>
          <p:nvPr/>
        </p:nvSpPr>
        <p:spPr>
          <a:xfrm>
            <a:off x="932688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Tempo, Loki and Red Hat build of OpenTelemetry</a:t>
            </a:r>
            <a:endParaRPr lang="en-US" sz="1200" dirty="0"/>
          </a:p>
        </p:txBody>
      </p:sp>
      <p:sp>
        <p:nvSpPr>
          <p:cNvPr id="23" name="Step 5"/>
          <p:cNvSpPr/>
          <p:nvPr/>
        </p:nvSpPr>
        <p:spPr>
          <a:xfrm>
            <a:off x="45720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24" name="Shape 22"/>
          <p:cNvSpPr/>
          <p:nvPr/>
        </p:nvSpPr>
        <p:spPr>
          <a:xfrm>
            <a:off x="685800" y="3977640"/>
            <a:ext cx="502920" cy="502920"/>
          </a:xfrm>
          <a:prstGeom prst="ellipse">
            <a:avLst/>
          </a:prstGeom>
          <a:solidFill>
            <a:schemeClr val="accent1"/>
          </a:solidFill>
          <a:ln w="6350">
            <a:solidFill>
              <a:schemeClr val="accent1"/>
            </a:solidFill>
            <a:prstDash val="solid"/>
          </a:ln>
        </p:spPr>
        <p:txBody>
          <a:bodyPr/>
          <a:p/>
        </p:txBody>
      </p:sp>
      <p:sp>
        <p:nvSpPr>
          <p:cNvPr id="25" name="Text 23"/>
          <p:cNvSpPr txBox="1"/>
          <p:nvPr/>
        </p:nvSpPr>
        <p:spPr>
          <a:xfrm>
            <a:off x="68580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 24"/>
          <p:cNvSpPr txBox="1"/>
          <p:nvPr/>
        </p:nvSpPr>
        <p:spPr>
          <a:xfrm>
            <a:off x="68580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Send traces and access logs</a:t>
            </a:r>
            <a:endParaRPr lang="en-US" sz="1500" dirty="0"/>
          </a:p>
        </p:txBody>
      </p:sp>
      <p:sp>
        <p:nvSpPr>
          <p:cNvPr id="27" name="Text 25"/>
          <p:cNvSpPr txBox="1"/>
          <p:nvPr/>
        </p:nvSpPr>
        <p:spPr>
          <a:xfrm>
            <a:off x="68580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Telemetry API providers; tail sampling keeps all errors</a:t>
            </a:r>
            <a:endParaRPr lang="en-US" sz="1200" dirty="0"/>
          </a:p>
        </p:txBody>
      </p:sp>
      <p:sp>
        <p:nvSpPr>
          <p:cNvPr id="28" name="Step 6"/>
          <p:cNvSpPr/>
          <p:nvPr/>
        </p:nvSpPr>
        <p:spPr>
          <a:xfrm>
            <a:off x="333756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29" name="Shape 27"/>
          <p:cNvSpPr/>
          <p:nvPr/>
        </p:nvSpPr>
        <p:spPr>
          <a:xfrm>
            <a:off x="3566160" y="3977640"/>
            <a:ext cx="502920" cy="502920"/>
          </a:xfrm>
          <a:prstGeom prst="ellipse">
            <a:avLst/>
          </a:prstGeom>
          <a:solidFill>
            <a:schemeClr val="accent1"/>
          </a:solidFill>
          <a:ln w="6350">
            <a:solidFill>
              <a:schemeClr val="accent1"/>
            </a:solidFill>
            <a:prstDash val="solid"/>
          </a:ln>
        </p:spPr>
        <p:txBody>
          <a:bodyPr/>
          <a:p/>
        </p:txBody>
      </p:sp>
      <p:sp>
        <p:nvSpPr>
          <p:cNvPr id="30" name="Text 28"/>
          <p:cNvSpPr txBox="1"/>
          <p:nvPr/>
        </p:nvSpPr>
        <p:spPr>
          <a:xfrm>
            <a:off x="356616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9"/>
          <p:cNvSpPr txBox="1"/>
          <p:nvPr/>
        </p:nvSpPr>
        <p:spPr>
          <a:xfrm>
            <a:off x="356616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Fix trace propagation</a:t>
            </a:r>
            <a:endParaRPr lang="en-US" sz="1500" dirty="0"/>
          </a:p>
        </p:txBody>
      </p:sp>
      <p:sp>
        <p:nvSpPr>
          <p:cNvPr id="32" name="Text 30"/>
          <p:cNvSpPr txBox="1"/>
          <p:nvPr/>
        </p:nvSpPr>
        <p:spPr>
          <a:xfrm>
            <a:off x="356616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OTel auto-instrumentation via annotations</a:t>
            </a:r>
            <a:endParaRPr lang="en-US" sz="1200" dirty="0"/>
          </a:p>
        </p:txBody>
      </p:sp>
      <p:sp>
        <p:nvSpPr>
          <p:cNvPr id="33" name="Step 7"/>
          <p:cNvSpPr/>
          <p:nvPr/>
        </p:nvSpPr>
        <p:spPr>
          <a:xfrm>
            <a:off x="621792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34" name="Shape 32"/>
          <p:cNvSpPr/>
          <p:nvPr/>
        </p:nvSpPr>
        <p:spPr>
          <a:xfrm>
            <a:off x="6446520" y="3977640"/>
            <a:ext cx="502920" cy="502920"/>
          </a:xfrm>
          <a:prstGeom prst="ellipse">
            <a:avLst/>
          </a:prstGeom>
          <a:solidFill>
            <a:schemeClr val="accent4"/>
          </a:solidFill>
          <a:ln w="6350">
            <a:solidFill>
              <a:schemeClr val="accent4"/>
            </a:solidFill>
            <a:prstDash val="solid"/>
          </a:ln>
        </p:spPr>
        <p:txBody>
          <a:bodyPr/>
          <a:p/>
        </p:txBody>
      </p:sp>
      <p:sp>
        <p:nvSpPr>
          <p:cNvPr id="35" name="Text 33"/>
          <p:cNvSpPr txBox="1"/>
          <p:nvPr/>
        </p:nvSpPr>
        <p:spPr>
          <a:xfrm>
            <a:off x="644652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4"/>
          <p:cNvSpPr txBox="1"/>
          <p:nvPr/>
        </p:nvSpPr>
        <p:spPr>
          <a:xfrm>
            <a:off x="644652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Register externals</a:t>
            </a:r>
            <a:endParaRPr lang="en-US" sz="1500" dirty="0"/>
          </a:p>
        </p:txBody>
      </p:sp>
      <p:sp>
        <p:nvSpPr>
          <p:cNvPr id="37" name="Text 35"/>
          <p:cNvSpPr txBox="1"/>
          <p:nvPr/>
        </p:nvSpPr>
        <p:spPr>
          <a:xfrm>
            <a:off x="644652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ServiceEntries, DestinationRules for TLS</a:t>
            </a:r>
            <a:endParaRPr lang="en-US" sz="1200" dirty="0"/>
          </a:p>
        </p:txBody>
      </p:sp>
      <p:sp>
        <p:nvSpPr>
          <p:cNvPr id="38" name="Step 8"/>
          <p:cNvSpPr/>
          <p:nvPr/>
        </p:nvSpPr>
        <p:spPr>
          <a:xfrm>
            <a:off x="909828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39" name="Shape 37"/>
          <p:cNvSpPr/>
          <p:nvPr/>
        </p:nvSpPr>
        <p:spPr>
          <a:xfrm>
            <a:off x="9326880" y="3977640"/>
            <a:ext cx="502920" cy="502920"/>
          </a:xfrm>
          <a:prstGeom prst="ellipse">
            <a:avLst/>
          </a:prstGeom>
          <a:solidFill>
            <a:schemeClr val="accent4"/>
          </a:solidFill>
          <a:ln w="6350">
            <a:solidFill>
              <a:schemeClr val="accent4"/>
            </a:solidFill>
            <a:prstDash val="solid"/>
          </a:ln>
        </p:spPr>
        <p:txBody>
          <a:bodyPr/>
          <a:p/>
        </p:txBody>
      </p:sp>
      <p:sp>
        <p:nvSpPr>
          <p:cNvPr id="40" name="Text 38"/>
          <p:cNvSpPr txBox="1"/>
          <p:nvPr/>
        </p:nvSpPr>
        <p:spPr>
          <a:xfrm>
            <a:off x="932688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1" name="Text 39"/>
          <p:cNvSpPr txBox="1"/>
          <p:nvPr/>
        </p:nvSpPr>
        <p:spPr>
          <a:xfrm>
            <a:off x="932688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Verify end to end</a:t>
            </a:r>
            <a:endParaRPr lang="en-US" sz="1500" dirty="0"/>
          </a:p>
        </p:txBody>
      </p:sp>
      <p:sp>
        <p:nvSpPr>
          <p:cNvPr id="42" name="Text 40"/>
          <p:cNvSpPr txBox="1"/>
          <p:nvPr/>
        </p:nvSpPr>
        <p:spPr>
          <a:xfrm>
            <a:off x="932688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Kiali nodes named, one unbroken trace</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457200"/>
            <a:ext cx="10698480" cy="822960"/>
          </a:xfrm>
          <a:prstGeom prst="rect">
            <a:avLst/>
          </a:prstGeom>
          <a:noFill/>
          <a:ln/>
        </p:spPr>
        <p:txBody>
          <a:bodyPr wrap="square" lIns="0" tIns="0" rIns="0" bIns="0" rtlCol="0" anchor="ctr"/>
          <a:lstStyle/>
          <a:p>
            <a:pPr indent="0" marL="0">
              <a:buNone/>
            </a:pPr>
            <a:r>
              <a:rPr lang="en-US" sz="3400" b="1" dirty="0">
                <a:solidFill>
                  <a:schemeClr val="bg1"/>
                </a:solidFill>
              </a:rPr>
              <a:t>Start with one journey, then scale</a:t>
            </a:r>
            <a:endParaRPr lang="en-US" sz="3400" dirty="0"/>
          </a:p>
        </p:txBody>
      </p:sp>
      <p:sp>
        <p:nvSpPr>
          <p:cNvPr id="3" name="Shape 1"/>
          <p:cNvSpPr/>
          <p:nvPr/>
        </p:nvSpPr>
        <p:spPr>
          <a:xfrm>
            <a:off x="731520" y="1691640"/>
            <a:ext cx="548640" cy="548640"/>
          </a:xfrm>
          <a:prstGeom prst="ellipse">
            <a:avLst/>
          </a:prstGeom>
          <a:solidFill>
            <a:schemeClr val="accent3"/>
          </a:solidFill>
          <a:ln w="6350">
            <a:solidFill>
              <a:schemeClr val="accent3"/>
            </a:solidFill>
            <a:prstDash val="solid"/>
          </a:ln>
        </p:spPr>
      </p:sp>
      <p:sp>
        <p:nvSpPr>
          <p:cNvPr id="4" name="Text 2"/>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hape 3"/>
          <p:cNvSpPr/>
          <p:nvPr/>
        </p:nvSpPr>
        <p:spPr>
          <a:xfrm>
            <a:off x="1325880" y="1965960"/>
            <a:ext cx="914400" cy="0"/>
          </a:xfrm>
          <a:prstGeom prst="line">
            <a:avLst/>
          </a:prstGeom>
          <a:noFill/>
          <a:ln w="15875">
            <a:solidFill>
              <a:schemeClr val="tx2"/>
            </a:solidFill>
            <a:prstDash val="solid"/>
          </a:ln>
        </p:spPr>
      </p:sp>
      <p:sp>
        <p:nvSpPr>
          <p:cNvPr id="6" name="Shape 4"/>
          <p:cNvSpPr/>
          <p:nvPr/>
        </p:nvSpPr>
        <p:spPr>
          <a:xfrm>
            <a:off x="2240280" y="1691640"/>
            <a:ext cx="548640" cy="548640"/>
          </a:xfrm>
          <a:prstGeom prst="ellipse">
            <a:avLst/>
          </a:prstGeom>
          <a:solidFill>
            <a:schemeClr val="accent1"/>
          </a:solidFill>
          <a:ln w="6350">
            <a:solidFill>
              <a:schemeClr val="accent1"/>
            </a:solidFill>
            <a:prstDash val="solid"/>
          </a:ln>
        </p:spPr>
      </p:sp>
      <p:sp>
        <p:nvSpPr>
          <p:cNvPr id="7" name="Text 5"/>
          <p:cNvSpPr txBox="1"/>
          <p:nvPr/>
        </p:nvSpPr>
        <p:spPr>
          <a:xfrm>
            <a:off x="224028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hape 6"/>
          <p:cNvSpPr/>
          <p:nvPr/>
        </p:nvSpPr>
        <p:spPr>
          <a:xfrm>
            <a:off x="2834640" y="1965960"/>
            <a:ext cx="914400" cy="0"/>
          </a:xfrm>
          <a:prstGeom prst="line">
            <a:avLst/>
          </a:prstGeom>
          <a:noFill/>
          <a:ln w="15875">
            <a:solidFill>
              <a:schemeClr val="tx2"/>
            </a:solidFill>
            <a:prstDash val="solid"/>
          </a:ln>
        </p:spPr>
      </p:sp>
      <p:sp>
        <p:nvSpPr>
          <p:cNvPr id="9" name="Shape 7"/>
          <p:cNvSpPr/>
          <p:nvPr/>
        </p:nvSpPr>
        <p:spPr>
          <a:xfrm>
            <a:off x="3749040" y="1691640"/>
            <a:ext cx="548640" cy="548640"/>
          </a:xfrm>
          <a:prstGeom prst="ellipse">
            <a:avLst/>
          </a:prstGeom>
          <a:solidFill>
            <a:schemeClr val="accent1"/>
          </a:solidFill>
          <a:ln w="6350">
            <a:solidFill>
              <a:schemeClr val="accent1"/>
            </a:solidFill>
            <a:prstDash val="solid"/>
          </a:ln>
        </p:spPr>
      </p:sp>
      <p:sp>
        <p:nvSpPr>
          <p:cNvPr id="10" name="Text 8"/>
          <p:cNvSpPr txBox="1"/>
          <p:nvPr/>
        </p:nvSpPr>
        <p:spPr>
          <a:xfrm>
            <a:off x="374904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hape 9"/>
          <p:cNvSpPr/>
          <p:nvPr/>
        </p:nvSpPr>
        <p:spPr>
          <a:xfrm>
            <a:off x="4343400" y="1965960"/>
            <a:ext cx="914400" cy="0"/>
          </a:xfrm>
          <a:prstGeom prst="line">
            <a:avLst/>
          </a:prstGeom>
          <a:noFill/>
          <a:ln w="15875">
            <a:solidFill>
              <a:schemeClr val="tx2"/>
            </a:solidFill>
            <a:prstDash val="solid"/>
          </a:ln>
        </p:spPr>
      </p:sp>
      <p:sp>
        <p:nvSpPr>
          <p:cNvPr id="12" name="Shape 10"/>
          <p:cNvSpPr/>
          <p:nvPr/>
        </p:nvSpPr>
        <p:spPr>
          <a:xfrm>
            <a:off x="5257800" y="1691640"/>
            <a:ext cx="548640" cy="548640"/>
          </a:xfrm>
          <a:prstGeom prst="ellipse">
            <a:avLst/>
          </a:prstGeom>
          <a:solidFill>
            <a:schemeClr val="accent1"/>
          </a:solidFill>
          <a:ln w="6350">
            <a:solidFill>
              <a:schemeClr val="accent1"/>
            </a:solidFill>
            <a:prstDash val="solid"/>
          </a:ln>
        </p:spPr>
      </p:sp>
      <p:sp>
        <p:nvSpPr>
          <p:cNvPr id="13" name="Text 11"/>
          <p:cNvSpPr txBox="1"/>
          <p:nvPr/>
        </p:nvSpPr>
        <p:spPr>
          <a:xfrm>
            <a:off x="525780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ext 12"/>
          <p:cNvSpPr txBox="1"/>
          <p:nvPr/>
        </p:nvSpPr>
        <p:spPr>
          <a:xfrm>
            <a:off x="68580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Pilot</a:t>
            </a:r>
            <a:endParaRPr lang="en-US" sz="1500" dirty="0"/>
          </a:p>
          <a:p>
            <a:pPr indent="0" marL="0">
              <a:buNone/>
            </a:pPr>
            <a:r>
              <a:rPr lang="en-US" sz="1200" dirty="0">
                <a:solidFill>
                  <a:schemeClr val="accent6"/>
                </a:solidFill>
              </a:rPr>
              <a:t>One critical journey, e.g. mobile fund transfer</a:t>
            </a:r>
            <a:endParaRPr lang="en-US" sz="1500" dirty="0"/>
          </a:p>
        </p:txBody>
      </p:sp>
      <p:sp>
        <p:nvSpPr>
          <p:cNvPr id="15" name="Text 13"/>
          <p:cNvSpPr txBox="1"/>
          <p:nvPr/>
        </p:nvSpPr>
        <p:spPr>
          <a:xfrm>
            <a:off x="219456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Validate</a:t>
            </a:r>
            <a:endParaRPr lang="en-US" sz="1500" dirty="0"/>
          </a:p>
          <a:p>
            <a:pPr indent="0" marL="0">
              <a:buNone/>
            </a:pPr>
            <a:r>
              <a:rPr lang="en-US" sz="1200" dirty="0">
                <a:solidFill>
                  <a:schemeClr val="accent6"/>
                </a:solidFill>
              </a:rPr>
              <a:t>Unbroken traces, named external nodes</a:t>
            </a:r>
            <a:endParaRPr lang="en-US" sz="1500" dirty="0"/>
          </a:p>
        </p:txBody>
      </p:sp>
      <p:sp>
        <p:nvSpPr>
          <p:cNvPr id="16" name="Text 14"/>
          <p:cNvSpPr txBox="1"/>
          <p:nvPr/>
        </p:nvSpPr>
        <p:spPr>
          <a:xfrm>
            <a:off x="370332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Roll out</a:t>
            </a:r>
            <a:endParaRPr lang="en-US" sz="1500" dirty="0"/>
          </a:p>
          <a:p>
            <a:pPr indent="0" marL="0">
              <a:buNone/>
            </a:pPr>
            <a:r>
              <a:rPr lang="en-US" sz="1200" dirty="0">
                <a:solidFill>
                  <a:schemeClr val="accent6"/>
                </a:solidFill>
              </a:rPr>
              <a:t>Namespace by namespace</a:t>
            </a:r>
            <a:endParaRPr lang="en-US" sz="1500" dirty="0"/>
          </a:p>
        </p:txBody>
      </p:sp>
      <p:sp>
        <p:nvSpPr>
          <p:cNvPr id="17" name="Text 15"/>
          <p:cNvSpPr txBox="1"/>
          <p:nvPr/>
        </p:nvSpPr>
        <p:spPr>
          <a:xfrm>
            <a:off x="521208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Tune</a:t>
            </a:r>
            <a:endParaRPr lang="en-US" sz="1500" dirty="0"/>
          </a:p>
          <a:p>
            <a:pPr indent="0" marL="0">
              <a:buNone/>
            </a:pPr>
            <a:r>
              <a:rPr lang="en-US" sz="1200" dirty="0">
                <a:solidFill>
                  <a:schemeClr val="accent6"/>
                </a:solidFill>
              </a:rPr>
              <a:t>Sampling, alert thresholds, dashboards</a:t>
            </a:r>
            <a:endParaRPr lang="en-US" sz="1500" dirty="0"/>
          </a:p>
        </p:txBody>
      </p:sp>
      <p:sp>
        <p:nvSpPr>
          <p:cNvPr id="18" name="Decisions card"/>
          <p:cNvSpPr/>
          <p:nvPr/>
        </p:nvSpPr>
        <p:spPr>
          <a:xfrm>
            <a:off x="7040880" y="1554480"/>
            <a:ext cx="4389120" cy="4389120"/>
          </a:xfrm>
          <a:prstGeom prst="roundRect">
            <a:avLst>
              <a:gd name="adj" fmla="val 2083"/>
            </a:avLst>
          </a:prstGeom>
          <a:solidFill>
            <a:schemeClr val="tx2"/>
          </a:solidFill>
          <a:ln w="12700">
            <a:solidFill>
              <a:schemeClr val="tx2"/>
            </a:solidFill>
            <a:prstDash val="solid"/>
          </a:ln>
        </p:spPr>
      </p:sp>
      <p:sp>
        <p:nvSpPr>
          <p:cNvPr id="19" name="Text 17"/>
          <p:cNvSpPr txBox="1"/>
          <p:nvPr/>
        </p:nvSpPr>
        <p:spPr>
          <a:xfrm>
            <a:off x="7315200" y="1737360"/>
            <a:ext cx="3840480" cy="457200"/>
          </a:xfrm>
          <a:prstGeom prst="rect">
            <a:avLst/>
          </a:prstGeom>
          <a:noFill/>
          <a:ln/>
        </p:spPr>
        <p:txBody>
          <a:bodyPr wrap="square" lIns="0" tIns="0" rIns="0" bIns="0" rtlCol="0" anchor="ctr"/>
          <a:lstStyle/>
          <a:p>
            <a:pPr indent="0" marL="0">
              <a:buNone/>
            </a:pPr>
            <a:r>
              <a:rPr lang="en-US" sz="2000" b="1" dirty="0">
                <a:solidFill>
                  <a:schemeClr val="bg1"/>
                </a:solidFill>
              </a:rPr>
              <a:t>Decisions needed</a:t>
            </a:r>
            <a:endParaRPr lang="en-US" sz="2000" dirty="0"/>
          </a:p>
        </p:txBody>
      </p:sp>
      <p:sp>
        <p:nvSpPr>
          <p:cNvPr id="20" name="Text 18"/>
          <p:cNvSpPr txBox="1"/>
          <p:nvPr/>
        </p:nvSpPr>
        <p:spPr>
          <a:xfrm>
            <a:off x="7315200" y="2331720"/>
            <a:ext cx="3840480" cy="3474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accent6"/>
                </a:solidFill>
              </a:rPr>
              <a:t>Service Mesh version (2.x or 3.x) and upgrade timing</a:t>
            </a:r>
            <a:endParaRPr lang="en-US" sz="1500" dirty="0"/>
          </a:p>
          <a:p>
            <a:pPr marL="342900" indent="-342900">
              <a:spcAft>
                <a:spcPts val="1000"/>
              </a:spcAft>
              <a:buSzPct val="100000"/>
              <a:buChar char="•"/>
            </a:pPr>
            <a:r>
              <a:rPr lang="en-US" sz="1500" dirty="0">
                <a:solidFill>
                  <a:schemeClr val="accent6"/>
                </a:solidFill>
              </a:rPr>
              <a:t>Tempo and Loki storage: monolithic for pilot, object storage for production</a:t>
            </a:r>
            <a:endParaRPr lang="en-US" sz="1500" dirty="0"/>
          </a:p>
          <a:p>
            <a:pPr marL="342900" indent="-342900">
              <a:spcAft>
                <a:spcPts val="1000"/>
              </a:spcAft>
              <a:buSzPct val="100000"/>
              <a:buChar char="•"/>
            </a:pPr>
            <a:r>
              <a:rPr lang="en-US" sz="1500" dirty="0">
                <a:solidFill>
                  <a:schemeClr val="accent6"/>
                </a:solidFill>
              </a:rPr>
              <a:t>Sampling policy and trace and log retention</a:t>
            </a:r>
            <a:endParaRPr lang="en-US" sz="1500" dirty="0"/>
          </a:p>
          <a:p>
            <a:pPr marL="342900" indent="-342900">
              <a:spcAft>
                <a:spcPts val="1000"/>
              </a:spcAft>
              <a:buSzPct val="100000"/>
              <a:buChar char="•"/>
            </a:pPr>
            <a:r>
              <a:rPr lang="en-US" sz="1500" dirty="0">
                <a:solidFill>
                  <a:schemeClr val="accent6"/>
                </a:solidFill>
              </a:rPr>
              <a:t>Pilot journey and owning team</a:t>
            </a:r>
            <a:endParaRPr lang="en-US" sz="1500" dirty="0"/>
          </a:p>
          <a:p>
            <a:pPr marL="342900" indent="-342900">
              <a:spcAft>
                <a:spcPts val="1000"/>
              </a:spcAft>
              <a:buSzPct val="100000"/>
              <a:buChar char="•"/>
            </a:pPr>
            <a:r>
              <a:rPr lang="en-US" sz="1500" dirty="0">
                <a:solidFill>
                  <a:schemeClr val="accent6"/>
                </a:solidFill>
              </a:rPr>
              <a:t>Who owns dashboards and alert routing</a:t>
            </a:r>
            <a:endParaRPr lang="en-US" sz="1500" dirty="0"/>
          </a:p>
        </p:txBody>
      </p:sp>
      <p:sp>
        <p:nvSpPr>
          <p:cNvPr id="21" name="Text 19"/>
          <p:cNvSpPr txBox="1"/>
          <p:nvPr/>
        </p:nvSpPr>
        <p:spPr>
          <a:xfrm>
            <a:off x="731520" y="4206240"/>
            <a:ext cx="5943600" cy="731520"/>
          </a:xfrm>
          <a:prstGeom prst="rect">
            <a:avLst/>
          </a:prstGeom>
          <a:noFill/>
          <a:ln/>
        </p:spPr>
        <p:txBody>
          <a:bodyPr wrap="square" lIns="0" tIns="0" rIns="0" bIns="0" rtlCol="0" anchor="ctr"/>
          <a:lstStyle/>
          <a:p>
            <a:pPr indent="0" marL="0">
              <a:buNone/>
            </a:pPr>
            <a:r>
              <a:rPr lang="en-US" sz="1400" i="1" dirty="0">
                <a:solidFill>
                  <a:schemeClr val="accent5"/>
                </a:solidFill>
              </a:rPr>
              <a:t>Phase 2: channel-side tracing and agents on VMs and databases.</a:t>
            </a:r>
            <a:endParaRPr lang="en-US" sz="1400" dirty="0"/>
          </a:p>
        </p:txBody>
      </p:sp>
      <p:sp>
        <p:nvSpPr>
          <p:cNvPr id="23" name="Text 0"/>
          <p:cNvSpPr/>
          <p:nvPr>
            <p:ph idx="100" type="title" hasCustomPrompt="1"/>
          </p:nvPr>
        </p:nvSpPr>
        <p:spPr>
          <a:xfrm>
            <a:off x="731520" y="2103120"/>
            <a:ext cx="9601200" cy="1463040"/>
          </a:xfrm>
          <a:prstGeom prst="rect">
            <a:avLst/>
          </a:prstGeom>
          <a:noFill/>
          <a:ln/>
        </p:spPr>
        <p:txBody>
          <a:bodyPr wrap="square" rtlCol="0" anchor="b"/>
          <a:lstStyle/>
          <a:p>
            <a:pPr algn="l" indent="0" marL="0">
              <a:buNone/>
            </a:pPr>
            <a:endParaRPr lang="en-US" sz="4000" dirty="0"/>
          </a:p>
        </p:txBody>
      </p:sp>
      <p:sp>
        <p:nvSpPr>
          <p:cNvPr id="24" name="Text 0"/>
          <p:cNvSpPr/>
          <p:nvPr>
            <p:ph idx="101" type="body" hasCustomPrompt="1"/>
          </p:nvPr>
        </p:nvSpPr>
        <p:spPr>
          <a:xfrm>
            <a:off x="731520" y="3703320"/>
            <a:ext cx="9601200" cy="914400"/>
          </a:xfrm>
          <a:prstGeom prst="rect">
            <a:avLst/>
          </a:prstGeom>
          <a:noFill/>
          <a:ln/>
        </p:spPr>
        <p:txBody>
          <a:bodyPr wrap="square"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E2E Observability">
  <a:themeElements>
    <a:clrScheme name="E2E Observability">
      <a:dk1>
        <a:srgbClr val="16232F"/>
      </a:dk1>
      <a:lt1>
        <a:srgbClr val="FFFFFF"/>
      </a:lt1>
      <a:dk2>
        <a:srgbClr val="3E5263"/>
      </a:dk2>
      <a:lt2>
        <a:srgbClr val="EEF3F6"/>
      </a:lt2>
      <a:accent1>
        <a:srgbClr val="0E8A8C"/>
      </a:accent1>
      <a:accent2>
        <a:srgbClr val="5446B0"/>
      </a:accent2>
      <a:accent3>
        <a:srgbClr val="E4572E"/>
      </a:accent3>
      <a:accent4>
        <a:srgbClr val="F2A541"/>
      </a:accent4>
      <a:accent5>
        <a:srgbClr val="8A99A6"/>
      </a:accent5>
      <a:accent6>
        <a:srgbClr val="D7E9EA"/>
      </a:accent6>
      <a:hlink>
        <a:srgbClr val="0E8A8C"/>
      </a:hlink>
      <a:folHlink>
        <a:srgbClr val="5446B0"/>
      </a:folHlink>
    </a:clrScheme>
    <a:fontScheme name="E2E Observabilit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OpenShift end-to-end observability - Phase 1 design</dc:title>
  <dc:subject>PptxGenJS Presentation</dc:subject>
  <dc:creator>PptxGenJS</dc:creator>
  <cp:lastModifiedBy>PptxGenJS</cp:lastModifiedBy>
  <cp:revision>1</cp:revision>
  <dcterms:created xsi:type="dcterms:W3CDTF">2026-10-06T08:00:32Z</dcterms:created>
  <dcterms:modified xsi:type="dcterms:W3CDTF">2026-10-06T08:00:32Z</dcterms:modified>
</cp:coreProperties>
</file>