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3" r:id="rId14"/>
    <p:sldId id="264" r:id="rId15"/>
    <p:sldId id="265" r:id="rId16"/>
    <p:sldId id="266" r:id="rId17"/>
    <p:sldId id="267" r:id="rId18"/>
    <p:sldId id="268" r:id="rId19"/>
    <p:sldId id="269" r:id="rId20"/>
    <p:sldId id="270" r:id="rId21"/>
    <p:sldId id="271" r:id="rId22"/>
    <p:sldId id="272" r:id="rId23"/>
    <p:sldId id="273" r:id="rId24"/>
    <p:sldId id="274" r:id="rId25"/>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14614718-68cc-4154-4582-a0380da33d8c}">
          <p14:sldIdLst>
            <p14:sldId id="256"/>
            <p14:sldId id="257"/>
          </p14:sldIdLst>
        </p14:section>
        <p14:section name="Design" id="{97f87bb8-6435-24bc-a83b-7447fe05a654}">
          <p14:sldIdLst>
            <p14:sldId id="258"/>
            <p14:sldId id="259"/>
            <p14:sldId id="260"/>
          </p14:sldIdLst>
        </p14:section>
        <p14:section name="Implementation" id="{418bf38b-c3b0-0b07-0812-7eca9546cd53}">
          <p14:sldIdLst>
            <p14:sldId id="261"/>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18.xml"/><Relationship Id="rId8" Type="http://schemas.openxmlformats.org/officeDocument/2006/relationships/slide" Target="slides/slide19.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agree the Phase 1 design for locating failures across the transaction path, starting from the OpenShift integration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1 stays inside OpenShift. External systems become visible as hops without installing anything on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Purple is what exists today. Teal is what Phase 1 adds. Grey systems need no installation; ServiceEntries make them visible as named nodes.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Metrics find the red dot; traces show where the time went; access logs say why the hop failed. Tail sampling keeps every error trace and about 10 percent of the rest (verified in the POC). Every access log carries the trace ID, so a log line opens its trace.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installing anything on VMs or DB servers, we still learn whether the hop to them is the problem. The why needs app instrumentation or agents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Steps 1-3 give metrics and the red-dot graph. Steps 4-6 give traces and access logs. Steps 7-8 bring external systems in and validate. Check field names against the Red Hat docs for the installed Service Mesh version.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agreeing the pilot journey and the open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Deep dive for the technical audience. The POC runs the upstream projects behind the OpenShift observability stack on a local kind cluster, with the same CRDs, so the flows and numbers carry over.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column is what we deploy on OpenShift; the POC uses the upstream project with the same CRDs. Versions follow OpenShift Service Mesh 3.4 (Istio 1.30, Kiali 2.27).</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Metrics are pulled: Prometheus scrapes each sidecar every 15 s. Traces and logs are pushed over OTLP to the collector. All three carry the same keys (source, destination, journey, trace ID), which is what lets every view jump from one signal to the next.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ServiceMonitor scrapes endpoints behind a Service; sidecar metrics belong to every pod, so we select pods directly with a PodMonitor. On OpenShift user workload monitoring, a PodMonitor only sees its own namespace, so there is one per mesh namespace.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OpenTelemetryCollector CR, deployed by the operator. Two pipelines share the OTLP receiver. One replica keeps all spans of a trace together for tail sampling; to scale out, add a load-balancing exporter tier that routes by trace ID.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Head sampling in Envoy decides before the request finishes, so at 10% it drops 9 of 10 error traces. Tail sampling decides after the whole trace is seen. The decision cache matters: spans arrive on different timers, and without it late spans are re-sampled and traces lose hops.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gateway route stamps the journey into W3C baggage and overwrites anything the client sent, so it cannot be spoofed. The OTel agent forwards baggage on every outbound call. The label is computed from a fixed list, so cardinality stays bounded. Never put customer or account IDs in labels.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POC storage is deliberately small and local. Production moves traces and logs to object storage through TempoStack and LokiStack. Gaps found in the POC: Prometheus uses an emptyDir (metrics lost on restart), and Loki's 48 h retention is not enforced because compactor retention is not enabled.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request is sent to Loki through the OTel access-log provider; errors also go to stdout. The flag separates 'the target answered with an error' from 'we could not reach the target', which decides which team is called.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Kiali for engineers troubleshooting the mesh; Grafana for service owners drilling into one journey; the red-dot dashboard for the NOC, which discovers the topology itself and names the owning team; Alertmanager for on-call.</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Measured in the POC by breaking the mocked external systems for real. Metrics react within a rate window; alerts need the 1-minute 'for' period; the trace and access log give the reason; the owner comes from the observability.bank/owner annotation.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Mesh, OpenTelemetry, Tempo and Kiali resources carry over almost unchanged. What changes is how operators are installed, where metrics live and how things are exposed. Full mapping in docs/openshift-mapping.md.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9601200" cy="146304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731520" y="3703320"/>
            <a:ext cx="9601200" cy="914400"/>
          </a:xfrm>
          <a:prstGeom prst="rect">
            <a:avLst/>
          </a:prstGeom>
          <a:noFill/>
          <a:ln/>
        </p:spPr>
        <p:txBody>
          <a:bodyPr wrap="square" rtlCol="0"/>
          <a:lstStyle>
            <a:lvl1pPr indent="0" marL="0">
              <a:buNone/>
              <a:defRPr lang="en-US" sz="1800" dirty="0">
                <a:solidFill>
                  <a:schemeClr val="accent6"/>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47120" cy="73152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3" name="Text 0"/>
          <p:cNvSpPr/>
          <p:nvPr/>
        </p:nvSpPr>
        <p:spPr>
          <a:xfrm>
            <a:off x="457200" y="6400800"/>
            <a:ext cx="5486400" cy="274320"/>
          </a:xfrm>
          <a:prstGeom prst="rect">
            <a:avLst/>
          </a:prstGeom>
          <a:noFill/>
          <a:ln/>
        </p:spPr>
        <p:txBody>
          <a:bodyPr wrap="square" rtlCol="0" anchor="ctr"/>
          <a:lstStyle/>
          <a:p>
            <a:pPr indent="0" marL="0">
              <a:buNone/>
            </a:pPr>
            <a:r>
              <a:rPr lang="en-US" sz="1000" dirty="0">
                <a:solidFill>
                  <a:schemeClr val="accent5"/>
                </a:solidFill>
              </a:rPr>
              <a:t>E2E observability  |  Phase 1 design</a:t>
            </a:r>
            <a:endParaRPr lang="en-US" sz="10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9601200" cy="1463040"/>
          </a:xfrm>
          <a:prstGeom prst="rect">
            <a:avLst/>
          </a:prstGeom>
          <a:noFill/>
          <a:ln/>
        </p:spPr>
        <p:txBody>
          <a:bodyPr wrap="square" rtlCol="0" anchor="b"/>
          <a:lstStyle/>
          <a:p>
            <a:pPr algn="l" indent="0" marL="0">
              <a:buNone/>
            </a:pPr>
            <a:r>
              <a:rPr lang="en-US" sz="4000" b="1" dirty="0">
                <a:solidFill>
                  <a:schemeClr val="bg1"/>
                </a:solidFill>
              </a:rPr>
              <a:t>Finding the red dot: end-to-end observability on OpenShift</a:t>
            </a:r>
            <a:endParaRPr lang="en-US" sz="4000" dirty="0"/>
          </a:p>
        </p:txBody>
      </p:sp>
      <p:sp>
        <p:nvSpPr>
          <p:cNvPr id="3" name="Text 0"/>
          <p:cNvSpPr/>
          <p:nvPr>
            <p:ph idx="101" type="body" hasCustomPrompt="1"/>
          </p:nvPr>
        </p:nvSpPr>
        <p:spPr>
          <a:xfrm>
            <a:off x="731520" y="3703320"/>
            <a:ext cx="9601200" cy="914400"/>
          </a:xfrm>
          <a:prstGeom prst="rect">
            <a:avLst/>
          </a:prstGeom>
          <a:noFill/>
          <a:ln/>
        </p:spPr>
        <p:txBody>
          <a:bodyPr wrap="square" rtlCol="0" anchor="t"/>
          <a:lstStyle/>
          <a:p>
            <a:pPr indent="0" marL="0">
              <a:buNone/>
            </a:pPr>
            <a:r>
              <a:rPr lang="en-US" sz="1800" dirty="0">
                <a:solidFill>
                  <a:schemeClr val="accent6"/>
                </a:solidFill>
              </a:rPr>
              <a:t>Phase 1 design: mesh metrics, distributed tracing, access logs and external systems via ServiceEntries</a:t>
            </a:r>
            <a:endParaRPr lang="en-US" sz="1800" dirty="0"/>
          </a:p>
        </p:txBody>
      </p:sp>
      <p:sp>
        <p:nvSpPr>
          <p:cNvPr id="4" name="Shape 2"/>
          <p:cNvSpPr/>
          <p:nvPr/>
        </p:nvSpPr>
        <p:spPr>
          <a:xfrm>
            <a:off x="731520" y="1417320"/>
            <a:ext cx="411480" cy="411480"/>
          </a:xfrm>
          <a:prstGeom prst="ellipse">
            <a:avLst/>
          </a:prstGeom>
          <a:solidFill>
            <a:schemeClr val="accent3"/>
          </a:solidFill>
          <a:ln w="6350">
            <a:solidFill>
              <a:schemeClr val="accent3"/>
            </a:solidFill>
            <a:prstDash val="solid"/>
          </a:ln>
        </p:spPr>
      </p:sp>
      <p:sp>
        <p:nvSpPr>
          <p:cNvPr id="5" name="Shape 3"/>
          <p:cNvSpPr/>
          <p:nvPr/>
        </p:nvSpPr>
        <p:spPr>
          <a:xfrm>
            <a:off x="1280160" y="1417320"/>
            <a:ext cx="411480" cy="411480"/>
          </a:xfrm>
          <a:prstGeom prst="ellipse">
            <a:avLst/>
          </a:prstGeom>
          <a:solidFill>
            <a:schemeClr val="accent1"/>
          </a:solidFill>
          <a:ln w="6350">
            <a:solidFill>
              <a:schemeClr val="accent1"/>
            </a:solidFill>
            <a:prstDash val="solid"/>
          </a:ln>
        </p:spPr>
      </p:sp>
      <p:sp>
        <p:nvSpPr>
          <p:cNvPr id="6" name="Shape 4"/>
          <p:cNvSpPr/>
          <p:nvPr/>
        </p:nvSpPr>
        <p:spPr>
          <a:xfrm>
            <a:off x="1828800" y="1417320"/>
            <a:ext cx="411480" cy="411480"/>
          </a:xfrm>
          <a:prstGeom prst="ellipse">
            <a:avLst/>
          </a:prstGeom>
          <a:solidFill>
            <a:schemeClr val="accent2"/>
          </a:solidFill>
          <a:ln w="6350">
            <a:solidFill>
              <a:schemeClr val="accent2"/>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47120" cy="731520"/>
          </a:xfrm>
          <a:prstGeom prst="rect">
            <a:avLst/>
          </a:prstGeom>
          <a:noFill/>
          <a:ln/>
        </p:spPr>
        <p:txBody>
          <a:bodyPr wrap="square" rtlCol="0" anchor="ctr"/>
          <a:lstStyle/>
          <a:p>
            <a:pPr algn="l" indent="0" marL="0">
              <a:buNone/>
            </a:pPr>
            <a:r>
              <a:rPr lang="en-US" sz="3000" b="1" dirty="0">
                <a:solidFill>
                  <a:schemeClr val="tx1"/>
                </a:solidFill>
              </a:rPr>
              <a:t>We can't see where a transaction fails today</a:t>
            </a:r>
            <a:endParaRPr lang="en-US" sz="3000" dirty="0"/>
          </a:p>
        </p:txBody>
      </p:sp>
      <p:sp>
        <p:nvSpPr>
          <p:cNvPr id="3" name="Problem card"/>
          <p:cNvSpPr/>
          <p:nvPr/>
        </p:nvSpPr>
        <p:spPr>
          <a:xfrm>
            <a:off x="457200" y="1371600"/>
            <a:ext cx="5394960" cy="3840480"/>
          </a:xfrm>
          <a:prstGeom prst="roundRect">
            <a:avLst>
              <a:gd name="adj" fmla="val 2381"/>
            </a:avLst>
          </a:prstGeom>
          <a:solidFill>
            <a:schemeClr val="bg2"/>
          </a:solidFill>
          <a:ln w="12700">
            <a:solidFill>
              <a:schemeClr val="bg2"/>
            </a:solidFill>
            <a:prstDash val="solid"/>
          </a:ln>
        </p:spPr>
      </p:sp>
      <p:sp>
        <p:nvSpPr>
          <p:cNvPr id="4" name="Shape 2"/>
          <p:cNvSpPr/>
          <p:nvPr/>
        </p:nvSpPr>
        <p:spPr>
          <a:xfrm>
            <a:off x="777240" y="1691640"/>
            <a:ext cx="502920" cy="502920"/>
          </a:xfrm>
          <a:prstGeom prst="ellipse">
            <a:avLst/>
          </a:prstGeom>
          <a:solidFill>
            <a:schemeClr val="accent3"/>
          </a:solidFill>
          <a:ln w="6350">
            <a:solidFill>
              <a:schemeClr val="accent3"/>
            </a:solidFill>
            <a:prstDash val="solid"/>
          </a:ln>
        </p:spPr>
      </p:sp>
      <p:sp>
        <p:nvSpPr>
          <p:cNvPr id="5" name="Text 3"/>
          <p:cNvSpPr txBox="1"/>
          <p:nvPr/>
        </p:nvSpPr>
        <p:spPr>
          <a:xfrm>
            <a:off x="777240" y="1691640"/>
            <a:ext cx="502920" cy="502920"/>
          </a:xfrm>
          <a:prstGeom prst="rect">
            <a:avLst/>
          </a:prstGeom>
          <a:noFill/>
          <a:ln/>
        </p:spPr>
        <p:txBody>
          <a:bodyPr wrap="square" lIns="0" tIns="0" rIns="0" bIns="0" rtlCol="0" anchor="ctr"/>
          <a:lstStyle/>
          <a:p>
            <a:pPr algn="ctr" indent="0" marL="0">
              <a:buNone/>
            </a:pPr>
            <a:r>
              <a:rPr lang="en-US" sz="1400" b="1" dirty="0">
                <a:solidFill>
                  <a:schemeClr val="bg1"/>
                </a:solidFill>
              </a:rPr>
              <a:t>!</a:t>
            </a:r>
            <a:endParaRPr lang="en-US" sz="1400" dirty="0"/>
          </a:p>
        </p:txBody>
      </p:sp>
      <p:sp>
        <p:nvSpPr>
          <p:cNvPr id="6" name="Text 4"/>
          <p:cNvSpPr txBox="1"/>
          <p:nvPr/>
        </p:nvSpPr>
        <p:spPr>
          <a:xfrm>
            <a:off x="1463040" y="1691640"/>
            <a:ext cx="4114800" cy="502920"/>
          </a:xfrm>
          <a:prstGeom prst="rect">
            <a:avLst/>
          </a:prstGeom>
          <a:noFill/>
          <a:ln/>
        </p:spPr>
        <p:txBody>
          <a:bodyPr wrap="square" lIns="0" tIns="0" rIns="0" bIns="0" rtlCol="0" anchor="ctr"/>
          <a:lstStyle/>
          <a:p>
            <a:pPr indent="0" marL="0">
              <a:buNone/>
            </a:pPr>
            <a:r>
              <a:rPr lang="en-US" sz="2000" b="1" dirty="0">
                <a:solidFill>
                  <a:schemeClr val="tx1"/>
                </a:solidFill>
              </a:rPr>
              <a:t>The problem</a:t>
            </a:r>
            <a:endParaRPr lang="en-US" sz="2000" dirty="0"/>
          </a:p>
        </p:txBody>
      </p:sp>
      <p:sp>
        <p:nvSpPr>
          <p:cNvPr id="7" name="Text 5"/>
          <p:cNvSpPr txBox="1"/>
          <p:nvPr/>
        </p:nvSpPr>
        <p:spPr>
          <a:xfrm>
            <a:off x="777240" y="2423160"/>
            <a:ext cx="4846320" cy="329184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2"/>
                </a:solidFill>
              </a:rPr>
              <a:t>When a customer journey fails, teams can't pinpoint which hop is responsible.</a:t>
            </a:r>
            <a:endParaRPr lang="en-US" sz="1500" dirty="0"/>
          </a:p>
          <a:p>
            <a:pPr marL="342900" indent="-342900">
              <a:spcAft>
                <a:spcPts val="1000"/>
              </a:spcAft>
              <a:buSzPct val="100000"/>
              <a:buChar char="•"/>
            </a:pPr>
            <a:r>
              <a:rPr lang="en-US" sz="1500" dirty="0">
                <a:solidFill>
                  <a:schemeClr val="tx2"/>
                </a:solidFill>
              </a:rPr>
              <a:t>Every transaction crosses OpenShift, so the integration layer sees the whole path.</a:t>
            </a:r>
            <a:endParaRPr lang="en-US" sz="1500" dirty="0"/>
          </a:p>
          <a:p>
            <a:pPr marL="342900" indent="-342900">
              <a:spcAft>
                <a:spcPts val="1000"/>
              </a:spcAft>
              <a:buSzPct val="100000"/>
              <a:buChar char="•"/>
            </a:pPr>
            <a:r>
              <a:rPr lang="en-US" sz="1500" dirty="0">
                <a:solidFill>
                  <a:schemeClr val="tx2"/>
                </a:solidFill>
              </a:rPr>
              <a:t>The service mesh and sidecars are already in place, but metrics, traces and access logs are not yet collected or connected.</a:t>
            </a:r>
            <a:endParaRPr lang="en-US" sz="1500" dirty="0"/>
          </a:p>
        </p:txBody>
      </p:sp>
      <p:sp>
        <p:nvSpPr>
          <p:cNvPr id="8" name="Scope card"/>
          <p:cNvSpPr/>
          <p:nvPr/>
        </p:nvSpPr>
        <p:spPr>
          <a:xfrm>
            <a:off x="6309360" y="1371600"/>
            <a:ext cx="5394960" cy="3840480"/>
          </a:xfrm>
          <a:prstGeom prst="roundRect">
            <a:avLst>
              <a:gd name="adj" fmla="val 2381"/>
            </a:avLst>
          </a:prstGeom>
          <a:solidFill>
            <a:schemeClr val="accent6"/>
          </a:solidFill>
          <a:ln w="12700">
            <a:solidFill>
              <a:schemeClr val="accent6"/>
            </a:solidFill>
            <a:prstDash val="solid"/>
          </a:ln>
        </p:spPr>
      </p:sp>
      <p:sp>
        <p:nvSpPr>
          <p:cNvPr id="9" name="Shape 7"/>
          <p:cNvSpPr/>
          <p:nvPr/>
        </p:nvSpPr>
        <p:spPr>
          <a:xfrm>
            <a:off x="6629400" y="1691640"/>
            <a:ext cx="502920" cy="502920"/>
          </a:xfrm>
          <a:prstGeom prst="ellipse">
            <a:avLst/>
          </a:prstGeom>
          <a:solidFill>
            <a:schemeClr val="accent1"/>
          </a:solidFill>
          <a:ln w="6350">
            <a:solidFill>
              <a:schemeClr val="accent1"/>
            </a:solidFill>
            <a:prstDash val="solid"/>
          </a:ln>
        </p:spPr>
      </p:sp>
      <p:sp>
        <p:nvSpPr>
          <p:cNvPr id="10" name="Text 8"/>
          <p:cNvSpPr txBox="1"/>
          <p:nvPr/>
        </p:nvSpPr>
        <p:spPr>
          <a:xfrm>
            <a:off x="6629400" y="1691640"/>
            <a:ext cx="502920" cy="50292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1" name="Text 9"/>
          <p:cNvSpPr txBox="1"/>
          <p:nvPr/>
        </p:nvSpPr>
        <p:spPr>
          <a:xfrm>
            <a:off x="7315200" y="1691640"/>
            <a:ext cx="4114800" cy="502920"/>
          </a:xfrm>
          <a:prstGeom prst="rect">
            <a:avLst/>
          </a:prstGeom>
          <a:noFill/>
          <a:ln/>
        </p:spPr>
        <p:txBody>
          <a:bodyPr wrap="square" lIns="0" tIns="0" rIns="0" bIns="0" rtlCol="0" anchor="ctr"/>
          <a:lstStyle/>
          <a:p>
            <a:pPr indent="0" marL="0">
              <a:buNone/>
            </a:pPr>
            <a:r>
              <a:rPr lang="en-US" sz="2000" b="1" dirty="0">
                <a:solidFill>
                  <a:schemeClr val="tx1"/>
                </a:solidFill>
              </a:rPr>
              <a:t>Phase 1 scope</a:t>
            </a:r>
            <a:endParaRPr lang="en-US" sz="2000" dirty="0"/>
          </a:p>
        </p:txBody>
      </p:sp>
      <p:sp>
        <p:nvSpPr>
          <p:cNvPr id="12" name="Text 10"/>
          <p:cNvSpPr txBox="1"/>
          <p:nvPr/>
        </p:nvSpPr>
        <p:spPr>
          <a:xfrm>
            <a:off x="6629400" y="2423160"/>
            <a:ext cx="4846320" cy="3383280"/>
          </a:xfrm>
          <a:prstGeom prst="rect">
            <a:avLst/>
          </a:prstGeom>
          <a:noFill/>
          <a:ln/>
        </p:spPr>
        <p:txBody>
          <a:bodyPr wrap="square" lIns="0" tIns="0" rIns="0" bIns="0" rtlCol="0" anchor="t"/>
          <a:lstStyle/>
          <a:p>
            <a:pPr indent="0" marL="0">
              <a:spcAft>
                <a:spcPts val="800"/>
              </a:spcAft>
              <a:buNone/>
            </a:pPr>
            <a:r>
              <a:rPr lang="en-US" sz="1500" b="1" dirty="0">
                <a:solidFill>
                  <a:schemeClr val="tx1"/>
                </a:solidFill>
              </a:rPr>
              <a:t>In scope</a:t>
            </a:r>
            <a:endParaRPr lang="en-US" sz="1500" dirty="0"/>
          </a:p>
          <a:p>
            <a:pPr marL="342900" indent="-342900">
              <a:spcAft>
                <a:spcPts val="800"/>
              </a:spcAft>
              <a:buSzPct val="100000"/>
              <a:buChar char="•"/>
            </a:pPr>
            <a:r>
              <a:rPr lang="en-US" sz="1500" dirty="0">
                <a:solidFill>
                  <a:schemeClr val="tx2"/>
                </a:solidFill>
              </a:rPr>
              <a:t>Mesh metrics, Kiali service graph, distributed tracing, Envoy access logs, OTel auto-instrumentation</a:t>
            </a:r>
            <a:endParaRPr lang="en-US" sz="1500" dirty="0"/>
          </a:p>
          <a:p>
            <a:pPr marL="342900" indent="-342900">
              <a:spcAft>
                <a:spcPts val="800"/>
              </a:spcAft>
              <a:buSzPct val="100000"/>
              <a:buChar char="•"/>
            </a:pPr>
            <a:r>
              <a:rPr lang="en-US" sz="1500" dirty="0">
                <a:solidFill>
                  <a:schemeClr val="tx2"/>
                </a:solidFill>
              </a:rPr>
              <a:t>External VMs and databases registered as ServiceEntries</a:t>
            </a:r>
            <a:endParaRPr lang="en-US" sz="1500" dirty="0"/>
          </a:p>
          <a:p>
            <a:pPr indent="0" marL="0">
              <a:spcAft>
                <a:spcPts val="800"/>
              </a:spcAft>
              <a:buNone/>
            </a:pPr>
            <a:r>
              <a:rPr lang="en-US" sz="1500" b="1" dirty="0">
                <a:solidFill>
                  <a:schemeClr val="tx1"/>
                </a:solidFill>
              </a:rPr>
              <a:t>Not in this phase</a:t>
            </a:r>
            <a:endParaRPr lang="en-US" sz="1500" dirty="0"/>
          </a:p>
          <a:p>
            <a:pPr marL="342900" indent="-342900">
              <a:spcAft>
                <a:spcPts val="800"/>
              </a:spcAft>
              <a:buSzPct val="100000"/>
              <a:buChar char="•"/>
            </a:pPr>
            <a:r>
              <a:rPr lang="en-US" sz="1500" dirty="0">
                <a:solidFill>
                  <a:schemeClr val="tx2"/>
                </a:solidFill>
              </a:rPr>
              <a:t>Agents or exporters on VMs and database servers</a:t>
            </a:r>
            <a:endParaRPr lang="en-US" sz="1500" dirty="0"/>
          </a:p>
          <a:p>
            <a:pPr marL="342900" indent="-342900">
              <a:spcAft>
                <a:spcPts val="800"/>
              </a:spcAft>
              <a:buSzPct val="100000"/>
              <a:buChar char="•"/>
            </a:pPr>
            <a:r>
              <a:rPr lang="en-US" sz="1500" dirty="0">
                <a:solidFill>
                  <a:schemeClr val="tx2"/>
                </a:solidFill>
              </a:rPr>
              <a:t>Channel-side tracing (mobile, web, API gateway)</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47120" cy="731520"/>
          </a:xfrm>
          <a:prstGeom prst="rect">
            <a:avLst/>
          </a:prstGeom>
          <a:noFill/>
          <a:ln/>
        </p:spPr>
        <p:txBody>
          <a:bodyPr wrap="square" rtlCol="0" anchor="ctr"/>
          <a:lstStyle/>
          <a:p>
            <a:pPr algn="l" indent="0" marL="0">
              <a:buNone/>
            </a:pPr>
            <a:r>
              <a:rPr lang="en-US" sz="3000" b="1" dirty="0">
                <a:solidFill>
                  <a:schemeClr val="tx1"/>
                </a:solidFill>
              </a:rPr>
              <a:t>Target architecture</a:t>
            </a:r>
            <a:endParaRPr lang="en-US" sz="3000" dirty="0"/>
          </a:p>
        </p:txBody>
      </p:sp>
      <p:sp>
        <p:nvSpPr>
          <p:cNvPr id="3" name="Channels"/>
          <p:cNvSpPr/>
          <p:nvPr/>
        </p:nvSpPr>
        <p:spPr>
          <a:xfrm>
            <a:off x="731520" y="1188720"/>
            <a:ext cx="2560320" cy="457200"/>
          </a:xfrm>
          <a:prstGeom prst="roundRect">
            <a:avLst>
              <a:gd name="adj" fmla="val 16000"/>
            </a:avLst>
          </a:prstGeom>
          <a:solidFill>
            <a:schemeClr val="bg2"/>
          </a:solidFill>
          <a:ln w="9525">
            <a:solidFill>
              <a:schemeClr val="bg2"/>
            </a:solidFill>
            <a:prstDash val="solid"/>
          </a:ln>
        </p:spPr>
      </p:sp>
      <p:sp>
        <p:nvSpPr>
          <p:cNvPr id="4" name="Channels text"/>
          <p:cNvSpPr txBox="1"/>
          <p:nvPr/>
        </p:nvSpPr>
        <p:spPr>
          <a:xfrm>
            <a:off x="731520" y="1188720"/>
            <a:ext cx="2560320" cy="457200"/>
          </a:xfrm>
          <a:prstGeom prst="rect">
            <a:avLst/>
          </a:prstGeom>
          <a:noFill/>
          <a:ln/>
        </p:spPr>
        <p:txBody>
          <a:bodyPr wrap="square" lIns="635" tIns="635" rIns="635" bIns="635" rtlCol="0" anchor="ctr"/>
          <a:lstStyle/>
          <a:p>
            <a:pPr algn="ctr" indent="0" marL="0">
              <a:buNone/>
            </a:pPr>
            <a:r>
              <a:rPr lang="en-US" sz="1400" b="1" dirty="0">
                <a:solidFill>
                  <a:schemeClr val="tx1"/>
                </a:solidFill>
              </a:rPr>
              <a:t>Customer channels</a:t>
            </a:r>
            <a:endParaRPr lang="en-US" sz="1400" dirty="0"/>
          </a:p>
        </p:txBody>
      </p:sp>
      <p:sp>
        <p:nvSpPr>
          <p:cNvPr id="5" name="Cluster boundary"/>
          <p:cNvSpPr/>
          <p:nvPr/>
        </p:nvSpPr>
        <p:spPr>
          <a:xfrm>
            <a:off x="457200" y="1828800"/>
            <a:ext cx="8595360" cy="3520440"/>
          </a:xfrm>
          <a:prstGeom prst="roundRect">
            <a:avLst>
              <a:gd name="adj" fmla="val 3117"/>
            </a:avLst>
          </a:prstGeom>
          <a:solidFill>
            <a:schemeClr val="bg1"/>
          </a:solidFill>
          <a:ln w="12700">
            <a:solidFill>
              <a:schemeClr val="accent5"/>
            </a:solidFill>
            <a:prstDash val="dash"/>
          </a:ln>
        </p:spPr>
      </p:sp>
      <p:sp>
        <p:nvSpPr>
          <p:cNvPr id="6" name="Text 4"/>
          <p:cNvSpPr txBox="1"/>
          <p:nvPr/>
        </p:nvSpPr>
        <p:spPr>
          <a:xfrm>
            <a:off x="3657600" y="1874520"/>
            <a:ext cx="5212080" cy="365760"/>
          </a:xfrm>
          <a:prstGeom prst="rect">
            <a:avLst/>
          </a:prstGeom>
          <a:noFill/>
          <a:ln/>
        </p:spPr>
        <p:txBody>
          <a:bodyPr wrap="square" lIns="0" tIns="0" rIns="0" bIns="0" rtlCol="0" anchor="ctr"/>
          <a:lstStyle/>
          <a:p>
            <a:pPr algn="r" indent="0" marL="0">
              <a:buNone/>
            </a:pPr>
            <a:r>
              <a:rPr lang="en-US" sz="1200" b="1" dirty="0">
                <a:solidFill>
                  <a:schemeClr val="tx2"/>
                </a:solidFill>
              </a:rPr>
              <a:t>OpenShift cluster  |  service mesh, sidecars already injected</a:t>
            </a:r>
            <a:endParaRPr lang="en-US" sz="1200" dirty="0"/>
          </a:p>
        </p:txBody>
      </p:sp>
      <p:sp>
        <p:nvSpPr>
          <p:cNvPr id="7" name="Ingress"/>
          <p:cNvSpPr/>
          <p:nvPr/>
        </p:nvSpPr>
        <p:spPr>
          <a:xfrm>
            <a:off x="731520" y="2286000"/>
            <a:ext cx="2560320" cy="777240"/>
          </a:xfrm>
          <a:prstGeom prst="roundRect">
            <a:avLst>
              <a:gd name="adj" fmla="val 9412"/>
            </a:avLst>
          </a:prstGeom>
          <a:solidFill>
            <a:schemeClr val="accent2"/>
          </a:solidFill>
          <a:ln w="9525">
            <a:solidFill>
              <a:schemeClr val="accent2"/>
            </a:solidFill>
            <a:prstDash val="solid"/>
          </a:ln>
        </p:spPr>
      </p:sp>
      <p:sp>
        <p:nvSpPr>
          <p:cNvPr id="8" name="Ingress text"/>
          <p:cNvSpPr txBox="1"/>
          <p:nvPr/>
        </p:nvSpPr>
        <p:spPr>
          <a:xfrm>
            <a:off x="731520" y="2286000"/>
            <a:ext cx="2560320" cy="777240"/>
          </a:xfrm>
          <a:prstGeom prst="rect">
            <a:avLst/>
          </a:prstGeom>
          <a:noFill/>
          <a:ln/>
        </p:spPr>
        <p:txBody>
          <a:bodyPr wrap="square" lIns="635" tIns="635" rIns="635" bIns="635" rtlCol="0" anchor="ctr"/>
          <a:lstStyle/>
          <a:p>
            <a:pPr algn="ctr" indent="0" marL="0">
              <a:buNone/>
            </a:pPr>
            <a:r>
              <a:rPr lang="en-US" sz="1400" b="1" dirty="0">
                <a:solidFill>
                  <a:schemeClr val="bg1"/>
                </a:solidFill>
              </a:rPr>
              <a:t>Ingress gateway</a:t>
            </a:r>
            <a:endParaRPr lang="en-US" sz="1400" dirty="0"/>
          </a:p>
          <a:p>
            <a:pPr algn="ctr" indent="0" marL="0">
              <a:buNone/>
            </a:pPr>
            <a:r>
              <a:rPr lang="en-US" sz="1100" dirty="0">
                <a:solidFill>
                  <a:schemeClr val="accent6"/>
                </a:solidFill>
              </a:rPr>
              <a:t>Trace starts here</a:t>
            </a:r>
            <a:endParaRPr lang="en-US" sz="1400" dirty="0"/>
          </a:p>
        </p:txBody>
      </p:sp>
      <p:sp>
        <p:nvSpPr>
          <p:cNvPr id="9" name="App pods"/>
          <p:cNvSpPr/>
          <p:nvPr/>
        </p:nvSpPr>
        <p:spPr>
          <a:xfrm>
            <a:off x="731520" y="3246120"/>
            <a:ext cx="2560320" cy="777240"/>
          </a:xfrm>
          <a:prstGeom prst="roundRect">
            <a:avLst>
              <a:gd name="adj" fmla="val 9412"/>
            </a:avLst>
          </a:prstGeom>
          <a:solidFill>
            <a:schemeClr val="accent2"/>
          </a:solidFill>
          <a:ln w="9525">
            <a:solidFill>
              <a:schemeClr val="accent2"/>
            </a:solidFill>
            <a:prstDash val="solid"/>
          </a:ln>
        </p:spPr>
      </p:sp>
      <p:sp>
        <p:nvSpPr>
          <p:cNvPr id="10" name="App pods text"/>
          <p:cNvSpPr txBox="1"/>
          <p:nvPr/>
        </p:nvSpPr>
        <p:spPr>
          <a:xfrm>
            <a:off x="731520" y="3246120"/>
            <a:ext cx="2560320" cy="777240"/>
          </a:xfrm>
          <a:prstGeom prst="rect">
            <a:avLst/>
          </a:prstGeom>
          <a:noFill/>
          <a:ln/>
        </p:spPr>
        <p:txBody>
          <a:bodyPr wrap="square" lIns="635" tIns="635" rIns="635" bIns="635" rtlCol="0" anchor="ctr"/>
          <a:lstStyle/>
          <a:p>
            <a:pPr algn="ctr" indent="0" marL="0">
              <a:buNone/>
            </a:pPr>
            <a:r>
              <a:rPr lang="en-US" sz="1400" b="1" dirty="0">
                <a:solidFill>
                  <a:schemeClr val="bg1"/>
                </a:solidFill>
              </a:rPr>
              <a:t>App pods</a:t>
            </a:r>
            <a:endParaRPr lang="en-US" sz="1400" dirty="0"/>
          </a:p>
          <a:p>
            <a:pPr algn="ctr" indent="0" marL="0">
              <a:buNone/>
            </a:pPr>
            <a:r>
              <a:rPr lang="en-US" sz="1100" dirty="0">
                <a:solidFill>
                  <a:schemeClr val="accent6"/>
                </a:solidFill>
              </a:rPr>
              <a:t>Envoy sidecar + OTel agent</a:t>
            </a:r>
            <a:endParaRPr lang="en-US" sz="1400" dirty="0"/>
          </a:p>
        </p:txBody>
      </p:sp>
      <p:sp>
        <p:nvSpPr>
          <p:cNvPr id="11" name="ServiceEntry"/>
          <p:cNvSpPr/>
          <p:nvPr/>
        </p:nvSpPr>
        <p:spPr>
          <a:xfrm>
            <a:off x="731520" y="4206240"/>
            <a:ext cx="2560320" cy="777240"/>
          </a:xfrm>
          <a:prstGeom prst="roundRect">
            <a:avLst>
              <a:gd name="adj" fmla="val 9412"/>
            </a:avLst>
          </a:prstGeom>
          <a:solidFill>
            <a:schemeClr val="accent2"/>
          </a:solidFill>
          <a:ln w="9525">
            <a:solidFill>
              <a:schemeClr val="accent2"/>
            </a:solidFill>
            <a:prstDash val="solid"/>
          </a:ln>
        </p:spPr>
      </p:sp>
      <p:sp>
        <p:nvSpPr>
          <p:cNvPr id="12" name="ServiceEntry text"/>
          <p:cNvSpPr txBox="1"/>
          <p:nvPr/>
        </p:nvSpPr>
        <p:spPr>
          <a:xfrm>
            <a:off x="731520" y="4206240"/>
            <a:ext cx="2560320" cy="777240"/>
          </a:xfrm>
          <a:prstGeom prst="rect">
            <a:avLst/>
          </a:prstGeom>
          <a:noFill/>
          <a:ln/>
        </p:spPr>
        <p:txBody>
          <a:bodyPr wrap="square" lIns="635" tIns="635" rIns="635" bIns="635" rtlCol="0" anchor="ctr"/>
          <a:lstStyle/>
          <a:p>
            <a:pPr algn="ctr" indent="0" marL="0">
              <a:buNone/>
            </a:pPr>
            <a:r>
              <a:rPr lang="en-US" sz="1400" b="1" dirty="0">
                <a:solidFill>
                  <a:schemeClr val="bg1"/>
                </a:solidFill>
              </a:rPr>
              <a:t>ServiceEntry + DR</a:t>
            </a:r>
            <a:endParaRPr lang="en-US" sz="1400" dirty="0"/>
          </a:p>
          <a:p>
            <a:pPr algn="ctr" indent="0" marL="0">
              <a:buNone/>
            </a:pPr>
            <a:r>
              <a:rPr lang="en-US" sz="1100" dirty="0">
                <a:solidFill>
                  <a:schemeClr val="accent6"/>
                </a:solidFill>
              </a:rPr>
              <a:t>Registers VMs and DBs</a:t>
            </a:r>
            <a:endParaRPr lang="en-US" sz="1400" dirty="0"/>
          </a:p>
        </p:txBody>
      </p:sp>
      <p:sp>
        <p:nvSpPr>
          <p:cNvPr id="13" name="Prometheus"/>
          <p:cNvSpPr/>
          <p:nvPr/>
        </p:nvSpPr>
        <p:spPr>
          <a:xfrm>
            <a:off x="3657600" y="2286000"/>
            <a:ext cx="2560320" cy="777240"/>
          </a:xfrm>
          <a:prstGeom prst="roundRect">
            <a:avLst>
              <a:gd name="adj" fmla="val 9412"/>
            </a:avLst>
          </a:prstGeom>
          <a:solidFill>
            <a:schemeClr val="accent1"/>
          </a:solidFill>
          <a:ln w="9525">
            <a:solidFill>
              <a:schemeClr val="accent1"/>
            </a:solidFill>
            <a:prstDash val="solid"/>
          </a:ln>
        </p:spPr>
      </p:sp>
      <p:sp>
        <p:nvSpPr>
          <p:cNvPr id="14" name="Prometheus text"/>
          <p:cNvSpPr txBox="1"/>
          <p:nvPr/>
        </p:nvSpPr>
        <p:spPr>
          <a:xfrm>
            <a:off x="3657600" y="2286000"/>
            <a:ext cx="2560320" cy="777240"/>
          </a:xfrm>
          <a:prstGeom prst="rect">
            <a:avLst/>
          </a:prstGeom>
          <a:noFill/>
          <a:ln/>
        </p:spPr>
        <p:txBody>
          <a:bodyPr wrap="square" lIns="635" tIns="635" rIns="635" bIns="635" rtlCol="0" anchor="ctr"/>
          <a:lstStyle/>
          <a:p>
            <a:pPr algn="ctr" indent="0" marL="0">
              <a:buNone/>
            </a:pPr>
            <a:r>
              <a:rPr lang="en-US" sz="1400" b="1" dirty="0">
                <a:solidFill>
                  <a:schemeClr val="bg1"/>
                </a:solidFill>
              </a:rPr>
              <a:t>Prometheus (UWM)</a:t>
            </a:r>
            <a:endParaRPr lang="en-US" sz="1400" dirty="0"/>
          </a:p>
          <a:p>
            <a:pPr algn="ctr" indent="0" marL="0">
              <a:buNone/>
            </a:pPr>
            <a:r>
              <a:rPr lang="en-US" sz="1100" dirty="0">
                <a:solidFill>
                  <a:schemeClr val="accent6"/>
                </a:solidFill>
              </a:rPr>
              <a:t>Scrapes Envoy metrics</a:t>
            </a:r>
            <a:endParaRPr lang="en-US" sz="1400" dirty="0"/>
          </a:p>
        </p:txBody>
      </p:sp>
      <p:sp>
        <p:nvSpPr>
          <p:cNvPr id="15" name="Collector"/>
          <p:cNvSpPr/>
          <p:nvPr/>
        </p:nvSpPr>
        <p:spPr>
          <a:xfrm>
            <a:off x="3657600" y="3246120"/>
            <a:ext cx="2560320" cy="777240"/>
          </a:xfrm>
          <a:prstGeom prst="roundRect">
            <a:avLst>
              <a:gd name="adj" fmla="val 9412"/>
            </a:avLst>
          </a:prstGeom>
          <a:solidFill>
            <a:schemeClr val="accent1"/>
          </a:solidFill>
          <a:ln w="9525">
            <a:solidFill>
              <a:schemeClr val="accent1"/>
            </a:solidFill>
            <a:prstDash val="solid"/>
          </a:ln>
        </p:spPr>
      </p:sp>
      <p:sp>
        <p:nvSpPr>
          <p:cNvPr id="16" name="Collector text"/>
          <p:cNvSpPr txBox="1"/>
          <p:nvPr/>
        </p:nvSpPr>
        <p:spPr>
          <a:xfrm>
            <a:off x="3657600" y="3246120"/>
            <a:ext cx="2560320" cy="777240"/>
          </a:xfrm>
          <a:prstGeom prst="rect">
            <a:avLst/>
          </a:prstGeom>
          <a:noFill/>
          <a:ln/>
        </p:spPr>
        <p:txBody>
          <a:bodyPr wrap="square" lIns="635" tIns="635" rIns="635" bIns="635" rtlCol="0" anchor="ctr"/>
          <a:lstStyle/>
          <a:p>
            <a:pPr algn="ctr" indent="0" marL="0">
              <a:buNone/>
            </a:pPr>
            <a:r>
              <a:rPr lang="en-US" sz="1400" b="1" dirty="0">
                <a:solidFill>
                  <a:schemeClr val="bg1"/>
                </a:solidFill>
              </a:rPr>
              <a:t>OTel Collector</a:t>
            </a:r>
            <a:endParaRPr lang="en-US" sz="1400" dirty="0"/>
          </a:p>
          <a:p>
            <a:pPr algn="ctr" indent="0" marL="0">
              <a:buNone/>
            </a:pPr>
            <a:r>
              <a:rPr lang="en-US" sz="1100" dirty="0">
                <a:solidFill>
                  <a:schemeClr val="accent6"/>
                </a:solidFill>
              </a:rPr>
              <a:t>Spans and access logs (OTLP)</a:t>
            </a:r>
            <a:endParaRPr lang="en-US" sz="1400" dirty="0"/>
          </a:p>
        </p:txBody>
      </p:sp>
      <p:sp>
        <p:nvSpPr>
          <p:cNvPr id="17" name="Tempo"/>
          <p:cNvSpPr/>
          <p:nvPr/>
        </p:nvSpPr>
        <p:spPr>
          <a:xfrm>
            <a:off x="3657600" y="4206240"/>
            <a:ext cx="2560320" cy="777240"/>
          </a:xfrm>
          <a:prstGeom prst="roundRect">
            <a:avLst>
              <a:gd name="adj" fmla="val 9412"/>
            </a:avLst>
          </a:prstGeom>
          <a:solidFill>
            <a:schemeClr val="accent1"/>
          </a:solidFill>
          <a:ln w="9525">
            <a:solidFill>
              <a:schemeClr val="accent1"/>
            </a:solidFill>
            <a:prstDash val="solid"/>
          </a:ln>
        </p:spPr>
      </p:sp>
      <p:sp>
        <p:nvSpPr>
          <p:cNvPr id="18" name="Tempo text"/>
          <p:cNvSpPr txBox="1"/>
          <p:nvPr/>
        </p:nvSpPr>
        <p:spPr>
          <a:xfrm>
            <a:off x="3657600" y="4206240"/>
            <a:ext cx="2560320" cy="777240"/>
          </a:xfrm>
          <a:prstGeom prst="rect">
            <a:avLst/>
          </a:prstGeom>
          <a:noFill/>
          <a:ln/>
        </p:spPr>
        <p:txBody>
          <a:bodyPr wrap="square" lIns="635" tIns="635" rIns="635" bIns="635" rtlCol="0" anchor="ctr"/>
          <a:lstStyle/>
          <a:p>
            <a:pPr algn="ctr" indent="0" marL="0">
              <a:buNone/>
            </a:pPr>
            <a:r>
              <a:rPr lang="en-US" sz="1400" b="1" dirty="0">
                <a:solidFill>
                  <a:schemeClr val="bg1"/>
                </a:solidFill>
              </a:rPr>
              <a:t>Tempo + Loki</a:t>
            </a:r>
            <a:endParaRPr lang="en-US" sz="1400" dirty="0"/>
          </a:p>
          <a:p>
            <a:pPr algn="ctr" indent="0" marL="0">
              <a:buNone/>
            </a:pPr>
            <a:r>
              <a:rPr lang="en-US" sz="1100" dirty="0">
                <a:solidFill>
                  <a:schemeClr val="accent6"/>
                </a:solidFill>
              </a:rPr>
              <a:t>Traces and access logs</a:t>
            </a:r>
            <a:endParaRPr lang="en-US" sz="1400" dirty="0"/>
          </a:p>
        </p:txBody>
      </p:sp>
      <p:sp>
        <p:nvSpPr>
          <p:cNvPr id="19" name="Kiali"/>
          <p:cNvSpPr/>
          <p:nvPr/>
        </p:nvSpPr>
        <p:spPr>
          <a:xfrm>
            <a:off x="6583680" y="2697480"/>
            <a:ext cx="2194560" cy="777240"/>
          </a:xfrm>
          <a:prstGeom prst="roundRect">
            <a:avLst>
              <a:gd name="adj" fmla="val 9412"/>
            </a:avLst>
          </a:prstGeom>
          <a:solidFill>
            <a:schemeClr val="accent6"/>
          </a:solidFill>
          <a:ln w="12700">
            <a:solidFill>
              <a:schemeClr val="accent1"/>
            </a:solidFill>
            <a:prstDash val="solid"/>
          </a:ln>
        </p:spPr>
      </p:sp>
      <p:sp>
        <p:nvSpPr>
          <p:cNvPr id="20" name="Kiali text"/>
          <p:cNvSpPr txBox="1"/>
          <p:nvPr/>
        </p:nvSpPr>
        <p:spPr>
          <a:xfrm>
            <a:off x="6583680" y="2697480"/>
            <a:ext cx="2194560" cy="777240"/>
          </a:xfrm>
          <a:prstGeom prst="rect">
            <a:avLst/>
          </a:prstGeom>
          <a:noFill/>
          <a:ln/>
        </p:spPr>
        <p:txBody>
          <a:bodyPr wrap="square" lIns="635" tIns="635" rIns="635" bIns="635" rtlCol="0" anchor="ctr"/>
          <a:lstStyle/>
          <a:p>
            <a:pPr algn="ctr" indent="0" marL="0">
              <a:buNone/>
            </a:pPr>
            <a:r>
              <a:rPr lang="en-US" sz="1400" b="1" dirty="0">
                <a:solidFill>
                  <a:schemeClr val="tx1"/>
                </a:solidFill>
              </a:rPr>
              <a:t>Kiali</a:t>
            </a:r>
            <a:endParaRPr lang="en-US" sz="1400" dirty="0"/>
          </a:p>
          <a:p>
            <a:pPr algn="ctr" indent="0" marL="0">
              <a:buNone/>
            </a:pPr>
            <a:r>
              <a:rPr lang="en-US" sz="1100" dirty="0">
                <a:solidFill>
                  <a:schemeClr val="tx2"/>
                </a:solidFill>
              </a:rPr>
              <a:t>Live service graph</a:t>
            </a:r>
            <a:endParaRPr lang="en-US" sz="1400" dirty="0"/>
          </a:p>
        </p:txBody>
      </p:sp>
      <p:sp>
        <p:nvSpPr>
          <p:cNvPr id="21" name="Console"/>
          <p:cNvSpPr/>
          <p:nvPr/>
        </p:nvSpPr>
        <p:spPr>
          <a:xfrm>
            <a:off x="6583680" y="3749040"/>
            <a:ext cx="2194560" cy="777240"/>
          </a:xfrm>
          <a:prstGeom prst="roundRect">
            <a:avLst>
              <a:gd name="adj" fmla="val 9412"/>
            </a:avLst>
          </a:prstGeom>
          <a:solidFill>
            <a:schemeClr val="accent6"/>
          </a:solidFill>
          <a:ln w="12700">
            <a:solidFill>
              <a:schemeClr val="accent1"/>
            </a:solidFill>
            <a:prstDash val="solid"/>
          </a:ln>
        </p:spPr>
      </p:sp>
      <p:sp>
        <p:nvSpPr>
          <p:cNvPr id="22" name="Console text"/>
          <p:cNvSpPr txBox="1"/>
          <p:nvPr/>
        </p:nvSpPr>
        <p:spPr>
          <a:xfrm>
            <a:off x="6583680" y="3749040"/>
            <a:ext cx="2194560" cy="777240"/>
          </a:xfrm>
          <a:prstGeom prst="rect">
            <a:avLst/>
          </a:prstGeom>
          <a:noFill/>
          <a:ln/>
        </p:spPr>
        <p:txBody>
          <a:bodyPr wrap="square" lIns="635" tIns="635" rIns="635" bIns="635" rtlCol="0" anchor="ctr"/>
          <a:lstStyle/>
          <a:p>
            <a:pPr algn="ctr" indent="0" marL="0">
              <a:buNone/>
            </a:pPr>
            <a:r>
              <a:rPr lang="en-US" sz="1400" b="1" dirty="0">
                <a:solidFill>
                  <a:schemeClr val="tx1"/>
                </a:solidFill>
              </a:rPr>
              <a:t>OpenShift console</a:t>
            </a:r>
            <a:endParaRPr lang="en-US" sz="1400" dirty="0"/>
          </a:p>
          <a:p>
            <a:pPr algn="ctr" indent="0" marL="0">
              <a:buNone/>
            </a:pPr>
            <a:r>
              <a:rPr lang="en-US" sz="1100" dirty="0">
                <a:solidFill>
                  <a:schemeClr val="tx2"/>
                </a:solidFill>
              </a:rPr>
              <a:t>Dashboards, traces, logs</a:t>
            </a:r>
            <a:endParaRPr lang="en-US" sz="1400" dirty="0"/>
          </a:p>
        </p:txBody>
      </p:sp>
      <p:sp>
        <p:nvSpPr>
          <p:cNvPr id="23" name="Legacy VMs"/>
          <p:cNvSpPr/>
          <p:nvPr/>
        </p:nvSpPr>
        <p:spPr>
          <a:xfrm>
            <a:off x="731520" y="5623560"/>
            <a:ext cx="2560320" cy="685800"/>
          </a:xfrm>
          <a:prstGeom prst="roundRect">
            <a:avLst>
              <a:gd name="adj" fmla="val 10667"/>
            </a:avLst>
          </a:prstGeom>
          <a:solidFill>
            <a:schemeClr val="bg2"/>
          </a:solidFill>
          <a:ln w="9525">
            <a:solidFill>
              <a:schemeClr val="bg2"/>
            </a:solidFill>
            <a:prstDash val="solid"/>
          </a:ln>
        </p:spPr>
      </p:sp>
      <p:sp>
        <p:nvSpPr>
          <p:cNvPr id="24" name="Legacy VMs text"/>
          <p:cNvSpPr txBox="1"/>
          <p:nvPr/>
        </p:nvSpPr>
        <p:spPr>
          <a:xfrm>
            <a:off x="731520" y="5623560"/>
            <a:ext cx="2560320" cy="685800"/>
          </a:xfrm>
          <a:prstGeom prst="rect">
            <a:avLst/>
          </a:prstGeom>
          <a:noFill/>
          <a:ln/>
        </p:spPr>
        <p:txBody>
          <a:bodyPr wrap="square" lIns="635" tIns="635" rIns="635" bIns="635" rtlCol="0" anchor="ctr"/>
          <a:lstStyle/>
          <a:p>
            <a:pPr algn="ctr" indent="0" marL="0">
              <a:buNone/>
            </a:pPr>
            <a:r>
              <a:rPr lang="en-US" sz="1400" b="1" dirty="0">
                <a:solidFill>
                  <a:schemeClr val="tx1"/>
                </a:solidFill>
              </a:rPr>
              <a:t>Legacy apps (VMs)</a:t>
            </a:r>
            <a:endParaRPr lang="en-US" sz="1400" dirty="0"/>
          </a:p>
          <a:p>
            <a:pPr algn="ctr" indent="0" marL="0">
              <a:buNone/>
            </a:pPr>
            <a:r>
              <a:rPr lang="en-US" sz="1100" dirty="0">
                <a:solidFill>
                  <a:schemeClr val="tx2"/>
                </a:solidFill>
              </a:rPr>
              <a:t>HTTP: full metrics + spans</a:t>
            </a:r>
            <a:endParaRPr lang="en-US" sz="1400" dirty="0"/>
          </a:p>
        </p:txBody>
      </p:sp>
      <p:sp>
        <p:nvSpPr>
          <p:cNvPr id="25" name="Databases"/>
          <p:cNvSpPr/>
          <p:nvPr/>
        </p:nvSpPr>
        <p:spPr>
          <a:xfrm>
            <a:off x="3657600" y="5623560"/>
            <a:ext cx="2560320" cy="685800"/>
          </a:xfrm>
          <a:prstGeom prst="roundRect">
            <a:avLst>
              <a:gd name="adj" fmla="val 10667"/>
            </a:avLst>
          </a:prstGeom>
          <a:solidFill>
            <a:schemeClr val="bg2"/>
          </a:solidFill>
          <a:ln w="9525">
            <a:solidFill>
              <a:schemeClr val="bg2"/>
            </a:solidFill>
            <a:prstDash val="solid"/>
          </a:ln>
        </p:spPr>
      </p:sp>
      <p:sp>
        <p:nvSpPr>
          <p:cNvPr id="26" name="Databases text"/>
          <p:cNvSpPr txBox="1"/>
          <p:nvPr/>
        </p:nvSpPr>
        <p:spPr>
          <a:xfrm>
            <a:off x="3657600" y="5623560"/>
            <a:ext cx="2560320" cy="685800"/>
          </a:xfrm>
          <a:prstGeom prst="rect">
            <a:avLst/>
          </a:prstGeom>
          <a:noFill/>
          <a:ln/>
        </p:spPr>
        <p:txBody>
          <a:bodyPr wrap="square" lIns="635" tIns="635" rIns="635" bIns="635" rtlCol="0" anchor="ctr"/>
          <a:lstStyle/>
          <a:p>
            <a:pPr algn="ctr" indent="0" marL="0">
              <a:buNone/>
            </a:pPr>
            <a:r>
              <a:rPr lang="en-US" sz="1400" b="1" dirty="0">
                <a:solidFill>
                  <a:schemeClr val="tx1"/>
                </a:solidFill>
              </a:rPr>
              <a:t>Databases</a:t>
            </a:r>
            <a:endParaRPr lang="en-US" sz="1400" dirty="0"/>
          </a:p>
          <a:p>
            <a:pPr algn="ctr" indent="0" marL="0">
              <a:buNone/>
            </a:pPr>
            <a:r>
              <a:rPr lang="en-US" sz="1100" dirty="0">
                <a:solidFill>
                  <a:schemeClr val="tx2"/>
                </a:solidFill>
              </a:rPr>
              <a:t>TCP: connections only</a:t>
            </a:r>
            <a:endParaRPr lang="en-US" sz="1400" dirty="0"/>
          </a:p>
        </p:txBody>
      </p:sp>
      <p:sp>
        <p:nvSpPr>
          <p:cNvPr id="27" name="Shape 25"/>
          <p:cNvSpPr/>
          <p:nvPr/>
        </p:nvSpPr>
        <p:spPr>
          <a:xfrm>
            <a:off x="2011680" y="1645920"/>
            <a:ext cx="0" cy="640080"/>
          </a:xfrm>
          <a:prstGeom prst="line">
            <a:avLst/>
          </a:prstGeom>
          <a:noFill/>
          <a:ln w="15875">
            <a:solidFill>
              <a:schemeClr val="tx2"/>
            </a:solidFill>
            <a:prstDash val="solid"/>
            <a:tailEnd type="triangle"/>
          </a:ln>
        </p:spPr>
      </p:sp>
      <p:sp>
        <p:nvSpPr>
          <p:cNvPr id="28" name="Shape 26"/>
          <p:cNvSpPr/>
          <p:nvPr/>
        </p:nvSpPr>
        <p:spPr>
          <a:xfrm>
            <a:off x="2011680" y="3063240"/>
            <a:ext cx="0" cy="182880"/>
          </a:xfrm>
          <a:prstGeom prst="line">
            <a:avLst/>
          </a:prstGeom>
          <a:noFill/>
          <a:ln w="15875">
            <a:solidFill>
              <a:schemeClr val="tx2"/>
            </a:solidFill>
            <a:prstDash val="solid"/>
            <a:tailEnd type="triangle"/>
          </a:ln>
        </p:spPr>
      </p:sp>
      <p:sp>
        <p:nvSpPr>
          <p:cNvPr id="29" name="Shape 27"/>
          <p:cNvSpPr/>
          <p:nvPr/>
        </p:nvSpPr>
        <p:spPr>
          <a:xfrm>
            <a:off x="2011680" y="4023360"/>
            <a:ext cx="0" cy="182880"/>
          </a:xfrm>
          <a:prstGeom prst="line">
            <a:avLst/>
          </a:prstGeom>
          <a:noFill/>
          <a:ln w="15875">
            <a:solidFill>
              <a:schemeClr val="tx2"/>
            </a:solidFill>
            <a:prstDash val="solid"/>
            <a:tailEnd type="triangle"/>
          </a:ln>
        </p:spPr>
      </p:sp>
      <p:sp>
        <p:nvSpPr>
          <p:cNvPr id="30" name="Shape 28"/>
          <p:cNvSpPr/>
          <p:nvPr/>
        </p:nvSpPr>
        <p:spPr>
          <a:xfrm>
            <a:off x="3291840" y="3749040"/>
            <a:ext cx="365760" cy="0"/>
          </a:xfrm>
          <a:prstGeom prst="line">
            <a:avLst/>
          </a:prstGeom>
          <a:noFill/>
          <a:ln w="15875">
            <a:solidFill>
              <a:schemeClr val="tx2"/>
            </a:solidFill>
            <a:prstDash val="solid"/>
            <a:tailEnd type="triangle"/>
          </a:ln>
        </p:spPr>
      </p:sp>
      <p:sp>
        <p:nvSpPr>
          <p:cNvPr id="31" name="Shape 29"/>
          <p:cNvSpPr/>
          <p:nvPr/>
        </p:nvSpPr>
        <p:spPr>
          <a:xfrm>
            <a:off x="3291840" y="3429000"/>
            <a:ext cx="182880" cy="0"/>
          </a:xfrm>
          <a:prstGeom prst="line">
            <a:avLst/>
          </a:prstGeom>
          <a:noFill/>
          <a:ln w="15875">
            <a:solidFill>
              <a:schemeClr val="tx2"/>
            </a:solidFill>
            <a:prstDash val="solid"/>
          </a:ln>
        </p:spPr>
      </p:sp>
      <p:sp>
        <p:nvSpPr>
          <p:cNvPr id="32" name="Shape 30"/>
          <p:cNvSpPr/>
          <p:nvPr/>
        </p:nvSpPr>
        <p:spPr>
          <a:xfrm>
            <a:off x="3474720" y="2674620"/>
            <a:ext cx="0" cy="754380"/>
          </a:xfrm>
          <a:prstGeom prst="line">
            <a:avLst/>
          </a:prstGeom>
          <a:noFill/>
          <a:ln w="15875">
            <a:solidFill>
              <a:schemeClr val="tx2"/>
            </a:solidFill>
            <a:prstDash val="solid"/>
          </a:ln>
        </p:spPr>
      </p:sp>
      <p:sp>
        <p:nvSpPr>
          <p:cNvPr id="33" name="Shape 31"/>
          <p:cNvSpPr/>
          <p:nvPr/>
        </p:nvSpPr>
        <p:spPr>
          <a:xfrm>
            <a:off x="3474720" y="2674620"/>
            <a:ext cx="182880" cy="0"/>
          </a:xfrm>
          <a:prstGeom prst="line">
            <a:avLst/>
          </a:prstGeom>
          <a:noFill/>
          <a:ln w="15875">
            <a:solidFill>
              <a:schemeClr val="tx2"/>
            </a:solidFill>
            <a:prstDash val="solid"/>
            <a:tailEnd type="triangle"/>
          </a:ln>
        </p:spPr>
      </p:sp>
      <p:sp>
        <p:nvSpPr>
          <p:cNvPr id="34" name="Shape 32"/>
          <p:cNvSpPr/>
          <p:nvPr/>
        </p:nvSpPr>
        <p:spPr>
          <a:xfrm>
            <a:off x="4937760" y="4023360"/>
            <a:ext cx="0" cy="182880"/>
          </a:xfrm>
          <a:prstGeom prst="line">
            <a:avLst/>
          </a:prstGeom>
          <a:noFill/>
          <a:ln w="15875">
            <a:solidFill>
              <a:schemeClr val="tx2"/>
            </a:solidFill>
            <a:prstDash val="solid"/>
            <a:tailEnd type="triangle"/>
          </a:ln>
        </p:spPr>
      </p:sp>
      <p:sp>
        <p:nvSpPr>
          <p:cNvPr id="35" name="Shape 33"/>
          <p:cNvSpPr/>
          <p:nvPr/>
        </p:nvSpPr>
        <p:spPr>
          <a:xfrm>
            <a:off x="6217920" y="2674620"/>
            <a:ext cx="182880" cy="0"/>
          </a:xfrm>
          <a:prstGeom prst="line">
            <a:avLst/>
          </a:prstGeom>
          <a:noFill/>
          <a:ln w="15875">
            <a:solidFill>
              <a:schemeClr val="tx2"/>
            </a:solidFill>
            <a:prstDash val="solid"/>
          </a:ln>
        </p:spPr>
      </p:sp>
      <p:sp>
        <p:nvSpPr>
          <p:cNvPr id="36" name="Shape 34"/>
          <p:cNvSpPr/>
          <p:nvPr/>
        </p:nvSpPr>
        <p:spPr>
          <a:xfrm>
            <a:off x="6400800" y="2674620"/>
            <a:ext cx="0" cy="411480"/>
          </a:xfrm>
          <a:prstGeom prst="line">
            <a:avLst/>
          </a:prstGeom>
          <a:noFill/>
          <a:ln w="15875">
            <a:solidFill>
              <a:schemeClr val="tx2"/>
            </a:solidFill>
            <a:prstDash val="solid"/>
          </a:ln>
        </p:spPr>
      </p:sp>
      <p:sp>
        <p:nvSpPr>
          <p:cNvPr id="37" name="Shape 35"/>
          <p:cNvSpPr/>
          <p:nvPr/>
        </p:nvSpPr>
        <p:spPr>
          <a:xfrm>
            <a:off x="6400800" y="3086100"/>
            <a:ext cx="182880" cy="0"/>
          </a:xfrm>
          <a:prstGeom prst="line">
            <a:avLst/>
          </a:prstGeom>
          <a:noFill/>
          <a:ln w="15875">
            <a:solidFill>
              <a:schemeClr val="tx2"/>
            </a:solidFill>
            <a:prstDash val="solid"/>
            <a:tailEnd type="triangle"/>
          </a:ln>
        </p:spPr>
      </p:sp>
      <p:sp>
        <p:nvSpPr>
          <p:cNvPr id="38" name="Shape 36"/>
          <p:cNvSpPr/>
          <p:nvPr/>
        </p:nvSpPr>
        <p:spPr>
          <a:xfrm>
            <a:off x="6217920" y="4594860"/>
            <a:ext cx="182880" cy="0"/>
          </a:xfrm>
          <a:prstGeom prst="line">
            <a:avLst/>
          </a:prstGeom>
          <a:noFill/>
          <a:ln w="15875">
            <a:solidFill>
              <a:schemeClr val="tx2"/>
            </a:solidFill>
            <a:prstDash val="solid"/>
          </a:ln>
        </p:spPr>
      </p:sp>
      <p:sp>
        <p:nvSpPr>
          <p:cNvPr id="39" name="Shape 37"/>
          <p:cNvSpPr/>
          <p:nvPr/>
        </p:nvSpPr>
        <p:spPr>
          <a:xfrm>
            <a:off x="6400800" y="4137660"/>
            <a:ext cx="0" cy="457200"/>
          </a:xfrm>
          <a:prstGeom prst="line">
            <a:avLst/>
          </a:prstGeom>
          <a:noFill/>
          <a:ln w="15875">
            <a:solidFill>
              <a:schemeClr val="tx2"/>
            </a:solidFill>
            <a:prstDash val="solid"/>
          </a:ln>
        </p:spPr>
      </p:sp>
      <p:sp>
        <p:nvSpPr>
          <p:cNvPr id="40" name="Shape 38"/>
          <p:cNvSpPr/>
          <p:nvPr/>
        </p:nvSpPr>
        <p:spPr>
          <a:xfrm>
            <a:off x="6400800" y="4137660"/>
            <a:ext cx="182880" cy="0"/>
          </a:xfrm>
          <a:prstGeom prst="line">
            <a:avLst/>
          </a:prstGeom>
          <a:noFill/>
          <a:ln w="15875">
            <a:solidFill>
              <a:schemeClr val="tx2"/>
            </a:solidFill>
            <a:prstDash val="solid"/>
            <a:tailEnd type="triangle"/>
          </a:ln>
        </p:spPr>
      </p:sp>
      <p:sp>
        <p:nvSpPr>
          <p:cNvPr id="41" name="Shape 39"/>
          <p:cNvSpPr/>
          <p:nvPr/>
        </p:nvSpPr>
        <p:spPr>
          <a:xfrm>
            <a:off x="1463040" y="4983480"/>
            <a:ext cx="0" cy="640080"/>
          </a:xfrm>
          <a:prstGeom prst="line">
            <a:avLst/>
          </a:prstGeom>
          <a:noFill/>
          <a:ln w="15875">
            <a:solidFill>
              <a:schemeClr val="tx2"/>
            </a:solidFill>
            <a:prstDash val="solid"/>
            <a:tailEnd type="triangle"/>
          </a:ln>
        </p:spPr>
      </p:sp>
      <p:sp>
        <p:nvSpPr>
          <p:cNvPr id="42" name="Shape 40"/>
          <p:cNvSpPr/>
          <p:nvPr/>
        </p:nvSpPr>
        <p:spPr>
          <a:xfrm>
            <a:off x="2743200" y="4983480"/>
            <a:ext cx="0" cy="457200"/>
          </a:xfrm>
          <a:prstGeom prst="line">
            <a:avLst/>
          </a:prstGeom>
          <a:noFill/>
          <a:ln w="15875">
            <a:solidFill>
              <a:schemeClr val="tx2"/>
            </a:solidFill>
            <a:prstDash val="solid"/>
          </a:ln>
        </p:spPr>
      </p:sp>
      <p:sp>
        <p:nvSpPr>
          <p:cNvPr id="43" name="Shape 41"/>
          <p:cNvSpPr/>
          <p:nvPr/>
        </p:nvSpPr>
        <p:spPr>
          <a:xfrm>
            <a:off x="2743200" y="5440680"/>
            <a:ext cx="2194560" cy="0"/>
          </a:xfrm>
          <a:prstGeom prst="line">
            <a:avLst/>
          </a:prstGeom>
          <a:noFill/>
          <a:ln w="15875">
            <a:solidFill>
              <a:schemeClr val="tx2"/>
            </a:solidFill>
            <a:prstDash val="solid"/>
          </a:ln>
        </p:spPr>
      </p:sp>
      <p:sp>
        <p:nvSpPr>
          <p:cNvPr id="44" name="Shape 42"/>
          <p:cNvSpPr/>
          <p:nvPr/>
        </p:nvSpPr>
        <p:spPr>
          <a:xfrm>
            <a:off x="4937760" y="5440680"/>
            <a:ext cx="0" cy="182880"/>
          </a:xfrm>
          <a:prstGeom prst="line">
            <a:avLst/>
          </a:prstGeom>
          <a:noFill/>
          <a:ln w="15875">
            <a:solidFill>
              <a:schemeClr val="tx2"/>
            </a:solidFill>
            <a:prstDash val="solid"/>
            <a:tailEnd type="triangle"/>
          </a:ln>
        </p:spPr>
      </p:sp>
      <p:sp>
        <p:nvSpPr>
          <p:cNvPr id="45" name="Key card"/>
          <p:cNvSpPr/>
          <p:nvPr/>
        </p:nvSpPr>
        <p:spPr>
          <a:xfrm>
            <a:off x="9326880" y="1828800"/>
            <a:ext cx="2377440" cy="3520440"/>
          </a:xfrm>
          <a:prstGeom prst="roundRect">
            <a:avLst>
              <a:gd name="adj" fmla="val 3846"/>
            </a:avLst>
          </a:prstGeom>
          <a:solidFill>
            <a:schemeClr val="bg2"/>
          </a:solidFill>
          <a:ln w="12700">
            <a:solidFill>
              <a:schemeClr val="bg2"/>
            </a:solidFill>
            <a:prstDash val="solid"/>
          </a:ln>
        </p:spPr>
      </p:sp>
      <p:sp>
        <p:nvSpPr>
          <p:cNvPr id="46" name="Text 44"/>
          <p:cNvSpPr txBox="1"/>
          <p:nvPr/>
        </p:nvSpPr>
        <p:spPr>
          <a:xfrm>
            <a:off x="9555480" y="1965960"/>
            <a:ext cx="2011680" cy="365760"/>
          </a:xfrm>
          <a:prstGeom prst="rect">
            <a:avLst/>
          </a:prstGeom>
          <a:noFill/>
          <a:ln/>
        </p:spPr>
        <p:txBody>
          <a:bodyPr wrap="square" lIns="0" tIns="0" rIns="0" bIns="0" rtlCol="0" anchor="ctr"/>
          <a:lstStyle/>
          <a:p>
            <a:pPr indent="0" marL="0">
              <a:buNone/>
            </a:pPr>
            <a:r>
              <a:rPr lang="en-US" sz="1400" b="1" dirty="0">
                <a:solidFill>
                  <a:schemeClr val="tx1"/>
                </a:solidFill>
              </a:rPr>
              <a:t>Key</a:t>
            </a:r>
            <a:endParaRPr lang="en-US" sz="1400" dirty="0"/>
          </a:p>
        </p:txBody>
      </p:sp>
      <p:sp>
        <p:nvSpPr>
          <p:cNvPr id="47" name="Shape 45"/>
          <p:cNvSpPr/>
          <p:nvPr/>
        </p:nvSpPr>
        <p:spPr>
          <a:xfrm>
            <a:off x="9555480" y="2468880"/>
            <a:ext cx="228600" cy="228600"/>
          </a:xfrm>
          <a:prstGeom prst="ellipse">
            <a:avLst/>
          </a:prstGeom>
          <a:solidFill>
            <a:schemeClr val="accent2"/>
          </a:solidFill>
          <a:ln w="6350">
            <a:solidFill>
              <a:schemeClr val="accent2"/>
            </a:solidFill>
            <a:prstDash val="solid"/>
          </a:ln>
        </p:spPr>
      </p:sp>
      <p:sp>
        <p:nvSpPr>
          <p:cNvPr id="48" name="Text 46"/>
          <p:cNvSpPr txBox="1"/>
          <p:nvPr/>
        </p:nvSpPr>
        <p:spPr>
          <a:xfrm>
            <a:off x="9921240" y="2423160"/>
            <a:ext cx="1691640" cy="320040"/>
          </a:xfrm>
          <a:prstGeom prst="rect">
            <a:avLst/>
          </a:prstGeom>
          <a:noFill/>
          <a:ln/>
        </p:spPr>
        <p:txBody>
          <a:bodyPr wrap="square" lIns="0" tIns="0" rIns="0" bIns="0" rtlCol="0" anchor="ctr"/>
          <a:lstStyle/>
          <a:p>
            <a:pPr indent="0" marL="0">
              <a:buNone/>
            </a:pPr>
            <a:r>
              <a:rPr lang="en-US" sz="1100" dirty="0">
                <a:solidFill>
                  <a:schemeClr val="tx2"/>
                </a:solidFill>
              </a:rPr>
              <a:t>Mesh request path</a:t>
            </a:r>
            <a:endParaRPr lang="en-US" sz="1100" dirty="0"/>
          </a:p>
        </p:txBody>
      </p:sp>
      <p:sp>
        <p:nvSpPr>
          <p:cNvPr id="49" name="Shape 47"/>
          <p:cNvSpPr/>
          <p:nvPr/>
        </p:nvSpPr>
        <p:spPr>
          <a:xfrm>
            <a:off x="9555480" y="2880360"/>
            <a:ext cx="228600" cy="228600"/>
          </a:xfrm>
          <a:prstGeom prst="ellipse">
            <a:avLst/>
          </a:prstGeom>
          <a:solidFill>
            <a:schemeClr val="accent1"/>
          </a:solidFill>
          <a:ln w="6350">
            <a:solidFill>
              <a:schemeClr val="accent1"/>
            </a:solidFill>
            <a:prstDash val="solid"/>
          </a:ln>
        </p:spPr>
      </p:sp>
      <p:sp>
        <p:nvSpPr>
          <p:cNvPr id="50" name="Text 48"/>
          <p:cNvSpPr txBox="1"/>
          <p:nvPr/>
        </p:nvSpPr>
        <p:spPr>
          <a:xfrm>
            <a:off x="9921240" y="2834640"/>
            <a:ext cx="1691640" cy="320040"/>
          </a:xfrm>
          <a:prstGeom prst="rect">
            <a:avLst/>
          </a:prstGeom>
          <a:noFill/>
          <a:ln/>
        </p:spPr>
        <p:txBody>
          <a:bodyPr wrap="square" lIns="0" tIns="0" rIns="0" bIns="0" rtlCol="0" anchor="ctr"/>
          <a:lstStyle/>
          <a:p>
            <a:pPr indent="0" marL="0">
              <a:buNone/>
            </a:pPr>
            <a:r>
              <a:rPr lang="en-US" sz="1100" dirty="0">
                <a:solidFill>
                  <a:schemeClr val="tx2"/>
                </a:solidFill>
              </a:rPr>
              <a:t>Observability stack</a:t>
            </a:r>
            <a:endParaRPr lang="en-US" sz="1100" dirty="0"/>
          </a:p>
        </p:txBody>
      </p:sp>
      <p:sp>
        <p:nvSpPr>
          <p:cNvPr id="51" name="Shape 49"/>
          <p:cNvSpPr/>
          <p:nvPr/>
        </p:nvSpPr>
        <p:spPr>
          <a:xfrm>
            <a:off x="9555480" y="3291840"/>
            <a:ext cx="228600" cy="228600"/>
          </a:xfrm>
          <a:prstGeom prst="ellipse">
            <a:avLst/>
          </a:prstGeom>
          <a:solidFill>
            <a:schemeClr val="accent5"/>
          </a:solidFill>
          <a:ln w="6350">
            <a:solidFill>
              <a:schemeClr val="accent5"/>
            </a:solidFill>
            <a:prstDash val="solid"/>
          </a:ln>
        </p:spPr>
      </p:sp>
      <p:sp>
        <p:nvSpPr>
          <p:cNvPr id="52" name="Text 50"/>
          <p:cNvSpPr txBox="1"/>
          <p:nvPr/>
        </p:nvSpPr>
        <p:spPr>
          <a:xfrm>
            <a:off x="9921240" y="3246120"/>
            <a:ext cx="1691640" cy="320040"/>
          </a:xfrm>
          <a:prstGeom prst="rect">
            <a:avLst/>
          </a:prstGeom>
          <a:noFill/>
          <a:ln/>
        </p:spPr>
        <p:txBody>
          <a:bodyPr wrap="square" lIns="0" tIns="0" rIns="0" bIns="0" rtlCol="0" anchor="ctr"/>
          <a:lstStyle/>
          <a:p>
            <a:pPr indent="0" marL="0">
              <a:buNone/>
            </a:pPr>
            <a:r>
              <a:rPr lang="en-US" sz="1100" dirty="0">
                <a:solidFill>
                  <a:schemeClr val="tx2"/>
                </a:solidFill>
              </a:rPr>
              <a:t>Outside cluster</a:t>
            </a:r>
            <a:endParaRPr lang="en-US" sz="1100" dirty="0"/>
          </a:p>
        </p:txBody>
      </p:sp>
      <p:sp>
        <p:nvSpPr>
          <p:cNvPr id="53" name="Shape 51"/>
          <p:cNvSpPr/>
          <p:nvPr/>
        </p:nvSpPr>
        <p:spPr>
          <a:xfrm>
            <a:off x="9555480" y="3703320"/>
            <a:ext cx="228600" cy="228600"/>
          </a:xfrm>
          <a:prstGeom prst="ellipse">
            <a:avLst/>
          </a:prstGeom>
          <a:solidFill>
            <a:schemeClr val="accent3"/>
          </a:solidFill>
          <a:ln w="6350">
            <a:solidFill>
              <a:schemeClr val="accent3"/>
            </a:solidFill>
            <a:prstDash val="solid"/>
          </a:ln>
        </p:spPr>
      </p:sp>
      <p:sp>
        <p:nvSpPr>
          <p:cNvPr id="54" name="Text 52"/>
          <p:cNvSpPr txBox="1"/>
          <p:nvPr/>
        </p:nvSpPr>
        <p:spPr>
          <a:xfrm>
            <a:off x="9921240" y="3657600"/>
            <a:ext cx="1691640" cy="320040"/>
          </a:xfrm>
          <a:prstGeom prst="rect">
            <a:avLst/>
          </a:prstGeom>
          <a:noFill/>
          <a:ln/>
        </p:spPr>
        <p:txBody>
          <a:bodyPr wrap="square" lIns="0" tIns="0" rIns="0" bIns="0" rtlCol="0" anchor="ctr"/>
          <a:lstStyle/>
          <a:p>
            <a:pPr indent="0" marL="0">
              <a:buNone/>
            </a:pPr>
            <a:r>
              <a:rPr lang="en-US" sz="1100" dirty="0">
                <a:solidFill>
                  <a:schemeClr val="tx2"/>
                </a:solidFill>
              </a:rPr>
              <a:t>Red dot: failing hop</a:t>
            </a:r>
            <a:endParaRPr lang="en-US" sz="1100" dirty="0"/>
          </a:p>
        </p:txBody>
      </p:sp>
      <p:sp>
        <p:nvSpPr>
          <p:cNvPr id="55" name="Text 53"/>
          <p:cNvSpPr txBox="1"/>
          <p:nvPr/>
        </p:nvSpPr>
        <p:spPr>
          <a:xfrm>
            <a:off x="9555480" y="4114800"/>
            <a:ext cx="2011680" cy="1097280"/>
          </a:xfrm>
          <a:prstGeom prst="rect">
            <a:avLst/>
          </a:prstGeom>
          <a:noFill/>
          <a:ln/>
        </p:spPr>
        <p:txBody>
          <a:bodyPr wrap="square" lIns="0" tIns="0" rIns="0" bIns="0" rtlCol="0" anchor="t"/>
          <a:lstStyle/>
          <a:p>
            <a:pPr indent="0" marL="0">
              <a:buNone/>
            </a:pPr>
            <a:r>
              <a:rPr lang="en-US" sz="1100" i="1" dirty="0">
                <a:solidFill>
                  <a:schemeClr val="tx2"/>
                </a:solidFill>
              </a:rPr>
              <a:t>Kiali turns an edge red when its error rate or latency crosses a threshold.</a:t>
            </a:r>
            <a:endParaRPr lang="en-US" sz="11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47120" cy="731520"/>
          </a:xfrm>
          <a:prstGeom prst="rect">
            <a:avLst/>
          </a:prstGeom>
          <a:noFill/>
          <a:ln/>
        </p:spPr>
        <p:txBody>
          <a:bodyPr wrap="square" rtlCol="0" anchor="ctr"/>
          <a:lstStyle/>
          <a:p>
            <a:pPr algn="l" indent="0" marL="0">
              <a:buNone/>
            </a:pPr>
            <a:r>
              <a:rPr lang="en-US" sz="3000" b="1" dirty="0">
                <a:solidFill>
                  <a:schemeClr val="tx1"/>
                </a:solidFill>
              </a:rPr>
              <a:t>Three telemetry flows, one view</a:t>
            </a:r>
            <a:endParaRPr lang="en-US" sz="3000" dirty="0"/>
          </a:p>
        </p:txBody>
      </p:sp>
      <p:sp>
        <p:nvSpPr>
          <p:cNvPr id="3" name="Shape 1"/>
          <p:cNvSpPr/>
          <p:nvPr/>
        </p:nvSpPr>
        <p:spPr>
          <a:xfrm>
            <a:off x="457200" y="1234440"/>
            <a:ext cx="457200" cy="457200"/>
          </a:xfrm>
          <a:prstGeom prst="ellipse">
            <a:avLst/>
          </a:prstGeom>
          <a:solidFill>
            <a:schemeClr val="accent2"/>
          </a:solidFill>
          <a:ln w="6350">
            <a:solidFill>
              <a:schemeClr val="accent2"/>
            </a:solidFill>
            <a:prstDash val="solid"/>
          </a:ln>
        </p:spPr>
      </p:sp>
      <p:sp>
        <p:nvSpPr>
          <p:cNvPr id="4" name="Text 2"/>
          <p:cNvSpPr txBox="1"/>
          <p:nvPr/>
        </p:nvSpPr>
        <p:spPr>
          <a:xfrm>
            <a:off x="1051560" y="1188720"/>
            <a:ext cx="2743200" cy="548640"/>
          </a:xfrm>
          <a:prstGeom prst="rect">
            <a:avLst/>
          </a:prstGeom>
          <a:noFill/>
          <a:ln/>
        </p:spPr>
        <p:txBody>
          <a:bodyPr wrap="square" lIns="0" tIns="0" rIns="0" bIns="0" rtlCol="0" anchor="ctr"/>
          <a:lstStyle/>
          <a:p>
            <a:pPr indent="0" marL="0">
              <a:buNone/>
            </a:pPr>
            <a:r>
              <a:rPr lang="en-US" sz="2000" b="1" dirty="0">
                <a:solidFill>
                  <a:schemeClr val="tx1"/>
                </a:solidFill>
              </a:rPr>
              <a:t>Metrics</a:t>
            </a:r>
            <a:endParaRPr lang="en-US" sz="2000" dirty="0"/>
          </a:p>
        </p:txBody>
      </p:sp>
      <p:sp>
        <p:nvSpPr>
          <p:cNvPr id="5" name="Metrics step 1"/>
          <p:cNvSpPr/>
          <p:nvPr/>
        </p:nvSpPr>
        <p:spPr>
          <a:xfrm>
            <a:off x="457200" y="1755648"/>
            <a:ext cx="2423160" cy="777240"/>
          </a:xfrm>
          <a:prstGeom prst="roundRect">
            <a:avLst>
              <a:gd name="adj" fmla="val 8000"/>
            </a:avLst>
          </a:prstGeom>
          <a:solidFill>
            <a:schemeClr val="accent2"/>
          </a:solidFill>
          <a:ln w="9525">
            <a:solidFill>
              <a:schemeClr val="accent2"/>
            </a:solidFill>
            <a:prstDash val="solid"/>
          </a:ln>
        </p:spPr>
      </p:sp>
      <p:sp>
        <p:nvSpPr>
          <p:cNvPr id="6" name="Metrics step 1 text"/>
          <p:cNvSpPr txBox="1"/>
          <p:nvPr/>
        </p:nvSpPr>
        <p:spPr>
          <a:xfrm>
            <a:off x="457200" y="1755648"/>
            <a:ext cx="2423160" cy="777240"/>
          </a:xfrm>
          <a:prstGeom prst="rect">
            <a:avLst/>
          </a:prstGeom>
          <a:noFill/>
          <a:ln/>
        </p:spPr>
        <p:txBody>
          <a:bodyPr wrap="square" lIns="635" tIns="635" rIns="635" bIns="635" rtlCol="0" anchor="ctr"/>
          <a:lstStyle/>
          <a:p>
            <a:pPr algn="ctr" indent="0" marL="0">
              <a:buNone/>
            </a:pPr>
            <a:r>
              <a:rPr lang="en-US" sz="1400" b="1" dirty="0">
                <a:solidFill>
                  <a:schemeClr val="bg1"/>
                </a:solidFill>
              </a:rPr>
              <a:t>Envoy sidecar</a:t>
            </a:r>
            <a:endParaRPr lang="en-US" sz="1400" dirty="0"/>
          </a:p>
          <a:p>
            <a:pPr algn="ctr" indent="0" marL="0">
              <a:buNone/>
            </a:pPr>
            <a:r>
              <a:rPr lang="en-US" sz="1100" dirty="0">
                <a:solidFill>
                  <a:schemeClr val="accent6"/>
                </a:solidFill>
              </a:rPr>
              <a:t>Rate, errors, latency</a:t>
            </a:r>
            <a:endParaRPr lang="en-US" sz="1400" dirty="0"/>
          </a:p>
        </p:txBody>
      </p:sp>
      <p:sp>
        <p:nvSpPr>
          <p:cNvPr id="7" name="Shape 5"/>
          <p:cNvSpPr/>
          <p:nvPr/>
        </p:nvSpPr>
        <p:spPr>
          <a:xfrm>
            <a:off x="2926080" y="2144268"/>
            <a:ext cx="320040" cy="0"/>
          </a:xfrm>
          <a:prstGeom prst="line">
            <a:avLst/>
          </a:prstGeom>
          <a:noFill/>
          <a:ln w="15875">
            <a:solidFill>
              <a:schemeClr val="tx2"/>
            </a:solidFill>
            <a:prstDash val="solid"/>
            <a:tailEnd type="triangle"/>
          </a:ln>
        </p:spPr>
      </p:sp>
      <p:sp>
        <p:nvSpPr>
          <p:cNvPr id="8" name="Metrics step 2"/>
          <p:cNvSpPr/>
          <p:nvPr/>
        </p:nvSpPr>
        <p:spPr>
          <a:xfrm>
            <a:off x="3291840" y="1755648"/>
            <a:ext cx="2423160" cy="777240"/>
          </a:xfrm>
          <a:prstGeom prst="roundRect">
            <a:avLst>
              <a:gd name="adj" fmla="val 8000"/>
            </a:avLst>
          </a:prstGeom>
          <a:solidFill>
            <a:schemeClr val="accent2"/>
          </a:solidFill>
          <a:ln w="9525">
            <a:solidFill>
              <a:schemeClr val="accent2"/>
            </a:solidFill>
            <a:prstDash val="solid"/>
          </a:ln>
        </p:spPr>
      </p:sp>
      <p:sp>
        <p:nvSpPr>
          <p:cNvPr id="9" name="Metrics step 2 text"/>
          <p:cNvSpPr txBox="1"/>
          <p:nvPr/>
        </p:nvSpPr>
        <p:spPr>
          <a:xfrm>
            <a:off x="3291840" y="1755648"/>
            <a:ext cx="2423160" cy="777240"/>
          </a:xfrm>
          <a:prstGeom prst="rect">
            <a:avLst/>
          </a:prstGeom>
          <a:noFill/>
          <a:ln/>
        </p:spPr>
        <p:txBody>
          <a:bodyPr wrap="square" lIns="635" tIns="635" rIns="635" bIns="635" rtlCol="0" anchor="ctr"/>
          <a:lstStyle/>
          <a:p>
            <a:pPr algn="ctr" indent="0" marL="0">
              <a:buNone/>
            </a:pPr>
            <a:r>
              <a:rPr lang="en-US" sz="1400" b="1" dirty="0">
                <a:solidFill>
                  <a:schemeClr val="bg1"/>
                </a:solidFill>
              </a:rPr>
              <a:t>PodMonitor</a:t>
            </a:r>
            <a:endParaRPr lang="en-US" sz="1400" dirty="0"/>
          </a:p>
          <a:p>
            <a:pPr algn="ctr" indent="0" marL="0">
              <a:buNone/>
            </a:pPr>
            <a:r>
              <a:rPr lang="en-US" sz="1100" dirty="0">
                <a:solidFill>
                  <a:schemeClr val="accent6"/>
                </a:solidFill>
              </a:rPr>
              <a:t>Per mesh namespace</a:t>
            </a:r>
            <a:endParaRPr lang="en-US" sz="1400" dirty="0"/>
          </a:p>
        </p:txBody>
      </p:sp>
      <p:sp>
        <p:nvSpPr>
          <p:cNvPr id="10" name="Shape 8"/>
          <p:cNvSpPr/>
          <p:nvPr/>
        </p:nvSpPr>
        <p:spPr>
          <a:xfrm>
            <a:off x="5760720" y="2144268"/>
            <a:ext cx="320040" cy="0"/>
          </a:xfrm>
          <a:prstGeom prst="line">
            <a:avLst/>
          </a:prstGeom>
          <a:noFill/>
          <a:ln w="15875">
            <a:solidFill>
              <a:schemeClr val="tx2"/>
            </a:solidFill>
            <a:prstDash val="solid"/>
            <a:tailEnd type="triangle"/>
          </a:ln>
        </p:spPr>
      </p:sp>
      <p:sp>
        <p:nvSpPr>
          <p:cNvPr id="11" name="Metrics step 3"/>
          <p:cNvSpPr/>
          <p:nvPr/>
        </p:nvSpPr>
        <p:spPr>
          <a:xfrm>
            <a:off x="6126480" y="1755648"/>
            <a:ext cx="2423160" cy="777240"/>
          </a:xfrm>
          <a:prstGeom prst="roundRect">
            <a:avLst>
              <a:gd name="adj" fmla="val 8000"/>
            </a:avLst>
          </a:prstGeom>
          <a:solidFill>
            <a:schemeClr val="accent2"/>
          </a:solidFill>
          <a:ln w="9525">
            <a:solidFill>
              <a:schemeClr val="accent2"/>
            </a:solidFill>
            <a:prstDash val="solid"/>
          </a:ln>
        </p:spPr>
      </p:sp>
      <p:sp>
        <p:nvSpPr>
          <p:cNvPr id="12" name="Metrics step 3 text"/>
          <p:cNvSpPr txBox="1"/>
          <p:nvPr/>
        </p:nvSpPr>
        <p:spPr>
          <a:xfrm>
            <a:off x="6126480" y="1755648"/>
            <a:ext cx="2423160" cy="777240"/>
          </a:xfrm>
          <a:prstGeom prst="rect">
            <a:avLst/>
          </a:prstGeom>
          <a:noFill/>
          <a:ln/>
        </p:spPr>
        <p:txBody>
          <a:bodyPr wrap="square" lIns="635" tIns="635" rIns="635" bIns="635" rtlCol="0" anchor="ctr"/>
          <a:lstStyle/>
          <a:p>
            <a:pPr algn="ctr" indent="0" marL="0">
              <a:buNone/>
            </a:pPr>
            <a:r>
              <a:rPr lang="en-US" sz="1400" b="1" dirty="0">
                <a:solidFill>
                  <a:schemeClr val="bg1"/>
                </a:solidFill>
              </a:rPr>
              <a:t>Prometheus (UWM)</a:t>
            </a:r>
            <a:endParaRPr lang="en-US" sz="1400" dirty="0"/>
          </a:p>
          <a:p>
            <a:pPr algn="ctr" indent="0" marL="0">
              <a:buNone/>
            </a:pPr>
            <a:r>
              <a:rPr lang="en-US" sz="1100" dirty="0">
                <a:solidFill>
                  <a:schemeClr val="accent6"/>
                </a:solidFill>
              </a:rPr>
              <a:t>Cluster monitoring</a:t>
            </a:r>
            <a:endParaRPr lang="en-US" sz="1400" dirty="0"/>
          </a:p>
        </p:txBody>
      </p:sp>
      <p:sp>
        <p:nvSpPr>
          <p:cNvPr id="13" name="Shape 11"/>
          <p:cNvSpPr/>
          <p:nvPr/>
        </p:nvSpPr>
        <p:spPr>
          <a:xfrm>
            <a:off x="8595360" y="2144268"/>
            <a:ext cx="320040" cy="0"/>
          </a:xfrm>
          <a:prstGeom prst="line">
            <a:avLst/>
          </a:prstGeom>
          <a:noFill/>
          <a:ln w="15875">
            <a:solidFill>
              <a:schemeClr val="tx2"/>
            </a:solidFill>
            <a:prstDash val="solid"/>
            <a:tailEnd type="triangle"/>
          </a:ln>
        </p:spPr>
      </p:sp>
      <p:sp>
        <p:nvSpPr>
          <p:cNvPr id="14" name="Metrics step 4"/>
          <p:cNvSpPr/>
          <p:nvPr/>
        </p:nvSpPr>
        <p:spPr>
          <a:xfrm>
            <a:off x="8961120" y="1755648"/>
            <a:ext cx="2423160" cy="777240"/>
          </a:xfrm>
          <a:prstGeom prst="roundRect">
            <a:avLst>
              <a:gd name="adj" fmla="val 8000"/>
            </a:avLst>
          </a:prstGeom>
          <a:solidFill>
            <a:schemeClr val="accent6"/>
          </a:solidFill>
          <a:ln w="12700">
            <a:solidFill>
              <a:schemeClr val="accent2"/>
            </a:solidFill>
            <a:prstDash val="solid"/>
          </a:ln>
        </p:spPr>
      </p:sp>
      <p:sp>
        <p:nvSpPr>
          <p:cNvPr id="15" name="Metrics step 4 text"/>
          <p:cNvSpPr txBox="1"/>
          <p:nvPr/>
        </p:nvSpPr>
        <p:spPr>
          <a:xfrm>
            <a:off x="8961120" y="1755648"/>
            <a:ext cx="2423160" cy="777240"/>
          </a:xfrm>
          <a:prstGeom prst="rect">
            <a:avLst/>
          </a:prstGeom>
          <a:noFill/>
          <a:ln/>
        </p:spPr>
        <p:txBody>
          <a:bodyPr wrap="square" lIns="635" tIns="635" rIns="635" bIns="635" rtlCol="0" anchor="ctr"/>
          <a:lstStyle/>
          <a:p>
            <a:pPr algn="ctr" indent="0" marL="0">
              <a:buNone/>
            </a:pPr>
            <a:r>
              <a:rPr lang="en-US" sz="1400" b="1" dirty="0">
                <a:solidFill>
                  <a:schemeClr val="tx1"/>
                </a:solidFill>
              </a:rPr>
              <a:t>Kiali + alerts</a:t>
            </a:r>
            <a:endParaRPr lang="en-US" sz="1400" dirty="0"/>
          </a:p>
          <a:p>
            <a:pPr algn="ctr" indent="0" marL="0">
              <a:buNone/>
            </a:pPr>
            <a:r>
              <a:rPr lang="en-US" sz="1100" dirty="0">
                <a:solidFill>
                  <a:schemeClr val="tx2"/>
                </a:solidFill>
              </a:rPr>
              <a:t>Graph, dashboards</a:t>
            </a:r>
            <a:endParaRPr lang="en-US" sz="1400" dirty="0"/>
          </a:p>
        </p:txBody>
      </p:sp>
      <p:sp>
        <p:nvSpPr>
          <p:cNvPr id="16" name="Text 14"/>
          <p:cNvSpPr txBox="1"/>
          <p:nvPr/>
        </p:nvSpPr>
        <p:spPr>
          <a:xfrm>
            <a:off x="457200" y="2606040"/>
            <a:ext cx="11247120" cy="320040"/>
          </a:xfrm>
          <a:prstGeom prst="rect">
            <a:avLst/>
          </a:prstGeom>
          <a:noFill/>
          <a:ln/>
        </p:spPr>
        <p:txBody>
          <a:bodyPr wrap="square" lIns="0" tIns="0" rIns="0" bIns="0" rtlCol="0" anchor="ctr"/>
          <a:lstStyle/>
          <a:p>
            <a:pPr indent="0" marL="0">
              <a:buNone/>
            </a:pPr>
            <a:r>
              <a:rPr lang="en-US" sz="1300" i="1" dirty="0">
                <a:solidFill>
                  <a:schemeClr val="tx2"/>
                </a:solidFill>
              </a:rPr>
              <a:t>Answers: which hop is failing or slow, right now.</a:t>
            </a:r>
            <a:endParaRPr lang="en-US" sz="1300" dirty="0"/>
          </a:p>
        </p:txBody>
      </p:sp>
      <p:sp>
        <p:nvSpPr>
          <p:cNvPr id="17" name="Shape 15"/>
          <p:cNvSpPr/>
          <p:nvPr/>
        </p:nvSpPr>
        <p:spPr>
          <a:xfrm>
            <a:off x="457200" y="2926079"/>
            <a:ext cx="457200" cy="457200"/>
          </a:xfrm>
          <a:prstGeom prst="ellipse">
            <a:avLst/>
          </a:prstGeom>
          <a:solidFill>
            <a:schemeClr val="accent1"/>
          </a:solidFill>
          <a:ln w="6350">
            <a:solidFill>
              <a:schemeClr val="accent1"/>
            </a:solidFill>
            <a:prstDash val="solid"/>
          </a:ln>
        </p:spPr>
      </p:sp>
      <p:sp>
        <p:nvSpPr>
          <p:cNvPr id="18" name="Text 16"/>
          <p:cNvSpPr txBox="1"/>
          <p:nvPr/>
        </p:nvSpPr>
        <p:spPr>
          <a:xfrm>
            <a:off x="1051560" y="2880360"/>
            <a:ext cx="2743200" cy="548640"/>
          </a:xfrm>
          <a:prstGeom prst="rect">
            <a:avLst/>
          </a:prstGeom>
          <a:noFill/>
          <a:ln/>
        </p:spPr>
        <p:txBody>
          <a:bodyPr wrap="square" lIns="0" tIns="0" rIns="0" bIns="0" rtlCol="0" anchor="ctr"/>
          <a:lstStyle/>
          <a:p>
            <a:pPr indent="0" marL="0">
              <a:buNone/>
            </a:pPr>
            <a:r>
              <a:rPr lang="en-US" sz="2000" b="1" dirty="0">
                <a:solidFill>
                  <a:schemeClr val="tx1"/>
                </a:solidFill>
              </a:rPr>
              <a:t>Traces</a:t>
            </a:r>
            <a:endParaRPr lang="en-US" sz="2000" dirty="0"/>
          </a:p>
        </p:txBody>
      </p:sp>
      <p:sp>
        <p:nvSpPr>
          <p:cNvPr id="19" name="Traces step 1"/>
          <p:cNvSpPr/>
          <p:nvPr/>
        </p:nvSpPr>
        <p:spPr>
          <a:xfrm>
            <a:off x="457200" y="3447288"/>
            <a:ext cx="2423160" cy="777240"/>
          </a:xfrm>
          <a:prstGeom prst="roundRect">
            <a:avLst>
              <a:gd name="adj" fmla="val 8000"/>
            </a:avLst>
          </a:prstGeom>
          <a:solidFill>
            <a:schemeClr val="accent1"/>
          </a:solidFill>
          <a:ln w="9525">
            <a:solidFill>
              <a:schemeClr val="accent1"/>
            </a:solidFill>
            <a:prstDash val="solid"/>
          </a:ln>
        </p:spPr>
      </p:sp>
      <p:sp>
        <p:nvSpPr>
          <p:cNvPr id="20" name="Traces step 1 text"/>
          <p:cNvSpPr txBox="1"/>
          <p:nvPr/>
        </p:nvSpPr>
        <p:spPr>
          <a:xfrm>
            <a:off x="457200" y="3447288"/>
            <a:ext cx="2423160" cy="777240"/>
          </a:xfrm>
          <a:prstGeom prst="rect">
            <a:avLst/>
          </a:prstGeom>
          <a:noFill/>
          <a:ln/>
        </p:spPr>
        <p:txBody>
          <a:bodyPr wrap="square" lIns="635" tIns="635" rIns="635" bIns="635" rtlCol="0" anchor="ctr"/>
          <a:lstStyle/>
          <a:p>
            <a:pPr algn="ctr" indent="0" marL="0">
              <a:buNone/>
            </a:pPr>
            <a:r>
              <a:rPr lang="en-US" sz="1400" b="1" dirty="0">
                <a:solidFill>
                  <a:schemeClr val="bg1"/>
                </a:solidFill>
              </a:rPr>
              <a:t>Envoy + OTel agent</a:t>
            </a:r>
            <a:endParaRPr lang="en-US" sz="1400" dirty="0"/>
          </a:p>
          <a:p>
            <a:pPr algn="ctr" indent="0" marL="0">
              <a:buNone/>
            </a:pPr>
            <a:r>
              <a:rPr lang="en-US" sz="1100" dirty="0">
                <a:solidFill>
                  <a:schemeClr val="accent6"/>
                </a:solidFill>
              </a:rPr>
              <a:t>Spans per hop and call</a:t>
            </a:r>
            <a:endParaRPr lang="en-US" sz="1400" dirty="0"/>
          </a:p>
        </p:txBody>
      </p:sp>
      <p:sp>
        <p:nvSpPr>
          <p:cNvPr id="21" name="Shape 19"/>
          <p:cNvSpPr/>
          <p:nvPr/>
        </p:nvSpPr>
        <p:spPr>
          <a:xfrm>
            <a:off x="2926080" y="3835908"/>
            <a:ext cx="320040" cy="0"/>
          </a:xfrm>
          <a:prstGeom prst="line">
            <a:avLst/>
          </a:prstGeom>
          <a:noFill/>
          <a:ln w="15875">
            <a:solidFill>
              <a:schemeClr val="tx2"/>
            </a:solidFill>
            <a:prstDash val="solid"/>
            <a:tailEnd type="triangle"/>
          </a:ln>
        </p:spPr>
      </p:sp>
      <p:sp>
        <p:nvSpPr>
          <p:cNvPr id="22" name="Traces step 2"/>
          <p:cNvSpPr/>
          <p:nvPr/>
        </p:nvSpPr>
        <p:spPr>
          <a:xfrm>
            <a:off x="3291840" y="3447288"/>
            <a:ext cx="2423160" cy="777240"/>
          </a:xfrm>
          <a:prstGeom prst="roundRect">
            <a:avLst>
              <a:gd name="adj" fmla="val 8000"/>
            </a:avLst>
          </a:prstGeom>
          <a:solidFill>
            <a:schemeClr val="accent1"/>
          </a:solidFill>
          <a:ln w="9525">
            <a:solidFill>
              <a:schemeClr val="accent1"/>
            </a:solidFill>
            <a:prstDash val="solid"/>
          </a:ln>
        </p:spPr>
      </p:sp>
      <p:sp>
        <p:nvSpPr>
          <p:cNvPr id="23" name="Traces step 2 text"/>
          <p:cNvSpPr txBox="1"/>
          <p:nvPr/>
        </p:nvSpPr>
        <p:spPr>
          <a:xfrm>
            <a:off x="3291840" y="3447288"/>
            <a:ext cx="2423160" cy="777240"/>
          </a:xfrm>
          <a:prstGeom prst="rect">
            <a:avLst/>
          </a:prstGeom>
          <a:noFill/>
          <a:ln/>
        </p:spPr>
        <p:txBody>
          <a:bodyPr wrap="square" lIns="635" tIns="635" rIns="635" bIns="635" rtlCol="0" anchor="ctr"/>
          <a:lstStyle/>
          <a:p>
            <a:pPr algn="ctr" indent="0" marL="0">
              <a:buNone/>
            </a:pPr>
            <a:r>
              <a:rPr lang="en-US" sz="1400" b="1" dirty="0">
                <a:solidFill>
                  <a:schemeClr val="bg1"/>
                </a:solidFill>
              </a:rPr>
              <a:t>OTel Collector</a:t>
            </a:r>
            <a:endParaRPr lang="en-US" sz="1400" dirty="0"/>
          </a:p>
          <a:p>
            <a:pPr algn="ctr" indent="0" marL="0">
              <a:buNone/>
            </a:pPr>
            <a:r>
              <a:rPr lang="en-US" sz="1100" dirty="0">
                <a:solidFill>
                  <a:schemeClr val="accent6"/>
                </a:solidFill>
              </a:rPr>
              <a:t>OTLP, tail sampling</a:t>
            </a:r>
            <a:endParaRPr lang="en-US" sz="1400" dirty="0"/>
          </a:p>
        </p:txBody>
      </p:sp>
      <p:sp>
        <p:nvSpPr>
          <p:cNvPr id="24" name="Shape 22"/>
          <p:cNvSpPr/>
          <p:nvPr/>
        </p:nvSpPr>
        <p:spPr>
          <a:xfrm>
            <a:off x="5760720" y="3835908"/>
            <a:ext cx="320040" cy="0"/>
          </a:xfrm>
          <a:prstGeom prst="line">
            <a:avLst/>
          </a:prstGeom>
          <a:noFill/>
          <a:ln w="15875">
            <a:solidFill>
              <a:schemeClr val="tx2"/>
            </a:solidFill>
            <a:prstDash val="solid"/>
            <a:tailEnd type="triangle"/>
          </a:ln>
        </p:spPr>
      </p:sp>
      <p:sp>
        <p:nvSpPr>
          <p:cNvPr id="25" name="Traces step 3"/>
          <p:cNvSpPr/>
          <p:nvPr/>
        </p:nvSpPr>
        <p:spPr>
          <a:xfrm>
            <a:off x="6126480" y="3447288"/>
            <a:ext cx="2423160" cy="777240"/>
          </a:xfrm>
          <a:prstGeom prst="roundRect">
            <a:avLst>
              <a:gd name="adj" fmla="val 8000"/>
            </a:avLst>
          </a:prstGeom>
          <a:solidFill>
            <a:schemeClr val="accent1"/>
          </a:solidFill>
          <a:ln w="9525">
            <a:solidFill>
              <a:schemeClr val="accent1"/>
            </a:solidFill>
            <a:prstDash val="solid"/>
          </a:ln>
        </p:spPr>
      </p:sp>
      <p:sp>
        <p:nvSpPr>
          <p:cNvPr id="26" name="Traces step 3 text"/>
          <p:cNvSpPr txBox="1"/>
          <p:nvPr/>
        </p:nvSpPr>
        <p:spPr>
          <a:xfrm>
            <a:off x="6126480" y="3447288"/>
            <a:ext cx="2423160" cy="777240"/>
          </a:xfrm>
          <a:prstGeom prst="rect">
            <a:avLst/>
          </a:prstGeom>
          <a:noFill/>
          <a:ln/>
        </p:spPr>
        <p:txBody>
          <a:bodyPr wrap="square" lIns="635" tIns="635" rIns="635" bIns="635" rtlCol="0" anchor="ctr"/>
          <a:lstStyle/>
          <a:p>
            <a:pPr algn="ctr" indent="0" marL="0">
              <a:buNone/>
            </a:pPr>
            <a:r>
              <a:rPr lang="en-US" sz="1400" b="1" dirty="0">
                <a:solidFill>
                  <a:schemeClr val="bg1"/>
                </a:solidFill>
              </a:rPr>
              <a:t>Tempo</a:t>
            </a:r>
            <a:endParaRPr lang="en-US" sz="1400" dirty="0"/>
          </a:p>
          <a:p>
            <a:pPr algn="ctr" indent="0" marL="0">
              <a:buNone/>
            </a:pPr>
            <a:r>
              <a:rPr lang="en-US" sz="1100" dirty="0">
                <a:solidFill>
                  <a:schemeClr val="accent6"/>
                </a:solidFill>
              </a:rPr>
              <a:t>Trace storage</a:t>
            </a:r>
            <a:endParaRPr lang="en-US" sz="1400" dirty="0"/>
          </a:p>
        </p:txBody>
      </p:sp>
      <p:sp>
        <p:nvSpPr>
          <p:cNvPr id="27" name="Shape 25"/>
          <p:cNvSpPr/>
          <p:nvPr/>
        </p:nvSpPr>
        <p:spPr>
          <a:xfrm>
            <a:off x="8595360" y="3835908"/>
            <a:ext cx="320040" cy="0"/>
          </a:xfrm>
          <a:prstGeom prst="line">
            <a:avLst/>
          </a:prstGeom>
          <a:noFill/>
          <a:ln w="15875">
            <a:solidFill>
              <a:schemeClr val="tx2"/>
            </a:solidFill>
            <a:prstDash val="solid"/>
            <a:tailEnd type="triangle"/>
          </a:ln>
        </p:spPr>
      </p:sp>
      <p:sp>
        <p:nvSpPr>
          <p:cNvPr id="28" name="Traces step 4"/>
          <p:cNvSpPr/>
          <p:nvPr/>
        </p:nvSpPr>
        <p:spPr>
          <a:xfrm>
            <a:off x="8961120" y="3447288"/>
            <a:ext cx="2423160" cy="777240"/>
          </a:xfrm>
          <a:prstGeom prst="roundRect">
            <a:avLst>
              <a:gd name="adj" fmla="val 8000"/>
            </a:avLst>
          </a:prstGeom>
          <a:solidFill>
            <a:schemeClr val="accent6"/>
          </a:solidFill>
          <a:ln w="12700">
            <a:solidFill>
              <a:schemeClr val="accent1"/>
            </a:solidFill>
            <a:prstDash val="solid"/>
          </a:ln>
        </p:spPr>
      </p:sp>
      <p:sp>
        <p:nvSpPr>
          <p:cNvPr id="29" name="Traces step 4 text"/>
          <p:cNvSpPr txBox="1"/>
          <p:nvPr/>
        </p:nvSpPr>
        <p:spPr>
          <a:xfrm>
            <a:off x="8961120" y="3447288"/>
            <a:ext cx="2423160" cy="777240"/>
          </a:xfrm>
          <a:prstGeom prst="rect">
            <a:avLst/>
          </a:prstGeom>
          <a:noFill/>
          <a:ln/>
        </p:spPr>
        <p:txBody>
          <a:bodyPr wrap="square" lIns="635" tIns="635" rIns="635" bIns="635" rtlCol="0" anchor="ctr"/>
          <a:lstStyle/>
          <a:p>
            <a:pPr algn="ctr" indent="0" marL="0">
              <a:buNone/>
            </a:pPr>
            <a:r>
              <a:rPr lang="en-US" sz="1400" b="1" dirty="0">
                <a:solidFill>
                  <a:schemeClr val="tx1"/>
                </a:solidFill>
              </a:rPr>
              <a:t>Console tracing UI</a:t>
            </a:r>
            <a:endParaRPr lang="en-US" sz="1400" dirty="0"/>
          </a:p>
          <a:p>
            <a:pPr algn="ctr" indent="0" marL="0">
              <a:buNone/>
            </a:pPr>
            <a:r>
              <a:rPr lang="en-US" sz="1100" dirty="0">
                <a:solidFill>
                  <a:schemeClr val="tx2"/>
                </a:solidFill>
              </a:rPr>
              <a:t>Linked from Kiali</a:t>
            </a:r>
            <a:endParaRPr lang="en-US" sz="1400" dirty="0"/>
          </a:p>
        </p:txBody>
      </p:sp>
      <p:sp>
        <p:nvSpPr>
          <p:cNvPr id="30" name="Text 28"/>
          <p:cNvSpPr txBox="1"/>
          <p:nvPr/>
        </p:nvSpPr>
        <p:spPr>
          <a:xfrm>
            <a:off x="457200" y="4297680"/>
            <a:ext cx="11247120" cy="320040"/>
          </a:xfrm>
          <a:prstGeom prst="rect">
            <a:avLst/>
          </a:prstGeom>
          <a:noFill/>
          <a:ln/>
        </p:spPr>
        <p:txBody>
          <a:bodyPr wrap="square" lIns="0" tIns="0" rIns="0" bIns="0" rtlCol="0" anchor="ctr"/>
          <a:lstStyle/>
          <a:p>
            <a:pPr indent="0" marL="0">
              <a:buNone/>
            </a:pPr>
            <a:r>
              <a:rPr lang="en-US" sz="1300" i="1" dirty="0">
                <a:solidFill>
                  <a:schemeClr val="tx2"/>
                </a:solidFill>
              </a:rPr>
              <a:t>Answers: where the time went inside one specific transaction, including DB calls.</a:t>
            </a:r>
            <a:endParaRPr lang="en-US" sz="13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
        <p:nvSpPr>
          <p:cNvPr id="31" name="Logs icon"/>
          <p:cNvSpPr/>
          <p:nvPr/>
        </p:nvSpPr>
        <p:spPr>
          <a:xfrm>
            <a:off x="457200" y="4617720"/>
            <a:ext cx="457200" cy="457200"/>
          </a:xfrm>
          <a:prstGeom prst="ellipse">
            <a:avLst/>
          </a:prstGeom>
          <a:solidFill>
            <a:schemeClr val="tx2"/>
          </a:solidFill>
          <a:ln w="6350">
            <a:solidFill>
              <a:schemeClr val="tx2"/>
            </a:solidFill>
            <a:prstDash val="solid"/>
          </a:ln>
        </p:spPr>
      </p:sp>
      <p:sp>
        <p:nvSpPr>
          <p:cNvPr id="32" name="Logs label"/>
          <p:cNvSpPr txBox="1"/>
          <p:nvPr/>
        </p:nvSpPr>
        <p:spPr>
          <a:xfrm>
            <a:off x="1051560" y="4572000"/>
            <a:ext cx="2743200" cy="548640"/>
          </a:xfrm>
          <a:prstGeom prst="rect">
            <a:avLst/>
          </a:prstGeom>
          <a:noFill/>
          <a:ln/>
        </p:spPr>
        <p:txBody>
          <a:bodyPr wrap="square" lIns="0" tIns="0" rIns="0" bIns="0" rtlCol="0" anchor="ctr"/>
          <a:lstStyle/>
          <a:p>
            <a:pPr indent="0" marL="0">
              <a:buNone/>
            </a:pPr>
            <a:r>
              <a:rPr lang="en-US" sz="2000" b="1" dirty="0">
                <a:solidFill>
                  <a:schemeClr val="tx1"/>
                </a:solidFill>
              </a:rPr>
              <a:t>Logs</a:t>
            </a:r>
            <a:endParaRPr lang="en-US" sz="2000" dirty="0"/>
          </a:p>
        </p:txBody>
      </p:sp>
      <p:sp>
        <p:nvSpPr>
          <p:cNvPr id="33" name="Logs answer"/>
          <p:cNvSpPr txBox="1"/>
          <p:nvPr/>
        </p:nvSpPr>
        <p:spPr>
          <a:xfrm>
            <a:off x="457200" y="5989320"/>
            <a:ext cx="11247120" cy="320040"/>
          </a:xfrm>
          <a:prstGeom prst="rect">
            <a:avLst/>
          </a:prstGeom>
          <a:noFill/>
          <a:ln/>
        </p:spPr>
        <p:txBody>
          <a:bodyPr wrap="square" lIns="0" tIns="0" rIns="0" bIns="0" rtlCol="0" anchor="ctr"/>
          <a:lstStyle/>
          <a:p>
            <a:pPr indent="0" marL="0">
              <a:buNone/>
            </a:pPr>
            <a:r>
              <a:rPr lang="en-US" sz="1300" i="1" dirty="0">
                <a:solidFill>
                  <a:schemeClr val="tx2"/>
                </a:solidFill>
              </a:rPr>
              <a:t>Answers: why the hop failed: timeout, refused connection or no healthy upstream (Envoy flags UT, UF, UH).</a:t>
            </a:r>
            <a:endParaRPr lang="en-US" sz="1300" dirty="0"/>
          </a:p>
        </p:txBody>
      </p:sp>
      <p:sp>
        <p:nvSpPr>
          <p:cNvPr id="34" name="Logs arrow 1"/>
          <p:cNvSpPr/>
          <p:nvPr/>
        </p:nvSpPr>
        <p:spPr>
          <a:xfrm>
            <a:off x="2926080" y="5527548"/>
            <a:ext cx="320040" cy="0"/>
          </a:xfrm>
          <a:prstGeom prst="line">
            <a:avLst/>
          </a:prstGeom>
          <a:noFill/>
          <a:ln w="15875">
            <a:solidFill>
              <a:schemeClr val="tx2"/>
            </a:solidFill>
            <a:prstDash val="solid"/>
            <a:tailEnd type="triangle"/>
          </a:ln>
        </p:spPr>
      </p:sp>
      <p:sp>
        <p:nvSpPr>
          <p:cNvPr id="35" name="Logs arrow 2"/>
          <p:cNvSpPr/>
          <p:nvPr/>
        </p:nvSpPr>
        <p:spPr>
          <a:xfrm>
            <a:off x="5760720" y="5527548"/>
            <a:ext cx="320040" cy="0"/>
          </a:xfrm>
          <a:prstGeom prst="line">
            <a:avLst/>
          </a:prstGeom>
          <a:noFill/>
          <a:ln w="15875">
            <a:solidFill>
              <a:schemeClr val="tx2"/>
            </a:solidFill>
            <a:prstDash val="solid"/>
            <a:tailEnd type="triangle"/>
          </a:ln>
        </p:spPr>
      </p:sp>
      <p:sp>
        <p:nvSpPr>
          <p:cNvPr id="36" name="Logs arrow 3"/>
          <p:cNvSpPr/>
          <p:nvPr/>
        </p:nvSpPr>
        <p:spPr>
          <a:xfrm>
            <a:off x="8595360" y="5527548"/>
            <a:ext cx="320040" cy="0"/>
          </a:xfrm>
          <a:prstGeom prst="line">
            <a:avLst/>
          </a:prstGeom>
          <a:noFill/>
          <a:ln w="15875">
            <a:solidFill>
              <a:schemeClr val="tx2"/>
            </a:solidFill>
            <a:prstDash val="solid"/>
            <a:tailEnd type="triangle"/>
          </a:ln>
        </p:spPr>
      </p:sp>
      <p:sp>
        <p:nvSpPr>
          <p:cNvPr id="37" name="Logs step 1"/>
          <p:cNvSpPr/>
          <p:nvPr/>
        </p:nvSpPr>
        <p:spPr>
          <a:xfrm>
            <a:off x="457200" y="5138928"/>
            <a:ext cx="2423160" cy="777240"/>
          </a:xfrm>
          <a:prstGeom prst="roundRect">
            <a:avLst>
              <a:gd name="adj" fmla="val 8000"/>
            </a:avLst>
          </a:prstGeom>
          <a:solidFill>
            <a:schemeClr val="tx2"/>
          </a:solidFill>
          <a:ln w="9525">
            <a:solidFill>
              <a:schemeClr val="tx2"/>
            </a:solidFill>
            <a:prstDash val="solid"/>
          </a:ln>
        </p:spPr>
      </p:sp>
      <p:sp>
        <p:nvSpPr>
          <p:cNvPr id="38" name="Logs step 1 text"/>
          <p:cNvSpPr txBox="1"/>
          <p:nvPr/>
        </p:nvSpPr>
        <p:spPr>
          <a:xfrm>
            <a:off x="457200" y="5138928"/>
            <a:ext cx="2423160" cy="777240"/>
          </a:xfrm>
          <a:prstGeom prst="rect">
            <a:avLst/>
          </a:prstGeom>
          <a:noFill/>
          <a:ln/>
        </p:spPr>
        <p:txBody>
          <a:bodyPr wrap="square" lIns="635" tIns="635" rIns="635" bIns="635" rtlCol="0" anchor="ctr"/>
          <a:lstStyle/>
          <a:p>
            <a:pPr algn="ctr" indent="0" marL="0">
              <a:buNone/>
            </a:pPr>
            <a:r>
              <a:rPr lang="en-US" sz="1400" b="1" dirty="0">
                <a:solidFill>
                  <a:schemeClr val="bg1"/>
                </a:solidFill>
              </a:rPr>
              <a:t>Envoy access log</a:t>
            </a:r>
            <a:endParaRPr lang="en-US" sz="1400" dirty="0"/>
          </a:p>
          <a:p>
            <a:pPr algn="ctr" indent="0" marL="0">
              <a:buNone/>
            </a:pPr>
            <a:r>
              <a:rPr lang="en-US" sz="1100" dirty="0">
                <a:solidFill>
                  <a:schemeClr val="accent6"/>
                </a:solidFill>
              </a:rPr>
              <a:t>Every request, response flags</a:t>
            </a:r>
            <a:endParaRPr lang="en-US" sz="1400" dirty="0"/>
          </a:p>
        </p:txBody>
      </p:sp>
      <p:sp>
        <p:nvSpPr>
          <p:cNvPr id="39" name="Logs step 2"/>
          <p:cNvSpPr/>
          <p:nvPr/>
        </p:nvSpPr>
        <p:spPr>
          <a:xfrm>
            <a:off x="3291840" y="5138928"/>
            <a:ext cx="2423160" cy="777240"/>
          </a:xfrm>
          <a:prstGeom prst="roundRect">
            <a:avLst>
              <a:gd name="adj" fmla="val 8000"/>
            </a:avLst>
          </a:prstGeom>
          <a:solidFill>
            <a:schemeClr val="tx2"/>
          </a:solidFill>
          <a:ln w="9525">
            <a:solidFill>
              <a:schemeClr val="tx2"/>
            </a:solidFill>
            <a:prstDash val="solid"/>
          </a:ln>
        </p:spPr>
      </p:sp>
      <p:sp>
        <p:nvSpPr>
          <p:cNvPr id="40" name="Logs step 2 text"/>
          <p:cNvSpPr txBox="1"/>
          <p:nvPr/>
        </p:nvSpPr>
        <p:spPr>
          <a:xfrm>
            <a:off x="3291840" y="5138928"/>
            <a:ext cx="2423160" cy="777240"/>
          </a:xfrm>
          <a:prstGeom prst="rect">
            <a:avLst/>
          </a:prstGeom>
          <a:noFill/>
          <a:ln/>
        </p:spPr>
        <p:txBody>
          <a:bodyPr wrap="square" lIns="635" tIns="635" rIns="635" bIns="635" rtlCol="0" anchor="ctr"/>
          <a:lstStyle/>
          <a:p>
            <a:pPr algn="ctr" indent="0" marL="0">
              <a:buNone/>
            </a:pPr>
            <a:r>
              <a:rPr lang="en-US" sz="1400" b="1" dirty="0">
                <a:solidFill>
                  <a:schemeClr val="bg1"/>
                </a:solidFill>
              </a:rPr>
              <a:t>OTel Collector</a:t>
            </a:r>
            <a:endParaRPr lang="en-US" sz="1400" dirty="0"/>
          </a:p>
          <a:p>
            <a:pPr algn="ctr" indent="0" marL="0">
              <a:buNone/>
            </a:pPr>
            <a:r>
              <a:rPr lang="en-US" sz="1100" dirty="0">
                <a:solidFill>
                  <a:schemeClr val="accent6"/>
                </a:solidFill>
              </a:rPr>
              <a:t>OTLP, journey tagging</a:t>
            </a:r>
            <a:endParaRPr lang="en-US" sz="1400" dirty="0"/>
          </a:p>
        </p:txBody>
      </p:sp>
      <p:sp>
        <p:nvSpPr>
          <p:cNvPr id="41" name="Logs step 3"/>
          <p:cNvSpPr/>
          <p:nvPr/>
        </p:nvSpPr>
        <p:spPr>
          <a:xfrm>
            <a:off x="6126480" y="5138928"/>
            <a:ext cx="2423160" cy="777240"/>
          </a:xfrm>
          <a:prstGeom prst="roundRect">
            <a:avLst>
              <a:gd name="adj" fmla="val 8000"/>
            </a:avLst>
          </a:prstGeom>
          <a:solidFill>
            <a:schemeClr val="tx2"/>
          </a:solidFill>
          <a:ln w="9525">
            <a:solidFill>
              <a:schemeClr val="tx2"/>
            </a:solidFill>
            <a:prstDash val="solid"/>
          </a:ln>
        </p:spPr>
      </p:sp>
      <p:sp>
        <p:nvSpPr>
          <p:cNvPr id="42" name="Logs step 3 text"/>
          <p:cNvSpPr txBox="1"/>
          <p:nvPr/>
        </p:nvSpPr>
        <p:spPr>
          <a:xfrm>
            <a:off x="6126480" y="5138928"/>
            <a:ext cx="2423160" cy="777240"/>
          </a:xfrm>
          <a:prstGeom prst="rect">
            <a:avLst/>
          </a:prstGeom>
          <a:noFill/>
          <a:ln/>
        </p:spPr>
        <p:txBody>
          <a:bodyPr wrap="square" lIns="635" tIns="635" rIns="635" bIns="635" rtlCol="0" anchor="ctr"/>
          <a:lstStyle/>
          <a:p>
            <a:pPr algn="ctr" indent="0" marL="0">
              <a:buNone/>
            </a:pPr>
            <a:r>
              <a:rPr lang="en-US" sz="1400" b="1" dirty="0">
                <a:solidFill>
                  <a:schemeClr val="bg1"/>
                </a:solidFill>
              </a:rPr>
              <a:t>Loki</a:t>
            </a:r>
            <a:endParaRPr lang="en-US" sz="1400" dirty="0"/>
          </a:p>
          <a:p>
            <a:pPr algn="ctr" indent="0" marL="0">
              <a:buNone/>
            </a:pPr>
            <a:r>
              <a:rPr lang="en-US" sz="1100" dirty="0">
                <a:solidFill>
                  <a:schemeClr val="accent6"/>
                </a:solidFill>
              </a:rPr>
              <a:t>Log storage</a:t>
            </a:r>
            <a:endParaRPr lang="en-US" sz="1400" dirty="0"/>
          </a:p>
        </p:txBody>
      </p:sp>
      <p:sp>
        <p:nvSpPr>
          <p:cNvPr id="43" name="Logs step 4"/>
          <p:cNvSpPr/>
          <p:nvPr/>
        </p:nvSpPr>
        <p:spPr>
          <a:xfrm>
            <a:off x="8961120" y="5138928"/>
            <a:ext cx="2423160" cy="777240"/>
          </a:xfrm>
          <a:prstGeom prst="roundRect">
            <a:avLst>
              <a:gd name="adj" fmla="val 8000"/>
            </a:avLst>
          </a:prstGeom>
          <a:solidFill>
            <a:schemeClr val="accent6"/>
          </a:solidFill>
          <a:ln w="12700">
            <a:solidFill>
              <a:schemeClr val="tx2"/>
            </a:solidFill>
            <a:prstDash val="solid"/>
          </a:ln>
        </p:spPr>
      </p:sp>
      <p:sp>
        <p:nvSpPr>
          <p:cNvPr id="44" name="Logs step 4 text"/>
          <p:cNvSpPr txBox="1"/>
          <p:nvPr/>
        </p:nvSpPr>
        <p:spPr>
          <a:xfrm>
            <a:off x="8961120" y="5138928"/>
            <a:ext cx="2423160" cy="777240"/>
          </a:xfrm>
          <a:prstGeom prst="rect">
            <a:avLst/>
          </a:prstGeom>
          <a:noFill/>
          <a:ln/>
        </p:spPr>
        <p:txBody>
          <a:bodyPr wrap="square" lIns="635" tIns="635" rIns="635" bIns="635" rtlCol="0" anchor="ctr"/>
          <a:lstStyle/>
          <a:p>
            <a:pPr algn="ctr" indent="0" marL="0">
              <a:buNone/>
            </a:pPr>
            <a:r>
              <a:rPr lang="en-US" sz="1400" b="1" dirty="0">
                <a:solidFill>
                  <a:schemeClr val="tx1"/>
                </a:solidFill>
              </a:rPr>
              <a:t>Grafana + dashboard</a:t>
            </a:r>
            <a:endParaRPr lang="en-US" sz="1400" dirty="0"/>
          </a:p>
          <a:p>
            <a:pPr algn="ctr" indent="0" marL="0">
              <a:buNone/>
            </a:pPr>
            <a:r>
              <a:rPr lang="en-US" sz="1100" dirty="0">
                <a:solidFill>
                  <a:schemeClr val="tx2"/>
                </a:solidFill>
              </a:rPr>
              <a:t>Linked to traces by trace ID</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47120" cy="731520"/>
          </a:xfrm>
          <a:prstGeom prst="rect">
            <a:avLst/>
          </a:prstGeom>
          <a:noFill/>
          <a:ln/>
        </p:spPr>
        <p:txBody>
          <a:bodyPr wrap="square" rtlCol="0" anchor="ctr"/>
          <a:lstStyle/>
          <a:p>
            <a:pPr algn="l" indent="0" marL="0">
              <a:buNone/>
            </a:pPr>
            <a:r>
              <a:rPr lang="en-US" sz="3000" b="1" dirty="0">
                <a:solidFill>
                  <a:schemeClr val="tx1"/>
                </a:solidFill>
              </a:rPr>
              <a:t>What we see for external systems, with no installs</a:t>
            </a:r>
            <a:endParaRPr lang="en-US" sz="3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11247120" cy="914400"/>
        </p:xfrm>
        <a:graphic>
          <a:graphicData uri="http://schemas.openxmlformats.org/drawingml/2006/table">
            <a:tbl>
              <a:tblPr/>
              <a:tblGrid>
                <a:gridCol w="2926080"/>
                <a:gridCol w="2743200"/>
                <a:gridCol w="2194560"/>
                <a:gridCol w="3383280"/>
              </a:tblGrid>
              <a:tr h="685800">
                <a:tc>
                  <a:txBody>
                    <a:bodyPr/>
                    <a:lstStyle/>
                    <a:p>
                      <a:pPr indent="0" marL="0">
                        <a:buNone/>
                      </a:pPr>
                      <a:r>
                        <a:rPr lang="en-US" sz="1400" b="1" dirty="0">
                          <a:solidFill>
                            <a:schemeClr val="bg1"/>
                          </a:solidFill>
                        </a:rPr>
                        <a:t>External call</a:t>
                      </a:r>
                      <a:endParaRPr lang="en-US" sz="1400" dirty="0"/>
                    </a:p>
                  </a:txBody>
                  <a:tcPr marL="91440" marR="91440" marT="91440" marB="91440" anchor="ctr">
                    <a:lnL w="9525" cap="flat" cmpd="sng" algn="ctr">
                      <a:solidFill>
                        <a:srgbClr val="EEF3F6"/>
                      </a:solidFill>
                      <a:prstDash val="solid"/>
                      <a:round/>
                      <a:headEnd type="none" w="med" len="med"/>
                      <a:tailEnd type="none" w="med" len="med"/>
                    </a:lnL>
                    <a:lnR w="9525" cap="flat" cmpd="sng" algn="ctr">
                      <a:solidFill>
                        <a:srgbClr val="EEF3F6"/>
                      </a:solidFill>
                      <a:prstDash val="solid"/>
                      <a:round/>
                      <a:headEnd type="none" w="med" len="med"/>
                      <a:tailEnd type="none" w="med" len="med"/>
                    </a:lnR>
                    <a:lnT w="9525" cap="flat" cmpd="sng" algn="ctr">
                      <a:solidFill>
                        <a:srgbClr val="EEF3F6"/>
                      </a:solidFill>
                      <a:prstDash val="solid"/>
                      <a:round/>
                      <a:headEnd type="none" w="med" len="med"/>
                      <a:tailEnd type="none" w="med" len="med"/>
                    </a:lnT>
                    <a:lnB w="9525" cap="flat" cmpd="sng" algn="ctr">
                      <a:solidFill>
                        <a:srgbClr val="EEF3F6"/>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Metrics</a:t>
                      </a:r>
                      <a:endParaRPr lang="en-US" sz="1400" dirty="0"/>
                    </a:p>
                  </a:txBody>
                  <a:tcPr marL="91440" marR="91440" marT="91440" marB="91440" anchor="ctr">
                    <a:lnL w="9525" cap="flat" cmpd="sng" algn="ctr">
                      <a:solidFill>
                        <a:srgbClr val="EEF3F6"/>
                      </a:solidFill>
                      <a:prstDash val="solid"/>
                      <a:round/>
                      <a:headEnd type="none" w="med" len="med"/>
                      <a:tailEnd type="none" w="med" len="med"/>
                    </a:lnL>
                    <a:lnR w="9525" cap="flat" cmpd="sng" algn="ctr">
                      <a:solidFill>
                        <a:srgbClr val="EEF3F6"/>
                      </a:solidFill>
                      <a:prstDash val="solid"/>
                      <a:round/>
                      <a:headEnd type="none" w="med" len="med"/>
                      <a:tailEnd type="none" w="med" len="med"/>
                    </a:lnR>
                    <a:lnT w="9525" cap="flat" cmpd="sng" algn="ctr">
                      <a:solidFill>
                        <a:srgbClr val="EEF3F6"/>
                      </a:solidFill>
                      <a:prstDash val="solid"/>
                      <a:round/>
                      <a:headEnd type="none" w="med" len="med"/>
                      <a:tailEnd type="none" w="med" len="med"/>
                    </a:lnT>
                    <a:lnB w="9525" cap="flat" cmpd="sng" algn="ctr">
                      <a:solidFill>
                        <a:srgbClr val="EEF3F6"/>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Traces</a:t>
                      </a:r>
                      <a:endParaRPr lang="en-US" sz="1400" dirty="0"/>
                    </a:p>
                  </a:txBody>
                  <a:tcPr marL="91440" marR="91440" marT="91440" marB="91440" anchor="ctr">
                    <a:lnL w="9525" cap="flat" cmpd="sng" algn="ctr">
                      <a:solidFill>
                        <a:srgbClr val="EEF3F6"/>
                      </a:solidFill>
                      <a:prstDash val="solid"/>
                      <a:round/>
                      <a:headEnd type="none" w="med" len="med"/>
                      <a:tailEnd type="none" w="med" len="med"/>
                    </a:lnL>
                    <a:lnR w="9525" cap="flat" cmpd="sng" algn="ctr">
                      <a:solidFill>
                        <a:srgbClr val="EEF3F6"/>
                      </a:solidFill>
                      <a:prstDash val="solid"/>
                      <a:round/>
                      <a:headEnd type="none" w="med" len="med"/>
                      <a:tailEnd type="none" w="med" len="med"/>
                    </a:lnR>
                    <a:lnT w="9525" cap="flat" cmpd="sng" algn="ctr">
                      <a:solidFill>
                        <a:srgbClr val="EEF3F6"/>
                      </a:solidFill>
                      <a:prstDash val="solid"/>
                      <a:round/>
                      <a:headEnd type="none" w="med" len="med"/>
                      <a:tailEnd type="none" w="med" len="med"/>
                    </a:lnT>
                    <a:lnB w="9525" cap="flat" cmpd="sng" algn="ctr">
                      <a:solidFill>
                        <a:srgbClr val="EEF3F6"/>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What to configure</a:t>
                      </a:r>
                      <a:endParaRPr lang="en-US" sz="1400" dirty="0"/>
                    </a:p>
                  </a:txBody>
                  <a:tcPr marL="91440" marR="91440" marT="91440" marB="91440" anchor="ctr">
                    <a:lnL w="9525" cap="flat" cmpd="sng" algn="ctr">
                      <a:solidFill>
                        <a:srgbClr val="EEF3F6"/>
                      </a:solidFill>
                      <a:prstDash val="solid"/>
                      <a:round/>
                      <a:headEnd type="none" w="med" len="med"/>
                      <a:tailEnd type="none" w="med" len="med"/>
                    </a:lnL>
                    <a:lnR w="9525" cap="flat" cmpd="sng" algn="ctr">
                      <a:solidFill>
                        <a:srgbClr val="EEF3F6"/>
                      </a:solidFill>
                      <a:prstDash val="solid"/>
                      <a:round/>
                      <a:headEnd type="none" w="med" len="med"/>
                      <a:tailEnd type="none" w="med" len="med"/>
                    </a:lnR>
                    <a:lnT w="9525" cap="flat" cmpd="sng" algn="ctr">
                      <a:solidFill>
                        <a:srgbClr val="EEF3F6"/>
                      </a:solidFill>
                      <a:prstDash val="solid"/>
                      <a:round/>
                      <a:headEnd type="none" w="med" len="med"/>
                      <a:tailEnd type="none" w="med" len="med"/>
                    </a:lnT>
                    <a:lnB w="9525" cap="flat" cmpd="sng" algn="ctr">
                      <a:solidFill>
                        <a:srgbClr val="EEF3F6"/>
                      </a:solidFill>
                      <a:prstDash val="solid"/>
                      <a:round/>
                      <a:headEnd type="none" w="med" len="med"/>
                      <a:tailEnd type="none" w="med" len="med"/>
                    </a:lnB>
                    <a:solidFill>
                      <a:schemeClr val="tx1"/>
                    </a:solidFill>
                  </a:tcPr>
                </a:tc>
              </a:tr>
              <a:tr h="685800">
                <a:tc>
                  <a:txBody>
                    <a:bodyPr/>
                    <a:lstStyle/>
                    <a:p>
                      <a:pPr indent="0" marL="0">
                        <a:buNone/>
                      </a:pPr>
                      <a:r>
                        <a:rPr lang="en-US" sz="1300" b="1" dirty="0">
                          <a:solidFill>
                            <a:schemeClr val="tx1"/>
                          </a:solidFill>
                        </a:rPr>
                        <a:t>Legacy VM over HTTP</a:t>
                      </a:r>
                      <a:endParaRPr lang="en-US" sz="1300" dirty="0"/>
                    </a:p>
                  </a:txBody>
                  <a:tcPr marL="91440" marR="91440" marT="91440" marB="91440" anchor="ctr">
                    <a:lnL w="9525" cap="flat" cmpd="sng" algn="ctr">
                      <a:solidFill>
                        <a:srgbClr val="EEF3F6"/>
                      </a:solidFill>
                      <a:prstDash val="solid"/>
                      <a:round/>
                      <a:headEnd type="none" w="med" len="med"/>
                      <a:tailEnd type="none" w="med" len="med"/>
                    </a:lnL>
                    <a:lnR w="9525" cap="flat" cmpd="sng" algn="ctr">
                      <a:solidFill>
                        <a:srgbClr val="EEF3F6"/>
                      </a:solidFill>
                      <a:prstDash val="solid"/>
                      <a:round/>
                      <a:headEnd type="none" w="med" len="med"/>
                      <a:tailEnd type="none" w="med" len="med"/>
                    </a:lnR>
                    <a:lnT w="9525" cap="flat" cmpd="sng" algn="ctr">
                      <a:solidFill>
                        <a:srgbClr val="EEF3F6"/>
                      </a:solidFill>
                      <a:prstDash val="solid"/>
                      <a:round/>
                      <a:headEnd type="none" w="med" len="med"/>
                      <a:tailEnd type="none" w="med" len="med"/>
                    </a:lnT>
                    <a:lnB w="9525" cap="flat" cmpd="sng" algn="ctr">
                      <a:solidFill>
                        <a:srgbClr val="EEF3F6"/>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1"/>
                          </a:solidFill>
                        </a:rPr>
                        <a:t>Full: rate, status codes, latency</a:t>
                      </a:r>
                      <a:endParaRPr lang="en-US" sz="1300" dirty="0"/>
                    </a:p>
                  </a:txBody>
                  <a:tcPr marL="91440" marR="91440" marT="91440" marB="91440" anchor="ctr">
                    <a:lnL w="9525" cap="flat" cmpd="sng" algn="ctr">
                      <a:solidFill>
                        <a:srgbClr val="EEF3F6"/>
                      </a:solidFill>
                      <a:prstDash val="solid"/>
                      <a:round/>
                      <a:headEnd type="none" w="med" len="med"/>
                      <a:tailEnd type="none" w="med" len="med"/>
                    </a:lnL>
                    <a:lnR w="9525" cap="flat" cmpd="sng" algn="ctr">
                      <a:solidFill>
                        <a:srgbClr val="EEF3F6"/>
                      </a:solidFill>
                      <a:prstDash val="solid"/>
                      <a:round/>
                      <a:headEnd type="none" w="med" len="med"/>
                      <a:tailEnd type="none" w="med" len="med"/>
                    </a:lnR>
                    <a:lnT w="9525" cap="flat" cmpd="sng" algn="ctr">
                      <a:solidFill>
                        <a:srgbClr val="EEF3F6"/>
                      </a:solidFill>
                      <a:prstDash val="solid"/>
                      <a:round/>
                      <a:headEnd type="none" w="med" len="med"/>
                      <a:tailEnd type="none" w="med" len="med"/>
                    </a:lnT>
                    <a:lnB w="9525" cap="flat" cmpd="sng" algn="ctr">
                      <a:solidFill>
                        <a:srgbClr val="EEF3F6"/>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1"/>
                          </a:solidFill>
                        </a:rPr>
                        <a:t>Outbound span per call</a:t>
                      </a:r>
                      <a:endParaRPr lang="en-US" sz="1300" dirty="0"/>
                    </a:p>
                  </a:txBody>
                  <a:tcPr marL="91440" marR="91440" marT="91440" marB="91440" anchor="ctr">
                    <a:lnL w="9525" cap="flat" cmpd="sng" algn="ctr">
                      <a:solidFill>
                        <a:srgbClr val="EEF3F6"/>
                      </a:solidFill>
                      <a:prstDash val="solid"/>
                      <a:round/>
                      <a:headEnd type="none" w="med" len="med"/>
                      <a:tailEnd type="none" w="med" len="med"/>
                    </a:lnL>
                    <a:lnR w="9525" cap="flat" cmpd="sng" algn="ctr">
                      <a:solidFill>
                        <a:srgbClr val="EEF3F6"/>
                      </a:solidFill>
                      <a:prstDash val="solid"/>
                      <a:round/>
                      <a:headEnd type="none" w="med" len="med"/>
                      <a:tailEnd type="none" w="med" len="med"/>
                    </a:lnR>
                    <a:lnT w="9525" cap="flat" cmpd="sng" algn="ctr">
                      <a:solidFill>
                        <a:srgbClr val="EEF3F6"/>
                      </a:solidFill>
                      <a:prstDash val="solid"/>
                      <a:round/>
                      <a:headEnd type="none" w="med" len="med"/>
                      <a:tailEnd type="none" w="med" len="med"/>
                    </a:lnT>
                    <a:lnB w="9525" cap="flat" cmpd="sng" algn="ctr">
                      <a:solidFill>
                        <a:srgbClr val="EEF3F6"/>
                      </a:solidFill>
                      <a:prstDash val="solid"/>
                      <a:round/>
                      <a:headEnd type="none" w="med" len="med"/>
                      <a:tailEnd type="none" w="med" len="med"/>
                    </a:lnB>
                    <a:solidFill>
                      <a:schemeClr val="bg1"/>
                    </a:solidFill>
                  </a:tcPr>
                </a:tc>
                <a:tc>
                  <a:txBody>
                    <a:bodyPr/>
                    <a:lstStyle/>
                    <a:p>
                      <a:pPr indent="0" marL="0">
                        <a:buNone/>
                      </a:pPr>
                      <a:r>
                        <a:rPr lang="en-US" sz="1300" dirty="0">
                          <a:solidFill>
                            <a:schemeClr val="tx2"/>
                          </a:solidFill>
                        </a:rPr>
                        <a:t>ServiceEntry with protocol HTTP</a:t>
                      </a:r>
                      <a:endParaRPr lang="en-US" sz="1300" dirty="0"/>
                    </a:p>
                  </a:txBody>
                  <a:tcPr marL="91440" marR="91440" marT="91440" marB="91440" anchor="ctr">
                    <a:lnL w="9525" cap="flat" cmpd="sng" algn="ctr">
                      <a:solidFill>
                        <a:srgbClr val="EEF3F6"/>
                      </a:solidFill>
                      <a:prstDash val="solid"/>
                      <a:round/>
                      <a:headEnd type="none" w="med" len="med"/>
                      <a:tailEnd type="none" w="med" len="med"/>
                    </a:lnL>
                    <a:lnR w="9525" cap="flat" cmpd="sng" algn="ctr">
                      <a:solidFill>
                        <a:srgbClr val="EEF3F6"/>
                      </a:solidFill>
                      <a:prstDash val="solid"/>
                      <a:round/>
                      <a:headEnd type="none" w="med" len="med"/>
                      <a:tailEnd type="none" w="med" len="med"/>
                    </a:lnR>
                    <a:lnT w="9525" cap="flat" cmpd="sng" algn="ctr">
                      <a:solidFill>
                        <a:srgbClr val="EEF3F6"/>
                      </a:solidFill>
                      <a:prstDash val="solid"/>
                      <a:round/>
                      <a:headEnd type="none" w="med" len="med"/>
                      <a:tailEnd type="none" w="med" len="med"/>
                    </a:lnT>
                    <a:lnB w="9525" cap="flat" cmpd="sng" algn="ctr">
                      <a:solidFill>
                        <a:srgbClr val="EEF3F6"/>
                      </a:solidFill>
                      <a:prstDash val="solid"/>
                      <a:round/>
                      <a:headEnd type="none" w="med" len="med"/>
                      <a:tailEnd type="none" w="med" len="med"/>
                    </a:lnB>
                    <a:solidFill>
                      <a:schemeClr val="bg1"/>
                    </a:solidFill>
                  </a:tcPr>
                </a:tc>
              </a:tr>
              <a:tr h="685800">
                <a:tc>
                  <a:txBody>
                    <a:bodyPr/>
                    <a:lstStyle/>
                    <a:p>
                      <a:pPr indent="0" marL="0">
                        <a:buNone/>
                      </a:pPr>
                      <a:r>
                        <a:rPr lang="en-US" sz="1300" b="1" dirty="0">
                          <a:solidFill>
                            <a:schemeClr val="tx1"/>
                          </a:solidFill>
                        </a:rPr>
                        <a:t>Legacy VM over HTTPS (app does TLS)</a:t>
                      </a:r>
                      <a:endParaRPr lang="en-US" sz="1300" dirty="0"/>
                    </a:p>
                  </a:txBody>
                  <a:tcPr marL="91440" marR="91440" marT="91440" marB="91440" anchor="ctr">
                    <a:lnL w="9525" cap="flat" cmpd="sng" algn="ctr">
                      <a:solidFill>
                        <a:srgbClr val="EEF3F6"/>
                      </a:solidFill>
                      <a:prstDash val="solid"/>
                      <a:round/>
                      <a:headEnd type="none" w="med" len="med"/>
                      <a:tailEnd type="none" w="med" len="med"/>
                    </a:lnL>
                    <a:lnR w="9525" cap="flat" cmpd="sng" algn="ctr">
                      <a:solidFill>
                        <a:srgbClr val="EEF3F6"/>
                      </a:solidFill>
                      <a:prstDash val="solid"/>
                      <a:round/>
                      <a:headEnd type="none" w="med" len="med"/>
                      <a:tailEnd type="none" w="med" len="med"/>
                    </a:lnR>
                    <a:lnT w="9525" cap="flat" cmpd="sng" algn="ctr">
                      <a:solidFill>
                        <a:srgbClr val="EEF3F6"/>
                      </a:solidFill>
                      <a:prstDash val="solid"/>
                      <a:round/>
                      <a:headEnd type="none" w="med" len="med"/>
                      <a:tailEnd type="none" w="med" len="med"/>
                    </a:lnT>
                    <a:lnB w="9525" cap="flat" cmpd="sng" algn="ctr">
                      <a:solidFill>
                        <a:srgbClr val="EEF3F6"/>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3"/>
                          </a:solidFill>
                        </a:rPr>
                        <a:t>TCP only: bytes, connections</a:t>
                      </a:r>
                      <a:endParaRPr lang="en-US" sz="1300" dirty="0"/>
                    </a:p>
                  </a:txBody>
                  <a:tcPr marL="91440" marR="91440" marT="91440" marB="91440" anchor="ctr">
                    <a:lnL w="9525" cap="flat" cmpd="sng" algn="ctr">
                      <a:solidFill>
                        <a:srgbClr val="EEF3F6"/>
                      </a:solidFill>
                      <a:prstDash val="solid"/>
                      <a:round/>
                      <a:headEnd type="none" w="med" len="med"/>
                      <a:tailEnd type="none" w="med" len="med"/>
                    </a:lnL>
                    <a:lnR w="9525" cap="flat" cmpd="sng" algn="ctr">
                      <a:solidFill>
                        <a:srgbClr val="EEF3F6"/>
                      </a:solidFill>
                      <a:prstDash val="solid"/>
                      <a:round/>
                      <a:headEnd type="none" w="med" len="med"/>
                      <a:tailEnd type="none" w="med" len="med"/>
                    </a:lnR>
                    <a:lnT w="9525" cap="flat" cmpd="sng" algn="ctr">
                      <a:solidFill>
                        <a:srgbClr val="EEF3F6"/>
                      </a:solidFill>
                      <a:prstDash val="solid"/>
                      <a:round/>
                      <a:headEnd type="none" w="med" len="med"/>
                      <a:tailEnd type="none" w="med" len="med"/>
                    </a:lnT>
                    <a:lnB w="9525" cap="flat" cmpd="sng" algn="ctr">
                      <a:solidFill>
                        <a:srgbClr val="EEF3F6"/>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3"/>
                          </a:solidFill>
                        </a:rPr>
                        <a:t>None</a:t>
                      </a:r>
                      <a:endParaRPr lang="en-US" sz="1300" dirty="0"/>
                    </a:p>
                  </a:txBody>
                  <a:tcPr marL="91440" marR="91440" marT="91440" marB="91440" anchor="ctr">
                    <a:lnL w="9525" cap="flat" cmpd="sng" algn="ctr">
                      <a:solidFill>
                        <a:srgbClr val="EEF3F6"/>
                      </a:solidFill>
                      <a:prstDash val="solid"/>
                      <a:round/>
                      <a:headEnd type="none" w="med" len="med"/>
                      <a:tailEnd type="none" w="med" len="med"/>
                    </a:lnL>
                    <a:lnR w="9525" cap="flat" cmpd="sng" algn="ctr">
                      <a:solidFill>
                        <a:srgbClr val="EEF3F6"/>
                      </a:solidFill>
                      <a:prstDash val="solid"/>
                      <a:round/>
                      <a:headEnd type="none" w="med" len="med"/>
                      <a:tailEnd type="none" w="med" len="med"/>
                    </a:lnR>
                    <a:lnT w="9525" cap="flat" cmpd="sng" algn="ctr">
                      <a:solidFill>
                        <a:srgbClr val="EEF3F6"/>
                      </a:solidFill>
                      <a:prstDash val="solid"/>
                      <a:round/>
                      <a:headEnd type="none" w="med" len="med"/>
                      <a:tailEnd type="none" w="med" len="med"/>
                    </a:lnT>
                    <a:lnB w="9525" cap="flat" cmpd="sng" algn="ctr">
                      <a:solidFill>
                        <a:srgbClr val="EEF3F6"/>
                      </a:solidFill>
                      <a:prstDash val="solid"/>
                      <a:round/>
                      <a:headEnd type="none" w="med" len="med"/>
                      <a:tailEnd type="none" w="med" len="med"/>
                    </a:lnB>
                    <a:solidFill>
                      <a:schemeClr val="bg1"/>
                    </a:solidFill>
                  </a:tcPr>
                </a:tc>
                <a:tc>
                  <a:txBody>
                    <a:bodyPr/>
                    <a:lstStyle/>
                    <a:p>
                      <a:pPr indent="0" marL="0">
                        <a:buNone/>
                      </a:pPr>
                      <a:r>
                        <a:rPr lang="en-US" sz="1300" dirty="0">
                          <a:solidFill>
                            <a:schemeClr val="tx2"/>
                          </a:solidFill>
                        </a:rPr>
                        <a:t>Move TLS to the sidecar (see next row)</a:t>
                      </a:r>
                      <a:endParaRPr lang="en-US" sz="1300" dirty="0"/>
                    </a:p>
                  </a:txBody>
                  <a:tcPr marL="91440" marR="91440" marT="91440" marB="91440" anchor="ctr">
                    <a:lnL w="9525" cap="flat" cmpd="sng" algn="ctr">
                      <a:solidFill>
                        <a:srgbClr val="EEF3F6"/>
                      </a:solidFill>
                      <a:prstDash val="solid"/>
                      <a:round/>
                      <a:headEnd type="none" w="med" len="med"/>
                      <a:tailEnd type="none" w="med" len="med"/>
                    </a:lnL>
                    <a:lnR w="9525" cap="flat" cmpd="sng" algn="ctr">
                      <a:solidFill>
                        <a:srgbClr val="EEF3F6"/>
                      </a:solidFill>
                      <a:prstDash val="solid"/>
                      <a:round/>
                      <a:headEnd type="none" w="med" len="med"/>
                      <a:tailEnd type="none" w="med" len="med"/>
                    </a:lnR>
                    <a:lnT w="9525" cap="flat" cmpd="sng" algn="ctr">
                      <a:solidFill>
                        <a:srgbClr val="EEF3F6"/>
                      </a:solidFill>
                      <a:prstDash val="solid"/>
                      <a:round/>
                      <a:headEnd type="none" w="med" len="med"/>
                      <a:tailEnd type="none" w="med" len="med"/>
                    </a:lnT>
                    <a:lnB w="9525" cap="flat" cmpd="sng" algn="ctr">
                      <a:solidFill>
                        <a:srgbClr val="EEF3F6"/>
                      </a:solidFill>
                      <a:prstDash val="solid"/>
                      <a:round/>
                      <a:headEnd type="none" w="med" len="med"/>
                      <a:tailEnd type="none" w="med" len="med"/>
                    </a:lnB>
                    <a:solidFill>
                      <a:schemeClr val="bg1"/>
                    </a:solidFill>
                  </a:tcPr>
                </a:tc>
              </a:tr>
              <a:tr h="685800">
                <a:tc>
                  <a:txBody>
                    <a:bodyPr/>
                    <a:lstStyle/>
                    <a:p>
                      <a:pPr indent="0" marL="0">
                        <a:buNone/>
                      </a:pPr>
                      <a:r>
                        <a:rPr lang="en-US" sz="1300" b="1" dirty="0">
                          <a:solidFill>
                            <a:schemeClr val="tx1"/>
                          </a:solidFill>
                        </a:rPr>
                        <a:t>Legacy VM over HTTPS (sidecar does TLS)</a:t>
                      </a:r>
                      <a:endParaRPr lang="en-US" sz="1300" dirty="0"/>
                    </a:p>
                  </a:txBody>
                  <a:tcPr marL="91440" marR="91440" marT="91440" marB="91440" anchor="ctr">
                    <a:lnL w="9525" cap="flat" cmpd="sng" algn="ctr">
                      <a:solidFill>
                        <a:srgbClr val="EEF3F6"/>
                      </a:solidFill>
                      <a:prstDash val="solid"/>
                      <a:round/>
                      <a:headEnd type="none" w="med" len="med"/>
                      <a:tailEnd type="none" w="med" len="med"/>
                    </a:lnL>
                    <a:lnR w="9525" cap="flat" cmpd="sng" algn="ctr">
                      <a:solidFill>
                        <a:srgbClr val="EEF3F6"/>
                      </a:solidFill>
                      <a:prstDash val="solid"/>
                      <a:round/>
                      <a:headEnd type="none" w="med" len="med"/>
                      <a:tailEnd type="none" w="med" len="med"/>
                    </a:lnR>
                    <a:lnT w="9525" cap="flat" cmpd="sng" algn="ctr">
                      <a:solidFill>
                        <a:srgbClr val="EEF3F6"/>
                      </a:solidFill>
                      <a:prstDash val="solid"/>
                      <a:round/>
                      <a:headEnd type="none" w="med" len="med"/>
                      <a:tailEnd type="none" w="med" len="med"/>
                    </a:lnT>
                    <a:lnB w="9525" cap="flat" cmpd="sng" algn="ctr">
                      <a:solidFill>
                        <a:srgbClr val="EEF3F6"/>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1"/>
                          </a:solidFill>
                        </a:rPr>
                        <a:t>Full: rate, status codes, latency</a:t>
                      </a:r>
                      <a:endParaRPr lang="en-US" sz="1300" dirty="0"/>
                    </a:p>
                  </a:txBody>
                  <a:tcPr marL="91440" marR="91440" marT="91440" marB="91440" anchor="ctr">
                    <a:lnL w="9525" cap="flat" cmpd="sng" algn="ctr">
                      <a:solidFill>
                        <a:srgbClr val="EEF3F6"/>
                      </a:solidFill>
                      <a:prstDash val="solid"/>
                      <a:round/>
                      <a:headEnd type="none" w="med" len="med"/>
                      <a:tailEnd type="none" w="med" len="med"/>
                    </a:lnL>
                    <a:lnR w="9525" cap="flat" cmpd="sng" algn="ctr">
                      <a:solidFill>
                        <a:srgbClr val="EEF3F6"/>
                      </a:solidFill>
                      <a:prstDash val="solid"/>
                      <a:round/>
                      <a:headEnd type="none" w="med" len="med"/>
                      <a:tailEnd type="none" w="med" len="med"/>
                    </a:lnR>
                    <a:lnT w="9525" cap="flat" cmpd="sng" algn="ctr">
                      <a:solidFill>
                        <a:srgbClr val="EEF3F6"/>
                      </a:solidFill>
                      <a:prstDash val="solid"/>
                      <a:round/>
                      <a:headEnd type="none" w="med" len="med"/>
                      <a:tailEnd type="none" w="med" len="med"/>
                    </a:lnT>
                    <a:lnB w="9525" cap="flat" cmpd="sng" algn="ctr">
                      <a:solidFill>
                        <a:srgbClr val="EEF3F6"/>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1"/>
                          </a:solidFill>
                        </a:rPr>
                        <a:t>Outbound span per call</a:t>
                      </a:r>
                      <a:endParaRPr lang="en-US" sz="1300" dirty="0"/>
                    </a:p>
                  </a:txBody>
                  <a:tcPr marL="91440" marR="91440" marT="91440" marB="91440" anchor="ctr">
                    <a:lnL w="9525" cap="flat" cmpd="sng" algn="ctr">
                      <a:solidFill>
                        <a:srgbClr val="EEF3F6"/>
                      </a:solidFill>
                      <a:prstDash val="solid"/>
                      <a:round/>
                      <a:headEnd type="none" w="med" len="med"/>
                      <a:tailEnd type="none" w="med" len="med"/>
                    </a:lnL>
                    <a:lnR w="9525" cap="flat" cmpd="sng" algn="ctr">
                      <a:solidFill>
                        <a:srgbClr val="EEF3F6"/>
                      </a:solidFill>
                      <a:prstDash val="solid"/>
                      <a:round/>
                      <a:headEnd type="none" w="med" len="med"/>
                      <a:tailEnd type="none" w="med" len="med"/>
                    </a:lnR>
                    <a:lnT w="9525" cap="flat" cmpd="sng" algn="ctr">
                      <a:solidFill>
                        <a:srgbClr val="EEF3F6"/>
                      </a:solidFill>
                      <a:prstDash val="solid"/>
                      <a:round/>
                      <a:headEnd type="none" w="med" len="med"/>
                      <a:tailEnd type="none" w="med" len="med"/>
                    </a:lnT>
                    <a:lnB w="9525" cap="flat" cmpd="sng" algn="ctr">
                      <a:solidFill>
                        <a:srgbClr val="EEF3F6"/>
                      </a:solidFill>
                      <a:prstDash val="solid"/>
                      <a:round/>
                      <a:headEnd type="none" w="med" len="med"/>
                      <a:tailEnd type="none" w="med" len="med"/>
                    </a:lnB>
                    <a:solidFill>
                      <a:schemeClr val="bg1"/>
                    </a:solidFill>
                  </a:tcPr>
                </a:tc>
                <a:tc>
                  <a:txBody>
                    <a:bodyPr/>
                    <a:lstStyle/>
                    <a:p>
                      <a:pPr indent="0" marL="0">
                        <a:buNone/>
                      </a:pPr>
                      <a:r>
                        <a:rPr lang="en-US" sz="1300" dirty="0">
                          <a:solidFill>
                            <a:schemeClr val="tx2"/>
                          </a:solidFill>
                        </a:rPr>
                        <a:t>App calls http://, DestinationRule TLS SIMPLE or MUTUAL</a:t>
                      </a:r>
                      <a:endParaRPr lang="en-US" sz="1300" dirty="0"/>
                    </a:p>
                  </a:txBody>
                  <a:tcPr marL="91440" marR="91440" marT="91440" marB="91440" anchor="ctr">
                    <a:lnL w="9525" cap="flat" cmpd="sng" algn="ctr">
                      <a:solidFill>
                        <a:srgbClr val="EEF3F6"/>
                      </a:solidFill>
                      <a:prstDash val="solid"/>
                      <a:round/>
                      <a:headEnd type="none" w="med" len="med"/>
                      <a:tailEnd type="none" w="med" len="med"/>
                    </a:lnL>
                    <a:lnR w="9525" cap="flat" cmpd="sng" algn="ctr">
                      <a:solidFill>
                        <a:srgbClr val="EEF3F6"/>
                      </a:solidFill>
                      <a:prstDash val="solid"/>
                      <a:round/>
                      <a:headEnd type="none" w="med" len="med"/>
                      <a:tailEnd type="none" w="med" len="med"/>
                    </a:lnR>
                    <a:lnT w="9525" cap="flat" cmpd="sng" algn="ctr">
                      <a:solidFill>
                        <a:srgbClr val="EEF3F6"/>
                      </a:solidFill>
                      <a:prstDash val="solid"/>
                      <a:round/>
                      <a:headEnd type="none" w="med" len="med"/>
                      <a:tailEnd type="none" w="med" len="med"/>
                    </a:lnT>
                    <a:lnB w="9525" cap="flat" cmpd="sng" algn="ctr">
                      <a:solidFill>
                        <a:srgbClr val="EEF3F6"/>
                      </a:solidFill>
                      <a:prstDash val="solid"/>
                      <a:round/>
                      <a:headEnd type="none" w="med" len="med"/>
                      <a:tailEnd type="none" w="med" len="med"/>
                    </a:lnB>
                    <a:solidFill>
                      <a:schemeClr val="bg1"/>
                    </a:solidFill>
                  </a:tcPr>
                </a:tc>
              </a:tr>
              <a:tr h="685800">
                <a:tc>
                  <a:txBody>
                    <a:bodyPr/>
                    <a:lstStyle/>
                    <a:p>
                      <a:pPr indent="0" marL="0">
                        <a:buNone/>
                      </a:pPr>
                      <a:r>
                        <a:rPr lang="en-US" sz="1300" b="1" dirty="0">
                          <a:solidFill>
                            <a:schemeClr val="tx1"/>
                          </a:solidFill>
                        </a:rPr>
                        <a:t>Database (Oracle, PostgreSQL, etc.)</a:t>
                      </a:r>
                      <a:endParaRPr lang="en-US" sz="1300" dirty="0"/>
                    </a:p>
                  </a:txBody>
                  <a:tcPr marL="91440" marR="91440" marT="91440" marB="91440" anchor="ctr">
                    <a:lnL w="9525" cap="flat" cmpd="sng" algn="ctr">
                      <a:solidFill>
                        <a:srgbClr val="EEF3F6"/>
                      </a:solidFill>
                      <a:prstDash val="solid"/>
                      <a:round/>
                      <a:headEnd type="none" w="med" len="med"/>
                      <a:tailEnd type="none" w="med" len="med"/>
                    </a:lnL>
                    <a:lnR w="9525" cap="flat" cmpd="sng" algn="ctr">
                      <a:solidFill>
                        <a:srgbClr val="EEF3F6"/>
                      </a:solidFill>
                      <a:prstDash val="solid"/>
                      <a:round/>
                      <a:headEnd type="none" w="med" len="med"/>
                      <a:tailEnd type="none" w="med" len="med"/>
                    </a:lnR>
                    <a:lnT w="9525" cap="flat" cmpd="sng" algn="ctr">
                      <a:solidFill>
                        <a:srgbClr val="EEF3F6"/>
                      </a:solidFill>
                      <a:prstDash val="solid"/>
                      <a:round/>
                      <a:headEnd type="none" w="med" len="med"/>
                      <a:tailEnd type="none" w="med" len="med"/>
                    </a:lnT>
                    <a:lnB w="9525" cap="flat" cmpd="sng" algn="ctr">
                      <a:solidFill>
                        <a:srgbClr val="EEF3F6"/>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3"/>
                          </a:solidFill>
                        </a:rPr>
                        <a:t>TCP only: connections, failures</a:t>
                      </a:r>
                      <a:endParaRPr lang="en-US" sz="1300" dirty="0"/>
                    </a:p>
                  </a:txBody>
                  <a:tcPr marL="91440" marR="91440" marT="91440" marB="91440" anchor="ctr">
                    <a:lnL w="9525" cap="flat" cmpd="sng" algn="ctr">
                      <a:solidFill>
                        <a:srgbClr val="EEF3F6"/>
                      </a:solidFill>
                      <a:prstDash val="solid"/>
                      <a:round/>
                      <a:headEnd type="none" w="med" len="med"/>
                      <a:tailEnd type="none" w="med" len="med"/>
                    </a:lnL>
                    <a:lnR w="9525" cap="flat" cmpd="sng" algn="ctr">
                      <a:solidFill>
                        <a:srgbClr val="EEF3F6"/>
                      </a:solidFill>
                      <a:prstDash val="solid"/>
                      <a:round/>
                      <a:headEnd type="none" w="med" len="med"/>
                      <a:tailEnd type="none" w="med" len="med"/>
                    </a:lnR>
                    <a:lnT w="9525" cap="flat" cmpd="sng" algn="ctr">
                      <a:solidFill>
                        <a:srgbClr val="EEF3F6"/>
                      </a:solidFill>
                      <a:prstDash val="solid"/>
                      <a:round/>
                      <a:headEnd type="none" w="med" len="med"/>
                      <a:tailEnd type="none" w="med" len="med"/>
                    </a:lnT>
                    <a:lnB w="9525" cap="flat" cmpd="sng" algn="ctr">
                      <a:solidFill>
                        <a:srgbClr val="EEF3F6"/>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3"/>
                          </a:solidFill>
                        </a:rPr>
                        <a:t>None from the mesh</a:t>
                      </a:r>
                      <a:endParaRPr lang="en-US" sz="1300" dirty="0"/>
                    </a:p>
                  </a:txBody>
                  <a:tcPr marL="91440" marR="91440" marT="91440" marB="91440" anchor="ctr">
                    <a:lnL w="9525" cap="flat" cmpd="sng" algn="ctr">
                      <a:solidFill>
                        <a:srgbClr val="EEF3F6"/>
                      </a:solidFill>
                      <a:prstDash val="solid"/>
                      <a:round/>
                      <a:headEnd type="none" w="med" len="med"/>
                      <a:tailEnd type="none" w="med" len="med"/>
                    </a:lnL>
                    <a:lnR w="9525" cap="flat" cmpd="sng" algn="ctr">
                      <a:solidFill>
                        <a:srgbClr val="EEF3F6"/>
                      </a:solidFill>
                      <a:prstDash val="solid"/>
                      <a:round/>
                      <a:headEnd type="none" w="med" len="med"/>
                      <a:tailEnd type="none" w="med" len="med"/>
                    </a:lnR>
                    <a:lnT w="9525" cap="flat" cmpd="sng" algn="ctr">
                      <a:solidFill>
                        <a:srgbClr val="EEF3F6"/>
                      </a:solidFill>
                      <a:prstDash val="solid"/>
                      <a:round/>
                      <a:headEnd type="none" w="med" len="med"/>
                      <a:tailEnd type="none" w="med" len="med"/>
                    </a:lnT>
                    <a:lnB w="9525" cap="flat" cmpd="sng" algn="ctr">
                      <a:solidFill>
                        <a:srgbClr val="EEF3F6"/>
                      </a:solidFill>
                      <a:prstDash val="solid"/>
                      <a:round/>
                      <a:headEnd type="none" w="med" len="med"/>
                      <a:tailEnd type="none" w="med" len="med"/>
                    </a:lnB>
                    <a:solidFill>
                      <a:schemeClr val="bg1"/>
                    </a:solidFill>
                  </a:tcPr>
                </a:tc>
                <a:tc>
                  <a:txBody>
                    <a:bodyPr/>
                    <a:lstStyle/>
                    <a:p>
                      <a:pPr indent="0" marL="0">
                        <a:buNone/>
                      </a:pPr>
                      <a:r>
                        <a:rPr lang="en-US" sz="1300" dirty="0">
                          <a:solidFill>
                            <a:schemeClr val="tx2"/>
                          </a:solidFill>
                        </a:rPr>
                        <a:t>ServiceEntry with protocol TCP</a:t>
                      </a:r>
                      <a:endParaRPr lang="en-US" sz="1300" dirty="0"/>
                    </a:p>
                  </a:txBody>
                  <a:tcPr marL="91440" marR="91440" marT="91440" marB="91440" anchor="ctr">
                    <a:lnL w="9525" cap="flat" cmpd="sng" algn="ctr">
                      <a:solidFill>
                        <a:srgbClr val="EEF3F6"/>
                      </a:solidFill>
                      <a:prstDash val="solid"/>
                      <a:round/>
                      <a:headEnd type="none" w="med" len="med"/>
                      <a:tailEnd type="none" w="med" len="med"/>
                    </a:lnL>
                    <a:lnR w="9525" cap="flat" cmpd="sng" algn="ctr">
                      <a:solidFill>
                        <a:srgbClr val="EEF3F6"/>
                      </a:solidFill>
                      <a:prstDash val="solid"/>
                      <a:round/>
                      <a:headEnd type="none" w="med" len="med"/>
                      <a:tailEnd type="none" w="med" len="med"/>
                    </a:lnR>
                    <a:lnT w="9525" cap="flat" cmpd="sng" algn="ctr">
                      <a:solidFill>
                        <a:srgbClr val="EEF3F6"/>
                      </a:solidFill>
                      <a:prstDash val="solid"/>
                      <a:round/>
                      <a:headEnd type="none" w="med" len="med"/>
                      <a:tailEnd type="none" w="med" len="med"/>
                    </a:lnT>
                    <a:lnB w="9525" cap="flat" cmpd="sng" algn="ctr">
                      <a:solidFill>
                        <a:srgbClr val="EEF3F6"/>
                      </a:solidFill>
                      <a:prstDash val="solid"/>
                      <a:round/>
                      <a:headEnd type="none" w="med" len="med"/>
                      <a:tailEnd type="none" w="med" len="med"/>
                    </a:lnB>
                    <a:solidFill>
                      <a:schemeClr val="bg1"/>
                    </a:solidFill>
                  </a:tcPr>
                </a:tc>
              </a:tr>
              <a:tr h="685800">
                <a:tc>
                  <a:txBody>
                    <a:bodyPr/>
                    <a:lstStyle/>
                    <a:p>
                      <a:pPr indent="0" marL="0">
                        <a:buNone/>
                      </a:pPr>
                      <a:r>
                        <a:rPr lang="en-US" sz="1300" b="1" dirty="0">
                          <a:solidFill>
                            <a:schemeClr val="tx1"/>
                          </a:solidFill>
                        </a:rPr>
                        <a:t>Database via app instrumentation</a:t>
                      </a:r>
                      <a:endParaRPr lang="en-US" sz="1300" dirty="0"/>
                    </a:p>
                  </a:txBody>
                  <a:tcPr marL="91440" marR="91440" marT="91440" marB="91440" anchor="ctr">
                    <a:lnL w="9525" cap="flat" cmpd="sng" algn="ctr">
                      <a:solidFill>
                        <a:srgbClr val="EEF3F6"/>
                      </a:solidFill>
                      <a:prstDash val="solid"/>
                      <a:round/>
                      <a:headEnd type="none" w="med" len="med"/>
                      <a:tailEnd type="none" w="med" len="med"/>
                    </a:lnL>
                    <a:lnR w="9525" cap="flat" cmpd="sng" algn="ctr">
                      <a:solidFill>
                        <a:srgbClr val="EEF3F6"/>
                      </a:solidFill>
                      <a:prstDash val="solid"/>
                      <a:round/>
                      <a:headEnd type="none" w="med" len="med"/>
                      <a:tailEnd type="none" w="med" len="med"/>
                    </a:lnR>
                    <a:lnT w="9525" cap="flat" cmpd="sng" algn="ctr">
                      <a:solidFill>
                        <a:srgbClr val="EEF3F6"/>
                      </a:solidFill>
                      <a:prstDash val="solid"/>
                      <a:round/>
                      <a:headEnd type="none" w="med" len="med"/>
                      <a:tailEnd type="none" w="med" len="med"/>
                    </a:lnT>
                    <a:lnB w="9525" cap="flat" cmpd="sng" algn="ctr">
                      <a:solidFill>
                        <a:srgbClr val="EEF3F6"/>
                      </a:solidFill>
                      <a:prstDash val="solid"/>
                      <a:round/>
                      <a:headEnd type="none" w="med" len="med"/>
                      <a:tailEnd type="none" w="med" len="med"/>
                    </a:lnB>
                    <a:solidFill>
                      <a:schemeClr val="bg1"/>
                    </a:solidFill>
                  </a:tcPr>
                </a:tc>
                <a:tc>
                  <a:txBody>
                    <a:bodyPr/>
                    <a:lstStyle/>
                    <a:p>
                      <a:pPr indent="0" marL="0">
                        <a:buNone/>
                      </a:pPr>
                      <a:r>
                        <a:rPr lang="en-US" sz="1300" dirty="0">
                          <a:solidFill>
                            <a:schemeClr val="tx2"/>
                          </a:solidFill>
                        </a:rPr>
                        <a:t>Query timing in spans</a:t>
                      </a:r>
                      <a:endParaRPr lang="en-US" sz="1300" dirty="0"/>
                    </a:p>
                  </a:txBody>
                  <a:tcPr marL="91440" marR="91440" marT="91440" marB="91440" anchor="ctr">
                    <a:lnL w="9525" cap="flat" cmpd="sng" algn="ctr">
                      <a:solidFill>
                        <a:srgbClr val="EEF3F6"/>
                      </a:solidFill>
                      <a:prstDash val="solid"/>
                      <a:round/>
                      <a:headEnd type="none" w="med" len="med"/>
                      <a:tailEnd type="none" w="med" len="med"/>
                    </a:lnL>
                    <a:lnR w="9525" cap="flat" cmpd="sng" algn="ctr">
                      <a:solidFill>
                        <a:srgbClr val="EEF3F6"/>
                      </a:solidFill>
                      <a:prstDash val="solid"/>
                      <a:round/>
                      <a:headEnd type="none" w="med" len="med"/>
                      <a:tailEnd type="none" w="med" len="med"/>
                    </a:lnR>
                    <a:lnT w="9525" cap="flat" cmpd="sng" algn="ctr">
                      <a:solidFill>
                        <a:srgbClr val="EEF3F6"/>
                      </a:solidFill>
                      <a:prstDash val="solid"/>
                      <a:round/>
                      <a:headEnd type="none" w="med" len="med"/>
                      <a:tailEnd type="none" w="med" len="med"/>
                    </a:lnT>
                    <a:lnB w="9525" cap="flat" cmpd="sng" algn="ctr">
                      <a:solidFill>
                        <a:srgbClr val="EEF3F6"/>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1"/>
                          </a:solidFill>
                        </a:rPr>
                        <a:t>JDBC span per query</a:t>
                      </a:r>
                      <a:endParaRPr lang="en-US" sz="1300" dirty="0"/>
                    </a:p>
                  </a:txBody>
                  <a:tcPr marL="91440" marR="91440" marT="91440" marB="91440" anchor="ctr">
                    <a:lnL w="9525" cap="flat" cmpd="sng" algn="ctr">
                      <a:solidFill>
                        <a:srgbClr val="EEF3F6"/>
                      </a:solidFill>
                      <a:prstDash val="solid"/>
                      <a:round/>
                      <a:headEnd type="none" w="med" len="med"/>
                      <a:tailEnd type="none" w="med" len="med"/>
                    </a:lnL>
                    <a:lnR w="9525" cap="flat" cmpd="sng" algn="ctr">
                      <a:solidFill>
                        <a:srgbClr val="EEF3F6"/>
                      </a:solidFill>
                      <a:prstDash val="solid"/>
                      <a:round/>
                      <a:headEnd type="none" w="med" len="med"/>
                      <a:tailEnd type="none" w="med" len="med"/>
                    </a:lnR>
                    <a:lnT w="9525" cap="flat" cmpd="sng" algn="ctr">
                      <a:solidFill>
                        <a:srgbClr val="EEF3F6"/>
                      </a:solidFill>
                      <a:prstDash val="solid"/>
                      <a:round/>
                      <a:headEnd type="none" w="med" len="med"/>
                      <a:tailEnd type="none" w="med" len="med"/>
                    </a:lnT>
                    <a:lnB w="9525" cap="flat" cmpd="sng" algn="ctr">
                      <a:solidFill>
                        <a:srgbClr val="EEF3F6"/>
                      </a:solidFill>
                      <a:prstDash val="solid"/>
                      <a:round/>
                      <a:headEnd type="none" w="med" len="med"/>
                      <a:tailEnd type="none" w="med" len="med"/>
                    </a:lnB>
                    <a:solidFill>
                      <a:schemeClr val="bg1"/>
                    </a:solidFill>
                  </a:tcPr>
                </a:tc>
                <a:tc>
                  <a:txBody>
                    <a:bodyPr/>
                    <a:lstStyle/>
                    <a:p>
                      <a:pPr indent="0" marL="0">
                        <a:buNone/>
                      </a:pPr>
                      <a:r>
                        <a:rPr lang="en-US" sz="1300" dirty="0">
                          <a:solidFill>
                            <a:schemeClr val="tx2"/>
                          </a:solidFill>
                        </a:rPr>
                        <a:t>OTel auto-instrumentation on app pods</a:t>
                      </a:r>
                      <a:endParaRPr lang="en-US" sz="1300" dirty="0"/>
                    </a:p>
                  </a:txBody>
                  <a:tcPr marL="91440" marR="91440" marT="91440" marB="91440" anchor="ctr">
                    <a:lnL w="9525" cap="flat" cmpd="sng" algn="ctr">
                      <a:solidFill>
                        <a:srgbClr val="EEF3F6"/>
                      </a:solidFill>
                      <a:prstDash val="solid"/>
                      <a:round/>
                      <a:headEnd type="none" w="med" len="med"/>
                      <a:tailEnd type="none" w="med" len="med"/>
                    </a:lnL>
                    <a:lnR w="9525" cap="flat" cmpd="sng" algn="ctr">
                      <a:solidFill>
                        <a:srgbClr val="EEF3F6"/>
                      </a:solidFill>
                      <a:prstDash val="solid"/>
                      <a:round/>
                      <a:headEnd type="none" w="med" len="med"/>
                      <a:tailEnd type="none" w="med" len="med"/>
                    </a:lnR>
                    <a:lnT w="9525" cap="flat" cmpd="sng" algn="ctr">
                      <a:solidFill>
                        <a:srgbClr val="EEF3F6"/>
                      </a:solidFill>
                      <a:prstDash val="solid"/>
                      <a:round/>
                      <a:headEnd type="none" w="med" len="med"/>
                      <a:tailEnd type="none" w="med" len="med"/>
                    </a:lnT>
                    <a:lnB w="9525" cap="flat" cmpd="sng" algn="ctr">
                      <a:solidFill>
                        <a:srgbClr val="EEF3F6"/>
                      </a:solidFill>
                      <a:prstDash val="solid"/>
                      <a:round/>
                      <a:headEnd type="none" w="med" len="med"/>
                      <a:tailEnd type="none" w="med" len="med"/>
                    </a:lnB>
                    <a:solidFill>
                      <a:schemeClr val="bg1"/>
                    </a:solidFill>
                  </a:tcPr>
                </a:tc>
              </a:tr>
            </a:tbl>
          </a:graphicData>
        </a:graphic>
      </p:graphicFrame>
      <p:sp>
        <p:nvSpPr>
          <p:cNvPr id="4" name="Text 1"/>
          <p:cNvSpPr txBox="1"/>
          <p:nvPr/>
        </p:nvSpPr>
        <p:spPr>
          <a:xfrm>
            <a:off x="457200" y="5669280"/>
            <a:ext cx="11247120" cy="457200"/>
          </a:xfrm>
          <a:prstGeom prst="rect">
            <a:avLst/>
          </a:prstGeom>
          <a:noFill/>
          <a:ln/>
        </p:spPr>
        <p:txBody>
          <a:bodyPr wrap="square" lIns="0" tIns="0" rIns="0" bIns="0" rtlCol="0" anchor="ctr"/>
          <a:lstStyle/>
          <a:p>
            <a:pPr indent="0" marL="0">
              <a:buNone/>
            </a:pPr>
            <a:r>
              <a:rPr lang="en-US" sz="1300" i="1" dirty="0">
                <a:solidFill>
                  <a:schemeClr val="tx2"/>
                </a:solidFill>
              </a:rPr>
              <a:t>Also enable Envoy access logs: response flags UF, UH and UT separate connection failures from errors returned by the target.</a:t>
            </a:r>
            <a:endParaRPr lang="en-US" sz="13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How the telemetry pipeline works</a:t>
            </a:r>
          </a:p>
        </p:txBody>
      </p:sp>
      <p:sp>
        <p:nvSpPr>
          <p:cNvPr id="3" name="Text Placeholder 2"/>
          <p:cNvSpPr>
            <a:spLocks noGrp="1"/>
          </p:cNvSpPr>
          <p:nvPr>
            <p:ph type="body" idx="101"/>
          </p:nvPr>
        </p:nvSpPr>
        <p:spPr/>
        <p:txBody>
          <a:bodyPr/>
          <a:lstStyle/>
          <a:p>
            <a:r>
              <a:t>Collection, processing, storage and visualization in detail. Every number in this section was measured in the local POC that mirrors this design.</a:t>
            </a:r>
          </a:p>
        </p:txBody>
      </p:sp>
      <p:sp>
        <p:nvSpPr>
          <p:cNvPr id="4" name="Oval 3"/>
          <p:cNvSpPr/>
          <p:nvPr/>
        </p:nvSpPr>
        <p:spPr>
          <a:xfrm>
            <a:off x="731520" y="1417320"/>
            <a:ext cx="411480" cy="411480"/>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280160" y="1417320"/>
            <a:ext cx="411480" cy="41148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828800" y="1417320"/>
            <a:ext cx="411480" cy="411480"/>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The stack: one component per job</a:t>
            </a:r>
          </a:p>
        </p:txBody>
      </p:sp>
      <p:sp>
        <p:nvSpPr>
          <p:cNvPr id="3"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graphicFrame>
        <p:nvGraphicFramePr>
          <p:cNvPr id="4" name="Table 3"/>
          <p:cNvGraphicFramePr>
            <a:graphicFrameLocks noGrp="1"/>
          </p:cNvGraphicFramePr>
          <p:nvPr/>
        </p:nvGraphicFramePr>
        <p:xfrm>
          <a:off x="457200" y="1234440"/>
          <a:ext cx="11247120" cy="4535424"/>
        </p:xfrm>
        <a:graphic>
          <a:graphicData uri="http://schemas.openxmlformats.org/drawingml/2006/table">
            <a:tbl>
              <a:tblPr firstRow="0" bandRow="0">
                <a:tableStyleId>{5940675A-B579-460E-94D1-54222C63F5DA}</a:tableStyleId>
              </a:tblPr>
              <a:tblGrid>
                <a:gridCol w="1920240"/>
                <a:gridCol w="3154680"/>
                <a:gridCol w="2743200"/>
                <a:gridCol w="3429000"/>
              </a:tblGrid>
              <a:tr h="566928">
                <a:tc>
                  <a:txBody>
                    <a:bodyPr wrap="square"/>
                    <a:lstStyle/>
                    <a:p>
                      <a:r>
                        <a:rPr sz="1100" b="1" i="0">
                          <a:solidFill>
                            <a:schemeClr val="bg1"/>
                          </a:solidFill>
                        </a:rPr>
                        <a:t>Job</a:t>
                      </a:r>
                    </a:p>
                  </a:txBody>
                  <a:tcPr marL="73152" marR="73152" marT="36576" marB="36576" anchor="ctr">
                    <a:lnL w="6350">
                      <a:solidFill>
                        <a:srgbClr val="D5DEE5"/>
                      </a:solidFill>
                    </a:lnL>
                    <a:lnR w="6350">
                      <a:solidFill>
                        <a:srgbClr val="D5DEE5"/>
                      </a:solidFill>
                    </a:lnR>
                    <a:lnT w="6350">
                      <a:solidFill>
                        <a:srgbClr val="D5DEE5"/>
                      </a:solidFill>
                    </a:lnT>
                    <a:lnB w="6350">
                      <a:solidFill>
                        <a:srgbClr val="D5DEE5"/>
                      </a:solidFill>
                    </a:lnB>
                    <a:solidFill>
                      <a:schemeClr val="tx1"/>
                    </a:solidFill>
                  </a:tcPr>
                </a:tc>
                <a:tc>
                  <a:txBody>
                    <a:bodyPr wrap="square"/>
                    <a:lstStyle/>
                    <a:p>
                      <a:r>
                        <a:rPr sz="1100" b="1" i="0">
                          <a:solidFill>
                            <a:schemeClr val="bg1"/>
                          </a:solidFill>
                        </a:rPr>
                        <a:t>OpenShift (target)</a:t>
                      </a:r>
                    </a:p>
                  </a:txBody>
                  <a:tcPr marL="73152" marR="73152" marT="36576" marB="36576" anchor="ctr">
                    <a:lnL w="6350">
                      <a:solidFill>
                        <a:srgbClr val="D5DEE5"/>
                      </a:solidFill>
                    </a:lnL>
                    <a:lnR w="6350">
                      <a:solidFill>
                        <a:srgbClr val="D5DEE5"/>
                      </a:solidFill>
                    </a:lnR>
                    <a:lnT w="6350">
                      <a:solidFill>
                        <a:srgbClr val="D5DEE5"/>
                      </a:solidFill>
                    </a:lnT>
                    <a:lnB w="6350">
                      <a:solidFill>
                        <a:srgbClr val="D5DEE5"/>
                      </a:solidFill>
                    </a:lnB>
                    <a:solidFill>
                      <a:schemeClr val="tx1"/>
                    </a:solidFill>
                  </a:tcPr>
                </a:tc>
                <a:tc>
                  <a:txBody>
                    <a:bodyPr wrap="square"/>
                    <a:lstStyle/>
                    <a:p>
                      <a:r>
                        <a:rPr sz="1100" b="1" i="0">
                          <a:solidFill>
                            <a:schemeClr val="bg1"/>
                          </a:solidFill>
                        </a:rPr>
                        <a:t>Local POC (upstream, same CRDs)</a:t>
                      </a:r>
                    </a:p>
                  </a:txBody>
                  <a:tcPr marL="73152" marR="73152" marT="36576" marB="36576" anchor="ctr">
                    <a:lnL w="6350">
                      <a:solidFill>
                        <a:srgbClr val="D5DEE5"/>
                      </a:solidFill>
                    </a:lnL>
                    <a:lnR w="6350">
                      <a:solidFill>
                        <a:srgbClr val="D5DEE5"/>
                      </a:solidFill>
                    </a:lnR>
                    <a:lnT w="6350">
                      <a:solidFill>
                        <a:srgbClr val="D5DEE5"/>
                      </a:solidFill>
                    </a:lnT>
                    <a:lnB w="6350">
                      <a:solidFill>
                        <a:srgbClr val="D5DEE5"/>
                      </a:solidFill>
                    </a:lnB>
                    <a:solidFill>
                      <a:schemeClr val="tx1"/>
                    </a:solidFill>
                  </a:tcPr>
                </a:tc>
                <a:tc>
                  <a:txBody>
                    <a:bodyPr wrap="square"/>
                    <a:lstStyle/>
                    <a:p>
                      <a:r>
                        <a:rPr sz="1100" b="1" i="0">
                          <a:solidFill>
                            <a:schemeClr val="bg1"/>
                          </a:solidFill>
                        </a:rPr>
                        <a:t>How we use it</a:t>
                      </a:r>
                    </a:p>
                  </a:txBody>
                  <a:tcPr marL="73152" marR="73152" marT="36576" marB="36576" anchor="ctr">
                    <a:lnL w="6350">
                      <a:solidFill>
                        <a:srgbClr val="D5DEE5"/>
                      </a:solidFill>
                    </a:lnL>
                    <a:lnR w="6350">
                      <a:solidFill>
                        <a:srgbClr val="D5DEE5"/>
                      </a:solidFill>
                    </a:lnR>
                    <a:lnT w="6350">
                      <a:solidFill>
                        <a:srgbClr val="D5DEE5"/>
                      </a:solidFill>
                    </a:lnT>
                    <a:lnB w="6350">
                      <a:solidFill>
                        <a:srgbClr val="D5DEE5"/>
                      </a:solidFill>
                    </a:lnB>
                    <a:solidFill>
                      <a:schemeClr val="tx1"/>
                    </a:solidFill>
                  </a:tcPr>
                </a:tc>
              </a:tr>
              <a:tr h="566928">
                <a:tc>
                  <a:txBody>
                    <a:bodyPr wrap="square"/>
                    <a:lstStyle/>
                    <a:p>
                      <a:r>
                        <a:rPr sz="1150" b="1" i="0">
                          <a:solidFill>
                            <a:schemeClr val="tx1"/>
                          </a:solidFill>
                        </a:rPr>
                        <a:t>Telemetry source</a:t>
                      </a:r>
                    </a:p>
                  </a:txBody>
                  <a:tcPr marL="73152" marR="73152" marT="36576" marB="36576" anchor="ctr">
                    <a:lnL w="6350">
                      <a:solidFill>
                        <a:srgbClr val="D5DEE5"/>
                      </a:solidFill>
                    </a:lnL>
                    <a:lnR w="6350">
                      <a:solidFill>
                        <a:srgbClr val="D5DEE5"/>
                      </a:solidFill>
                    </a:lnR>
                    <a:lnT w="6350">
                      <a:solidFill>
                        <a:srgbClr val="D5DEE5"/>
                      </a:solidFill>
                    </a:lnT>
                    <a:lnB w="6350">
                      <a:solidFill>
                        <a:srgbClr val="D5DEE5"/>
                      </a:solidFill>
                    </a:lnB>
                    <a:solidFill>
                      <a:schemeClr val="bg1"/>
                    </a:solidFill>
                  </a:tcPr>
                </a:tc>
                <a:tc>
                  <a:txBody>
                    <a:bodyPr wrap="square"/>
                    <a:lstStyle/>
                    <a:p>
                      <a:r>
                        <a:rPr sz="1150" b="0" i="0">
                          <a:solidFill>
                            <a:schemeClr val="tx1"/>
                          </a:solidFill>
                        </a:rPr>
                        <a:t>OpenShift Service Mesh 3.4 (Istio 1.30)</a:t>
                      </a:r>
                    </a:p>
                  </a:txBody>
                  <a:tcPr marL="73152" marR="73152" marT="36576" marB="36576" anchor="ctr">
                    <a:lnL w="6350">
                      <a:solidFill>
                        <a:srgbClr val="D5DEE5"/>
                      </a:solidFill>
                    </a:lnL>
                    <a:lnR w="6350">
                      <a:solidFill>
                        <a:srgbClr val="D5DEE5"/>
                      </a:solidFill>
                    </a:lnR>
                    <a:lnT w="6350">
                      <a:solidFill>
                        <a:srgbClr val="D5DEE5"/>
                      </a:solidFill>
                    </a:lnT>
                    <a:lnB w="6350">
                      <a:solidFill>
                        <a:srgbClr val="D5DEE5"/>
                      </a:solidFill>
                    </a:lnB>
                    <a:solidFill>
                      <a:schemeClr val="bg1"/>
                    </a:solidFill>
                  </a:tcPr>
                </a:tc>
                <a:tc>
                  <a:txBody>
                    <a:bodyPr wrap="square"/>
                    <a:lstStyle/>
                    <a:p>
                      <a:r>
                        <a:rPr sz="1150" b="0" i="0">
                          <a:solidFill>
                            <a:schemeClr val="tx1"/>
                          </a:solidFill>
                        </a:rPr>
                        <a:t>Sail Operator + Istio 1.30.5</a:t>
                      </a:r>
                    </a:p>
                  </a:txBody>
                  <a:tcPr marL="73152" marR="73152" marT="36576" marB="36576" anchor="ctr">
                    <a:lnL w="6350">
                      <a:solidFill>
                        <a:srgbClr val="D5DEE5"/>
                      </a:solidFill>
                    </a:lnL>
                    <a:lnR w="6350">
                      <a:solidFill>
                        <a:srgbClr val="D5DEE5"/>
                      </a:solidFill>
                    </a:lnR>
                    <a:lnT w="6350">
                      <a:solidFill>
                        <a:srgbClr val="D5DEE5"/>
                      </a:solidFill>
                    </a:lnT>
                    <a:lnB w="6350">
                      <a:solidFill>
                        <a:srgbClr val="D5DEE5"/>
                      </a:solidFill>
                    </a:lnB>
                    <a:solidFill>
                      <a:schemeClr val="bg1"/>
                    </a:solidFill>
                  </a:tcPr>
                </a:tc>
                <a:tc>
                  <a:txBody>
                    <a:bodyPr wrap="square"/>
                    <a:lstStyle/>
                    <a:p>
                      <a:r>
                        <a:rPr sz="1150" b="0" i="0">
                          <a:solidFill>
                            <a:schemeClr val="tx1"/>
                          </a:solidFill>
                        </a:rPr>
                        <a:t>Envoy sidecars emit metrics, spans and access logs for every hop, no code change</a:t>
                      </a:r>
                    </a:p>
                  </a:txBody>
                  <a:tcPr marL="73152" marR="73152" marT="36576" marB="36576" anchor="ctr">
                    <a:lnL w="6350">
                      <a:solidFill>
                        <a:srgbClr val="D5DEE5"/>
                      </a:solidFill>
                    </a:lnL>
                    <a:lnR w="6350">
                      <a:solidFill>
                        <a:srgbClr val="D5DEE5"/>
                      </a:solidFill>
                    </a:lnR>
                    <a:lnT w="6350">
                      <a:solidFill>
                        <a:srgbClr val="D5DEE5"/>
                      </a:solidFill>
                    </a:lnT>
                    <a:lnB w="6350">
                      <a:solidFill>
                        <a:srgbClr val="D5DEE5"/>
                      </a:solidFill>
                    </a:lnB>
                    <a:solidFill>
                      <a:schemeClr val="bg1"/>
                    </a:solidFill>
                  </a:tcPr>
                </a:tc>
              </a:tr>
              <a:tr h="566928">
                <a:tc>
                  <a:txBody>
                    <a:bodyPr wrap="square"/>
                    <a:lstStyle/>
                    <a:p>
                      <a:r>
                        <a:rPr sz="1150" b="1" i="0">
                          <a:solidFill>
                            <a:schemeClr val="tx1"/>
                          </a:solidFill>
                        </a:rPr>
                        <a:t>App instrumentation</a:t>
                      </a:r>
                    </a:p>
                  </a:txBody>
                  <a:tcPr marL="73152" marR="73152" marT="36576" marB="36576" anchor="ctr">
                    <a:lnL w="6350">
                      <a:solidFill>
                        <a:srgbClr val="D5DEE5"/>
                      </a:solidFill>
                    </a:lnL>
                    <a:lnR w="6350">
                      <a:solidFill>
                        <a:srgbClr val="D5DEE5"/>
                      </a:solidFill>
                    </a:lnR>
                    <a:lnT w="6350">
                      <a:solidFill>
                        <a:srgbClr val="D5DEE5"/>
                      </a:solidFill>
                    </a:lnT>
                    <a:lnB w="6350">
                      <a:solidFill>
                        <a:srgbClr val="D5DEE5"/>
                      </a:solidFill>
                    </a:lnB>
                    <a:solidFill>
                      <a:schemeClr val="bg2"/>
                    </a:solidFill>
                  </a:tcPr>
                </a:tc>
                <a:tc>
                  <a:txBody>
                    <a:bodyPr wrap="square"/>
                    <a:lstStyle/>
                    <a:p>
                      <a:r>
                        <a:rPr sz="1150" b="0" i="0">
                          <a:solidFill>
                            <a:schemeClr val="tx1"/>
                          </a:solidFill>
                        </a:rPr>
                        <a:t>Red Hat build of OpenTelemetry</a:t>
                      </a:r>
                    </a:p>
                  </a:txBody>
                  <a:tcPr marL="73152" marR="73152" marT="36576" marB="36576" anchor="ctr">
                    <a:lnL w="6350">
                      <a:solidFill>
                        <a:srgbClr val="D5DEE5"/>
                      </a:solidFill>
                    </a:lnL>
                    <a:lnR w="6350">
                      <a:solidFill>
                        <a:srgbClr val="D5DEE5"/>
                      </a:solidFill>
                    </a:lnR>
                    <a:lnT w="6350">
                      <a:solidFill>
                        <a:srgbClr val="D5DEE5"/>
                      </a:solidFill>
                    </a:lnT>
                    <a:lnB w="6350">
                      <a:solidFill>
                        <a:srgbClr val="D5DEE5"/>
                      </a:solidFill>
                    </a:lnB>
                    <a:solidFill>
                      <a:schemeClr val="bg2"/>
                    </a:solidFill>
                  </a:tcPr>
                </a:tc>
                <a:tc>
                  <a:txBody>
                    <a:bodyPr wrap="square"/>
                    <a:lstStyle/>
                    <a:p>
                      <a:r>
                        <a:rPr sz="1150" b="0" i="0">
                          <a:solidFill>
                            <a:schemeClr val="tx1"/>
                          </a:solidFill>
                        </a:rPr>
                        <a:t>OpenTelemetry Operator 0.160</a:t>
                      </a:r>
                    </a:p>
                  </a:txBody>
                  <a:tcPr marL="73152" marR="73152" marT="36576" marB="36576" anchor="ctr">
                    <a:lnL w="6350">
                      <a:solidFill>
                        <a:srgbClr val="D5DEE5"/>
                      </a:solidFill>
                    </a:lnL>
                    <a:lnR w="6350">
                      <a:solidFill>
                        <a:srgbClr val="D5DEE5"/>
                      </a:solidFill>
                    </a:lnR>
                    <a:lnT w="6350">
                      <a:solidFill>
                        <a:srgbClr val="D5DEE5"/>
                      </a:solidFill>
                    </a:lnT>
                    <a:lnB w="6350">
                      <a:solidFill>
                        <a:srgbClr val="D5DEE5"/>
                      </a:solidFill>
                    </a:lnB>
                    <a:solidFill>
                      <a:schemeClr val="bg2"/>
                    </a:solidFill>
                  </a:tcPr>
                </a:tc>
                <a:tc>
                  <a:txBody>
                    <a:bodyPr wrap="square"/>
                    <a:lstStyle/>
                    <a:p>
                      <a:r>
                        <a:rPr sz="1150" b="0" i="0">
                          <a:solidFill>
                            <a:schemeClr val="tx1"/>
                          </a:solidFill>
                        </a:rPr>
                        <a:t>Instrumentation CR injects the OTel agent: app and DB spans, baggage propagation</a:t>
                      </a:r>
                    </a:p>
                  </a:txBody>
                  <a:tcPr marL="73152" marR="73152" marT="36576" marB="36576" anchor="ctr">
                    <a:lnL w="6350">
                      <a:solidFill>
                        <a:srgbClr val="D5DEE5"/>
                      </a:solidFill>
                    </a:lnL>
                    <a:lnR w="6350">
                      <a:solidFill>
                        <a:srgbClr val="D5DEE5"/>
                      </a:solidFill>
                    </a:lnR>
                    <a:lnT w="6350">
                      <a:solidFill>
                        <a:srgbClr val="D5DEE5"/>
                      </a:solidFill>
                    </a:lnT>
                    <a:lnB w="6350">
                      <a:solidFill>
                        <a:srgbClr val="D5DEE5"/>
                      </a:solidFill>
                    </a:lnB>
                    <a:solidFill>
                      <a:schemeClr val="bg2"/>
                    </a:solidFill>
                  </a:tcPr>
                </a:tc>
              </a:tr>
              <a:tr h="566928">
                <a:tc>
                  <a:txBody>
                    <a:bodyPr wrap="square"/>
                    <a:lstStyle/>
                    <a:p>
                      <a:r>
                        <a:rPr sz="1150" b="1" i="0">
                          <a:solidFill>
                            <a:schemeClr val="tx1"/>
                          </a:solidFill>
                        </a:rPr>
                        <a:t>Telemetry pipeline</a:t>
                      </a:r>
                    </a:p>
                  </a:txBody>
                  <a:tcPr marL="73152" marR="73152" marT="36576" marB="36576" anchor="ctr">
                    <a:lnL w="6350">
                      <a:solidFill>
                        <a:srgbClr val="D5DEE5"/>
                      </a:solidFill>
                    </a:lnL>
                    <a:lnR w="6350">
                      <a:solidFill>
                        <a:srgbClr val="D5DEE5"/>
                      </a:solidFill>
                    </a:lnR>
                    <a:lnT w="6350">
                      <a:solidFill>
                        <a:srgbClr val="D5DEE5"/>
                      </a:solidFill>
                    </a:lnT>
                    <a:lnB w="6350">
                      <a:solidFill>
                        <a:srgbClr val="D5DEE5"/>
                      </a:solidFill>
                    </a:lnB>
                    <a:solidFill>
                      <a:schemeClr val="bg1"/>
                    </a:solidFill>
                  </a:tcPr>
                </a:tc>
                <a:tc>
                  <a:txBody>
                    <a:bodyPr wrap="square"/>
                    <a:lstStyle/>
                    <a:p>
                      <a:r>
                        <a:rPr sz="1150" b="0" i="0">
                          <a:solidFill>
                            <a:schemeClr val="tx1"/>
                          </a:solidFill>
                        </a:rPr>
                        <a:t>Red Hat build of OpenTelemetry Collector</a:t>
                      </a:r>
                    </a:p>
                  </a:txBody>
                  <a:tcPr marL="73152" marR="73152" marT="36576" marB="36576" anchor="ctr">
                    <a:lnL w="6350">
                      <a:solidFill>
                        <a:srgbClr val="D5DEE5"/>
                      </a:solidFill>
                    </a:lnL>
                    <a:lnR w="6350">
                      <a:solidFill>
                        <a:srgbClr val="D5DEE5"/>
                      </a:solidFill>
                    </a:lnR>
                    <a:lnT w="6350">
                      <a:solidFill>
                        <a:srgbClr val="D5DEE5"/>
                      </a:solidFill>
                    </a:lnT>
                    <a:lnB w="6350">
                      <a:solidFill>
                        <a:srgbClr val="D5DEE5"/>
                      </a:solidFill>
                    </a:lnB>
                    <a:solidFill>
                      <a:schemeClr val="bg1"/>
                    </a:solidFill>
                  </a:tcPr>
                </a:tc>
                <a:tc>
                  <a:txBody>
                    <a:bodyPr wrap="square"/>
                    <a:lstStyle/>
                    <a:p>
                      <a:r>
                        <a:rPr sz="1150" b="0" i="0">
                          <a:solidFill>
                            <a:schemeClr val="tx1"/>
                          </a:solidFill>
                        </a:rPr>
                        <a:t>OTel Collector (contrib) 0.160</a:t>
                      </a:r>
                    </a:p>
                  </a:txBody>
                  <a:tcPr marL="73152" marR="73152" marT="36576" marB="36576" anchor="ctr">
                    <a:lnL w="6350">
                      <a:solidFill>
                        <a:srgbClr val="D5DEE5"/>
                      </a:solidFill>
                    </a:lnL>
                    <a:lnR w="6350">
                      <a:solidFill>
                        <a:srgbClr val="D5DEE5"/>
                      </a:solidFill>
                    </a:lnR>
                    <a:lnT w="6350">
                      <a:solidFill>
                        <a:srgbClr val="D5DEE5"/>
                      </a:solidFill>
                    </a:lnT>
                    <a:lnB w="6350">
                      <a:solidFill>
                        <a:srgbClr val="D5DEE5"/>
                      </a:solidFill>
                    </a:lnB>
                    <a:solidFill>
                      <a:schemeClr val="bg1"/>
                    </a:solidFill>
                  </a:tcPr>
                </a:tc>
                <a:tc>
                  <a:txBody>
                    <a:bodyPr wrap="square"/>
                    <a:lstStyle/>
                    <a:p>
                      <a:r>
                        <a:rPr sz="1150" b="0" i="0">
                          <a:solidFill>
                            <a:schemeClr val="tx1"/>
                          </a:solidFill>
                        </a:rPr>
                        <a:t>Receives OTLP, tags journeys, tail-samples traces, routes to Tempo and Loki</a:t>
                      </a:r>
                    </a:p>
                  </a:txBody>
                  <a:tcPr marL="73152" marR="73152" marT="36576" marB="36576" anchor="ctr">
                    <a:lnL w="6350">
                      <a:solidFill>
                        <a:srgbClr val="D5DEE5"/>
                      </a:solidFill>
                    </a:lnL>
                    <a:lnR w="6350">
                      <a:solidFill>
                        <a:srgbClr val="D5DEE5"/>
                      </a:solidFill>
                    </a:lnR>
                    <a:lnT w="6350">
                      <a:solidFill>
                        <a:srgbClr val="D5DEE5"/>
                      </a:solidFill>
                    </a:lnT>
                    <a:lnB w="6350">
                      <a:solidFill>
                        <a:srgbClr val="D5DEE5"/>
                      </a:solidFill>
                    </a:lnB>
                    <a:solidFill>
                      <a:schemeClr val="bg1"/>
                    </a:solidFill>
                  </a:tcPr>
                </a:tc>
              </a:tr>
              <a:tr h="566928">
                <a:tc>
                  <a:txBody>
                    <a:bodyPr wrap="square"/>
                    <a:lstStyle/>
                    <a:p>
                      <a:r>
                        <a:rPr sz="1150" b="1" i="0">
                          <a:solidFill>
                            <a:schemeClr val="tx1"/>
                          </a:solidFill>
                        </a:rPr>
                        <a:t>Metrics and alerts</a:t>
                      </a:r>
                    </a:p>
                  </a:txBody>
                  <a:tcPr marL="73152" marR="73152" marT="36576" marB="36576" anchor="ctr">
                    <a:lnL w="6350">
                      <a:solidFill>
                        <a:srgbClr val="D5DEE5"/>
                      </a:solidFill>
                    </a:lnL>
                    <a:lnR w="6350">
                      <a:solidFill>
                        <a:srgbClr val="D5DEE5"/>
                      </a:solidFill>
                    </a:lnR>
                    <a:lnT w="6350">
                      <a:solidFill>
                        <a:srgbClr val="D5DEE5"/>
                      </a:solidFill>
                    </a:lnT>
                    <a:lnB w="6350">
                      <a:solidFill>
                        <a:srgbClr val="D5DEE5"/>
                      </a:solidFill>
                    </a:lnB>
                    <a:solidFill>
                      <a:schemeClr val="bg2"/>
                    </a:solidFill>
                  </a:tcPr>
                </a:tc>
                <a:tc>
                  <a:txBody>
                    <a:bodyPr wrap="square"/>
                    <a:lstStyle/>
                    <a:p>
                      <a:r>
                        <a:rPr sz="1150" b="0" i="0">
                          <a:solidFill>
                            <a:schemeClr val="tx1"/>
                          </a:solidFill>
                        </a:rPr>
                        <a:t>OpenShift Monitoring (user workload): Prometheus, Thanos Querier, Alertmanager</a:t>
                      </a:r>
                    </a:p>
                  </a:txBody>
                  <a:tcPr marL="73152" marR="73152" marT="36576" marB="36576" anchor="ctr">
                    <a:lnL w="6350">
                      <a:solidFill>
                        <a:srgbClr val="D5DEE5"/>
                      </a:solidFill>
                    </a:lnL>
                    <a:lnR w="6350">
                      <a:solidFill>
                        <a:srgbClr val="D5DEE5"/>
                      </a:solidFill>
                    </a:lnR>
                    <a:lnT w="6350">
                      <a:solidFill>
                        <a:srgbClr val="D5DEE5"/>
                      </a:solidFill>
                    </a:lnT>
                    <a:lnB w="6350">
                      <a:solidFill>
                        <a:srgbClr val="D5DEE5"/>
                      </a:solidFill>
                    </a:lnB>
                    <a:solidFill>
                      <a:schemeClr val="bg2"/>
                    </a:solidFill>
                  </a:tcPr>
                </a:tc>
                <a:tc>
                  <a:txBody>
                    <a:bodyPr wrap="square"/>
                    <a:lstStyle/>
                    <a:p>
                      <a:r>
                        <a:rPr sz="1150" b="0" i="0">
                          <a:solidFill>
                            <a:schemeClr val="tx1"/>
                          </a:solidFill>
                        </a:rPr>
                        <a:t>kube-prometheus-stack: Prometheus 3, Alertmanager</a:t>
                      </a:r>
                    </a:p>
                  </a:txBody>
                  <a:tcPr marL="73152" marR="73152" marT="36576" marB="36576" anchor="ctr">
                    <a:lnL w="6350">
                      <a:solidFill>
                        <a:srgbClr val="D5DEE5"/>
                      </a:solidFill>
                    </a:lnL>
                    <a:lnR w="6350">
                      <a:solidFill>
                        <a:srgbClr val="D5DEE5"/>
                      </a:solidFill>
                    </a:lnR>
                    <a:lnT w="6350">
                      <a:solidFill>
                        <a:srgbClr val="D5DEE5"/>
                      </a:solidFill>
                    </a:lnT>
                    <a:lnB w="6350">
                      <a:solidFill>
                        <a:srgbClr val="D5DEE5"/>
                      </a:solidFill>
                    </a:lnB>
                    <a:solidFill>
                      <a:schemeClr val="bg2"/>
                    </a:solidFill>
                  </a:tcPr>
                </a:tc>
                <a:tc>
                  <a:txBody>
                    <a:bodyPr wrap="square"/>
                    <a:lstStyle/>
                    <a:p>
                      <a:r>
                        <a:rPr sz="1150" b="0" i="0">
                          <a:solidFill>
                            <a:schemeClr val="tx1"/>
                          </a:solidFill>
                        </a:rPr>
                        <a:t>Scrapes sidecars and istiod; evaluates hop and journey alert rules</a:t>
                      </a:r>
                    </a:p>
                  </a:txBody>
                  <a:tcPr marL="73152" marR="73152" marT="36576" marB="36576" anchor="ctr">
                    <a:lnL w="6350">
                      <a:solidFill>
                        <a:srgbClr val="D5DEE5"/>
                      </a:solidFill>
                    </a:lnL>
                    <a:lnR w="6350">
                      <a:solidFill>
                        <a:srgbClr val="D5DEE5"/>
                      </a:solidFill>
                    </a:lnR>
                    <a:lnT w="6350">
                      <a:solidFill>
                        <a:srgbClr val="D5DEE5"/>
                      </a:solidFill>
                    </a:lnT>
                    <a:lnB w="6350">
                      <a:solidFill>
                        <a:srgbClr val="D5DEE5"/>
                      </a:solidFill>
                    </a:lnB>
                    <a:solidFill>
                      <a:schemeClr val="bg2"/>
                    </a:solidFill>
                  </a:tcPr>
                </a:tc>
              </a:tr>
              <a:tr h="566928">
                <a:tc>
                  <a:txBody>
                    <a:bodyPr wrap="square"/>
                    <a:lstStyle/>
                    <a:p>
                      <a:r>
                        <a:rPr sz="1150" b="1" i="0">
                          <a:solidFill>
                            <a:schemeClr val="tx1"/>
                          </a:solidFill>
                        </a:rPr>
                        <a:t>Trace store</a:t>
                      </a:r>
                    </a:p>
                  </a:txBody>
                  <a:tcPr marL="73152" marR="73152" marT="36576" marB="36576" anchor="ctr">
                    <a:lnL w="6350">
                      <a:solidFill>
                        <a:srgbClr val="D5DEE5"/>
                      </a:solidFill>
                    </a:lnL>
                    <a:lnR w="6350">
                      <a:solidFill>
                        <a:srgbClr val="D5DEE5"/>
                      </a:solidFill>
                    </a:lnR>
                    <a:lnT w="6350">
                      <a:solidFill>
                        <a:srgbClr val="D5DEE5"/>
                      </a:solidFill>
                    </a:lnT>
                    <a:lnB w="6350">
                      <a:solidFill>
                        <a:srgbClr val="D5DEE5"/>
                      </a:solidFill>
                    </a:lnB>
                    <a:solidFill>
                      <a:schemeClr val="bg1"/>
                    </a:solidFill>
                  </a:tcPr>
                </a:tc>
                <a:tc>
                  <a:txBody>
                    <a:bodyPr wrap="square"/>
                    <a:lstStyle/>
                    <a:p>
                      <a:r>
                        <a:rPr sz="1150" b="0" i="0">
                          <a:solidFill>
                            <a:schemeClr val="tx1"/>
                          </a:solidFill>
                        </a:rPr>
                        <a:t>Tempo Operator: TempoMonolithic, then TempoStack</a:t>
                      </a:r>
                    </a:p>
                  </a:txBody>
                  <a:tcPr marL="73152" marR="73152" marT="36576" marB="36576" anchor="ctr">
                    <a:lnL w="6350">
                      <a:solidFill>
                        <a:srgbClr val="D5DEE5"/>
                      </a:solidFill>
                    </a:lnL>
                    <a:lnR w="6350">
                      <a:solidFill>
                        <a:srgbClr val="D5DEE5"/>
                      </a:solidFill>
                    </a:lnR>
                    <a:lnT w="6350">
                      <a:solidFill>
                        <a:srgbClr val="D5DEE5"/>
                      </a:solidFill>
                    </a:lnT>
                    <a:lnB w="6350">
                      <a:solidFill>
                        <a:srgbClr val="D5DEE5"/>
                      </a:solidFill>
                    </a:lnB>
                    <a:solidFill>
                      <a:schemeClr val="bg1"/>
                    </a:solidFill>
                  </a:tcPr>
                </a:tc>
                <a:tc>
                  <a:txBody>
                    <a:bodyPr wrap="square"/>
                    <a:lstStyle/>
                    <a:p>
                      <a:r>
                        <a:rPr sz="1150" b="0" i="0">
                          <a:solidFill>
                            <a:schemeClr val="tx1"/>
                          </a:solidFill>
                        </a:rPr>
                        <a:t>Tempo Operator 0.22, Tempo 2.10</a:t>
                      </a:r>
                    </a:p>
                  </a:txBody>
                  <a:tcPr marL="73152" marR="73152" marT="36576" marB="36576" anchor="ctr">
                    <a:lnL w="6350">
                      <a:solidFill>
                        <a:srgbClr val="D5DEE5"/>
                      </a:solidFill>
                    </a:lnL>
                    <a:lnR w="6350">
                      <a:solidFill>
                        <a:srgbClr val="D5DEE5"/>
                      </a:solidFill>
                    </a:lnR>
                    <a:lnT w="6350">
                      <a:solidFill>
                        <a:srgbClr val="D5DEE5"/>
                      </a:solidFill>
                    </a:lnT>
                    <a:lnB w="6350">
                      <a:solidFill>
                        <a:srgbClr val="D5DEE5"/>
                      </a:solidFill>
                    </a:lnB>
                    <a:solidFill>
                      <a:schemeClr val="bg1"/>
                    </a:solidFill>
                  </a:tcPr>
                </a:tc>
                <a:tc>
                  <a:txBody>
                    <a:bodyPr wrap="square"/>
                    <a:lstStyle/>
                    <a:p>
                      <a:r>
                        <a:rPr sz="1150" b="0" i="0">
                          <a:solidFill>
                            <a:schemeClr val="tx1"/>
                          </a:solidFill>
                        </a:rPr>
                        <a:t>Stores sampled traces; TraceQL search by journey, flag, service</a:t>
                      </a:r>
                    </a:p>
                  </a:txBody>
                  <a:tcPr marL="73152" marR="73152" marT="36576" marB="36576" anchor="ctr">
                    <a:lnL w="6350">
                      <a:solidFill>
                        <a:srgbClr val="D5DEE5"/>
                      </a:solidFill>
                    </a:lnL>
                    <a:lnR w="6350">
                      <a:solidFill>
                        <a:srgbClr val="D5DEE5"/>
                      </a:solidFill>
                    </a:lnR>
                    <a:lnT w="6350">
                      <a:solidFill>
                        <a:srgbClr val="D5DEE5"/>
                      </a:solidFill>
                    </a:lnT>
                    <a:lnB w="6350">
                      <a:solidFill>
                        <a:srgbClr val="D5DEE5"/>
                      </a:solidFill>
                    </a:lnB>
                    <a:solidFill>
                      <a:schemeClr val="bg1"/>
                    </a:solidFill>
                  </a:tcPr>
                </a:tc>
              </a:tr>
              <a:tr h="566928">
                <a:tc>
                  <a:txBody>
                    <a:bodyPr wrap="square"/>
                    <a:lstStyle/>
                    <a:p>
                      <a:r>
                        <a:rPr sz="1150" b="1" i="0">
                          <a:solidFill>
                            <a:schemeClr val="tx1"/>
                          </a:solidFill>
                        </a:rPr>
                        <a:t>Log store</a:t>
                      </a:r>
                    </a:p>
                  </a:txBody>
                  <a:tcPr marL="73152" marR="73152" marT="36576" marB="36576" anchor="ctr">
                    <a:lnL w="6350">
                      <a:solidFill>
                        <a:srgbClr val="D5DEE5"/>
                      </a:solidFill>
                    </a:lnL>
                    <a:lnR w="6350">
                      <a:solidFill>
                        <a:srgbClr val="D5DEE5"/>
                      </a:solidFill>
                    </a:lnR>
                    <a:lnT w="6350">
                      <a:solidFill>
                        <a:srgbClr val="D5DEE5"/>
                      </a:solidFill>
                    </a:lnT>
                    <a:lnB w="6350">
                      <a:solidFill>
                        <a:srgbClr val="D5DEE5"/>
                      </a:solidFill>
                    </a:lnB>
                    <a:solidFill>
                      <a:schemeClr val="bg2"/>
                    </a:solidFill>
                  </a:tcPr>
                </a:tc>
                <a:tc>
                  <a:txBody>
                    <a:bodyPr wrap="square"/>
                    <a:lstStyle/>
                    <a:p>
                      <a:r>
                        <a:rPr sz="1150" b="0" i="0">
                          <a:solidFill>
                            <a:schemeClr val="tx1"/>
                          </a:solidFill>
                        </a:rPr>
                        <a:t>Loki Operator: LokiStack</a:t>
                      </a:r>
                    </a:p>
                  </a:txBody>
                  <a:tcPr marL="73152" marR="73152" marT="36576" marB="36576" anchor="ctr">
                    <a:lnL w="6350">
                      <a:solidFill>
                        <a:srgbClr val="D5DEE5"/>
                      </a:solidFill>
                    </a:lnL>
                    <a:lnR w="6350">
                      <a:solidFill>
                        <a:srgbClr val="D5DEE5"/>
                      </a:solidFill>
                    </a:lnR>
                    <a:lnT w="6350">
                      <a:solidFill>
                        <a:srgbClr val="D5DEE5"/>
                      </a:solidFill>
                    </a:lnT>
                    <a:lnB w="6350">
                      <a:solidFill>
                        <a:srgbClr val="D5DEE5"/>
                      </a:solidFill>
                    </a:lnB>
                    <a:solidFill>
                      <a:schemeClr val="bg2"/>
                    </a:solidFill>
                  </a:tcPr>
                </a:tc>
                <a:tc>
                  <a:txBody>
                    <a:bodyPr wrap="square"/>
                    <a:lstStyle/>
                    <a:p>
                      <a:r>
                        <a:rPr sz="1150" b="0" i="0">
                          <a:solidFill>
                            <a:schemeClr val="tx1"/>
                          </a:solidFill>
                        </a:rPr>
                        <a:t>Loki 3.6 (single binary)</a:t>
                      </a:r>
                    </a:p>
                  </a:txBody>
                  <a:tcPr marL="73152" marR="73152" marT="36576" marB="36576" anchor="ctr">
                    <a:lnL w="6350">
                      <a:solidFill>
                        <a:srgbClr val="D5DEE5"/>
                      </a:solidFill>
                    </a:lnL>
                    <a:lnR w="6350">
                      <a:solidFill>
                        <a:srgbClr val="D5DEE5"/>
                      </a:solidFill>
                    </a:lnR>
                    <a:lnT w="6350">
                      <a:solidFill>
                        <a:srgbClr val="D5DEE5"/>
                      </a:solidFill>
                    </a:lnT>
                    <a:lnB w="6350">
                      <a:solidFill>
                        <a:srgbClr val="D5DEE5"/>
                      </a:solidFill>
                    </a:lnB>
                    <a:solidFill>
                      <a:schemeClr val="bg2"/>
                    </a:solidFill>
                  </a:tcPr>
                </a:tc>
                <a:tc>
                  <a:txBody>
                    <a:bodyPr wrap="square"/>
                    <a:lstStyle/>
                    <a:p>
                      <a:r>
                        <a:rPr sz="1150" b="0" i="0">
                          <a:solidFill>
                            <a:schemeClr val="tx1"/>
                          </a:solidFill>
                        </a:rPr>
                        <a:t>Stores Envoy access logs; LogQL by flag, hop, trace ID</a:t>
                      </a:r>
                    </a:p>
                  </a:txBody>
                  <a:tcPr marL="73152" marR="73152" marT="36576" marB="36576" anchor="ctr">
                    <a:lnL w="6350">
                      <a:solidFill>
                        <a:srgbClr val="D5DEE5"/>
                      </a:solidFill>
                    </a:lnL>
                    <a:lnR w="6350">
                      <a:solidFill>
                        <a:srgbClr val="D5DEE5"/>
                      </a:solidFill>
                    </a:lnR>
                    <a:lnT w="6350">
                      <a:solidFill>
                        <a:srgbClr val="D5DEE5"/>
                      </a:solidFill>
                    </a:lnT>
                    <a:lnB w="6350">
                      <a:solidFill>
                        <a:srgbClr val="D5DEE5"/>
                      </a:solidFill>
                    </a:lnB>
                    <a:solidFill>
                      <a:schemeClr val="bg2"/>
                    </a:solidFill>
                  </a:tcPr>
                </a:tc>
              </a:tr>
              <a:tr h="566928">
                <a:tc>
                  <a:txBody>
                    <a:bodyPr wrap="square"/>
                    <a:lstStyle/>
                    <a:p>
                      <a:r>
                        <a:rPr sz="1150" b="1" i="0">
                          <a:solidFill>
                            <a:schemeClr val="tx1"/>
                          </a:solidFill>
                        </a:rPr>
                        <a:t>Visualization</a:t>
                      </a:r>
                    </a:p>
                  </a:txBody>
                  <a:tcPr marL="73152" marR="73152" marT="36576" marB="36576" anchor="ctr">
                    <a:lnL w="6350">
                      <a:solidFill>
                        <a:srgbClr val="D5DEE5"/>
                      </a:solidFill>
                    </a:lnL>
                    <a:lnR w="6350">
                      <a:solidFill>
                        <a:srgbClr val="D5DEE5"/>
                      </a:solidFill>
                    </a:lnR>
                    <a:lnT w="6350">
                      <a:solidFill>
                        <a:srgbClr val="D5DEE5"/>
                      </a:solidFill>
                    </a:lnT>
                    <a:lnB w="6350">
                      <a:solidFill>
                        <a:srgbClr val="D5DEE5"/>
                      </a:solidFill>
                    </a:lnB>
                    <a:solidFill>
                      <a:schemeClr val="bg1"/>
                    </a:solidFill>
                  </a:tcPr>
                </a:tc>
                <a:tc>
                  <a:txBody>
                    <a:bodyPr wrap="square"/>
                    <a:lstStyle/>
                    <a:p>
                      <a:r>
                        <a:rPr sz="1150" b="0" i="0">
                          <a:solidFill>
                            <a:schemeClr val="tx1"/>
                          </a:solidFill>
                        </a:rPr>
                        <a:t>Kiali, OpenShift console, Grafana Operator</a:t>
                      </a:r>
                    </a:p>
                  </a:txBody>
                  <a:tcPr marL="73152" marR="73152" marT="36576" marB="36576" anchor="ctr">
                    <a:lnL w="6350">
                      <a:solidFill>
                        <a:srgbClr val="D5DEE5"/>
                      </a:solidFill>
                    </a:lnL>
                    <a:lnR w="6350">
                      <a:solidFill>
                        <a:srgbClr val="D5DEE5"/>
                      </a:solidFill>
                    </a:lnR>
                    <a:lnT w="6350">
                      <a:solidFill>
                        <a:srgbClr val="D5DEE5"/>
                      </a:solidFill>
                    </a:lnT>
                    <a:lnB w="6350">
                      <a:solidFill>
                        <a:srgbClr val="D5DEE5"/>
                      </a:solidFill>
                    </a:lnB>
                    <a:solidFill>
                      <a:schemeClr val="bg1"/>
                    </a:solidFill>
                  </a:tcPr>
                </a:tc>
                <a:tc>
                  <a:txBody>
                    <a:bodyPr wrap="square"/>
                    <a:lstStyle/>
                    <a:p>
                      <a:r>
                        <a:rPr sz="1150" b="0" i="0">
                          <a:solidFill>
                            <a:schemeClr val="tx1"/>
                          </a:solidFill>
                        </a:rPr>
                        <a:t>Kiali 2.27, Grafana 13, red-dot dashboard</a:t>
                      </a:r>
                    </a:p>
                  </a:txBody>
                  <a:tcPr marL="73152" marR="73152" marT="36576" marB="36576" anchor="ctr">
                    <a:lnL w="6350">
                      <a:solidFill>
                        <a:srgbClr val="D5DEE5"/>
                      </a:solidFill>
                    </a:lnL>
                    <a:lnR w="6350">
                      <a:solidFill>
                        <a:srgbClr val="D5DEE5"/>
                      </a:solidFill>
                    </a:lnR>
                    <a:lnT w="6350">
                      <a:solidFill>
                        <a:srgbClr val="D5DEE5"/>
                      </a:solidFill>
                    </a:lnT>
                    <a:lnB w="6350">
                      <a:solidFill>
                        <a:srgbClr val="D5DEE5"/>
                      </a:solidFill>
                    </a:lnB>
                    <a:solidFill>
                      <a:schemeClr val="bg1"/>
                    </a:solidFill>
                  </a:tcPr>
                </a:tc>
                <a:tc>
                  <a:txBody>
                    <a:bodyPr wrap="square"/>
                    <a:lstStyle/>
                    <a:p>
                      <a:r>
                        <a:rPr sz="1150" b="0" i="0">
                          <a:solidFill>
                            <a:schemeClr val="tx1"/>
                          </a:solidFill>
                        </a:rPr>
                        <a:t>Live graph, journey drill-down, NOC view with the failing hop and its owner</a:t>
                      </a:r>
                    </a:p>
                  </a:txBody>
                  <a:tcPr marL="73152" marR="73152" marT="36576" marB="36576" anchor="ctr">
                    <a:lnL w="6350">
                      <a:solidFill>
                        <a:srgbClr val="D5DEE5"/>
                      </a:solidFill>
                    </a:lnL>
                    <a:lnR w="6350">
                      <a:solidFill>
                        <a:srgbClr val="D5DEE5"/>
                      </a:solidFill>
                    </a:lnR>
                    <a:lnT w="6350">
                      <a:solidFill>
                        <a:srgbClr val="D5DEE5"/>
                      </a:solidFill>
                    </a:lnT>
                    <a:lnB w="6350">
                      <a:solidFill>
                        <a:srgbClr val="D5DEE5"/>
                      </a:solidFill>
                    </a:lnB>
                    <a:solidFill>
                      <a:schemeClr val="bg1"/>
                    </a:solidFill>
                  </a:tcPr>
                </a:tc>
              </a:tr>
            </a:tbl>
          </a:graphicData>
        </a:graphic>
      </p:graphicFrame>
      <p:sp>
        <p:nvSpPr>
          <p:cNvPr id="5" name="TextBox 4"/>
          <p:cNvSpPr txBox="1"/>
          <p:nvPr/>
        </p:nvSpPr>
        <p:spPr>
          <a:xfrm>
            <a:off x="457200" y="5943600"/>
            <a:ext cx="11247120" cy="365760"/>
          </a:xfrm>
          <a:prstGeom prst="rect">
            <a:avLst/>
          </a:prstGeom>
          <a:noFill/>
        </p:spPr>
        <p:txBody>
          <a:bodyPr wrap="square" lIns="0" rIns="0" tIns="0" bIns="0" anchor="t">
            <a:spAutoFit/>
          </a:bodyPr>
          <a:lstStyle/>
          <a:p>
            <a:pPr algn="l">
              <a:spcAft>
                <a:spcPts val="400"/>
              </a:spcAft>
            </a:pPr>
            <a:r>
              <a:rPr sz="1100" b="0" i="1">
                <a:solidFill>
                  <a:schemeClr val="tx2"/>
                </a:solidFill>
              </a:rPr>
              <a:t>Same CRDs on both sides, so manifests move to OpenShift almost unchanged. Nothing is installed on VMs or database servers.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End-to-end data flow: three signals, two directions</a:t>
            </a:r>
          </a:p>
        </p:txBody>
      </p:sp>
      <p:sp>
        <p:nvSpPr>
          <p:cNvPr id="3"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
        <p:nvSpPr>
          <p:cNvPr id="4" name="TextBox 3"/>
          <p:cNvSpPr txBox="1"/>
          <p:nvPr/>
        </p:nvSpPr>
        <p:spPr>
          <a:xfrm>
            <a:off x="457200" y="1188720"/>
            <a:ext cx="2103120" cy="274320"/>
          </a:xfrm>
          <a:prstGeom prst="rect">
            <a:avLst/>
          </a:prstGeom>
          <a:noFill/>
        </p:spPr>
        <p:txBody>
          <a:bodyPr wrap="square" lIns="0" rIns="0" tIns="0" bIns="0" anchor="t">
            <a:spAutoFit/>
          </a:bodyPr>
          <a:lstStyle/>
          <a:p>
            <a:pPr algn="l">
              <a:spcAft>
                <a:spcPts val="400"/>
              </a:spcAft>
            </a:pPr>
            <a:r>
              <a:rPr sz="1100" b="1" i="0">
                <a:solidFill>
                  <a:schemeClr val="tx2"/>
                </a:solidFill>
              </a:rPr>
              <a:t>SOURCES</a:t>
            </a:r>
          </a:p>
        </p:txBody>
      </p:sp>
      <p:sp>
        <p:nvSpPr>
          <p:cNvPr id="5" name="TextBox 4"/>
          <p:cNvSpPr txBox="1"/>
          <p:nvPr/>
        </p:nvSpPr>
        <p:spPr>
          <a:xfrm>
            <a:off x="2880360" y="1188720"/>
            <a:ext cx="2148840" cy="274320"/>
          </a:xfrm>
          <a:prstGeom prst="rect">
            <a:avLst/>
          </a:prstGeom>
          <a:noFill/>
        </p:spPr>
        <p:txBody>
          <a:bodyPr wrap="square" lIns="0" rIns="0" tIns="0" bIns="0" anchor="t">
            <a:spAutoFit/>
          </a:bodyPr>
          <a:lstStyle/>
          <a:p>
            <a:pPr algn="l">
              <a:spcAft>
                <a:spcPts val="400"/>
              </a:spcAft>
            </a:pPr>
            <a:r>
              <a:rPr sz="1100" b="1" i="0">
                <a:solidFill>
                  <a:schemeClr val="tx2"/>
                </a:solidFill>
              </a:rPr>
              <a:t>COLLECTION</a:t>
            </a:r>
          </a:p>
        </p:txBody>
      </p:sp>
      <p:sp>
        <p:nvSpPr>
          <p:cNvPr id="6" name="TextBox 5"/>
          <p:cNvSpPr txBox="1"/>
          <p:nvPr/>
        </p:nvSpPr>
        <p:spPr>
          <a:xfrm>
            <a:off x="5349240" y="1188720"/>
            <a:ext cx="2057400" cy="274320"/>
          </a:xfrm>
          <a:prstGeom prst="rect">
            <a:avLst/>
          </a:prstGeom>
          <a:noFill/>
        </p:spPr>
        <p:txBody>
          <a:bodyPr wrap="square" lIns="0" rIns="0" tIns="0" bIns="0" anchor="t">
            <a:spAutoFit/>
          </a:bodyPr>
          <a:lstStyle/>
          <a:p>
            <a:pPr algn="l">
              <a:spcAft>
                <a:spcPts val="400"/>
              </a:spcAft>
            </a:pPr>
            <a:r>
              <a:rPr sz="1100" b="1" i="0">
                <a:solidFill>
                  <a:schemeClr val="tx2"/>
                </a:solidFill>
              </a:rPr>
              <a:t>PROCESSING</a:t>
            </a:r>
          </a:p>
        </p:txBody>
      </p:sp>
      <p:sp>
        <p:nvSpPr>
          <p:cNvPr id="7" name="TextBox 6"/>
          <p:cNvSpPr txBox="1"/>
          <p:nvPr/>
        </p:nvSpPr>
        <p:spPr>
          <a:xfrm>
            <a:off x="7726679" y="1188720"/>
            <a:ext cx="1874519" cy="274320"/>
          </a:xfrm>
          <a:prstGeom prst="rect">
            <a:avLst/>
          </a:prstGeom>
          <a:noFill/>
        </p:spPr>
        <p:txBody>
          <a:bodyPr wrap="square" lIns="0" rIns="0" tIns="0" bIns="0" anchor="t">
            <a:spAutoFit/>
          </a:bodyPr>
          <a:lstStyle/>
          <a:p>
            <a:pPr algn="l">
              <a:spcAft>
                <a:spcPts val="400"/>
              </a:spcAft>
            </a:pPr>
            <a:r>
              <a:rPr sz="1100" b="1" i="0">
                <a:solidFill>
                  <a:schemeClr val="tx2"/>
                </a:solidFill>
              </a:rPr>
              <a:t>STORAGE</a:t>
            </a:r>
          </a:p>
        </p:txBody>
      </p:sp>
      <p:sp>
        <p:nvSpPr>
          <p:cNvPr id="8" name="TextBox 7"/>
          <p:cNvSpPr txBox="1"/>
          <p:nvPr/>
        </p:nvSpPr>
        <p:spPr>
          <a:xfrm>
            <a:off x="9921240" y="1188720"/>
            <a:ext cx="1810512" cy="274320"/>
          </a:xfrm>
          <a:prstGeom prst="rect">
            <a:avLst/>
          </a:prstGeom>
          <a:noFill/>
        </p:spPr>
        <p:txBody>
          <a:bodyPr wrap="square" lIns="0" rIns="0" tIns="0" bIns="0" anchor="t">
            <a:spAutoFit/>
          </a:bodyPr>
          <a:lstStyle/>
          <a:p>
            <a:pPr algn="l">
              <a:spcAft>
                <a:spcPts val="400"/>
              </a:spcAft>
            </a:pPr>
            <a:r>
              <a:rPr sz="1100" b="1" i="0">
                <a:solidFill>
                  <a:schemeClr val="tx2"/>
                </a:solidFill>
              </a:rPr>
              <a:t>VIEWS</a:t>
            </a:r>
          </a:p>
        </p:txBody>
      </p:sp>
      <p:sp>
        <p:nvSpPr>
          <p:cNvPr id="9" name="Rounded Rectangle 8"/>
          <p:cNvSpPr/>
          <p:nvPr/>
        </p:nvSpPr>
        <p:spPr>
          <a:xfrm>
            <a:off x="457200" y="1554480"/>
            <a:ext cx="2103120" cy="1051560"/>
          </a:xfrm>
          <a:prstGeom prst="roundRect">
            <a:avLst>
              <a:gd name="adj" fmla="val 8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ctr">
              <a:spcAft>
                <a:spcPts val="400"/>
              </a:spcAft>
            </a:pPr>
            <a:r>
              <a:rPr sz="1250" b="1" i="0">
                <a:solidFill>
                  <a:schemeClr val="bg1"/>
                </a:solidFill>
              </a:rPr>
              <a:t>Envoy sidecars + gateway</a:t>
            </a:r>
          </a:p>
          <a:p>
            <a:pPr algn="ctr">
              <a:spcAft>
                <a:spcPts val="400"/>
              </a:spcAft>
            </a:pPr>
            <a:r>
              <a:rPr sz="1050" b="0" i="0">
                <a:solidFill>
                  <a:schemeClr val="bg1"/>
                </a:solidFill>
              </a:rPr>
              <a:t>Counters, histograms per hop</a:t>
            </a:r>
          </a:p>
        </p:txBody>
      </p:sp>
      <p:sp>
        <p:nvSpPr>
          <p:cNvPr id="10" name="Rounded Rectangle 9"/>
          <p:cNvSpPr/>
          <p:nvPr/>
        </p:nvSpPr>
        <p:spPr>
          <a:xfrm>
            <a:off x="2880360" y="1554480"/>
            <a:ext cx="2148840" cy="1051560"/>
          </a:xfrm>
          <a:prstGeom prst="roundRect">
            <a:avLst>
              <a:gd name="adj" fmla="val 8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ctr">
              <a:spcAft>
                <a:spcPts val="400"/>
              </a:spcAft>
            </a:pPr>
            <a:r>
              <a:rPr sz="1250" b="1" i="0">
                <a:solidFill>
                  <a:schemeClr val="bg1"/>
                </a:solidFill>
              </a:rPr>
              <a:t>PodMonitor / ServiceMonitor</a:t>
            </a:r>
          </a:p>
          <a:p>
            <a:pPr algn="ctr">
              <a:spcAft>
                <a:spcPts val="400"/>
              </a:spcAft>
            </a:pPr>
            <a:r>
              <a:rPr sz="1050" b="0" i="0">
                <a:solidFill>
                  <a:schemeClr val="bg1"/>
                </a:solidFill>
              </a:rPr>
              <a:t>Prometheus pulls :15020 every 15 s</a:t>
            </a:r>
          </a:p>
        </p:txBody>
      </p:sp>
      <p:sp>
        <p:nvSpPr>
          <p:cNvPr id="11" name="Rounded Rectangle 10"/>
          <p:cNvSpPr/>
          <p:nvPr/>
        </p:nvSpPr>
        <p:spPr>
          <a:xfrm>
            <a:off x="7726679" y="1554480"/>
            <a:ext cx="1874519" cy="1051560"/>
          </a:xfrm>
          <a:prstGeom prst="roundRect">
            <a:avLst>
              <a:gd name="adj" fmla="val 8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ctr">
              <a:spcAft>
                <a:spcPts val="400"/>
              </a:spcAft>
            </a:pPr>
            <a:r>
              <a:rPr sz="1250" b="1" i="0">
                <a:solidFill>
                  <a:schemeClr val="bg1"/>
                </a:solidFill>
              </a:rPr>
              <a:t>Prometheus TSDB</a:t>
            </a:r>
          </a:p>
          <a:p>
            <a:pPr algn="ctr">
              <a:spcAft>
                <a:spcPts val="400"/>
              </a:spcAft>
            </a:pPr>
            <a:r>
              <a:rPr sz="1050" b="0" i="0">
                <a:solidFill>
                  <a:schemeClr val="bg1"/>
                </a:solidFill>
              </a:rPr>
              <a:t>Head + WAL, 2 h blocks</a:t>
            </a:r>
          </a:p>
        </p:txBody>
      </p:sp>
      <p:cxnSp>
        <p:nvCxnSpPr>
          <p:cNvPr id="12" name="Connector 11"/>
          <p:cNvCxnSpPr/>
          <p:nvPr/>
        </p:nvCxnSpPr>
        <p:spPr>
          <a:xfrm>
            <a:off x="2560320" y="2080260"/>
            <a:ext cx="320040" cy="0"/>
          </a:xfrm>
          <a:prstGeom prst="line">
            <a:avLst/>
          </a:prstGeom>
          <a:ln w="15875">
            <a:solidFill>
              <a:schemeClr val="tx2"/>
            </a:solidFill>
            <a:tailEnd type="triangle"/>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9601200" y="2080260"/>
            <a:ext cx="320040" cy="0"/>
          </a:xfrm>
          <a:prstGeom prst="line">
            <a:avLst/>
          </a:prstGeom>
          <a:ln w="15875">
            <a:solidFill>
              <a:schemeClr val="tx2"/>
            </a:solidFill>
            <a:tailEnd type="triangle"/>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457200" y="2880360"/>
            <a:ext cx="2103120" cy="1051560"/>
          </a:xfrm>
          <a:prstGeom prst="roundRect">
            <a:avLst>
              <a:gd name="adj" fmla="val 8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ctr">
              <a:spcAft>
                <a:spcPts val="400"/>
              </a:spcAft>
            </a:pPr>
            <a:r>
              <a:rPr sz="1250" b="1" i="0">
                <a:solidFill>
                  <a:schemeClr val="bg1"/>
                </a:solidFill>
              </a:rPr>
              <a:t>Envoy + app OTel agent</a:t>
            </a:r>
          </a:p>
          <a:p>
            <a:pPr algn="ctr">
              <a:spcAft>
                <a:spcPts val="400"/>
              </a:spcAft>
            </a:pPr>
            <a:r>
              <a:rPr sz="1050" b="0" i="0">
                <a:solidFill>
                  <a:schemeClr val="bg1"/>
                </a:solidFill>
              </a:rPr>
              <a:t>Spans; traceparent + baggage</a:t>
            </a:r>
          </a:p>
        </p:txBody>
      </p:sp>
      <p:sp>
        <p:nvSpPr>
          <p:cNvPr id="15" name="Rounded Rectangle 14"/>
          <p:cNvSpPr/>
          <p:nvPr/>
        </p:nvSpPr>
        <p:spPr>
          <a:xfrm>
            <a:off x="2880360" y="2880360"/>
            <a:ext cx="2148840" cy="1051560"/>
          </a:xfrm>
          <a:prstGeom prst="roundRect">
            <a:avLst>
              <a:gd name="adj" fmla="val 8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ctr">
              <a:spcAft>
                <a:spcPts val="400"/>
              </a:spcAft>
            </a:pPr>
            <a:r>
              <a:rPr sz="1250" b="1" i="0">
                <a:solidFill>
                  <a:schemeClr val="bg1"/>
                </a:solidFill>
              </a:rPr>
              <a:t>OTLP push</a:t>
            </a:r>
          </a:p>
          <a:p>
            <a:pPr algn="ctr">
              <a:spcAft>
                <a:spcPts val="400"/>
              </a:spcAft>
            </a:pPr>
            <a:r>
              <a:rPr sz="1050" b="0" i="0">
                <a:solidFill>
                  <a:schemeClr val="bg1"/>
                </a:solidFill>
              </a:rPr>
              <a:t>Envoy gRPC :4317, apps HTTP :4318</a:t>
            </a:r>
          </a:p>
        </p:txBody>
      </p:sp>
      <p:sp>
        <p:nvSpPr>
          <p:cNvPr id="16" name="Rounded Rectangle 15"/>
          <p:cNvSpPr/>
          <p:nvPr/>
        </p:nvSpPr>
        <p:spPr>
          <a:xfrm>
            <a:off x="7726679" y="2880360"/>
            <a:ext cx="1874519" cy="1051560"/>
          </a:xfrm>
          <a:prstGeom prst="roundRect">
            <a:avLst>
              <a:gd name="adj" fmla="val 8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ctr">
              <a:spcAft>
                <a:spcPts val="400"/>
              </a:spcAft>
            </a:pPr>
            <a:r>
              <a:rPr sz="1250" b="1" i="0">
                <a:solidFill>
                  <a:schemeClr val="bg1"/>
                </a:solidFill>
              </a:rPr>
              <a:t>Tempo</a:t>
            </a:r>
          </a:p>
          <a:p>
            <a:pPr algn="ctr">
              <a:spcAft>
                <a:spcPts val="400"/>
              </a:spcAft>
            </a:pPr>
            <a:r>
              <a:rPr sz="1050" b="0" i="0">
                <a:solidFill>
                  <a:schemeClr val="bg1"/>
                </a:solidFill>
              </a:rPr>
              <a:t>vParquet4 blocks</a:t>
            </a:r>
          </a:p>
        </p:txBody>
      </p:sp>
      <p:cxnSp>
        <p:nvCxnSpPr>
          <p:cNvPr id="17" name="Connector 16"/>
          <p:cNvCxnSpPr/>
          <p:nvPr/>
        </p:nvCxnSpPr>
        <p:spPr>
          <a:xfrm>
            <a:off x="2560320" y="3406139"/>
            <a:ext cx="320040" cy="0"/>
          </a:xfrm>
          <a:prstGeom prst="line">
            <a:avLst/>
          </a:prstGeom>
          <a:ln w="15875">
            <a:solidFill>
              <a:schemeClr val="tx2"/>
            </a:solidFill>
            <a:tailEnd type="triangle"/>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9601200" y="3406139"/>
            <a:ext cx="320040" cy="0"/>
          </a:xfrm>
          <a:prstGeom prst="line">
            <a:avLst/>
          </a:prstGeom>
          <a:ln w="15875">
            <a:solidFill>
              <a:schemeClr val="tx2"/>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457200" y="4206240"/>
            <a:ext cx="2103120" cy="1051560"/>
          </a:xfrm>
          <a:prstGeom prst="roundRect">
            <a:avLst>
              <a:gd name="adj" fmla="val 8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ctr">
              <a:spcAft>
                <a:spcPts val="400"/>
              </a:spcAft>
            </a:pPr>
            <a:r>
              <a:rPr sz="1250" b="1" i="0">
                <a:solidFill>
                  <a:schemeClr val="bg1"/>
                </a:solidFill>
              </a:rPr>
              <a:t>Envoy access log</a:t>
            </a:r>
          </a:p>
          <a:p>
            <a:pPr algn="ctr">
              <a:spcAft>
                <a:spcPts val="400"/>
              </a:spcAft>
            </a:pPr>
            <a:r>
              <a:rPr sz="1050" b="0" i="0">
                <a:solidFill>
                  <a:schemeClr val="bg1"/>
                </a:solidFill>
              </a:rPr>
              <a:t>Every request, response flags</a:t>
            </a:r>
          </a:p>
        </p:txBody>
      </p:sp>
      <p:sp>
        <p:nvSpPr>
          <p:cNvPr id="20" name="Rounded Rectangle 19"/>
          <p:cNvSpPr/>
          <p:nvPr/>
        </p:nvSpPr>
        <p:spPr>
          <a:xfrm>
            <a:off x="2880360" y="4206240"/>
            <a:ext cx="2148840" cy="1051560"/>
          </a:xfrm>
          <a:prstGeom prst="roundRect">
            <a:avLst>
              <a:gd name="adj" fmla="val 8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ctr">
              <a:spcAft>
                <a:spcPts val="400"/>
              </a:spcAft>
            </a:pPr>
            <a:r>
              <a:rPr sz="1250" b="1" i="0">
                <a:solidFill>
                  <a:schemeClr val="bg1"/>
                </a:solidFill>
              </a:rPr>
              <a:t>OTLP push (Envoy ALS)</a:t>
            </a:r>
          </a:p>
          <a:p>
            <a:pPr algn="ctr">
              <a:spcAft>
                <a:spcPts val="400"/>
              </a:spcAft>
            </a:pPr>
            <a:r>
              <a:rPr sz="1050" b="0" i="0">
                <a:solidFill>
                  <a:schemeClr val="bg1"/>
                </a:solidFill>
              </a:rPr>
              <a:t>gRPC :4317, every request</a:t>
            </a:r>
          </a:p>
        </p:txBody>
      </p:sp>
      <p:sp>
        <p:nvSpPr>
          <p:cNvPr id="21" name="Rounded Rectangle 20"/>
          <p:cNvSpPr/>
          <p:nvPr/>
        </p:nvSpPr>
        <p:spPr>
          <a:xfrm>
            <a:off x="7726679" y="4206240"/>
            <a:ext cx="1874519" cy="1051560"/>
          </a:xfrm>
          <a:prstGeom prst="roundRect">
            <a:avLst>
              <a:gd name="adj" fmla="val 8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ctr">
              <a:spcAft>
                <a:spcPts val="400"/>
              </a:spcAft>
            </a:pPr>
            <a:r>
              <a:rPr sz="1250" b="1" i="0">
                <a:solidFill>
                  <a:schemeClr val="bg1"/>
                </a:solidFill>
              </a:rPr>
              <a:t>Loki</a:t>
            </a:r>
          </a:p>
          <a:p>
            <a:pPr algn="ctr">
              <a:spcAft>
                <a:spcPts val="400"/>
              </a:spcAft>
            </a:pPr>
            <a:r>
              <a:rPr sz="1050" b="0" i="0">
                <a:solidFill>
                  <a:schemeClr val="bg1"/>
                </a:solidFill>
              </a:rPr>
              <a:t>Chunks + TSDB index</a:t>
            </a:r>
          </a:p>
        </p:txBody>
      </p:sp>
      <p:cxnSp>
        <p:nvCxnSpPr>
          <p:cNvPr id="22" name="Connector 21"/>
          <p:cNvCxnSpPr/>
          <p:nvPr/>
        </p:nvCxnSpPr>
        <p:spPr>
          <a:xfrm>
            <a:off x="2560320" y="4732020"/>
            <a:ext cx="320040" cy="0"/>
          </a:xfrm>
          <a:prstGeom prst="line">
            <a:avLst/>
          </a:prstGeom>
          <a:ln w="15875">
            <a:solidFill>
              <a:schemeClr val="tx2"/>
            </a:solidFill>
            <a:tailEnd type="triangle"/>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9601200" y="4732020"/>
            <a:ext cx="320040" cy="0"/>
          </a:xfrm>
          <a:prstGeom prst="line">
            <a:avLst/>
          </a:prstGeom>
          <a:ln w="15875">
            <a:solidFill>
              <a:schemeClr val="tx2"/>
            </a:solidFill>
            <a:tailEnd type="triangle"/>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5349240" y="1554480"/>
            <a:ext cx="2057400" cy="1051560"/>
          </a:xfrm>
          <a:prstGeom prst="roundRect">
            <a:avLst>
              <a:gd name="adj" fmla="val 8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ctr">
              <a:spcAft>
                <a:spcPts val="400"/>
              </a:spcAft>
            </a:pPr>
            <a:r>
              <a:rPr sz="1250" b="1" i="0">
                <a:solidFill>
                  <a:schemeClr val="bg1"/>
                </a:solidFill>
              </a:rPr>
              <a:t>Prometheus rules</a:t>
            </a:r>
          </a:p>
          <a:p>
            <a:pPr algn="ctr">
              <a:spcAft>
                <a:spcPts val="400"/>
              </a:spcAft>
            </a:pPr>
            <a:r>
              <a:rPr sz="1050" b="1" i="0">
                <a:solidFill>
                  <a:schemeClr val="bg1"/>
                </a:solidFill>
              </a:rPr>
              <a:t>5 alert rules, every 15 s</a:t>
            </a:r>
          </a:p>
        </p:txBody>
      </p:sp>
      <p:sp>
        <p:nvSpPr>
          <p:cNvPr id="25" name="Rounded Rectangle 24"/>
          <p:cNvSpPr/>
          <p:nvPr/>
        </p:nvSpPr>
        <p:spPr>
          <a:xfrm>
            <a:off x="5349240" y="2880360"/>
            <a:ext cx="2057400" cy="2377440"/>
          </a:xfrm>
          <a:prstGeom prst="roundRect">
            <a:avLst>
              <a:gd name="adj" fmla="val 8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ctr">
              <a:spcAft>
                <a:spcPts val="400"/>
              </a:spcAft>
            </a:pPr>
            <a:r>
              <a:rPr sz="1250" b="1" i="0">
                <a:solidFill>
                  <a:schemeClr val="bg1"/>
                </a:solidFill>
              </a:rPr>
              <a:t>OTel Collector</a:t>
            </a:r>
          </a:p>
          <a:p>
            <a:pPr algn="ctr">
              <a:spcAft>
                <a:spcPts val="400"/>
              </a:spcAft>
            </a:pPr>
            <a:r>
              <a:rPr sz="1050" b="1" i="0">
                <a:solidFill>
                  <a:schemeClr val="bg1"/>
                </a:solidFill>
              </a:rPr>
              <a:t>Journey tagging</a:t>
            </a:r>
          </a:p>
          <a:p>
            <a:pPr algn="ctr">
              <a:spcAft>
                <a:spcPts val="400"/>
              </a:spcAft>
            </a:pPr>
            <a:r>
              <a:rPr sz="1050" b="1" i="0">
                <a:solidFill>
                  <a:schemeClr val="bg1"/>
                </a:solidFill>
              </a:rPr>
              <a:t>Tail sampling (traces)</a:t>
            </a:r>
          </a:p>
          <a:p>
            <a:pPr algn="ctr">
              <a:spcAft>
                <a:spcPts val="400"/>
              </a:spcAft>
            </a:pPr>
            <a:r>
              <a:rPr sz="1050" b="1" i="0">
                <a:solidFill>
                  <a:schemeClr val="bg1"/>
                </a:solidFill>
              </a:rPr>
              <a:t>Batching, routing</a:t>
            </a:r>
          </a:p>
        </p:txBody>
      </p:sp>
      <p:cxnSp>
        <p:nvCxnSpPr>
          <p:cNvPr id="26" name="Connector 25"/>
          <p:cNvCxnSpPr/>
          <p:nvPr/>
        </p:nvCxnSpPr>
        <p:spPr>
          <a:xfrm>
            <a:off x="5029200" y="2080260"/>
            <a:ext cx="320040" cy="0"/>
          </a:xfrm>
          <a:prstGeom prst="line">
            <a:avLst/>
          </a:prstGeom>
          <a:ln w="15875">
            <a:solidFill>
              <a:schemeClr val="tx2"/>
            </a:solidFill>
            <a:tailEnd type="triangle"/>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406640" y="2080260"/>
            <a:ext cx="320039" cy="0"/>
          </a:xfrm>
          <a:prstGeom prst="line">
            <a:avLst/>
          </a:prstGeom>
          <a:ln w="15875">
            <a:solidFill>
              <a:schemeClr val="tx2"/>
            </a:solidFill>
            <a:tailEnd type="triangle"/>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5029200" y="3406139"/>
            <a:ext cx="320040" cy="0"/>
          </a:xfrm>
          <a:prstGeom prst="line">
            <a:avLst/>
          </a:prstGeom>
          <a:ln w="15875">
            <a:solidFill>
              <a:schemeClr val="tx2"/>
            </a:solidFill>
            <a:tailEnd type="triangle"/>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7406640" y="3406139"/>
            <a:ext cx="320039" cy="0"/>
          </a:xfrm>
          <a:prstGeom prst="line">
            <a:avLst/>
          </a:prstGeom>
          <a:ln w="15875">
            <a:solidFill>
              <a:schemeClr val="tx2"/>
            </a:solidFill>
            <a:tailEnd type="triangle"/>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5029200" y="4732020"/>
            <a:ext cx="320040" cy="0"/>
          </a:xfrm>
          <a:prstGeom prst="line">
            <a:avLst/>
          </a:prstGeom>
          <a:ln w="15875">
            <a:solidFill>
              <a:schemeClr val="tx2"/>
            </a:solidFill>
            <a:tailEnd type="triangle"/>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7406640" y="4732020"/>
            <a:ext cx="320039" cy="0"/>
          </a:xfrm>
          <a:prstGeom prst="line">
            <a:avLst/>
          </a:prstGeom>
          <a:ln w="15875">
            <a:solidFill>
              <a:schemeClr val="tx2"/>
            </a:solidFill>
            <a:tailEnd type="triangle"/>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9921240" y="1554480"/>
            <a:ext cx="1810512" cy="822960"/>
          </a:xfrm>
          <a:prstGeom prst="roundRect">
            <a:avLst>
              <a:gd name="adj" fmla="val 8000"/>
            </a:avLst>
          </a:prstGeom>
          <a:solidFill>
            <a:schemeClr val="accent6"/>
          </a:solid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ctr">
              <a:spcAft>
                <a:spcPts val="400"/>
              </a:spcAft>
            </a:pPr>
            <a:r>
              <a:rPr sz="1200" b="1" i="0">
                <a:solidFill>
                  <a:schemeClr val="tx1"/>
                </a:solidFill>
              </a:rPr>
              <a:t>Kiali</a:t>
            </a:r>
          </a:p>
          <a:p>
            <a:pPr algn="ctr">
              <a:spcAft>
                <a:spcPts val="400"/>
              </a:spcAft>
            </a:pPr>
            <a:r>
              <a:rPr sz="1000" b="0" i="0">
                <a:solidFill>
                  <a:schemeClr val="tx1"/>
                </a:solidFill>
              </a:rPr>
              <a:t>Graph from metrics, traces</a:t>
            </a:r>
          </a:p>
        </p:txBody>
      </p:sp>
      <p:sp>
        <p:nvSpPr>
          <p:cNvPr id="33" name="Rounded Rectangle 32"/>
          <p:cNvSpPr/>
          <p:nvPr/>
        </p:nvSpPr>
        <p:spPr>
          <a:xfrm>
            <a:off x="9921240" y="2496312"/>
            <a:ext cx="1810512" cy="822960"/>
          </a:xfrm>
          <a:prstGeom prst="roundRect">
            <a:avLst>
              <a:gd name="adj" fmla="val 8000"/>
            </a:avLst>
          </a:prstGeom>
          <a:solidFill>
            <a:schemeClr val="accent6"/>
          </a:solid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ctr">
              <a:spcAft>
                <a:spcPts val="400"/>
              </a:spcAft>
            </a:pPr>
            <a:r>
              <a:rPr sz="1200" b="1" i="0">
                <a:solidFill>
                  <a:schemeClr val="tx1"/>
                </a:solidFill>
              </a:rPr>
              <a:t>Grafana</a:t>
            </a:r>
          </a:p>
          <a:p>
            <a:pPr algn="ctr">
              <a:spcAft>
                <a:spcPts val="400"/>
              </a:spcAft>
            </a:pPr>
            <a:r>
              <a:rPr sz="1000" b="0" i="0">
                <a:solidFill>
                  <a:schemeClr val="tx1"/>
                </a:solidFill>
              </a:rPr>
              <a:t>Metrics, logs, traces</a:t>
            </a:r>
          </a:p>
        </p:txBody>
      </p:sp>
      <p:sp>
        <p:nvSpPr>
          <p:cNvPr id="34" name="Rounded Rectangle 33"/>
          <p:cNvSpPr/>
          <p:nvPr/>
        </p:nvSpPr>
        <p:spPr>
          <a:xfrm>
            <a:off x="9921240" y="3438144"/>
            <a:ext cx="1810512" cy="822960"/>
          </a:xfrm>
          <a:prstGeom prst="roundRect">
            <a:avLst>
              <a:gd name="adj" fmla="val 8000"/>
            </a:avLst>
          </a:prstGeom>
          <a:solidFill>
            <a:schemeClr val="accent6"/>
          </a:solid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ctr">
              <a:spcAft>
                <a:spcPts val="400"/>
              </a:spcAft>
            </a:pPr>
            <a:r>
              <a:rPr sz="1200" b="1" i="0">
                <a:solidFill>
                  <a:schemeClr val="tx1"/>
                </a:solidFill>
              </a:rPr>
              <a:t>Red-dot dashboard</a:t>
            </a:r>
          </a:p>
          <a:p>
            <a:pPr algn="ctr">
              <a:spcAft>
                <a:spcPts val="400"/>
              </a:spcAft>
            </a:pPr>
            <a:r>
              <a:rPr sz="1000" b="0" i="0">
                <a:solidFill>
                  <a:schemeClr val="tx1"/>
                </a:solidFill>
              </a:rPr>
              <a:t>All four + annotations</a:t>
            </a:r>
          </a:p>
        </p:txBody>
      </p:sp>
      <p:sp>
        <p:nvSpPr>
          <p:cNvPr id="35" name="Rounded Rectangle 34"/>
          <p:cNvSpPr/>
          <p:nvPr/>
        </p:nvSpPr>
        <p:spPr>
          <a:xfrm>
            <a:off x="9921240" y="4379976"/>
            <a:ext cx="1810512" cy="822960"/>
          </a:xfrm>
          <a:prstGeom prst="roundRect">
            <a:avLst>
              <a:gd name="adj" fmla="val 8000"/>
            </a:avLst>
          </a:prstGeom>
          <a:solidFill>
            <a:schemeClr val="accent6"/>
          </a:solid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ctr">
              <a:spcAft>
                <a:spcPts val="400"/>
              </a:spcAft>
            </a:pPr>
            <a:r>
              <a:rPr sz="1200" b="1" i="0">
                <a:solidFill>
                  <a:schemeClr val="tx1"/>
                </a:solidFill>
              </a:rPr>
              <a:t>Alertmanager</a:t>
            </a:r>
          </a:p>
          <a:p>
            <a:pPr algn="ctr">
              <a:spcAft>
                <a:spcPts val="400"/>
              </a:spcAft>
            </a:pPr>
            <a:r>
              <a:rPr sz="1000" b="0" i="0">
                <a:solidFill>
                  <a:schemeClr val="tx1"/>
                </a:solidFill>
              </a:rPr>
              <a:t>Rules from Prometheus</a:t>
            </a:r>
          </a:p>
        </p:txBody>
      </p:sp>
      <p:sp>
        <p:nvSpPr>
          <p:cNvPr id="36" name="TextBox 35"/>
          <p:cNvSpPr txBox="1"/>
          <p:nvPr/>
        </p:nvSpPr>
        <p:spPr>
          <a:xfrm>
            <a:off x="457200" y="5532120"/>
            <a:ext cx="11247120" cy="365760"/>
          </a:xfrm>
          <a:prstGeom prst="rect">
            <a:avLst/>
          </a:prstGeom>
          <a:noFill/>
        </p:spPr>
        <p:txBody>
          <a:bodyPr wrap="square" lIns="0" rIns="0" tIns="0" bIns="0" anchor="t">
            <a:spAutoFit/>
          </a:bodyPr>
          <a:lstStyle/>
          <a:p>
            <a:pPr algn="l">
              <a:spcAft>
                <a:spcPts val="400"/>
              </a:spcAft>
            </a:pPr>
            <a:r>
              <a:rPr sz="1100" b="0" i="1">
                <a:solidFill>
                  <a:schemeClr val="tx2"/>
                </a:solidFill>
              </a:rPr>
              <a:t>Pull for metrics, push for traces and logs. Shared keys (hop, journey, trace ID) link the three signals.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Metrics: how Prometheus finds and scrapes every sidecar</a:t>
            </a:r>
          </a:p>
        </p:txBody>
      </p:sp>
      <p:sp>
        <p:nvSpPr>
          <p:cNvPr id="3"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
        <p:nvSpPr>
          <p:cNvPr id="4" name="Oval 3"/>
          <p:cNvSpPr/>
          <p:nvPr/>
        </p:nvSpPr>
        <p:spPr>
          <a:xfrm>
            <a:off x="457200" y="1325880"/>
            <a:ext cx="384048" cy="38404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pPr>
            <a:r>
              <a:rPr sz="1300" b="1" i="0">
                <a:solidFill>
                  <a:schemeClr val="bg1"/>
                </a:solidFill>
              </a:rPr>
              <a:t>1</a:t>
            </a:r>
          </a:p>
        </p:txBody>
      </p:sp>
      <p:sp>
        <p:nvSpPr>
          <p:cNvPr id="5" name="TextBox 4"/>
          <p:cNvSpPr txBox="1"/>
          <p:nvPr/>
        </p:nvSpPr>
        <p:spPr>
          <a:xfrm>
            <a:off x="1005840" y="1280160"/>
            <a:ext cx="5394960" cy="320040"/>
          </a:xfrm>
          <a:prstGeom prst="rect">
            <a:avLst/>
          </a:prstGeom>
          <a:noFill/>
        </p:spPr>
        <p:txBody>
          <a:bodyPr wrap="square" lIns="0" rIns="0" tIns="0" bIns="0" anchor="t">
            <a:spAutoFit/>
          </a:bodyPr>
          <a:lstStyle/>
          <a:p>
            <a:pPr algn="l">
              <a:spcAft>
                <a:spcPts val="400"/>
              </a:spcAft>
            </a:pPr>
            <a:r>
              <a:rPr sz="1400" b="1" i="0">
                <a:solidFill>
                  <a:schemeClr val="tx1"/>
                </a:solidFill>
              </a:rPr>
              <a:t>PodMonitor / ServiceMonitor CRs</a:t>
            </a:r>
          </a:p>
        </p:txBody>
      </p:sp>
      <p:sp>
        <p:nvSpPr>
          <p:cNvPr id="6" name="TextBox 5"/>
          <p:cNvSpPr txBox="1"/>
          <p:nvPr/>
        </p:nvSpPr>
        <p:spPr>
          <a:xfrm>
            <a:off x="1005840" y="1609343"/>
            <a:ext cx="5394960" cy="566928"/>
          </a:xfrm>
          <a:prstGeom prst="rect">
            <a:avLst/>
          </a:prstGeom>
          <a:noFill/>
        </p:spPr>
        <p:txBody>
          <a:bodyPr wrap="square" lIns="0" rIns="0" tIns="0" bIns="0" anchor="t">
            <a:spAutoFit/>
          </a:bodyPr>
          <a:lstStyle/>
          <a:p>
            <a:pPr algn="l">
              <a:spcAft>
                <a:spcPts val="400"/>
              </a:spcAft>
            </a:pPr>
            <a:r>
              <a:rPr sz="1200" b="0" i="0">
                <a:solidFill>
                  <a:schemeClr val="tx2"/>
                </a:solidFill>
              </a:rPr>
              <a:t>Declare what to scrape: every pod with an istio-proxy container (one PodMonitor per mesh namespace) and the istiod Service.</a:t>
            </a:r>
          </a:p>
        </p:txBody>
      </p:sp>
      <p:cxnSp>
        <p:nvCxnSpPr>
          <p:cNvPr id="7" name="Connector 6"/>
          <p:cNvCxnSpPr/>
          <p:nvPr/>
        </p:nvCxnSpPr>
        <p:spPr>
          <a:xfrm>
            <a:off x="649224" y="1737360"/>
            <a:ext cx="0" cy="512064"/>
          </a:xfrm>
          <a:prstGeom prst="line">
            <a:avLst/>
          </a:prstGeom>
          <a:ln w="15875">
            <a:solidFill>
              <a:schemeClr val="accent5"/>
            </a:solidFill>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457200" y="2267711"/>
            <a:ext cx="384048" cy="38404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pPr>
            <a:r>
              <a:rPr sz="1300" b="1" i="0">
                <a:solidFill>
                  <a:schemeClr val="bg1"/>
                </a:solidFill>
              </a:rPr>
              <a:t>2</a:t>
            </a:r>
          </a:p>
        </p:txBody>
      </p:sp>
      <p:sp>
        <p:nvSpPr>
          <p:cNvPr id="9" name="TextBox 8"/>
          <p:cNvSpPr txBox="1"/>
          <p:nvPr/>
        </p:nvSpPr>
        <p:spPr>
          <a:xfrm>
            <a:off x="1005840" y="2221991"/>
            <a:ext cx="5394960" cy="320040"/>
          </a:xfrm>
          <a:prstGeom prst="rect">
            <a:avLst/>
          </a:prstGeom>
          <a:noFill/>
        </p:spPr>
        <p:txBody>
          <a:bodyPr wrap="square" lIns="0" rIns="0" tIns="0" bIns="0" anchor="t">
            <a:spAutoFit/>
          </a:bodyPr>
          <a:lstStyle/>
          <a:p>
            <a:pPr algn="l">
              <a:spcAft>
                <a:spcPts val="400"/>
              </a:spcAft>
            </a:pPr>
            <a:r>
              <a:rPr sz="1400" b="1" i="0">
                <a:solidFill>
                  <a:schemeClr val="tx1"/>
                </a:solidFill>
              </a:rPr>
              <a:t>Prometheus Operator</a:t>
            </a:r>
          </a:p>
        </p:txBody>
      </p:sp>
      <p:sp>
        <p:nvSpPr>
          <p:cNvPr id="10" name="TextBox 9"/>
          <p:cNvSpPr txBox="1"/>
          <p:nvPr/>
        </p:nvSpPr>
        <p:spPr>
          <a:xfrm>
            <a:off x="1005840" y="2551175"/>
            <a:ext cx="5394960" cy="566928"/>
          </a:xfrm>
          <a:prstGeom prst="rect">
            <a:avLst/>
          </a:prstGeom>
          <a:noFill/>
        </p:spPr>
        <p:txBody>
          <a:bodyPr wrap="square" lIns="0" rIns="0" tIns="0" bIns="0" anchor="t">
            <a:spAutoFit/>
          </a:bodyPr>
          <a:lstStyle/>
          <a:p>
            <a:pPr algn="l">
              <a:spcAft>
                <a:spcPts val="400"/>
              </a:spcAft>
            </a:pPr>
            <a:r>
              <a:rPr sz="1200" b="0" i="0">
                <a:solidFill>
                  <a:schemeClr val="tx2"/>
                </a:solidFill>
              </a:rPr>
              <a:t>Watches the CRs and generates the Prometheus scrape configuration. Nobody edits prometheus.yml.</a:t>
            </a:r>
          </a:p>
        </p:txBody>
      </p:sp>
      <p:cxnSp>
        <p:nvCxnSpPr>
          <p:cNvPr id="11" name="Connector 10"/>
          <p:cNvCxnSpPr/>
          <p:nvPr/>
        </p:nvCxnSpPr>
        <p:spPr>
          <a:xfrm>
            <a:off x="649224" y="2679191"/>
            <a:ext cx="0" cy="512065"/>
          </a:xfrm>
          <a:prstGeom prst="line">
            <a:avLst/>
          </a:prstGeom>
          <a:ln w="15875">
            <a:solidFill>
              <a:schemeClr val="accent5"/>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457200" y="3209544"/>
            <a:ext cx="384048" cy="38404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pPr>
            <a:r>
              <a:rPr sz="1300" b="1" i="0">
                <a:solidFill>
                  <a:schemeClr val="bg1"/>
                </a:solidFill>
              </a:rPr>
              <a:t>3</a:t>
            </a:r>
          </a:p>
        </p:txBody>
      </p:sp>
      <p:sp>
        <p:nvSpPr>
          <p:cNvPr id="13" name="TextBox 12"/>
          <p:cNvSpPr txBox="1"/>
          <p:nvPr/>
        </p:nvSpPr>
        <p:spPr>
          <a:xfrm>
            <a:off x="1005840" y="3163824"/>
            <a:ext cx="5394960" cy="320040"/>
          </a:xfrm>
          <a:prstGeom prst="rect">
            <a:avLst/>
          </a:prstGeom>
          <a:noFill/>
        </p:spPr>
        <p:txBody>
          <a:bodyPr wrap="square" lIns="0" rIns="0" tIns="0" bIns="0" anchor="t">
            <a:spAutoFit/>
          </a:bodyPr>
          <a:lstStyle/>
          <a:p>
            <a:pPr algn="l">
              <a:spcAft>
                <a:spcPts val="400"/>
              </a:spcAft>
            </a:pPr>
            <a:r>
              <a:rPr sz="1400" b="1" i="0">
                <a:solidFill>
                  <a:schemeClr val="tx1"/>
                </a:solidFill>
              </a:rPr>
              <a:t>Kubernetes service discovery</a:t>
            </a:r>
          </a:p>
        </p:txBody>
      </p:sp>
      <p:sp>
        <p:nvSpPr>
          <p:cNvPr id="14" name="TextBox 13"/>
          <p:cNvSpPr txBox="1"/>
          <p:nvPr/>
        </p:nvSpPr>
        <p:spPr>
          <a:xfrm>
            <a:off x="1005840" y="3493008"/>
            <a:ext cx="5394960" cy="566928"/>
          </a:xfrm>
          <a:prstGeom prst="rect">
            <a:avLst/>
          </a:prstGeom>
          <a:noFill/>
        </p:spPr>
        <p:txBody>
          <a:bodyPr wrap="square" lIns="0" rIns="0" tIns="0" bIns="0" anchor="t">
            <a:spAutoFit/>
          </a:bodyPr>
          <a:lstStyle/>
          <a:p>
            <a:pPr algn="l">
              <a:spcAft>
                <a:spcPts val="400"/>
              </a:spcAft>
            </a:pPr>
            <a:r>
              <a:rPr sz="1200" b="0" i="0">
                <a:solidFill>
                  <a:schemeClr val="tx2"/>
                </a:solidFill>
              </a:rPr>
              <a:t>Prometheus lists pods through the Kubernetes API. Relabeling keeps istio-proxy and reads the prometheus.io/port annotation.</a:t>
            </a:r>
          </a:p>
        </p:txBody>
      </p:sp>
      <p:cxnSp>
        <p:nvCxnSpPr>
          <p:cNvPr id="15" name="Connector 14"/>
          <p:cNvCxnSpPr/>
          <p:nvPr/>
        </p:nvCxnSpPr>
        <p:spPr>
          <a:xfrm>
            <a:off x="649224" y="3621024"/>
            <a:ext cx="0" cy="512063"/>
          </a:xfrm>
          <a:prstGeom prst="line">
            <a:avLst/>
          </a:prstGeom>
          <a:ln w="15875">
            <a:solidFill>
              <a:schemeClr val="accent5"/>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457200" y="4151376"/>
            <a:ext cx="384048" cy="38404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pPr>
            <a:r>
              <a:rPr sz="1300" b="1" i="0">
                <a:solidFill>
                  <a:schemeClr val="bg1"/>
                </a:solidFill>
              </a:rPr>
              <a:t>4</a:t>
            </a:r>
          </a:p>
        </p:txBody>
      </p:sp>
      <p:sp>
        <p:nvSpPr>
          <p:cNvPr id="17" name="TextBox 16"/>
          <p:cNvSpPr txBox="1"/>
          <p:nvPr/>
        </p:nvSpPr>
        <p:spPr>
          <a:xfrm>
            <a:off x="1005840" y="4105656"/>
            <a:ext cx="5394960" cy="320040"/>
          </a:xfrm>
          <a:prstGeom prst="rect">
            <a:avLst/>
          </a:prstGeom>
          <a:noFill/>
        </p:spPr>
        <p:txBody>
          <a:bodyPr wrap="square" lIns="0" rIns="0" tIns="0" bIns="0" anchor="t">
            <a:spAutoFit/>
          </a:bodyPr>
          <a:lstStyle/>
          <a:p>
            <a:pPr algn="l">
              <a:spcAft>
                <a:spcPts val="400"/>
              </a:spcAft>
            </a:pPr>
            <a:r>
              <a:rPr sz="1400" b="1" i="0">
                <a:solidFill>
                  <a:schemeClr val="tx1"/>
                </a:solidFill>
              </a:rPr>
              <a:t>Scrape every 15 s</a:t>
            </a:r>
          </a:p>
        </p:txBody>
      </p:sp>
      <p:sp>
        <p:nvSpPr>
          <p:cNvPr id="18" name="TextBox 17"/>
          <p:cNvSpPr txBox="1"/>
          <p:nvPr/>
        </p:nvSpPr>
        <p:spPr>
          <a:xfrm>
            <a:off x="1005840" y="4434840"/>
            <a:ext cx="5394960" cy="566928"/>
          </a:xfrm>
          <a:prstGeom prst="rect">
            <a:avLst/>
          </a:prstGeom>
          <a:noFill/>
        </p:spPr>
        <p:txBody>
          <a:bodyPr wrap="square" lIns="0" rIns="0" tIns="0" bIns="0" anchor="t">
            <a:spAutoFit/>
          </a:bodyPr>
          <a:lstStyle/>
          <a:p>
            <a:pPr algn="l">
              <a:spcAft>
                <a:spcPts val="400"/>
              </a:spcAft>
            </a:pPr>
            <a:r>
              <a:rPr sz="1200" b="0" i="0">
                <a:solidFill>
                  <a:schemeClr val="tx2"/>
                </a:solidFill>
              </a:rPr>
              <a:t>HTTP GET :15020/stats/prometheus on each sidecar: request counts, status codes, flags and latency histograms per hop.</a:t>
            </a:r>
          </a:p>
        </p:txBody>
      </p:sp>
      <p:cxnSp>
        <p:nvCxnSpPr>
          <p:cNvPr id="19" name="Connector 18"/>
          <p:cNvCxnSpPr/>
          <p:nvPr/>
        </p:nvCxnSpPr>
        <p:spPr>
          <a:xfrm>
            <a:off x="649224" y="4562856"/>
            <a:ext cx="0" cy="512064"/>
          </a:xfrm>
          <a:prstGeom prst="line">
            <a:avLst/>
          </a:prstGeom>
          <a:ln w="15875">
            <a:solidFill>
              <a:schemeClr val="accent5"/>
            </a:solidFill>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457200" y="5093207"/>
            <a:ext cx="384048" cy="38404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pPr>
            <a:r>
              <a:rPr sz="1300" b="1" i="0">
                <a:solidFill>
                  <a:schemeClr val="bg1"/>
                </a:solidFill>
              </a:rPr>
              <a:t>5</a:t>
            </a:r>
          </a:p>
        </p:txBody>
      </p:sp>
      <p:sp>
        <p:nvSpPr>
          <p:cNvPr id="21" name="TextBox 20"/>
          <p:cNvSpPr txBox="1"/>
          <p:nvPr/>
        </p:nvSpPr>
        <p:spPr>
          <a:xfrm>
            <a:off x="1005840" y="5047488"/>
            <a:ext cx="5394960" cy="320040"/>
          </a:xfrm>
          <a:prstGeom prst="rect">
            <a:avLst/>
          </a:prstGeom>
          <a:noFill/>
        </p:spPr>
        <p:txBody>
          <a:bodyPr wrap="square" lIns="0" rIns="0" tIns="0" bIns="0" anchor="t">
            <a:spAutoFit/>
          </a:bodyPr>
          <a:lstStyle/>
          <a:p>
            <a:pPr algn="l">
              <a:spcAft>
                <a:spcPts val="400"/>
              </a:spcAft>
            </a:pPr>
            <a:r>
              <a:rPr sz="1400" b="1" i="0">
                <a:solidFill>
                  <a:schemeClr val="tx1"/>
                </a:solidFill>
              </a:rPr>
              <a:t>Store, evaluate, alert</a:t>
            </a:r>
          </a:p>
        </p:txBody>
      </p:sp>
      <p:sp>
        <p:nvSpPr>
          <p:cNvPr id="22" name="TextBox 21"/>
          <p:cNvSpPr txBox="1"/>
          <p:nvPr/>
        </p:nvSpPr>
        <p:spPr>
          <a:xfrm>
            <a:off x="1005840" y="5376672"/>
            <a:ext cx="5394960" cy="566928"/>
          </a:xfrm>
          <a:prstGeom prst="rect">
            <a:avLst/>
          </a:prstGeom>
          <a:noFill/>
        </p:spPr>
        <p:txBody>
          <a:bodyPr wrap="square" lIns="0" rIns="0" tIns="0" bIns="0" anchor="t">
            <a:spAutoFit/>
          </a:bodyPr>
          <a:lstStyle/>
          <a:p>
            <a:pPr algn="l">
              <a:spcAft>
                <a:spcPts val="400"/>
              </a:spcAft>
            </a:pPr>
            <a:r>
              <a:rPr sz="1200" b="0" i="0">
                <a:solidFill>
                  <a:schemeClr val="tx2"/>
                </a:solidFill>
              </a:rPr>
              <a:t>Samples go to the TSDB; alert rules run every 15 s; firing alerts go to Alertmanager. Views query with PromQL.</a:t>
            </a:r>
          </a:p>
        </p:txBody>
      </p:sp>
      <p:sp>
        <p:nvSpPr>
          <p:cNvPr id="23" name="Rounded Rectangle 22"/>
          <p:cNvSpPr/>
          <p:nvPr/>
        </p:nvSpPr>
        <p:spPr>
          <a:xfrm>
            <a:off x="6766560" y="1280160"/>
            <a:ext cx="4937760" cy="1600200"/>
          </a:xfrm>
          <a:prstGeom prst="roundRect">
            <a:avLst>
              <a:gd name="adj" fmla="val 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98755" bIns="98755"/>
          <a:lstStyle/>
          <a:p>
            <a:pPr algn="l">
              <a:spcAft>
                <a:spcPts val="400"/>
              </a:spcAft>
            </a:pPr>
            <a:r>
              <a:rPr sz="1300" b="1" i="0">
                <a:solidFill>
                  <a:schemeClr val="tx1"/>
                </a:solidFill>
              </a:rPr>
              <a:t>PodMonitor for sidecars, ServiceMonitor for istiod</a:t>
            </a:r>
          </a:p>
          <a:p>
            <a:pPr algn="l">
              <a:spcAft>
                <a:spcPts val="400"/>
              </a:spcAft>
            </a:pPr>
            <a:r>
              <a:rPr sz="1150" b="0" i="0">
                <a:solidFill>
                  <a:schemeClr val="tx2"/>
                </a:solidFill>
              </a:rPr>
              <a:t>A ServiceMonitor scrapes the endpoints behind a Service. Sidecar metrics belong to each pod, not to one Service port, so we select pods. istiod has a monitoring Service (port 15014).</a:t>
            </a:r>
          </a:p>
        </p:txBody>
      </p:sp>
      <p:sp>
        <p:nvSpPr>
          <p:cNvPr id="24" name="Rounded Rectangle 23"/>
          <p:cNvSpPr/>
          <p:nvPr/>
        </p:nvSpPr>
        <p:spPr>
          <a:xfrm>
            <a:off x="6766560" y="3017520"/>
            <a:ext cx="4937760" cy="1965960"/>
          </a:xfrm>
          <a:prstGeom prst="roundRect">
            <a:avLst>
              <a:gd name="adj" fmla="val 8000"/>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98755" bIns="98755"/>
          <a:lstStyle/>
          <a:p>
            <a:pPr algn="l">
              <a:spcAft>
                <a:spcPts val="100"/>
              </a:spcAft>
            </a:pPr>
            <a:r>
              <a:rPr sz="1300" b="1" i="0">
                <a:solidFill>
                  <a:schemeClr val="bg1"/>
                </a:solidFill>
              </a:rPr>
              <a:t>One sample, every label we need</a:t>
            </a:r>
          </a:p>
          <a:p>
            <a:pPr algn="l">
              <a:spcAft>
                <a:spcPts val="100"/>
              </a:spcAft>
            </a:pPr>
            <a:r>
              <a:rPr sz="1100" b="0" i="0">
                <a:solidFill>
                  <a:schemeClr val="bg1"/>
                </a:solidFill>
                <a:latin typeface="Courier New"/>
              </a:rPr>
              <a:t>istio_requests_total{</a:t>
            </a:r>
          </a:p>
          <a:p>
            <a:pPr algn="l">
              <a:spcAft>
                <a:spcPts val="100"/>
              </a:spcAft>
            </a:pPr>
            <a:r>
              <a:rPr sz="1100" b="0" i="0">
                <a:solidFill>
                  <a:schemeClr val="bg1"/>
                </a:solidFill>
                <a:latin typeface="Courier New"/>
              </a:rPr>
              <a:t>  source_workload="payments-svc",</a:t>
            </a:r>
          </a:p>
          <a:p>
            <a:pPr algn="l">
              <a:spcAft>
                <a:spcPts val="100"/>
              </a:spcAft>
            </a:pPr>
            <a:r>
              <a:rPr sz="1100" b="0" i="0">
                <a:solidFill>
                  <a:schemeClr val="bg1"/>
                </a:solidFill>
                <a:latin typeface="Courier New"/>
              </a:rPr>
              <a:t>  destination_service_name="core-banking",</a:t>
            </a:r>
          </a:p>
          <a:p>
            <a:pPr algn="l">
              <a:spcAft>
                <a:spcPts val="100"/>
              </a:spcAft>
            </a:pPr>
            <a:r>
              <a:rPr sz="1100" b="0" i="0">
                <a:solidFill>
                  <a:schemeClr val="bg1"/>
                </a:solidFill>
                <a:latin typeface="Courier New"/>
              </a:rPr>
              <a:t>  response_code="504", response_flags="UT",</a:t>
            </a:r>
          </a:p>
          <a:p>
            <a:pPr algn="l">
              <a:spcAft>
                <a:spcPts val="100"/>
              </a:spcAft>
            </a:pPr>
            <a:r>
              <a:rPr sz="1100" b="0" i="0">
                <a:solidFill>
                  <a:schemeClr val="bg1"/>
                </a:solidFill>
                <a:latin typeface="Courier New"/>
              </a:rPr>
              <a:t>  journey="fund-transfer", channel="mobile"}</a:t>
            </a:r>
          </a:p>
        </p:txBody>
      </p:sp>
      <p:sp>
        <p:nvSpPr>
          <p:cNvPr id="25" name="Rounded Rectangle 24"/>
          <p:cNvSpPr/>
          <p:nvPr/>
        </p:nvSpPr>
        <p:spPr>
          <a:xfrm>
            <a:off x="6766560" y="5120640"/>
            <a:ext cx="4937760" cy="868680"/>
          </a:xfrm>
          <a:prstGeom prst="roundRect">
            <a:avLst>
              <a:gd name="adj" fmla="val 8000"/>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98755" bIns="98755"/>
          <a:lstStyle/>
          <a:p>
            <a:pPr algn="l">
              <a:spcAft>
                <a:spcPts val="400"/>
              </a:spcAft>
            </a:pPr>
            <a:r>
              <a:rPr sz="1150" b="1" i="0">
                <a:solidFill>
                  <a:schemeClr val="tx1"/>
                </a:solidFill>
              </a:rPr>
              <a:t>OpenShift: </a:t>
            </a:r>
            <a:r>
              <a:rPr sz="1150" b="0" i="0">
                <a:solidFill>
                  <a:schemeClr val="tx1"/>
                </a:solidFill>
              </a:rPr>
              <a:t>user workload monitoring runs this Prometheus; Kiali and dashboards query Thanos Querier on port 9091 with a token.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Inside the OpenTelemetry Collector</a:t>
            </a:r>
          </a:p>
        </p:txBody>
      </p:sp>
      <p:sp>
        <p:nvSpPr>
          <p:cNvPr id="3"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
        <p:nvSpPr>
          <p:cNvPr id="4" name="TextBox 3"/>
          <p:cNvSpPr txBox="1"/>
          <p:nvPr/>
        </p:nvSpPr>
        <p:spPr>
          <a:xfrm>
            <a:off x="457200" y="1188720"/>
            <a:ext cx="2194560" cy="274320"/>
          </a:xfrm>
          <a:prstGeom prst="rect">
            <a:avLst/>
          </a:prstGeom>
          <a:noFill/>
        </p:spPr>
        <p:txBody>
          <a:bodyPr wrap="square" lIns="0" rIns="0" tIns="0" bIns="0" anchor="t">
            <a:spAutoFit/>
          </a:bodyPr>
          <a:lstStyle/>
          <a:p>
            <a:pPr algn="l">
              <a:spcAft>
                <a:spcPts val="400"/>
              </a:spcAft>
            </a:pPr>
            <a:r>
              <a:rPr sz="1100" b="1" i="0">
                <a:solidFill>
                  <a:schemeClr val="tx2"/>
                </a:solidFill>
              </a:rPr>
              <a:t>RECEIVER</a:t>
            </a:r>
          </a:p>
        </p:txBody>
      </p:sp>
      <p:sp>
        <p:nvSpPr>
          <p:cNvPr id="5" name="TextBox 4"/>
          <p:cNvSpPr txBox="1"/>
          <p:nvPr/>
        </p:nvSpPr>
        <p:spPr>
          <a:xfrm>
            <a:off x="2926080" y="1188720"/>
            <a:ext cx="6035040" cy="274320"/>
          </a:xfrm>
          <a:prstGeom prst="rect">
            <a:avLst/>
          </a:prstGeom>
          <a:noFill/>
        </p:spPr>
        <p:txBody>
          <a:bodyPr wrap="square" lIns="0" rIns="0" tIns="0" bIns="0" anchor="t">
            <a:spAutoFit/>
          </a:bodyPr>
          <a:lstStyle/>
          <a:p>
            <a:pPr algn="l">
              <a:spcAft>
                <a:spcPts val="400"/>
              </a:spcAft>
            </a:pPr>
            <a:r>
              <a:rPr sz="1100" b="1" i="0">
                <a:solidFill>
                  <a:schemeClr val="tx2"/>
                </a:solidFill>
              </a:rPr>
              <a:t>PROCESSORS (in order)</a:t>
            </a:r>
          </a:p>
        </p:txBody>
      </p:sp>
      <p:sp>
        <p:nvSpPr>
          <p:cNvPr id="6" name="TextBox 5"/>
          <p:cNvSpPr txBox="1"/>
          <p:nvPr/>
        </p:nvSpPr>
        <p:spPr>
          <a:xfrm>
            <a:off x="9372600" y="1188720"/>
            <a:ext cx="2331720" cy="274320"/>
          </a:xfrm>
          <a:prstGeom prst="rect">
            <a:avLst/>
          </a:prstGeom>
          <a:noFill/>
        </p:spPr>
        <p:txBody>
          <a:bodyPr wrap="square" lIns="0" rIns="0" tIns="0" bIns="0" anchor="t">
            <a:spAutoFit/>
          </a:bodyPr>
          <a:lstStyle/>
          <a:p>
            <a:pPr algn="l">
              <a:spcAft>
                <a:spcPts val="400"/>
              </a:spcAft>
            </a:pPr>
            <a:r>
              <a:rPr sz="1100" b="1" i="0">
                <a:solidFill>
                  <a:schemeClr val="tx2"/>
                </a:solidFill>
              </a:rPr>
              <a:t>EXPORTERS</a:t>
            </a:r>
          </a:p>
        </p:txBody>
      </p:sp>
      <p:sp>
        <p:nvSpPr>
          <p:cNvPr id="7" name="Rounded Rectangle 6"/>
          <p:cNvSpPr/>
          <p:nvPr/>
        </p:nvSpPr>
        <p:spPr>
          <a:xfrm>
            <a:off x="457200" y="1554480"/>
            <a:ext cx="2194560" cy="2331720"/>
          </a:xfrm>
          <a:prstGeom prst="roundRect">
            <a:avLst>
              <a:gd name="adj" fmla="val 8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ctr">
              <a:spcAft>
                <a:spcPts val="400"/>
              </a:spcAft>
            </a:pPr>
            <a:r>
              <a:rPr sz="1400" b="1" i="0">
                <a:solidFill>
                  <a:schemeClr val="bg1"/>
                </a:solidFill>
              </a:rPr>
              <a:t>otlp</a:t>
            </a:r>
          </a:p>
          <a:p>
            <a:pPr algn="ctr">
              <a:spcAft>
                <a:spcPts val="400"/>
              </a:spcAft>
            </a:pPr>
            <a:r>
              <a:rPr sz="1100" b="0" i="0">
                <a:solidFill>
                  <a:schemeClr val="bg1"/>
                </a:solidFill>
              </a:rPr>
              <a:t>gRPC :4317</a:t>
            </a:r>
          </a:p>
          <a:p>
            <a:pPr algn="ctr">
              <a:spcAft>
                <a:spcPts val="400"/>
              </a:spcAft>
            </a:pPr>
            <a:r>
              <a:rPr sz="1050" b="0" i="0">
                <a:solidFill>
                  <a:schemeClr val="bg1"/>
                </a:solidFill>
              </a:rPr>
              <a:t>Envoy spans + access logs</a:t>
            </a:r>
          </a:p>
          <a:p>
            <a:pPr algn="ctr">
              <a:spcAft>
                <a:spcPts val="400"/>
              </a:spcAft>
            </a:pPr>
            <a:r>
              <a:rPr sz="1100" b="0" i="0">
                <a:solidFill>
                  <a:schemeClr val="bg1"/>
                </a:solidFill>
              </a:rPr>
              <a:t>HTTP :4318</a:t>
            </a:r>
          </a:p>
          <a:p>
            <a:pPr algn="ctr">
              <a:spcAft>
                <a:spcPts val="400"/>
              </a:spcAft>
            </a:pPr>
            <a:r>
              <a:rPr sz="1050" b="0" i="0">
                <a:solidFill>
                  <a:schemeClr val="bg1"/>
                </a:solidFill>
              </a:rPr>
              <a:t>app agents</a:t>
            </a:r>
          </a:p>
        </p:txBody>
      </p:sp>
      <p:sp>
        <p:nvSpPr>
          <p:cNvPr id="8" name="TextBox 7"/>
          <p:cNvSpPr txBox="1"/>
          <p:nvPr/>
        </p:nvSpPr>
        <p:spPr>
          <a:xfrm>
            <a:off x="2926080" y="1536192"/>
            <a:ext cx="914400" cy="274320"/>
          </a:xfrm>
          <a:prstGeom prst="rect">
            <a:avLst/>
          </a:prstGeom>
          <a:noFill/>
        </p:spPr>
        <p:txBody>
          <a:bodyPr wrap="square" lIns="0" rIns="0" tIns="0" bIns="0" anchor="t">
            <a:spAutoFit/>
          </a:bodyPr>
          <a:lstStyle/>
          <a:p>
            <a:pPr algn="l">
              <a:spcAft>
                <a:spcPts val="400"/>
              </a:spcAft>
            </a:pPr>
            <a:r>
              <a:rPr sz="1100" b="1" i="1">
                <a:solidFill>
                  <a:schemeClr val="accent1"/>
                </a:solidFill>
              </a:rPr>
              <a:t>traces</a:t>
            </a:r>
          </a:p>
        </p:txBody>
      </p:sp>
      <p:sp>
        <p:nvSpPr>
          <p:cNvPr id="9" name="Rounded Rectangle 8"/>
          <p:cNvSpPr/>
          <p:nvPr/>
        </p:nvSpPr>
        <p:spPr>
          <a:xfrm>
            <a:off x="2926080" y="1828800"/>
            <a:ext cx="1371600" cy="731520"/>
          </a:xfrm>
          <a:prstGeom prst="roundRect">
            <a:avLst>
              <a:gd name="adj" fmla="val 8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ctr">
              <a:spcAft>
                <a:spcPts val="400"/>
              </a:spcAft>
            </a:pPr>
            <a:r>
              <a:rPr sz="1150" b="1" i="0">
                <a:solidFill>
                  <a:schemeClr val="bg1"/>
                </a:solidFill>
              </a:rPr>
              <a:t>memory_limiter</a:t>
            </a:r>
          </a:p>
        </p:txBody>
      </p:sp>
      <p:sp>
        <p:nvSpPr>
          <p:cNvPr id="10" name="Rounded Rectangle 9"/>
          <p:cNvSpPr/>
          <p:nvPr/>
        </p:nvSpPr>
        <p:spPr>
          <a:xfrm>
            <a:off x="4480560" y="1828800"/>
            <a:ext cx="1371600" cy="731520"/>
          </a:xfrm>
          <a:prstGeom prst="roundRect">
            <a:avLst>
              <a:gd name="adj" fmla="val 8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ctr">
              <a:spcAft>
                <a:spcPts val="400"/>
              </a:spcAft>
            </a:pPr>
            <a:r>
              <a:rPr sz="1150" b="1" i="0">
                <a:solidFill>
                  <a:schemeClr val="bg1"/>
                </a:solidFill>
              </a:rPr>
              <a:t>transform/journey</a:t>
            </a:r>
          </a:p>
        </p:txBody>
      </p:sp>
      <p:cxnSp>
        <p:nvCxnSpPr>
          <p:cNvPr id="11" name="Connector 10"/>
          <p:cNvCxnSpPr/>
          <p:nvPr/>
        </p:nvCxnSpPr>
        <p:spPr>
          <a:xfrm>
            <a:off x="4297680" y="2194560"/>
            <a:ext cx="182880" cy="0"/>
          </a:xfrm>
          <a:prstGeom prst="line">
            <a:avLst/>
          </a:prstGeom>
          <a:ln w="15875">
            <a:solidFill>
              <a:schemeClr val="tx2"/>
            </a:solidFill>
            <a:tailEnd type="triangle"/>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6035040" y="1828800"/>
            <a:ext cx="1371600" cy="731520"/>
          </a:xfrm>
          <a:prstGeom prst="roundRect">
            <a:avLst>
              <a:gd name="adj" fmla="val 8000"/>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ctr">
              <a:spcAft>
                <a:spcPts val="400"/>
              </a:spcAft>
            </a:pPr>
            <a:r>
              <a:rPr sz="1150" b="1" i="0">
                <a:solidFill>
                  <a:schemeClr val="tx1"/>
                </a:solidFill>
              </a:rPr>
              <a:t>tail_sampling</a:t>
            </a:r>
          </a:p>
        </p:txBody>
      </p:sp>
      <p:cxnSp>
        <p:nvCxnSpPr>
          <p:cNvPr id="13" name="Connector 12"/>
          <p:cNvCxnSpPr/>
          <p:nvPr/>
        </p:nvCxnSpPr>
        <p:spPr>
          <a:xfrm>
            <a:off x="5852159" y="2194560"/>
            <a:ext cx="182881" cy="0"/>
          </a:xfrm>
          <a:prstGeom prst="line">
            <a:avLst/>
          </a:prstGeom>
          <a:ln w="15875">
            <a:solidFill>
              <a:schemeClr val="tx2"/>
            </a:solidFill>
            <a:tailEnd type="triangle"/>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7589520" y="1828800"/>
            <a:ext cx="1371600" cy="731520"/>
          </a:xfrm>
          <a:prstGeom prst="roundRect">
            <a:avLst>
              <a:gd name="adj" fmla="val 8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ctr">
              <a:spcAft>
                <a:spcPts val="400"/>
              </a:spcAft>
            </a:pPr>
            <a:r>
              <a:rPr sz="1150" b="1" i="0">
                <a:solidFill>
                  <a:schemeClr val="bg1"/>
                </a:solidFill>
              </a:rPr>
              <a:t>batch</a:t>
            </a:r>
          </a:p>
        </p:txBody>
      </p:sp>
      <p:cxnSp>
        <p:nvCxnSpPr>
          <p:cNvPr id="15" name="Connector 14"/>
          <p:cNvCxnSpPr/>
          <p:nvPr/>
        </p:nvCxnSpPr>
        <p:spPr>
          <a:xfrm>
            <a:off x="7406640" y="2194560"/>
            <a:ext cx="182880" cy="0"/>
          </a:xfrm>
          <a:prstGeom prst="line">
            <a:avLst/>
          </a:prstGeom>
          <a:ln w="15875">
            <a:solidFill>
              <a:schemeClr val="tx2"/>
            </a:solidFill>
            <a:tailEnd type="triangle"/>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8961120" y="2194560"/>
            <a:ext cx="411480" cy="0"/>
          </a:xfrm>
          <a:prstGeom prst="line">
            <a:avLst/>
          </a:prstGeom>
          <a:ln w="15875">
            <a:solidFill>
              <a:schemeClr val="tx2"/>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9372600" y="1828800"/>
            <a:ext cx="2331720" cy="731520"/>
          </a:xfrm>
          <a:prstGeom prst="roundRect">
            <a:avLst>
              <a:gd name="adj" fmla="val 8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ctr">
              <a:spcAft>
                <a:spcPts val="400"/>
              </a:spcAft>
            </a:pPr>
            <a:r>
              <a:rPr sz="1150" b="1" i="0">
                <a:solidFill>
                  <a:schemeClr val="bg1"/>
                </a:solidFill>
              </a:rPr>
              <a:t>otlp to Tempo :4317</a:t>
            </a:r>
          </a:p>
        </p:txBody>
      </p:sp>
      <p:cxnSp>
        <p:nvCxnSpPr>
          <p:cNvPr id="18" name="Connector 17"/>
          <p:cNvCxnSpPr/>
          <p:nvPr/>
        </p:nvCxnSpPr>
        <p:spPr>
          <a:xfrm>
            <a:off x="2651760" y="2194560"/>
            <a:ext cx="274320" cy="0"/>
          </a:xfrm>
          <a:prstGeom prst="line">
            <a:avLst/>
          </a:prstGeom>
          <a:ln w="15875">
            <a:solidFill>
              <a:schemeClr val="tx2"/>
            </a:solidFill>
            <a:tailEnd type="triangle"/>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2926080" y="2862072"/>
            <a:ext cx="914400" cy="274320"/>
          </a:xfrm>
          <a:prstGeom prst="rect">
            <a:avLst/>
          </a:prstGeom>
          <a:noFill/>
        </p:spPr>
        <p:txBody>
          <a:bodyPr wrap="square" lIns="0" rIns="0" tIns="0" bIns="0" anchor="t">
            <a:spAutoFit/>
          </a:bodyPr>
          <a:lstStyle/>
          <a:p>
            <a:pPr algn="l">
              <a:spcAft>
                <a:spcPts val="400"/>
              </a:spcAft>
            </a:pPr>
            <a:r>
              <a:rPr sz="1100" b="1" i="1">
                <a:solidFill>
                  <a:schemeClr val="accent1"/>
                </a:solidFill>
              </a:rPr>
              <a:t>logs</a:t>
            </a:r>
          </a:p>
        </p:txBody>
      </p:sp>
      <p:sp>
        <p:nvSpPr>
          <p:cNvPr id="20" name="Rounded Rectangle 19"/>
          <p:cNvSpPr/>
          <p:nvPr/>
        </p:nvSpPr>
        <p:spPr>
          <a:xfrm>
            <a:off x="2926080" y="3154679"/>
            <a:ext cx="1371600" cy="731520"/>
          </a:xfrm>
          <a:prstGeom prst="roundRect">
            <a:avLst>
              <a:gd name="adj" fmla="val 8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ctr">
              <a:spcAft>
                <a:spcPts val="400"/>
              </a:spcAft>
            </a:pPr>
            <a:r>
              <a:rPr sz="1150" b="1" i="0">
                <a:solidFill>
                  <a:schemeClr val="bg1"/>
                </a:solidFill>
              </a:rPr>
              <a:t>memory_limiter</a:t>
            </a:r>
          </a:p>
        </p:txBody>
      </p:sp>
      <p:sp>
        <p:nvSpPr>
          <p:cNvPr id="21" name="Rounded Rectangle 20"/>
          <p:cNvSpPr/>
          <p:nvPr/>
        </p:nvSpPr>
        <p:spPr>
          <a:xfrm>
            <a:off x="4480560" y="3154679"/>
            <a:ext cx="1371600" cy="731520"/>
          </a:xfrm>
          <a:prstGeom prst="roundRect">
            <a:avLst>
              <a:gd name="adj" fmla="val 8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ctr">
              <a:spcAft>
                <a:spcPts val="400"/>
              </a:spcAft>
            </a:pPr>
            <a:r>
              <a:rPr sz="1150" b="1" i="0">
                <a:solidFill>
                  <a:schemeClr val="bg1"/>
                </a:solidFill>
              </a:rPr>
              <a:t>transform/journey</a:t>
            </a:r>
          </a:p>
        </p:txBody>
      </p:sp>
      <p:cxnSp>
        <p:nvCxnSpPr>
          <p:cNvPr id="22" name="Connector 21"/>
          <p:cNvCxnSpPr/>
          <p:nvPr/>
        </p:nvCxnSpPr>
        <p:spPr>
          <a:xfrm>
            <a:off x="4297680" y="3520439"/>
            <a:ext cx="182880" cy="0"/>
          </a:xfrm>
          <a:prstGeom prst="line">
            <a:avLst/>
          </a:prstGeom>
          <a:ln w="15875">
            <a:solidFill>
              <a:schemeClr val="tx2"/>
            </a:solidFill>
            <a:tailEnd type="triangle"/>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6035040" y="3154679"/>
            <a:ext cx="1371600" cy="731520"/>
          </a:xfrm>
          <a:prstGeom prst="roundRect">
            <a:avLst>
              <a:gd name="adj" fmla="val 8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ctr">
              <a:spcAft>
                <a:spcPts val="400"/>
              </a:spcAft>
            </a:pPr>
            <a:r>
              <a:rPr sz="1150" b="1" i="0">
                <a:solidFill>
                  <a:schemeClr val="bg1"/>
                </a:solidFill>
              </a:rPr>
              <a:t>batch</a:t>
            </a:r>
          </a:p>
        </p:txBody>
      </p:sp>
      <p:cxnSp>
        <p:nvCxnSpPr>
          <p:cNvPr id="24" name="Connector 23"/>
          <p:cNvCxnSpPr/>
          <p:nvPr/>
        </p:nvCxnSpPr>
        <p:spPr>
          <a:xfrm>
            <a:off x="5852159" y="3520439"/>
            <a:ext cx="182881" cy="0"/>
          </a:xfrm>
          <a:prstGeom prst="line">
            <a:avLst/>
          </a:prstGeom>
          <a:ln w="15875">
            <a:solidFill>
              <a:schemeClr val="tx2"/>
            </a:solidFill>
            <a:tailEnd type="triangle"/>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7406640" y="3520439"/>
            <a:ext cx="1965960" cy="0"/>
          </a:xfrm>
          <a:prstGeom prst="line">
            <a:avLst/>
          </a:prstGeom>
          <a:ln w="15875">
            <a:solidFill>
              <a:schemeClr val="tx2"/>
            </a:solidFill>
            <a:tailEnd type="triangle"/>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9372600" y="3154679"/>
            <a:ext cx="2331720" cy="731520"/>
          </a:xfrm>
          <a:prstGeom prst="roundRect">
            <a:avLst>
              <a:gd name="adj" fmla="val 8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ctr">
              <a:spcAft>
                <a:spcPts val="400"/>
              </a:spcAft>
            </a:pPr>
            <a:r>
              <a:rPr sz="1150" b="1" i="0">
                <a:solidFill>
                  <a:schemeClr val="bg1"/>
                </a:solidFill>
              </a:rPr>
              <a:t>otlphttp to Loki /otlp</a:t>
            </a:r>
          </a:p>
        </p:txBody>
      </p:sp>
      <p:cxnSp>
        <p:nvCxnSpPr>
          <p:cNvPr id="27" name="Connector 26"/>
          <p:cNvCxnSpPr/>
          <p:nvPr/>
        </p:nvCxnSpPr>
        <p:spPr>
          <a:xfrm>
            <a:off x="2651760" y="3520439"/>
            <a:ext cx="274320" cy="0"/>
          </a:xfrm>
          <a:prstGeom prst="line">
            <a:avLst/>
          </a:prstGeom>
          <a:ln w="15875">
            <a:solidFill>
              <a:schemeClr val="tx2"/>
            </a:solidFill>
            <a:tailEnd type="triangle"/>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457200" y="4160520"/>
            <a:ext cx="2651760" cy="1417320"/>
          </a:xfrm>
          <a:prstGeom prst="roundRect">
            <a:avLst>
              <a:gd name="adj" fmla="val 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82296" bIns="82296"/>
          <a:lstStyle/>
          <a:p>
            <a:pPr algn="l">
              <a:spcAft>
                <a:spcPts val="400"/>
              </a:spcAft>
            </a:pPr>
            <a:r>
              <a:rPr sz="1300" b="1" i="0">
                <a:solidFill>
                  <a:schemeClr val="tx1"/>
                </a:solidFill>
                <a:latin typeface="Courier New"/>
              </a:rPr>
              <a:t>memory_limiter</a:t>
            </a:r>
          </a:p>
          <a:p>
            <a:pPr algn="l">
              <a:spcAft>
                <a:spcPts val="400"/>
              </a:spcAft>
            </a:pPr>
            <a:r>
              <a:rPr sz="1150" b="0" i="0">
                <a:solidFill>
                  <a:schemeClr val="tx2"/>
                </a:solidFill>
              </a:rPr>
              <a:t>Refuses data at 80% of the memory limit, so a burst slows senders instead of crashing the collector.</a:t>
            </a:r>
          </a:p>
        </p:txBody>
      </p:sp>
      <p:sp>
        <p:nvSpPr>
          <p:cNvPr id="29" name="Rounded Rectangle 28"/>
          <p:cNvSpPr/>
          <p:nvPr/>
        </p:nvSpPr>
        <p:spPr>
          <a:xfrm>
            <a:off x="3291840" y="4160520"/>
            <a:ext cx="2651760" cy="1417320"/>
          </a:xfrm>
          <a:prstGeom prst="roundRect">
            <a:avLst>
              <a:gd name="adj" fmla="val 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82296" bIns="82296"/>
          <a:lstStyle/>
          <a:p>
            <a:pPr algn="l">
              <a:spcAft>
                <a:spcPts val="400"/>
              </a:spcAft>
            </a:pPr>
            <a:r>
              <a:rPr sz="1300" b="1" i="0">
                <a:solidFill>
                  <a:schemeClr val="tx1"/>
                </a:solidFill>
                <a:latin typeface="Courier New"/>
              </a:rPr>
              <a:t>transform/journey</a:t>
            </a:r>
          </a:p>
          <a:p>
            <a:pPr algn="l">
              <a:spcAft>
                <a:spcPts val="400"/>
              </a:spcAft>
            </a:pPr>
            <a:r>
              <a:rPr sz="1150" b="0" i="0">
                <a:solidFill>
                  <a:schemeClr val="tx2"/>
                </a:solidFill>
              </a:rPr>
              <a:t>OTTL extracts journey and channel from the W3C baggage tag (fixed list only) and names the Loki stream after the workload.</a:t>
            </a:r>
          </a:p>
        </p:txBody>
      </p:sp>
      <p:sp>
        <p:nvSpPr>
          <p:cNvPr id="30" name="Rounded Rectangle 29"/>
          <p:cNvSpPr/>
          <p:nvPr/>
        </p:nvSpPr>
        <p:spPr>
          <a:xfrm>
            <a:off x="6126480" y="4160520"/>
            <a:ext cx="2651760" cy="1417320"/>
          </a:xfrm>
          <a:prstGeom prst="roundRect">
            <a:avLst>
              <a:gd name="adj" fmla="val 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82296" bIns="82296"/>
          <a:lstStyle/>
          <a:p>
            <a:pPr algn="l">
              <a:spcAft>
                <a:spcPts val="400"/>
              </a:spcAft>
            </a:pPr>
            <a:r>
              <a:rPr sz="1300" b="1" i="0">
                <a:solidFill>
                  <a:schemeClr val="tx1"/>
                </a:solidFill>
                <a:latin typeface="Courier New"/>
              </a:rPr>
              <a:t>tail_sampling</a:t>
            </a:r>
          </a:p>
          <a:p>
            <a:pPr algn="l">
              <a:spcAft>
                <a:spcPts val="400"/>
              </a:spcAft>
            </a:pPr>
            <a:r>
              <a:rPr sz="1150" b="0" i="0">
                <a:solidFill>
                  <a:schemeClr val="tx2"/>
                </a:solidFill>
              </a:rPr>
              <a:t>Holds each trace for 15 s, then keeps errors, 5xx, Envoy failure flags, traces over 1.5 s and 10% of the rest.</a:t>
            </a:r>
          </a:p>
        </p:txBody>
      </p:sp>
      <p:sp>
        <p:nvSpPr>
          <p:cNvPr id="31" name="Rounded Rectangle 30"/>
          <p:cNvSpPr/>
          <p:nvPr/>
        </p:nvSpPr>
        <p:spPr>
          <a:xfrm>
            <a:off x="8961120" y="4160520"/>
            <a:ext cx="2651760" cy="1417320"/>
          </a:xfrm>
          <a:prstGeom prst="roundRect">
            <a:avLst>
              <a:gd name="adj" fmla="val 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82296" bIns="82296"/>
          <a:lstStyle/>
          <a:p>
            <a:pPr algn="l">
              <a:spcAft>
                <a:spcPts val="400"/>
              </a:spcAft>
            </a:pPr>
            <a:r>
              <a:rPr sz="1300" b="1" i="0">
                <a:solidFill>
                  <a:schemeClr val="tx1"/>
                </a:solidFill>
                <a:latin typeface="Courier New"/>
              </a:rPr>
              <a:t>batch</a:t>
            </a:r>
          </a:p>
          <a:p>
            <a:pPr algn="l">
              <a:spcAft>
                <a:spcPts val="400"/>
              </a:spcAft>
            </a:pPr>
            <a:r>
              <a:rPr sz="1150" b="0" i="0">
                <a:solidFill>
                  <a:schemeClr val="tx2"/>
                </a:solidFill>
              </a:rPr>
              <a:t>Sends up to 1,024 items or every 2 s, so Tempo and Loki get fewer, larger writes.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Tail sampling: keep every failure, about 10% of the rest</a:t>
            </a:r>
          </a:p>
        </p:txBody>
      </p:sp>
      <p:sp>
        <p:nvSpPr>
          <p:cNvPr id="3"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
        <p:nvSpPr>
          <p:cNvPr id="4" name="Rounded Rectangle 3"/>
          <p:cNvSpPr/>
          <p:nvPr/>
        </p:nvSpPr>
        <p:spPr>
          <a:xfrm>
            <a:off x="457200" y="1280160"/>
            <a:ext cx="3291840" cy="658368"/>
          </a:xfrm>
          <a:prstGeom prst="roundRect">
            <a:avLst>
              <a:gd name="adj" fmla="val 8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ctr">
              <a:spcAft>
                <a:spcPts val="400"/>
              </a:spcAft>
            </a:pPr>
            <a:r>
              <a:rPr sz="1300" b="1" i="0">
                <a:solidFill>
                  <a:schemeClr val="bg1"/>
                </a:solidFill>
              </a:rPr>
              <a:t>Envoy samples 100%</a:t>
            </a:r>
          </a:p>
        </p:txBody>
      </p:sp>
      <p:sp>
        <p:nvSpPr>
          <p:cNvPr id="5" name="Rounded Rectangle 4"/>
          <p:cNvSpPr/>
          <p:nvPr/>
        </p:nvSpPr>
        <p:spPr>
          <a:xfrm>
            <a:off x="457200" y="2194560"/>
            <a:ext cx="3291840" cy="658368"/>
          </a:xfrm>
          <a:prstGeom prst="roundRect">
            <a:avLst>
              <a:gd name="adj" fmla="val 8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ctr">
              <a:spcAft>
                <a:spcPts val="400"/>
              </a:spcAft>
            </a:pPr>
            <a:r>
              <a:rPr sz="1300" b="1" i="0">
                <a:solidFill>
                  <a:schemeClr val="bg1"/>
                </a:solidFill>
              </a:rPr>
              <a:t>Collector holds each trace 15 s</a:t>
            </a:r>
          </a:p>
        </p:txBody>
      </p:sp>
      <p:cxnSp>
        <p:nvCxnSpPr>
          <p:cNvPr id="6" name="Connector 5"/>
          <p:cNvCxnSpPr/>
          <p:nvPr/>
        </p:nvCxnSpPr>
        <p:spPr>
          <a:xfrm>
            <a:off x="2103120" y="1938528"/>
            <a:ext cx="0" cy="256032"/>
          </a:xfrm>
          <a:prstGeom prst="line">
            <a:avLst/>
          </a:prstGeom>
          <a:ln w="15875">
            <a:solidFill>
              <a:schemeClr val="tx2"/>
            </a:solidFill>
            <a:tailEnd type="triangle"/>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457200" y="3108960"/>
            <a:ext cx="3291840" cy="658368"/>
          </a:xfrm>
          <a:prstGeom prst="roundRect">
            <a:avLst>
              <a:gd name="adj" fmla="val 8000"/>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ctr">
              <a:spcAft>
                <a:spcPts val="400"/>
              </a:spcAft>
            </a:pPr>
            <a:r>
              <a:rPr sz="1300" b="1" i="0">
                <a:solidFill>
                  <a:schemeClr val="tx1"/>
                </a:solidFill>
              </a:rPr>
              <a:t>Any policy matches: keep</a:t>
            </a:r>
          </a:p>
        </p:txBody>
      </p:sp>
      <p:cxnSp>
        <p:nvCxnSpPr>
          <p:cNvPr id="8" name="Connector 7"/>
          <p:cNvCxnSpPr/>
          <p:nvPr/>
        </p:nvCxnSpPr>
        <p:spPr>
          <a:xfrm>
            <a:off x="2103120" y="2852928"/>
            <a:ext cx="0" cy="256032"/>
          </a:xfrm>
          <a:prstGeom prst="line">
            <a:avLst/>
          </a:prstGeom>
          <a:ln w="15875">
            <a:solidFill>
              <a:schemeClr val="tx2"/>
            </a:solidFill>
            <a:tailEnd type="triangle"/>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457200" y="4023360"/>
            <a:ext cx="3291840" cy="658368"/>
          </a:xfrm>
          <a:prstGeom prst="roundRect">
            <a:avLst>
              <a:gd name="adj" fmla="val 8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ctr">
              <a:spcAft>
                <a:spcPts val="400"/>
              </a:spcAft>
            </a:pPr>
            <a:r>
              <a:rPr sz="1300" b="1" i="0">
                <a:solidFill>
                  <a:schemeClr val="bg1"/>
                </a:solidFill>
              </a:rPr>
              <a:t>Decision cache for late spans</a:t>
            </a:r>
          </a:p>
        </p:txBody>
      </p:sp>
      <p:cxnSp>
        <p:nvCxnSpPr>
          <p:cNvPr id="10" name="Connector 9"/>
          <p:cNvCxnSpPr/>
          <p:nvPr/>
        </p:nvCxnSpPr>
        <p:spPr>
          <a:xfrm>
            <a:off x="2103120" y="3767328"/>
            <a:ext cx="0" cy="256032"/>
          </a:xfrm>
          <a:prstGeom prst="line">
            <a:avLst/>
          </a:prstGeom>
          <a:ln w="15875">
            <a:solidFill>
              <a:schemeClr val="tx2"/>
            </a:solidFill>
            <a:tailEnd type="triangle"/>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457200" y="4937760"/>
            <a:ext cx="3291840" cy="658368"/>
          </a:xfrm>
          <a:prstGeom prst="roundRect">
            <a:avLst>
              <a:gd name="adj" fmla="val 8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ctr">
              <a:spcAft>
                <a:spcPts val="400"/>
              </a:spcAft>
            </a:pPr>
            <a:r>
              <a:rPr sz="1300" b="1" i="0">
                <a:solidFill>
                  <a:schemeClr val="bg1"/>
                </a:solidFill>
              </a:rPr>
              <a:t>Tempo</a:t>
            </a:r>
          </a:p>
        </p:txBody>
      </p:sp>
      <p:cxnSp>
        <p:nvCxnSpPr>
          <p:cNvPr id="12" name="Connector 11"/>
          <p:cNvCxnSpPr/>
          <p:nvPr/>
        </p:nvCxnSpPr>
        <p:spPr>
          <a:xfrm>
            <a:off x="2103120" y="4681728"/>
            <a:ext cx="0" cy="256032"/>
          </a:xfrm>
          <a:prstGeom prst="line">
            <a:avLst/>
          </a:prstGeom>
          <a:ln w="15875">
            <a:solidFill>
              <a:schemeClr val="tx2"/>
            </a:solidFill>
            <a:tailEnd type="triangle"/>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4160520" y="1234440"/>
            <a:ext cx="3291840" cy="274320"/>
          </a:xfrm>
          <a:prstGeom prst="rect">
            <a:avLst/>
          </a:prstGeom>
          <a:noFill/>
        </p:spPr>
        <p:txBody>
          <a:bodyPr wrap="square" lIns="0" rIns="0" tIns="0" bIns="0" anchor="t">
            <a:spAutoFit/>
          </a:bodyPr>
          <a:lstStyle/>
          <a:p>
            <a:pPr algn="l">
              <a:spcAft>
                <a:spcPts val="400"/>
              </a:spcAft>
            </a:pPr>
            <a:r>
              <a:rPr sz="1100" b="1" i="0">
                <a:solidFill>
                  <a:schemeClr val="tx2"/>
                </a:solidFill>
              </a:rPr>
              <a:t>KEEP POLICIES</a:t>
            </a:r>
          </a:p>
        </p:txBody>
      </p:sp>
      <p:sp>
        <p:nvSpPr>
          <p:cNvPr id="14" name="Rounded Rectangle 13"/>
          <p:cNvSpPr/>
          <p:nvPr/>
        </p:nvSpPr>
        <p:spPr>
          <a:xfrm>
            <a:off x="4160520" y="1554480"/>
            <a:ext cx="3108960" cy="621792"/>
          </a:xfrm>
          <a:prstGeom prst="roundRect">
            <a:avLst>
              <a:gd name="adj" fmla="val 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82296" bIns="82296"/>
          <a:lstStyle/>
          <a:p>
            <a:pPr algn="l">
              <a:spcAft>
                <a:spcPts val="400"/>
              </a:spcAft>
            </a:pPr>
            <a:r>
              <a:rPr sz="1250" b="1" i="0">
                <a:solidFill>
                  <a:schemeClr val="tx1"/>
                </a:solidFill>
              </a:rPr>
              <a:t>Status ERROR</a:t>
            </a:r>
            <a:r>
              <a:rPr sz="1100" b="0" i="0">
                <a:solidFill>
                  <a:schemeClr val="tx2"/>
                </a:solidFill>
              </a:rPr>
              <a:t>   any span failed</a:t>
            </a:r>
          </a:p>
        </p:txBody>
      </p:sp>
      <p:sp>
        <p:nvSpPr>
          <p:cNvPr id="15" name="Rounded Rectangle 14"/>
          <p:cNvSpPr/>
          <p:nvPr/>
        </p:nvSpPr>
        <p:spPr>
          <a:xfrm>
            <a:off x="4160520" y="2304288"/>
            <a:ext cx="3108960" cy="621792"/>
          </a:xfrm>
          <a:prstGeom prst="roundRect">
            <a:avLst>
              <a:gd name="adj" fmla="val 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82296" bIns="82296"/>
          <a:lstStyle/>
          <a:p>
            <a:pPr algn="l">
              <a:spcAft>
                <a:spcPts val="400"/>
              </a:spcAft>
            </a:pPr>
            <a:r>
              <a:rPr sz="1250" b="1" i="0">
                <a:solidFill>
                  <a:schemeClr val="tx1"/>
                </a:solidFill>
              </a:rPr>
              <a:t>HTTP 5xx</a:t>
            </a:r>
            <a:r>
              <a:rPr sz="1100" b="0" i="0">
                <a:solidFill>
                  <a:schemeClr val="tx2"/>
                </a:solidFill>
              </a:rPr>
              <a:t>   on any hop</a:t>
            </a:r>
          </a:p>
        </p:txBody>
      </p:sp>
      <p:sp>
        <p:nvSpPr>
          <p:cNvPr id="16" name="Rounded Rectangle 15"/>
          <p:cNvSpPr/>
          <p:nvPr/>
        </p:nvSpPr>
        <p:spPr>
          <a:xfrm>
            <a:off x="4160520" y="3054096"/>
            <a:ext cx="3108960" cy="621792"/>
          </a:xfrm>
          <a:prstGeom prst="roundRect">
            <a:avLst>
              <a:gd name="adj" fmla="val 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82296" bIns="82296"/>
          <a:lstStyle/>
          <a:p>
            <a:pPr algn="l">
              <a:spcAft>
                <a:spcPts val="400"/>
              </a:spcAft>
            </a:pPr>
            <a:r>
              <a:rPr sz="1250" b="1" i="0">
                <a:solidFill>
                  <a:schemeClr val="tx1"/>
                </a:solidFill>
              </a:rPr>
              <a:t>Envoy flag</a:t>
            </a:r>
            <a:r>
              <a:rPr sz="1100" b="0" i="0">
                <a:solidFill>
                  <a:schemeClr val="tx2"/>
                </a:solidFill>
              </a:rPr>
              <a:t>   UF, UH, UT, URX, ...</a:t>
            </a:r>
          </a:p>
        </p:txBody>
      </p:sp>
      <p:sp>
        <p:nvSpPr>
          <p:cNvPr id="17" name="Rounded Rectangle 16"/>
          <p:cNvSpPr/>
          <p:nvPr/>
        </p:nvSpPr>
        <p:spPr>
          <a:xfrm>
            <a:off x="4160520" y="3803904"/>
            <a:ext cx="3108960" cy="621792"/>
          </a:xfrm>
          <a:prstGeom prst="roundRect">
            <a:avLst>
              <a:gd name="adj" fmla="val 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82296" bIns="82296"/>
          <a:lstStyle/>
          <a:p>
            <a:pPr algn="l">
              <a:spcAft>
                <a:spcPts val="400"/>
              </a:spcAft>
            </a:pPr>
            <a:r>
              <a:rPr sz="1250" b="1" i="0">
                <a:solidFill>
                  <a:schemeClr val="tx1"/>
                </a:solidFill>
              </a:rPr>
              <a:t>Slower than 1.5 s</a:t>
            </a:r>
            <a:r>
              <a:rPr sz="1100" b="0" i="0">
                <a:solidFill>
                  <a:schemeClr val="tx2"/>
                </a:solidFill>
              </a:rPr>
              <a:t>   end to end</a:t>
            </a:r>
          </a:p>
        </p:txBody>
      </p:sp>
      <p:sp>
        <p:nvSpPr>
          <p:cNvPr id="18" name="Rounded Rectangle 17"/>
          <p:cNvSpPr/>
          <p:nvPr/>
        </p:nvSpPr>
        <p:spPr>
          <a:xfrm>
            <a:off x="4160520" y="4553712"/>
            <a:ext cx="3108960" cy="621792"/>
          </a:xfrm>
          <a:prstGeom prst="roundRect">
            <a:avLst>
              <a:gd name="adj" fmla="val 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82296" bIns="82296"/>
          <a:lstStyle/>
          <a:p>
            <a:pPr algn="l">
              <a:spcAft>
                <a:spcPts val="400"/>
              </a:spcAft>
            </a:pPr>
            <a:r>
              <a:rPr sz="1250" b="1" i="0">
                <a:solidFill>
                  <a:schemeClr val="tx1"/>
                </a:solidFill>
              </a:rPr>
              <a:t>10% probabilistic</a:t>
            </a:r>
            <a:r>
              <a:rPr sz="1100" b="0" i="0">
                <a:solidFill>
                  <a:schemeClr val="tx2"/>
                </a:solidFill>
              </a:rPr>
              <a:t>   baseline sample</a:t>
            </a:r>
          </a:p>
        </p:txBody>
      </p:sp>
      <p:sp>
        <p:nvSpPr>
          <p:cNvPr id="19" name="TextBox 18"/>
          <p:cNvSpPr txBox="1"/>
          <p:nvPr/>
        </p:nvSpPr>
        <p:spPr>
          <a:xfrm>
            <a:off x="7818120" y="1325880"/>
            <a:ext cx="3931920" cy="685800"/>
          </a:xfrm>
          <a:prstGeom prst="rect">
            <a:avLst/>
          </a:prstGeom>
          <a:noFill/>
        </p:spPr>
        <p:txBody>
          <a:bodyPr wrap="square" lIns="0" rIns="0" tIns="0" bIns="0" anchor="t">
            <a:spAutoFit/>
          </a:bodyPr>
          <a:lstStyle/>
          <a:p>
            <a:pPr algn="l">
              <a:spcAft>
                <a:spcPts val="400"/>
              </a:spcAft>
            </a:pPr>
            <a:r>
              <a:rPr sz="4000" b="1" i="0">
                <a:solidFill>
                  <a:schemeClr val="accent1"/>
                </a:solidFill>
              </a:rPr>
              <a:t>9%</a:t>
            </a:r>
          </a:p>
        </p:txBody>
      </p:sp>
      <p:sp>
        <p:nvSpPr>
          <p:cNvPr id="20" name="TextBox 19"/>
          <p:cNvSpPr txBox="1"/>
          <p:nvPr/>
        </p:nvSpPr>
        <p:spPr>
          <a:xfrm>
            <a:off x="7818120" y="2039112"/>
            <a:ext cx="3931920" cy="320040"/>
          </a:xfrm>
          <a:prstGeom prst="rect">
            <a:avLst/>
          </a:prstGeom>
          <a:noFill/>
        </p:spPr>
        <p:txBody>
          <a:bodyPr wrap="square" lIns="0" rIns="0" tIns="0" bIns="0" anchor="t">
            <a:spAutoFit/>
          </a:bodyPr>
          <a:lstStyle/>
          <a:p>
            <a:pPr algn="l">
              <a:spcAft>
                <a:spcPts val="400"/>
              </a:spcAft>
            </a:pPr>
            <a:r>
              <a:rPr sz="1300" b="1" i="0">
                <a:solidFill>
                  <a:schemeClr val="tx1"/>
                </a:solidFill>
              </a:rPr>
              <a:t>of healthy traces stored</a:t>
            </a:r>
          </a:p>
        </p:txBody>
      </p:sp>
      <p:sp>
        <p:nvSpPr>
          <p:cNvPr id="21" name="TextBox 20"/>
          <p:cNvSpPr txBox="1"/>
          <p:nvPr/>
        </p:nvSpPr>
        <p:spPr>
          <a:xfrm>
            <a:off x="7818120" y="2331720"/>
            <a:ext cx="3931920" cy="320040"/>
          </a:xfrm>
          <a:prstGeom prst="rect">
            <a:avLst/>
          </a:prstGeom>
          <a:noFill/>
        </p:spPr>
        <p:txBody>
          <a:bodyPr wrap="square" lIns="0" rIns="0" tIns="0" bIns="0" anchor="t">
            <a:spAutoFit/>
          </a:bodyPr>
          <a:lstStyle/>
          <a:p>
            <a:pPr algn="l">
              <a:spcAft>
                <a:spcPts val="400"/>
              </a:spcAft>
            </a:pPr>
            <a:r>
              <a:rPr sz="1100" b="0" i="0">
                <a:solidFill>
                  <a:schemeClr val="tx2"/>
                </a:solidFill>
              </a:rPr>
              <a:t>102 of 1,103 in a 90 s sample</a:t>
            </a:r>
          </a:p>
        </p:txBody>
      </p:sp>
      <p:sp>
        <p:nvSpPr>
          <p:cNvPr id="22" name="TextBox 21"/>
          <p:cNvSpPr txBox="1"/>
          <p:nvPr/>
        </p:nvSpPr>
        <p:spPr>
          <a:xfrm>
            <a:off x="7818120" y="2926080"/>
            <a:ext cx="3931920" cy="685800"/>
          </a:xfrm>
          <a:prstGeom prst="rect">
            <a:avLst/>
          </a:prstGeom>
          <a:noFill/>
        </p:spPr>
        <p:txBody>
          <a:bodyPr wrap="square" lIns="0" rIns="0" tIns="0" bIns="0" anchor="t">
            <a:spAutoFit/>
          </a:bodyPr>
          <a:lstStyle/>
          <a:p>
            <a:pPr algn="l">
              <a:spcAft>
                <a:spcPts val="400"/>
              </a:spcAft>
            </a:pPr>
            <a:r>
              <a:rPr sz="4000" b="1" i="0">
                <a:solidFill>
                  <a:schemeClr val="accent1"/>
                </a:solidFill>
              </a:rPr>
              <a:t>100%</a:t>
            </a:r>
          </a:p>
        </p:txBody>
      </p:sp>
      <p:sp>
        <p:nvSpPr>
          <p:cNvPr id="23" name="TextBox 22"/>
          <p:cNvSpPr txBox="1"/>
          <p:nvPr/>
        </p:nvSpPr>
        <p:spPr>
          <a:xfrm>
            <a:off x="7818120" y="3639312"/>
            <a:ext cx="3931920" cy="320040"/>
          </a:xfrm>
          <a:prstGeom prst="rect">
            <a:avLst/>
          </a:prstGeom>
          <a:noFill/>
        </p:spPr>
        <p:txBody>
          <a:bodyPr wrap="square" lIns="0" rIns="0" tIns="0" bIns="0" anchor="t">
            <a:spAutoFit/>
          </a:bodyPr>
          <a:lstStyle/>
          <a:p>
            <a:pPr algn="l">
              <a:spcAft>
                <a:spcPts val="400"/>
              </a:spcAft>
            </a:pPr>
            <a:r>
              <a:rPr sz="1300" b="1" i="0">
                <a:solidFill>
                  <a:schemeClr val="tx1"/>
                </a:solidFill>
              </a:rPr>
              <a:t>of error traces stored</a:t>
            </a:r>
          </a:p>
        </p:txBody>
      </p:sp>
      <p:sp>
        <p:nvSpPr>
          <p:cNvPr id="24" name="TextBox 23"/>
          <p:cNvSpPr txBox="1"/>
          <p:nvPr/>
        </p:nvSpPr>
        <p:spPr>
          <a:xfrm>
            <a:off x="7818120" y="3931920"/>
            <a:ext cx="3931920" cy="320040"/>
          </a:xfrm>
          <a:prstGeom prst="rect">
            <a:avLst/>
          </a:prstGeom>
          <a:noFill/>
        </p:spPr>
        <p:txBody>
          <a:bodyPr wrap="square" lIns="0" rIns="0" tIns="0" bIns="0" anchor="t">
            <a:spAutoFit/>
          </a:bodyPr>
          <a:lstStyle/>
          <a:p>
            <a:pPr algn="l">
              <a:spcAft>
                <a:spcPts val="400"/>
              </a:spcAft>
            </a:pPr>
            <a:r>
              <a:rPr sz="1100" b="0" i="0">
                <a:solidFill>
                  <a:schemeClr val="tx2"/>
                </a:solidFill>
              </a:rPr>
              <a:t>every UT / UF / UH failure</a:t>
            </a:r>
          </a:p>
        </p:txBody>
      </p:sp>
      <p:sp>
        <p:nvSpPr>
          <p:cNvPr id="25" name="TextBox 24"/>
          <p:cNvSpPr txBox="1"/>
          <p:nvPr/>
        </p:nvSpPr>
        <p:spPr>
          <a:xfrm>
            <a:off x="7818120" y="4526280"/>
            <a:ext cx="3931920" cy="685800"/>
          </a:xfrm>
          <a:prstGeom prst="rect">
            <a:avLst/>
          </a:prstGeom>
          <a:noFill/>
        </p:spPr>
        <p:txBody>
          <a:bodyPr wrap="square" lIns="0" rIns="0" tIns="0" bIns="0" anchor="t">
            <a:spAutoFit/>
          </a:bodyPr>
          <a:lstStyle/>
          <a:p>
            <a:pPr algn="l">
              <a:spcAft>
                <a:spcPts val="400"/>
              </a:spcAft>
            </a:pPr>
            <a:r>
              <a:rPr sz="4000" b="1" i="0">
                <a:solidFill>
                  <a:schemeClr val="accent2"/>
                </a:solidFill>
              </a:rPr>
              <a:t>12 / 12</a:t>
            </a:r>
          </a:p>
        </p:txBody>
      </p:sp>
      <p:sp>
        <p:nvSpPr>
          <p:cNvPr id="26" name="TextBox 25"/>
          <p:cNvSpPr txBox="1"/>
          <p:nvPr/>
        </p:nvSpPr>
        <p:spPr>
          <a:xfrm>
            <a:off x="7818120" y="5239512"/>
            <a:ext cx="3931920" cy="320040"/>
          </a:xfrm>
          <a:prstGeom prst="rect">
            <a:avLst/>
          </a:prstGeom>
          <a:noFill/>
        </p:spPr>
        <p:txBody>
          <a:bodyPr wrap="square" lIns="0" rIns="0" tIns="0" bIns="0" anchor="t">
            <a:spAutoFit/>
          </a:bodyPr>
          <a:lstStyle/>
          <a:p>
            <a:pPr algn="l">
              <a:spcAft>
                <a:spcPts val="400"/>
              </a:spcAft>
            </a:pPr>
            <a:r>
              <a:rPr sz="1300" b="1" i="0">
                <a:solidFill>
                  <a:schemeClr val="tx1"/>
                </a:solidFill>
              </a:rPr>
              <a:t>spans in a fund transfer</a:t>
            </a:r>
          </a:p>
        </p:txBody>
      </p:sp>
      <p:sp>
        <p:nvSpPr>
          <p:cNvPr id="27" name="TextBox 26"/>
          <p:cNvSpPr txBox="1"/>
          <p:nvPr/>
        </p:nvSpPr>
        <p:spPr>
          <a:xfrm>
            <a:off x="7818120" y="5532120"/>
            <a:ext cx="3931920" cy="320040"/>
          </a:xfrm>
          <a:prstGeom prst="rect">
            <a:avLst/>
          </a:prstGeom>
          <a:noFill/>
        </p:spPr>
        <p:txBody>
          <a:bodyPr wrap="square" lIns="0" rIns="0" tIns="0" bIns="0" anchor="t">
            <a:spAutoFit/>
          </a:bodyPr>
          <a:lstStyle/>
          <a:p>
            <a:pPr algn="l">
              <a:spcAft>
                <a:spcPts val="400"/>
              </a:spcAft>
            </a:pPr>
            <a:r>
              <a:rPr sz="1100" b="0" i="0">
                <a:solidFill>
                  <a:schemeClr val="tx2"/>
                </a:solidFill>
              </a:rPr>
              <a:t>was 3 of 12 before the decision cache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Journey tagging: one label from gateway to every hop</a:t>
            </a:r>
          </a:p>
        </p:txBody>
      </p:sp>
      <p:sp>
        <p:nvSpPr>
          <p:cNvPr id="3"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
        <p:nvSpPr>
          <p:cNvPr id="4" name="Rounded Rectangle 3"/>
          <p:cNvSpPr/>
          <p:nvPr/>
        </p:nvSpPr>
        <p:spPr>
          <a:xfrm>
            <a:off x="457200" y="1325880"/>
            <a:ext cx="2560320" cy="1325880"/>
          </a:xfrm>
          <a:prstGeom prst="roundRect">
            <a:avLst>
              <a:gd name="adj" fmla="val 8000"/>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ctr">
              <a:spcAft>
                <a:spcPts val="400"/>
              </a:spcAft>
            </a:pPr>
            <a:r>
              <a:rPr sz="1350" b="1" i="0">
                <a:solidFill>
                  <a:schemeClr val="bg1"/>
                </a:solidFill>
              </a:rPr>
              <a:t>Customer request</a:t>
            </a:r>
          </a:p>
          <a:p>
            <a:pPr algn="ctr">
              <a:spcAft>
                <a:spcPts val="400"/>
              </a:spcAft>
            </a:pPr>
            <a:r>
              <a:rPr sz="1100" b="0" i="0">
                <a:solidFill>
                  <a:schemeClr val="bg1"/>
                </a:solidFill>
              </a:rPr>
              <a:t>POST /api/transfers
x-channel: mobile</a:t>
            </a:r>
          </a:p>
        </p:txBody>
      </p:sp>
      <p:sp>
        <p:nvSpPr>
          <p:cNvPr id="5" name="Rounded Rectangle 4"/>
          <p:cNvSpPr/>
          <p:nvPr/>
        </p:nvSpPr>
        <p:spPr>
          <a:xfrm>
            <a:off x="3337560" y="1325880"/>
            <a:ext cx="2560320" cy="1325880"/>
          </a:xfrm>
          <a:prstGeom prst="roundRect">
            <a:avLst>
              <a:gd name="adj" fmla="val 8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ctr">
              <a:spcAft>
                <a:spcPts val="400"/>
              </a:spcAft>
            </a:pPr>
            <a:r>
              <a:rPr sz="1350" b="1" i="0">
                <a:solidFill>
                  <a:schemeClr val="bg1"/>
                </a:solidFill>
              </a:rPr>
              <a:t>Ingress gateway</a:t>
            </a:r>
          </a:p>
          <a:p>
            <a:pPr algn="ctr">
              <a:spcAft>
                <a:spcPts val="400"/>
              </a:spcAft>
            </a:pPr>
            <a:r>
              <a:rPr sz="1100" b="0" i="0">
                <a:solidFill>
                  <a:schemeClr val="bg1"/>
                </a:solidFill>
              </a:rPr>
              <a:t>Route sets baggage:
journey=fund-transfer,
channel=mobile</a:t>
            </a:r>
          </a:p>
        </p:txBody>
      </p:sp>
      <p:cxnSp>
        <p:nvCxnSpPr>
          <p:cNvPr id="6" name="Connector 5"/>
          <p:cNvCxnSpPr/>
          <p:nvPr/>
        </p:nvCxnSpPr>
        <p:spPr>
          <a:xfrm>
            <a:off x="3017520" y="1988819"/>
            <a:ext cx="320040" cy="0"/>
          </a:xfrm>
          <a:prstGeom prst="line">
            <a:avLst/>
          </a:prstGeom>
          <a:ln w="15875">
            <a:solidFill>
              <a:schemeClr val="tx2"/>
            </a:solidFill>
            <a:tailEnd type="triangle"/>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6217920" y="1325880"/>
            <a:ext cx="2560320" cy="1325880"/>
          </a:xfrm>
          <a:prstGeom prst="roundRect">
            <a:avLst>
              <a:gd name="adj" fmla="val 8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ctr">
              <a:spcAft>
                <a:spcPts val="400"/>
              </a:spcAft>
            </a:pPr>
            <a:r>
              <a:rPr sz="1350" b="1" i="0">
                <a:solidFill>
                  <a:schemeClr val="bg1"/>
                </a:solidFill>
              </a:rPr>
              <a:t>payments-svc</a:t>
            </a:r>
          </a:p>
          <a:p>
            <a:pPr algn="ctr">
              <a:spcAft>
                <a:spcPts val="400"/>
              </a:spcAft>
            </a:pPr>
            <a:r>
              <a:rPr sz="1100" b="0" i="0">
                <a:solidFill>
                  <a:schemeClr val="bg1"/>
                </a:solidFill>
              </a:rPr>
              <a:t>OTel agent forwards
baggage on each call</a:t>
            </a:r>
          </a:p>
        </p:txBody>
      </p:sp>
      <p:cxnSp>
        <p:nvCxnSpPr>
          <p:cNvPr id="8" name="Connector 7"/>
          <p:cNvCxnSpPr/>
          <p:nvPr/>
        </p:nvCxnSpPr>
        <p:spPr>
          <a:xfrm>
            <a:off x="5897880" y="1988819"/>
            <a:ext cx="320040" cy="0"/>
          </a:xfrm>
          <a:prstGeom prst="line">
            <a:avLst/>
          </a:prstGeom>
          <a:ln w="15875">
            <a:solidFill>
              <a:schemeClr val="tx2"/>
            </a:solidFill>
            <a:tailEnd type="triangle"/>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9098280" y="1325880"/>
            <a:ext cx="2560320" cy="1325880"/>
          </a:xfrm>
          <a:prstGeom prst="roundRect">
            <a:avLst>
              <a:gd name="adj" fmla="val 8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ctr">
              <a:spcAft>
                <a:spcPts val="400"/>
              </a:spcAft>
            </a:pPr>
            <a:r>
              <a:rPr sz="1350" b="1" i="0">
                <a:solidFill>
                  <a:schemeClr val="bg1"/>
                </a:solidFill>
              </a:rPr>
              <a:t>core-banking hop</a:t>
            </a:r>
          </a:p>
          <a:p>
            <a:pPr algn="ctr">
              <a:spcAft>
                <a:spcPts val="400"/>
              </a:spcAft>
            </a:pPr>
            <a:r>
              <a:rPr sz="1100" b="0" i="0">
                <a:solidFill>
                  <a:schemeClr val="bg1"/>
                </a:solidFill>
              </a:rPr>
              <a:t>Sidecar sees the same
baggage header</a:t>
            </a:r>
          </a:p>
        </p:txBody>
      </p:sp>
      <p:cxnSp>
        <p:nvCxnSpPr>
          <p:cNvPr id="10" name="Connector 9"/>
          <p:cNvCxnSpPr/>
          <p:nvPr/>
        </p:nvCxnSpPr>
        <p:spPr>
          <a:xfrm>
            <a:off x="8778240" y="1988819"/>
            <a:ext cx="320040" cy="0"/>
          </a:xfrm>
          <a:prstGeom prst="line">
            <a:avLst/>
          </a:prstGeom>
          <a:ln w="15875">
            <a:solidFill>
              <a:schemeClr val="tx2"/>
            </a:solidFill>
            <a:tailEnd type="triangle"/>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57200" y="2724912"/>
            <a:ext cx="11247120" cy="274320"/>
          </a:xfrm>
          <a:prstGeom prst="rect">
            <a:avLst/>
          </a:prstGeom>
          <a:noFill/>
        </p:spPr>
        <p:txBody>
          <a:bodyPr wrap="square" lIns="0" rIns="0" tIns="0" bIns="0" anchor="t">
            <a:spAutoFit/>
          </a:bodyPr>
          <a:lstStyle/>
          <a:p>
            <a:pPr algn="l">
              <a:spcAft>
                <a:spcPts val="400"/>
              </a:spcAft>
            </a:pPr>
            <a:r>
              <a:rPr sz="1150" b="0" i="1">
                <a:solidFill>
                  <a:schemeClr val="tx2"/>
                </a:solidFill>
              </a:rPr>
              <a:t>Every sidecar and the collector turn that one header into three outputs:</a:t>
            </a:r>
          </a:p>
        </p:txBody>
      </p:sp>
      <p:sp>
        <p:nvSpPr>
          <p:cNvPr id="12" name="Rounded Rectangle 11"/>
          <p:cNvSpPr/>
          <p:nvPr/>
        </p:nvSpPr>
        <p:spPr>
          <a:xfrm>
            <a:off x="457200" y="3017520"/>
            <a:ext cx="3566160" cy="1783080"/>
          </a:xfrm>
          <a:prstGeom prst="roundRect">
            <a:avLst>
              <a:gd name="adj" fmla="val 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87782" bIns="87782"/>
          <a:lstStyle/>
          <a:p>
            <a:pPr algn="l">
              <a:spcAft>
                <a:spcPts val="400"/>
              </a:spcAft>
            </a:pPr>
            <a:r>
              <a:rPr sz="1400" b="1" i="0">
                <a:solidFill>
                  <a:schemeClr val="tx1"/>
                </a:solidFill>
              </a:rPr>
              <a:t>Metric label</a:t>
            </a:r>
          </a:p>
          <a:p>
            <a:pPr algn="l">
              <a:spcAft>
                <a:spcPts val="400"/>
              </a:spcAft>
            </a:pPr>
            <a:r>
              <a:rPr sz="1150" b="0" i="0">
                <a:solidFill>
                  <a:schemeClr val="tx2"/>
                </a:solidFill>
              </a:rPr>
              <a:t>Telemetry API tagOverrides (CEL) maps baggage to a fixed label value</a:t>
            </a:r>
          </a:p>
          <a:p>
            <a:pPr algn="l">
              <a:spcAft>
                <a:spcPts val="400"/>
              </a:spcAft>
            </a:pPr>
            <a:r>
              <a:rPr sz="1050" b="0" i="0">
                <a:solidFill>
                  <a:schemeClr val="accent1"/>
                </a:solidFill>
                <a:latin typeface="Courier New"/>
              </a:rPr>
              <a:t>istio_requests_total{
  journey="fund-transfer"}</a:t>
            </a:r>
          </a:p>
        </p:txBody>
      </p:sp>
      <p:sp>
        <p:nvSpPr>
          <p:cNvPr id="13" name="Rounded Rectangle 12"/>
          <p:cNvSpPr/>
          <p:nvPr/>
        </p:nvSpPr>
        <p:spPr>
          <a:xfrm>
            <a:off x="4251960" y="3017520"/>
            <a:ext cx="3566160" cy="1783080"/>
          </a:xfrm>
          <a:prstGeom prst="roundRect">
            <a:avLst>
              <a:gd name="adj" fmla="val 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87782" bIns="87782"/>
          <a:lstStyle/>
          <a:p>
            <a:pPr algn="l">
              <a:spcAft>
                <a:spcPts val="400"/>
              </a:spcAft>
            </a:pPr>
            <a:r>
              <a:rPr sz="1400" b="1" i="0">
                <a:solidFill>
                  <a:schemeClr val="tx1"/>
                </a:solidFill>
              </a:rPr>
              <a:t>Span attribute</a:t>
            </a:r>
          </a:p>
          <a:p>
            <a:pPr algn="l">
              <a:spcAft>
                <a:spcPts val="400"/>
              </a:spcAft>
            </a:pPr>
            <a:r>
              <a:rPr sz="1150" b="0" i="0">
                <a:solidFill>
                  <a:schemeClr val="tx2"/>
                </a:solidFill>
              </a:rPr>
              <a:t>Envoy records baggage as a span tag; the collector's OTTL turns it into span.journey</a:t>
            </a:r>
          </a:p>
          <a:p>
            <a:pPr algn="l">
              <a:spcAft>
                <a:spcPts val="400"/>
              </a:spcAft>
            </a:pPr>
            <a:r>
              <a:rPr sz="1050" b="0" i="0">
                <a:solidFill>
                  <a:schemeClr val="accent1"/>
                </a:solidFill>
                <a:latin typeface="Courier New"/>
              </a:rPr>
              <a:t>{ span.journey =
    "fund-transfer" }</a:t>
            </a:r>
          </a:p>
        </p:txBody>
      </p:sp>
      <p:sp>
        <p:nvSpPr>
          <p:cNvPr id="14" name="Rounded Rectangle 13"/>
          <p:cNvSpPr/>
          <p:nvPr/>
        </p:nvSpPr>
        <p:spPr>
          <a:xfrm>
            <a:off x="8046720" y="3017520"/>
            <a:ext cx="3566160" cy="1783080"/>
          </a:xfrm>
          <a:prstGeom prst="roundRect">
            <a:avLst>
              <a:gd name="adj" fmla="val 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87782" bIns="87782"/>
          <a:lstStyle/>
          <a:p>
            <a:pPr algn="l">
              <a:spcAft>
                <a:spcPts val="400"/>
              </a:spcAft>
            </a:pPr>
            <a:r>
              <a:rPr sz="1400" b="1" i="0">
                <a:solidFill>
                  <a:schemeClr val="tx1"/>
                </a:solidFill>
              </a:rPr>
              <a:t>Log field</a:t>
            </a:r>
          </a:p>
          <a:p>
            <a:pPr algn="l">
              <a:spcAft>
                <a:spcPts val="400"/>
              </a:spcAft>
            </a:pPr>
            <a:r>
              <a:rPr sz="1150" b="0" i="0">
                <a:solidFill>
                  <a:schemeClr val="tx2"/>
                </a:solidFill>
              </a:rPr>
              <a:t>Access log carries %REQ(BAGGAGE)%; the collector extracts journey for Loki</a:t>
            </a:r>
          </a:p>
          <a:p>
            <a:pPr algn="l">
              <a:spcAft>
                <a:spcPts val="400"/>
              </a:spcAft>
            </a:pPr>
            <a:r>
              <a:rPr sz="1050" b="0" i="0">
                <a:solidFill>
                  <a:schemeClr val="accent1"/>
                </a:solidFill>
                <a:latin typeface="Courier New"/>
              </a:rPr>
              <a:t>{service_name="payments-svc"}
  | journey="fund-transfer"</a:t>
            </a:r>
          </a:p>
        </p:txBody>
      </p:sp>
      <p:sp>
        <p:nvSpPr>
          <p:cNvPr id="15" name="Rounded Rectangle 14"/>
          <p:cNvSpPr/>
          <p:nvPr/>
        </p:nvSpPr>
        <p:spPr>
          <a:xfrm>
            <a:off x="457200" y="5120640"/>
            <a:ext cx="11247120" cy="777240"/>
          </a:xfrm>
          <a:prstGeom prst="roundRect">
            <a:avLst>
              <a:gd name="adj" fmla="val 8000"/>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l">
              <a:spcAft>
                <a:spcPts val="400"/>
              </a:spcAft>
            </a:pPr>
            <a:r>
              <a:rPr sz="1200" b="1" i="0">
                <a:solidFill>
                  <a:schemeClr val="bg1"/>
                </a:solidFill>
              </a:rPr>
              <a:t>Fixed list: </a:t>
            </a:r>
            <a:r>
              <a:rPr sz="1200" b="0" i="0">
                <a:solidFill>
                  <a:schemeClr val="bg1"/>
                </a:solidFill>
              </a:rPr>
              <a:t>fund-transfer, balance-check, card-payment, login, loan-application. Anything else becomes "other". Adding a journey is a deliberate change in three places: Telemetry CEL, collector regex, gateway route.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Where the data lives</a:t>
            </a:r>
          </a:p>
        </p:txBody>
      </p:sp>
      <p:sp>
        <p:nvSpPr>
          <p:cNvPr id="3"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graphicFrame>
        <p:nvGraphicFramePr>
          <p:cNvPr id="4" name="Table 3"/>
          <p:cNvGraphicFramePr>
            <a:graphicFrameLocks noGrp="1"/>
          </p:cNvGraphicFramePr>
          <p:nvPr/>
        </p:nvGraphicFramePr>
        <p:xfrm>
          <a:off x="457200" y="1234440"/>
          <a:ext cx="11247120" cy="4279392"/>
        </p:xfrm>
        <a:graphic>
          <a:graphicData uri="http://schemas.openxmlformats.org/drawingml/2006/table">
            <a:tbl>
              <a:tblPr firstRow="0" bandRow="0">
                <a:tableStyleId>{5940675A-B579-460E-94D1-54222C63F5DA}</a:tableStyleId>
              </a:tblPr>
              <a:tblGrid>
                <a:gridCol w="1188720"/>
                <a:gridCol w="3200400"/>
                <a:gridCol w="2103120"/>
                <a:gridCol w="2377440"/>
                <a:gridCol w="1463040"/>
                <a:gridCol w="914400"/>
              </a:tblGrid>
              <a:tr h="713232">
                <a:tc>
                  <a:txBody>
                    <a:bodyPr wrap="square"/>
                    <a:lstStyle/>
                    <a:p>
                      <a:r>
                        <a:rPr sz="1100" b="1" i="0">
                          <a:solidFill>
                            <a:schemeClr val="bg1"/>
                          </a:solidFill>
                        </a:rPr>
                        <a:t>Signal</a:t>
                      </a:r>
                    </a:p>
                  </a:txBody>
                  <a:tcPr marL="73152" marR="73152" marT="36576" marB="36576" anchor="ctr">
                    <a:lnL w="6350">
                      <a:solidFill>
                        <a:srgbClr val="D5DEE5"/>
                      </a:solidFill>
                    </a:lnL>
                    <a:lnR w="6350">
                      <a:solidFill>
                        <a:srgbClr val="D5DEE5"/>
                      </a:solidFill>
                    </a:lnR>
                    <a:lnT w="6350">
                      <a:solidFill>
                        <a:srgbClr val="D5DEE5"/>
                      </a:solidFill>
                    </a:lnT>
                    <a:lnB w="6350">
                      <a:solidFill>
                        <a:srgbClr val="D5DEE5"/>
                      </a:solidFill>
                    </a:lnB>
                    <a:solidFill>
                      <a:schemeClr val="tx1"/>
                    </a:solidFill>
                  </a:tcPr>
                </a:tc>
                <a:tc>
                  <a:txBody>
                    <a:bodyPr wrap="square"/>
                    <a:lstStyle/>
                    <a:p>
                      <a:r>
                        <a:rPr sz="1100" b="1" i="0">
                          <a:solidFill>
                            <a:schemeClr val="bg1"/>
                          </a:solidFill>
                        </a:rPr>
                        <a:t>Store and format</a:t>
                      </a:r>
                    </a:p>
                  </a:txBody>
                  <a:tcPr marL="73152" marR="73152" marT="36576" marB="36576" anchor="ctr">
                    <a:lnL w="6350">
                      <a:solidFill>
                        <a:srgbClr val="D5DEE5"/>
                      </a:solidFill>
                    </a:lnL>
                    <a:lnR w="6350">
                      <a:solidFill>
                        <a:srgbClr val="D5DEE5"/>
                      </a:solidFill>
                    </a:lnR>
                    <a:lnT w="6350">
                      <a:solidFill>
                        <a:srgbClr val="D5DEE5"/>
                      </a:solidFill>
                    </a:lnT>
                    <a:lnB w="6350">
                      <a:solidFill>
                        <a:srgbClr val="D5DEE5"/>
                      </a:solidFill>
                    </a:lnB>
                    <a:solidFill>
                      <a:schemeClr val="tx1"/>
                    </a:solidFill>
                  </a:tcPr>
                </a:tc>
                <a:tc>
                  <a:txBody>
                    <a:bodyPr wrap="square"/>
                    <a:lstStyle/>
                    <a:p>
                      <a:r>
                        <a:rPr sz="1100" b="1" i="0">
                          <a:solidFill>
                            <a:schemeClr val="bg1"/>
                          </a:solidFill>
                        </a:rPr>
                        <a:t>Local POC</a:t>
                      </a:r>
                    </a:p>
                  </a:txBody>
                  <a:tcPr marL="73152" marR="73152" marT="36576" marB="36576" anchor="ctr">
                    <a:lnL w="6350">
                      <a:solidFill>
                        <a:srgbClr val="D5DEE5"/>
                      </a:solidFill>
                    </a:lnL>
                    <a:lnR w="6350">
                      <a:solidFill>
                        <a:srgbClr val="D5DEE5"/>
                      </a:solidFill>
                    </a:lnR>
                    <a:lnT w="6350">
                      <a:solidFill>
                        <a:srgbClr val="D5DEE5"/>
                      </a:solidFill>
                    </a:lnT>
                    <a:lnB w="6350">
                      <a:solidFill>
                        <a:srgbClr val="D5DEE5"/>
                      </a:solidFill>
                    </a:lnB>
                    <a:solidFill>
                      <a:schemeClr val="tx1"/>
                    </a:solidFill>
                  </a:tcPr>
                </a:tc>
                <a:tc>
                  <a:txBody>
                    <a:bodyPr wrap="square"/>
                    <a:lstStyle/>
                    <a:p>
                      <a:r>
                        <a:rPr sz="1100" b="1" i="0">
                          <a:solidFill>
                            <a:schemeClr val="bg1"/>
                          </a:solidFill>
                        </a:rPr>
                        <a:t>OpenShift production</a:t>
                      </a:r>
                    </a:p>
                  </a:txBody>
                  <a:tcPr marL="73152" marR="73152" marT="36576" marB="36576" anchor="ctr">
                    <a:lnL w="6350">
                      <a:solidFill>
                        <a:srgbClr val="D5DEE5"/>
                      </a:solidFill>
                    </a:lnL>
                    <a:lnR w="6350">
                      <a:solidFill>
                        <a:srgbClr val="D5DEE5"/>
                      </a:solidFill>
                    </a:lnR>
                    <a:lnT w="6350">
                      <a:solidFill>
                        <a:srgbClr val="D5DEE5"/>
                      </a:solidFill>
                    </a:lnT>
                    <a:lnB w="6350">
                      <a:solidFill>
                        <a:srgbClr val="D5DEE5"/>
                      </a:solidFill>
                    </a:lnB>
                    <a:solidFill>
                      <a:schemeClr val="tx1"/>
                    </a:solidFill>
                  </a:tcPr>
                </a:tc>
                <a:tc>
                  <a:txBody>
                    <a:bodyPr wrap="square"/>
                    <a:lstStyle/>
                    <a:p>
                      <a:r>
                        <a:rPr sz="1100" b="1" i="0">
                          <a:solidFill>
                            <a:schemeClr val="bg1"/>
                          </a:solidFill>
                        </a:rPr>
                        <a:t>Retention</a:t>
                      </a:r>
                    </a:p>
                  </a:txBody>
                  <a:tcPr marL="73152" marR="73152" marT="36576" marB="36576" anchor="ctr">
                    <a:lnL w="6350">
                      <a:solidFill>
                        <a:srgbClr val="D5DEE5"/>
                      </a:solidFill>
                    </a:lnL>
                    <a:lnR w="6350">
                      <a:solidFill>
                        <a:srgbClr val="D5DEE5"/>
                      </a:solidFill>
                    </a:lnR>
                    <a:lnT w="6350">
                      <a:solidFill>
                        <a:srgbClr val="D5DEE5"/>
                      </a:solidFill>
                    </a:lnT>
                    <a:lnB w="6350">
                      <a:solidFill>
                        <a:srgbClr val="D5DEE5"/>
                      </a:solidFill>
                    </a:lnB>
                    <a:solidFill>
                      <a:schemeClr val="tx1"/>
                    </a:solidFill>
                  </a:tcPr>
                </a:tc>
                <a:tc>
                  <a:txBody>
                    <a:bodyPr wrap="square"/>
                    <a:lstStyle/>
                    <a:p>
                      <a:r>
                        <a:rPr sz="1100" b="1" i="0">
                          <a:solidFill>
                            <a:schemeClr val="bg1"/>
                          </a:solidFill>
                        </a:rPr>
                        <a:t>Query</a:t>
                      </a:r>
                    </a:p>
                  </a:txBody>
                  <a:tcPr marL="73152" marR="73152" marT="36576" marB="36576" anchor="ctr">
                    <a:lnL w="6350">
                      <a:solidFill>
                        <a:srgbClr val="D5DEE5"/>
                      </a:solidFill>
                    </a:lnL>
                    <a:lnR w="6350">
                      <a:solidFill>
                        <a:srgbClr val="D5DEE5"/>
                      </a:solidFill>
                    </a:lnR>
                    <a:lnT w="6350">
                      <a:solidFill>
                        <a:srgbClr val="D5DEE5"/>
                      </a:solidFill>
                    </a:lnT>
                    <a:lnB w="6350">
                      <a:solidFill>
                        <a:srgbClr val="D5DEE5"/>
                      </a:solidFill>
                    </a:lnB>
                    <a:solidFill>
                      <a:schemeClr val="tx1"/>
                    </a:solidFill>
                  </a:tcPr>
                </a:tc>
              </a:tr>
              <a:tr h="713232">
                <a:tc>
                  <a:txBody>
                    <a:bodyPr wrap="square"/>
                    <a:lstStyle/>
                    <a:p>
                      <a:r>
                        <a:rPr sz="1100" b="1" i="0">
                          <a:solidFill>
                            <a:schemeClr val="tx1"/>
                          </a:solidFill>
                        </a:rPr>
                        <a:t>Metrics</a:t>
                      </a:r>
                    </a:p>
                  </a:txBody>
                  <a:tcPr marL="73152" marR="73152" marT="36576" marB="36576" anchor="ctr">
                    <a:lnL w="6350">
                      <a:solidFill>
                        <a:srgbClr val="D5DEE5"/>
                      </a:solidFill>
                    </a:lnL>
                    <a:lnR w="6350">
                      <a:solidFill>
                        <a:srgbClr val="D5DEE5"/>
                      </a:solidFill>
                    </a:lnR>
                    <a:lnT w="6350">
                      <a:solidFill>
                        <a:srgbClr val="D5DEE5"/>
                      </a:solidFill>
                    </a:lnT>
                    <a:lnB w="6350">
                      <a:solidFill>
                        <a:srgbClr val="D5DEE5"/>
                      </a:solidFill>
                    </a:lnB>
                    <a:solidFill>
                      <a:schemeClr val="bg1"/>
                    </a:solidFill>
                  </a:tcPr>
                </a:tc>
                <a:tc>
                  <a:txBody>
                    <a:bodyPr wrap="square"/>
                    <a:lstStyle/>
                    <a:p>
                      <a:r>
                        <a:rPr sz="1100" b="0" i="0">
                          <a:solidFill>
                            <a:schemeClr val="tx1"/>
                          </a:solidFill>
                        </a:rPr>
                        <a:t>Prometheus TSDB: in-memory head + write-ahead log, compacted 2-hour blocks</a:t>
                      </a:r>
                    </a:p>
                  </a:txBody>
                  <a:tcPr marL="73152" marR="73152" marT="36576" marB="36576" anchor="ctr">
                    <a:lnL w="6350">
                      <a:solidFill>
                        <a:srgbClr val="D5DEE5"/>
                      </a:solidFill>
                    </a:lnL>
                    <a:lnR w="6350">
                      <a:solidFill>
                        <a:srgbClr val="D5DEE5"/>
                      </a:solidFill>
                    </a:lnR>
                    <a:lnT w="6350">
                      <a:solidFill>
                        <a:srgbClr val="D5DEE5"/>
                      </a:solidFill>
                    </a:lnT>
                    <a:lnB w="6350">
                      <a:solidFill>
                        <a:srgbClr val="D5DEE5"/>
                      </a:solidFill>
                    </a:lnB>
                    <a:solidFill>
                      <a:schemeClr val="bg1"/>
                    </a:solidFill>
                  </a:tcPr>
                </a:tc>
                <a:tc>
                  <a:txBody>
                    <a:bodyPr wrap="square"/>
                    <a:lstStyle/>
                    <a:p>
                      <a:r>
                        <a:rPr sz="1100" b="0" i="0">
                          <a:solidFill>
                            <a:schemeClr val="accent3"/>
                          </a:solidFill>
                        </a:rPr>
                        <a:t>emptyDir in the pod (lost on restart)</a:t>
                      </a:r>
                    </a:p>
                  </a:txBody>
                  <a:tcPr marL="73152" marR="73152" marT="36576" marB="36576" anchor="ctr">
                    <a:lnL w="6350">
                      <a:solidFill>
                        <a:srgbClr val="D5DEE5"/>
                      </a:solidFill>
                    </a:lnL>
                    <a:lnR w="6350">
                      <a:solidFill>
                        <a:srgbClr val="D5DEE5"/>
                      </a:solidFill>
                    </a:lnR>
                    <a:lnT w="6350">
                      <a:solidFill>
                        <a:srgbClr val="D5DEE5"/>
                      </a:solidFill>
                    </a:lnT>
                    <a:lnB w="6350">
                      <a:solidFill>
                        <a:srgbClr val="D5DEE5"/>
                      </a:solidFill>
                    </a:lnB>
                    <a:solidFill>
                      <a:schemeClr val="bg1"/>
                    </a:solidFill>
                  </a:tcPr>
                </a:tc>
                <a:tc>
                  <a:txBody>
                    <a:bodyPr wrap="square"/>
                    <a:lstStyle/>
                    <a:p>
                      <a:r>
                        <a:rPr sz="1100" b="0" i="0">
                          <a:solidFill>
                            <a:schemeClr val="tx1"/>
                          </a:solidFill>
                        </a:rPr>
                        <a:t>UWM Prometheus on a PVC; Thanos Querier for queries</a:t>
                      </a:r>
                    </a:p>
                  </a:txBody>
                  <a:tcPr marL="73152" marR="73152" marT="36576" marB="36576" anchor="ctr">
                    <a:lnL w="6350">
                      <a:solidFill>
                        <a:srgbClr val="D5DEE5"/>
                      </a:solidFill>
                    </a:lnL>
                    <a:lnR w="6350">
                      <a:solidFill>
                        <a:srgbClr val="D5DEE5"/>
                      </a:solidFill>
                    </a:lnR>
                    <a:lnT w="6350">
                      <a:solidFill>
                        <a:srgbClr val="D5DEE5"/>
                      </a:solidFill>
                    </a:lnT>
                    <a:lnB w="6350">
                      <a:solidFill>
                        <a:srgbClr val="D5DEE5"/>
                      </a:solidFill>
                    </a:lnB>
                    <a:solidFill>
                      <a:schemeClr val="bg1"/>
                    </a:solidFill>
                  </a:tcPr>
                </a:tc>
                <a:tc>
                  <a:txBody>
                    <a:bodyPr wrap="square"/>
                    <a:lstStyle/>
                    <a:p>
                      <a:r>
                        <a:rPr sz="1100" b="0" i="0">
                          <a:solidFill>
                            <a:schemeClr val="tx1"/>
                          </a:solidFill>
                        </a:rPr>
                        <a:t>2 days</a:t>
                      </a:r>
                    </a:p>
                  </a:txBody>
                  <a:tcPr marL="73152" marR="73152" marT="36576" marB="36576" anchor="ctr">
                    <a:lnL w="6350">
                      <a:solidFill>
                        <a:srgbClr val="D5DEE5"/>
                      </a:solidFill>
                    </a:lnL>
                    <a:lnR w="6350">
                      <a:solidFill>
                        <a:srgbClr val="D5DEE5"/>
                      </a:solidFill>
                    </a:lnR>
                    <a:lnT w="6350">
                      <a:solidFill>
                        <a:srgbClr val="D5DEE5"/>
                      </a:solidFill>
                    </a:lnT>
                    <a:lnB w="6350">
                      <a:solidFill>
                        <a:srgbClr val="D5DEE5"/>
                      </a:solidFill>
                    </a:lnB>
                    <a:solidFill>
                      <a:schemeClr val="bg1"/>
                    </a:solidFill>
                  </a:tcPr>
                </a:tc>
                <a:tc>
                  <a:txBody>
                    <a:bodyPr wrap="square"/>
                    <a:lstStyle/>
                    <a:p>
                      <a:r>
                        <a:rPr sz="1100" b="0" i="0">
                          <a:solidFill>
                            <a:schemeClr val="tx1"/>
                          </a:solidFill>
                        </a:rPr>
                        <a:t>PromQL</a:t>
                      </a:r>
                    </a:p>
                  </a:txBody>
                  <a:tcPr marL="73152" marR="73152" marT="36576" marB="36576" anchor="ctr">
                    <a:lnL w="6350">
                      <a:solidFill>
                        <a:srgbClr val="D5DEE5"/>
                      </a:solidFill>
                    </a:lnL>
                    <a:lnR w="6350">
                      <a:solidFill>
                        <a:srgbClr val="D5DEE5"/>
                      </a:solidFill>
                    </a:lnR>
                    <a:lnT w="6350">
                      <a:solidFill>
                        <a:srgbClr val="D5DEE5"/>
                      </a:solidFill>
                    </a:lnT>
                    <a:lnB w="6350">
                      <a:solidFill>
                        <a:srgbClr val="D5DEE5"/>
                      </a:solidFill>
                    </a:lnB>
                    <a:solidFill>
                      <a:schemeClr val="bg1"/>
                    </a:solidFill>
                  </a:tcPr>
                </a:tc>
              </a:tr>
              <a:tr h="713232">
                <a:tc>
                  <a:txBody>
                    <a:bodyPr wrap="square"/>
                    <a:lstStyle/>
                    <a:p>
                      <a:r>
                        <a:rPr sz="1100" b="1" i="0">
                          <a:solidFill>
                            <a:schemeClr val="tx1"/>
                          </a:solidFill>
                        </a:rPr>
                        <a:t>Traces</a:t>
                      </a:r>
                    </a:p>
                  </a:txBody>
                  <a:tcPr marL="73152" marR="73152" marT="36576" marB="36576" anchor="ctr">
                    <a:lnL w="6350">
                      <a:solidFill>
                        <a:srgbClr val="D5DEE5"/>
                      </a:solidFill>
                    </a:lnL>
                    <a:lnR w="6350">
                      <a:solidFill>
                        <a:srgbClr val="D5DEE5"/>
                      </a:solidFill>
                    </a:lnR>
                    <a:lnT w="6350">
                      <a:solidFill>
                        <a:srgbClr val="D5DEE5"/>
                      </a:solidFill>
                    </a:lnT>
                    <a:lnB w="6350">
                      <a:solidFill>
                        <a:srgbClr val="D5DEE5"/>
                      </a:solidFill>
                    </a:lnB>
                    <a:solidFill>
                      <a:schemeClr val="bg2"/>
                    </a:solidFill>
                  </a:tcPr>
                </a:tc>
                <a:tc>
                  <a:txBody>
                    <a:bodyPr wrap="square"/>
                    <a:lstStyle/>
                    <a:p>
                      <a:r>
                        <a:rPr sz="1100" b="0" i="0">
                          <a:solidFill>
                            <a:schemeClr val="tx1"/>
                          </a:solidFill>
                        </a:rPr>
                        <a:t>Tempo: WAL, then Apache Parquet blocks (vParquet4) with bloom filters</a:t>
                      </a:r>
                    </a:p>
                  </a:txBody>
                  <a:tcPr marL="73152" marR="73152" marT="36576" marB="36576" anchor="ctr">
                    <a:lnL w="6350">
                      <a:solidFill>
                        <a:srgbClr val="D5DEE5"/>
                      </a:solidFill>
                    </a:lnL>
                    <a:lnR w="6350">
                      <a:solidFill>
                        <a:srgbClr val="D5DEE5"/>
                      </a:solidFill>
                    </a:lnR>
                    <a:lnT w="6350">
                      <a:solidFill>
                        <a:srgbClr val="D5DEE5"/>
                      </a:solidFill>
                    </a:lnT>
                    <a:lnB w="6350">
                      <a:solidFill>
                        <a:srgbClr val="D5DEE5"/>
                      </a:solidFill>
                    </a:lnB>
                    <a:solidFill>
                      <a:schemeClr val="bg2"/>
                    </a:solidFill>
                  </a:tcPr>
                </a:tc>
                <a:tc>
                  <a:txBody>
                    <a:bodyPr wrap="square"/>
                    <a:lstStyle/>
                    <a:p>
                      <a:r>
                        <a:rPr sz="1100" b="0" i="0">
                          <a:solidFill>
                            <a:schemeClr val="tx1"/>
                          </a:solidFill>
                        </a:rPr>
                        <a:t>5 Gi persistent volume, local backend</a:t>
                      </a:r>
                    </a:p>
                  </a:txBody>
                  <a:tcPr marL="73152" marR="73152" marT="36576" marB="36576" anchor="ctr">
                    <a:lnL w="6350">
                      <a:solidFill>
                        <a:srgbClr val="D5DEE5"/>
                      </a:solidFill>
                    </a:lnL>
                    <a:lnR w="6350">
                      <a:solidFill>
                        <a:srgbClr val="D5DEE5"/>
                      </a:solidFill>
                    </a:lnR>
                    <a:lnT w="6350">
                      <a:solidFill>
                        <a:srgbClr val="D5DEE5"/>
                      </a:solidFill>
                    </a:lnT>
                    <a:lnB w="6350">
                      <a:solidFill>
                        <a:srgbClr val="D5DEE5"/>
                      </a:solidFill>
                    </a:lnB>
                    <a:solidFill>
                      <a:schemeClr val="bg2"/>
                    </a:solidFill>
                  </a:tcPr>
                </a:tc>
                <a:tc>
                  <a:txBody>
                    <a:bodyPr wrap="square"/>
                    <a:lstStyle/>
                    <a:p>
                      <a:r>
                        <a:rPr sz="1100" b="0" i="0">
                          <a:solidFill>
                            <a:schemeClr val="tx1"/>
                          </a:solidFill>
                        </a:rPr>
                        <a:t>TempoStack on S3-compatible object storage (ODF, MinIO)</a:t>
                      </a:r>
                    </a:p>
                  </a:txBody>
                  <a:tcPr marL="73152" marR="73152" marT="36576" marB="36576" anchor="ctr">
                    <a:lnL w="6350">
                      <a:solidFill>
                        <a:srgbClr val="D5DEE5"/>
                      </a:solidFill>
                    </a:lnL>
                    <a:lnR w="6350">
                      <a:solidFill>
                        <a:srgbClr val="D5DEE5"/>
                      </a:solidFill>
                    </a:lnR>
                    <a:lnT w="6350">
                      <a:solidFill>
                        <a:srgbClr val="D5DEE5"/>
                      </a:solidFill>
                    </a:lnT>
                    <a:lnB w="6350">
                      <a:solidFill>
                        <a:srgbClr val="D5DEE5"/>
                      </a:solidFill>
                    </a:lnB>
                    <a:solidFill>
                      <a:schemeClr val="bg2"/>
                    </a:solidFill>
                  </a:tcPr>
                </a:tc>
                <a:tc>
                  <a:txBody>
                    <a:bodyPr wrap="square"/>
                    <a:lstStyle/>
                    <a:p>
                      <a:r>
                        <a:rPr sz="1100" b="0" i="0">
                          <a:solidFill>
                            <a:schemeClr val="tx1"/>
                          </a:solidFill>
                        </a:rPr>
                        <a:t>14 days (default 336 h)</a:t>
                      </a:r>
                    </a:p>
                  </a:txBody>
                  <a:tcPr marL="73152" marR="73152" marT="36576" marB="36576" anchor="ctr">
                    <a:lnL w="6350">
                      <a:solidFill>
                        <a:srgbClr val="D5DEE5"/>
                      </a:solidFill>
                    </a:lnL>
                    <a:lnR w="6350">
                      <a:solidFill>
                        <a:srgbClr val="D5DEE5"/>
                      </a:solidFill>
                    </a:lnR>
                    <a:lnT w="6350">
                      <a:solidFill>
                        <a:srgbClr val="D5DEE5"/>
                      </a:solidFill>
                    </a:lnT>
                    <a:lnB w="6350">
                      <a:solidFill>
                        <a:srgbClr val="D5DEE5"/>
                      </a:solidFill>
                    </a:lnB>
                    <a:solidFill>
                      <a:schemeClr val="bg2"/>
                    </a:solidFill>
                  </a:tcPr>
                </a:tc>
                <a:tc>
                  <a:txBody>
                    <a:bodyPr wrap="square"/>
                    <a:lstStyle/>
                    <a:p>
                      <a:r>
                        <a:rPr sz="1100" b="0" i="0">
                          <a:solidFill>
                            <a:schemeClr val="tx1"/>
                          </a:solidFill>
                        </a:rPr>
                        <a:t>TraceQL</a:t>
                      </a:r>
                    </a:p>
                  </a:txBody>
                  <a:tcPr marL="73152" marR="73152" marT="36576" marB="36576" anchor="ctr">
                    <a:lnL w="6350">
                      <a:solidFill>
                        <a:srgbClr val="D5DEE5"/>
                      </a:solidFill>
                    </a:lnL>
                    <a:lnR w="6350">
                      <a:solidFill>
                        <a:srgbClr val="D5DEE5"/>
                      </a:solidFill>
                    </a:lnR>
                    <a:lnT w="6350">
                      <a:solidFill>
                        <a:srgbClr val="D5DEE5"/>
                      </a:solidFill>
                    </a:lnT>
                    <a:lnB w="6350">
                      <a:solidFill>
                        <a:srgbClr val="D5DEE5"/>
                      </a:solidFill>
                    </a:lnB>
                    <a:solidFill>
                      <a:schemeClr val="bg2"/>
                    </a:solidFill>
                  </a:tcPr>
                </a:tc>
              </a:tr>
              <a:tr h="713232">
                <a:tc>
                  <a:txBody>
                    <a:bodyPr wrap="square"/>
                    <a:lstStyle/>
                    <a:p>
                      <a:r>
                        <a:rPr sz="1100" b="1" i="0">
                          <a:solidFill>
                            <a:schemeClr val="tx1"/>
                          </a:solidFill>
                        </a:rPr>
                        <a:t>Logs</a:t>
                      </a:r>
                    </a:p>
                  </a:txBody>
                  <a:tcPr marL="73152" marR="73152" marT="36576" marB="36576" anchor="ctr">
                    <a:lnL w="6350">
                      <a:solidFill>
                        <a:srgbClr val="D5DEE5"/>
                      </a:solidFill>
                    </a:lnL>
                    <a:lnR w="6350">
                      <a:solidFill>
                        <a:srgbClr val="D5DEE5"/>
                      </a:solidFill>
                    </a:lnR>
                    <a:lnT w="6350">
                      <a:solidFill>
                        <a:srgbClr val="D5DEE5"/>
                      </a:solidFill>
                    </a:lnT>
                    <a:lnB w="6350">
                      <a:solidFill>
                        <a:srgbClr val="D5DEE5"/>
                      </a:solidFill>
                    </a:lnB>
                    <a:solidFill>
                      <a:schemeClr val="bg1"/>
                    </a:solidFill>
                  </a:tcPr>
                </a:tc>
                <a:tc>
                  <a:txBody>
                    <a:bodyPr wrap="square"/>
                    <a:lstStyle/>
                    <a:p>
                      <a:r>
                        <a:rPr sz="1100" b="0" i="0">
                          <a:solidFill>
                            <a:schemeClr val="tx1"/>
                          </a:solidFill>
                        </a:rPr>
                        <a:t>Loki: compressed chunks + TSDB index; labels service_name, namespace; other fields as structured metadata</a:t>
                      </a:r>
                    </a:p>
                  </a:txBody>
                  <a:tcPr marL="73152" marR="73152" marT="36576" marB="36576" anchor="ctr">
                    <a:lnL w="6350">
                      <a:solidFill>
                        <a:srgbClr val="D5DEE5"/>
                      </a:solidFill>
                    </a:lnL>
                    <a:lnR w="6350">
                      <a:solidFill>
                        <a:srgbClr val="D5DEE5"/>
                      </a:solidFill>
                    </a:lnR>
                    <a:lnT w="6350">
                      <a:solidFill>
                        <a:srgbClr val="D5DEE5"/>
                      </a:solidFill>
                    </a:lnT>
                    <a:lnB w="6350">
                      <a:solidFill>
                        <a:srgbClr val="D5DEE5"/>
                      </a:solidFill>
                    </a:lnB>
                    <a:solidFill>
                      <a:schemeClr val="bg1"/>
                    </a:solidFill>
                  </a:tcPr>
                </a:tc>
                <a:tc>
                  <a:txBody>
                    <a:bodyPr wrap="square"/>
                    <a:lstStyle/>
                    <a:p>
                      <a:r>
                        <a:rPr sz="1100" b="0" i="0">
                          <a:solidFill>
                            <a:schemeClr val="tx1"/>
                          </a:solidFill>
                        </a:rPr>
                        <a:t>5 Gi persistent volume, filesystem</a:t>
                      </a:r>
                    </a:p>
                  </a:txBody>
                  <a:tcPr marL="73152" marR="73152" marT="36576" marB="36576" anchor="ctr">
                    <a:lnL w="6350">
                      <a:solidFill>
                        <a:srgbClr val="D5DEE5"/>
                      </a:solidFill>
                    </a:lnL>
                    <a:lnR w="6350">
                      <a:solidFill>
                        <a:srgbClr val="D5DEE5"/>
                      </a:solidFill>
                    </a:lnR>
                    <a:lnT w="6350">
                      <a:solidFill>
                        <a:srgbClr val="D5DEE5"/>
                      </a:solidFill>
                    </a:lnT>
                    <a:lnB w="6350">
                      <a:solidFill>
                        <a:srgbClr val="D5DEE5"/>
                      </a:solidFill>
                    </a:lnB>
                    <a:solidFill>
                      <a:schemeClr val="bg1"/>
                    </a:solidFill>
                  </a:tcPr>
                </a:tc>
                <a:tc>
                  <a:txBody>
                    <a:bodyPr wrap="square"/>
                    <a:lstStyle/>
                    <a:p>
                      <a:r>
                        <a:rPr sz="1100" b="0" i="0">
                          <a:solidFill>
                            <a:schemeClr val="tx1"/>
                          </a:solidFill>
                        </a:rPr>
                        <a:t>LokiStack on object storage</a:t>
                      </a:r>
                    </a:p>
                  </a:txBody>
                  <a:tcPr marL="73152" marR="73152" marT="36576" marB="36576" anchor="ctr">
                    <a:lnL w="6350">
                      <a:solidFill>
                        <a:srgbClr val="D5DEE5"/>
                      </a:solidFill>
                    </a:lnL>
                    <a:lnR w="6350">
                      <a:solidFill>
                        <a:srgbClr val="D5DEE5"/>
                      </a:solidFill>
                    </a:lnR>
                    <a:lnT w="6350">
                      <a:solidFill>
                        <a:srgbClr val="D5DEE5"/>
                      </a:solidFill>
                    </a:lnT>
                    <a:lnB w="6350">
                      <a:solidFill>
                        <a:srgbClr val="D5DEE5"/>
                      </a:solidFill>
                    </a:lnB>
                    <a:solidFill>
                      <a:schemeClr val="bg1"/>
                    </a:solidFill>
                  </a:tcPr>
                </a:tc>
                <a:tc>
                  <a:txBody>
                    <a:bodyPr wrap="square"/>
                    <a:lstStyle/>
                    <a:p>
                      <a:r>
                        <a:rPr sz="1100" b="0" i="0">
                          <a:solidFill>
                            <a:schemeClr val="accent3"/>
                          </a:solidFill>
                        </a:rPr>
                        <a:t>48 h set, not yet enforced</a:t>
                      </a:r>
                    </a:p>
                  </a:txBody>
                  <a:tcPr marL="73152" marR="73152" marT="36576" marB="36576" anchor="ctr">
                    <a:lnL w="6350">
                      <a:solidFill>
                        <a:srgbClr val="D5DEE5"/>
                      </a:solidFill>
                    </a:lnL>
                    <a:lnR w="6350">
                      <a:solidFill>
                        <a:srgbClr val="D5DEE5"/>
                      </a:solidFill>
                    </a:lnR>
                    <a:lnT w="6350">
                      <a:solidFill>
                        <a:srgbClr val="D5DEE5"/>
                      </a:solidFill>
                    </a:lnT>
                    <a:lnB w="6350">
                      <a:solidFill>
                        <a:srgbClr val="D5DEE5"/>
                      </a:solidFill>
                    </a:lnB>
                    <a:solidFill>
                      <a:schemeClr val="bg1"/>
                    </a:solidFill>
                  </a:tcPr>
                </a:tc>
                <a:tc>
                  <a:txBody>
                    <a:bodyPr wrap="square"/>
                    <a:lstStyle/>
                    <a:p>
                      <a:r>
                        <a:rPr sz="1100" b="0" i="0">
                          <a:solidFill>
                            <a:schemeClr val="tx1"/>
                          </a:solidFill>
                        </a:rPr>
                        <a:t>LogQL</a:t>
                      </a:r>
                    </a:p>
                  </a:txBody>
                  <a:tcPr marL="73152" marR="73152" marT="36576" marB="36576" anchor="ctr">
                    <a:lnL w="6350">
                      <a:solidFill>
                        <a:srgbClr val="D5DEE5"/>
                      </a:solidFill>
                    </a:lnL>
                    <a:lnR w="6350">
                      <a:solidFill>
                        <a:srgbClr val="D5DEE5"/>
                      </a:solidFill>
                    </a:lnR>
                    <a:lnT w="6350">
                      <a:solidFill>
                        <a:srgbClr val="D5DEE5"/>
                      </a:solidFill>
                    </a:lnT>
                    <a:lnB w="6350">
                      <a:solidFill>
                        <a:srgbClr val="D5DEE5"/>
                      </a:solidFill>
                    </a:lnB>
                    <a:solidFill>
                      <a:schemeClr val="bg1"/>
                    </a:solidFill>
                  </a:tcPr>
                </a:tc>
              </a:tr>
              <a:tr h="713232">
                <a:tc>
                  <a:txBody>
                    <a:bodyPr wrap="square"/>
                    <a:lstStyle/>
                    <a:p>
                      <a:r>
                        <a:rPr sz="1100" b="1" i="0">
                          <a:solidFill>
                            <a:schemeClr val="tx1"/>
                          </a:solidFill>
                        </a:rPr>
                        <a:t>Alerts</a:t>
                      </a:r>
                    </a:p>
                  </a:txBody>
                  <a:tcPr marL="73152" marR="73152" marT="36576" marB="36576" anchor="ctr">
                    <a:lnL w="6350">
                      <a:solidFill>
                        <a:srgbClr val="D5DEE5"/>
                      </a:solidFill>
                    </a:lnL>
                    <a:lnR w="6350">
                      <a:solidFill>
                        <a:srgbClr val="D5DEE5"/>
                      </a:solidFill>
                    </a:lnR>
                    <a:lnT w="6350">
                      <a:solidFill>
                        <a:srgbClr val="D5DEE5"/>
                      </a:solidFill>
                    </a:lnT>
                    <a:lnB w="6350">
                      <a:solidFill>
                        <a:srgbClr val="D5DEE5"/>
                      </a:solidFill>
                    </a:lnB>
                    <a:solidFill>
                      <a:schemeClr val="bg2"/>
                    </a:solidFill>
                  </a:tcPr>
                </a:tc>
                <a:tc>
                  <a:txBody>
                    <a:bodyPr wrap="square"/>
                    <a:lstStyle/>
                    <a:p>
                      <a:r>
                        <a:rPr sz="1100" b="0" i="0">
                          <a:solidFill>
                            <a:schemeClr val="tx1"/>
                          </a:solidFill>
                        </a:rPr>
                        <a:t>Alertmanager: alert state and silences</a:t>
                      </a:r>
                    </a:p>
                  </a:txBody>
                  <a:tcPr marL="73152" marR="73152" marT="36576" marB="36576" anchor="ctr">
                    <a:lnL w="6350">
                      <a:solidFill>
                        <a:srgbClr val="D5DEE5"/>
                      </a:solidFill>
                    </a:lnL>
                    <a:lnR w="6350">
                      <a:solidFill>
                        <a:srgbClr val="D5DEE5"/>
                      </a:solidFill>
                    </a:lnR>
                    <a:lnT w="6350">
                      <a:solidFill>
                        <a:srgbClr val="D5DEE5"/>
                      </a:solidFill>
                    </a:lnT>
                    <a:lnB w="6350">
                      <a:solidFill>
                        <a:srgbClr val="D5DEE5"/>
                      </a:solidFill>
                    </a:lnB>
                    <a:solidFill>
                      <a:schemeClr val="bg2"/>
                    </a:solidFill>
                  </a:tcPr>
                </a:tc>
                <a:tc>
                  <a:txBody>
                    <a:bodyPr wrap="square"/>
                    <a:lstStyle/>
                    <a:p>
                      <a:r>
                        <a:rPr sz="1100" b="0" i="0">
                          <a:solidFill>
                            <a:schemeClr val="tx1"/>
                          </a:solidFill>
                        </a:rPr>
                        <a:t>emptyDir</a:t>
                      </a:r>
                    </a:p>
                  </a:txBody>
                  <a:tcPr marL="73152" marR="73152" marT="36576" marB="36576" anchor="ctr">
                    <a:lnL w="6350">
                      <a:solidFill>
                        <a:srgbClr val="D5DEE5"/>
                      </a:solidFill>
                    </a:lnL>
                    <a:lnR w="6350">
                      <a:solidFill>
                        <a:srgbClr val="D5DEE5"/>
                      </a:solidFill>
                    </a:lnR>
                    <a:lnT w="6350">
                      <a:solidFill>
                        <a:srgbClr val="D5DEE5"/>
                      </a:solidFill>
                    </a:lnT>
                    <a:lnB w="6350">
                      <a:solidFill>
                        <a:srgbClr val="D5DEE5"/>
                      </a:solidFill>
                    </a:lnB>
                    <a:solidFill>
                      <a:schemeClr val="bg2"/>
                    </a:solidFill>
                  </a:tcPr>
                </a:tc>
                <a:tc>
                  <a:txBody>
                    <a:bodyPr wrap="square"/>
                    <a:lstStyle/>
                    <a:p>
                      <a:r>
                        <a:rPr sz="1100" b="0" i="0">
                          <a:solidFill>
                            <a:schemeClr val="tx1"/>
                          </a:solidFill>
                        </a:rPr>
                        <a:t>Platform or UWM Alertmanager</a:t>
                      </a:r>
                    </a:p>
                  </a:txBody>
                  <a:tcPr marL="73152" marR="73152" marT="36576" marB="36576" anchor="ctr">
                    <a:lnL w="6350">
                      <a:solidFill>
                        <a:srgbClr val="D5DEE5"/>
                      </a:solidFill>
                    </a:lnL>
                    <a:lnR w="6350">
                      <a:solidFill>
                        <a:srgbClr val="D5DEE5"/>
                      </a:solidFill>
                    </a:lnR>
                    <a:lnT w="6350">
                      <a:solidFill>
                        <a:srgbClr val="D5DEE5"/>
                      </a:solidFill>
                    </a:lnT>
                    <a:lnB w="6350">
                      <a:solidFill>
                        <a:srgbClr val="D5DEE5"/>
                      </a:solidFill>
                    </a:lnB>
                    <a:solidFill>
                      <a:schemeClr val="bg2"/>
                    </a:solidFill>
                  </a:tcPr>
                </a:tc>
                <a:tc>
                  <a:txBody>
                    <a:bodyPr wrap="square"/>
                    <a:lstStyle/>
                    <a:p>
                      <a:r>
                        <a:rPr sz="1100" b="0" i="0">
                          <a:solidFill>
                            <a:schemeClr val="tx1"/>
                          </a:solidFill>
                        </a:rPr>
                        <a:t>While firing</a:t>
                      </a:r>
                    </a:p>
                  </a:txBody>
                  <a:tcPr marL="73152" marR="73152" marT="36576" marB="36576" anchor="ctr">
                    <a:lnL w="6350">
                      <a:solidFill>
                        <a:srgbClr val="D5DEE5"/>
                      </a:solidFill>
                    </a:lnL>
                    <a:lnR w="6350">
                      <a:solidFill>
                        <a:srgbClr val="D5DEE5"/>
                      </a:solidFill>
                    </a:lnR>
                    <a:lnT w="6350">
                      <a:solidFill>
                        <a:srgbClr val="D5DEE5"/>
                      </a:solidFill>
                    </a:lnT>
                    <a:lnB w="6350">
                      <a:solidFill>
                        <a:srgbClr val="D5DEE5"/>
                      </a:solidFill>
                    </a:lnB>
                    <a:solidFill>
                      <a:schemeClr val="bg2"/>
                    </a:solidFill>
                  </a:tcPr>
                </a:tc>
                <a:tc>
                  <a:txBody>
                    <a:bodyPr wrap="square"/>
                    <a:lstStyle/>
                    <a:p>
                      <a:r>
                        <a:rPr sz="1100" b="0" i="0">
                          <a:solidFill>
                            <a:schemeClr val="tx1"/>
                          </a:solidFill>
                        </a:rPr>
                        <a:t>API v2</a:t>
                      </a:r>
                    </a:p>
                  </a:txBody>
                  <a:tcPr marL="73152" marR="73152" marT="36576" marB="36576" anchor="ctr">
                    <a:lnL w="6350">
                      <a:solidFill>
                        <a:srgbClr val="D5DEE5"/>
                      </a:solidFill>
                    </a:lnL>
                    <a:lnR w="6350">
                      <a:solidFill>
                        <a:srgbClr val="D5DEE5"/>
                      </a:solidFill>
                    </a:lnR>
                    <a:lnT w="6350">
                      <a:solidFill>
                        <a:srgbClr val="D5DEE5"/>
                      </a:solidFill>
                    </a:lnT>
                    <a:lnB w="6350">
                      <a:solidFill>
                        <a:srgbClr val="D5DEE5"/>
                      </a:solidFill>
                    </a:lnB>
                    <a:solidFill>
                      <a:schemeClr val="bg2"/>
                    </a:solidFill>
                  </a:tcPr>
                </a:tc>
              </a:tr>
              <a:tr h="713232">
                <a:tc>
                  <a:txBody>
                    <a:bodyPr wrap="square"/>
                    <a:lstStyle/>
                    <a:p>
                      <a:r>
                        <a:rPr sz="1100" b="1" i="0">
                          <a:solidFill>
                            <a:schemeClr val="tx1"/>
                          </a:solidFill>
                        </a:rPr>
                        <a:t>Dashboards</a:t>
                      </a:r>
                    </a:p>
                  </a:txBody>
                  <a:tcPr marL="73152" marR="73152" marT="36576" marB="36576" anchor="ctr">
                    <a:lnL w="6350">
                      <a:solidFill>
                        <a:srgbClr val="D5DEE5"/>
                      </a:solidFill>
                    </a:lnL>
                    <a:lnR w="6350">
                      <a:solidFill>
                        <a:srgbClr val="D5DEE5"/>
                      </a:solidFill>
                    </a:lnR>
                    <a:lnT w="6350">
                      <a:solidFill>
                        <a:srgbClr val="D5DEE5"/>
                      </a:solidFill>
                    </a:lnT>
                    <a:lnB w="6350">
                      <a:solidFill>
                        <a:srgbClr val="D5DEE5"/>
                      </a:solidFill>
                    </a:lnB>
                    <a:solidFill>
                      <a:schemeClr val="bg1"/>
                    </a:solidFill>
                  </a:tcPr>
                </a:tc>
                <a:tc>
                  <a:txBody>
                    <a:bodyPr wrap="square"/>
                    <a:lstStyle/>
                    <a:p>
                      <a:r>
                        <a:rPr sz="1100" b="0" i="0">
                          <a:solidFill>
                            <a:schemeClr val="tx1"/>
                          </a:solidFill>
                        </a:rPr>
                        <a:t>Grafana: dashboards as code (ConfigMap), SQLite for settings</a:t>
                      </a:r>
                    </a:p>
                  </a:txBody>
                  <a:tcPr marL="73152" marR="73152" marT="36576" marB="36576" anchor="ctr">
                    <a:lnL w="6350">
                      <a:solidFill>
                        <a:srgbClr val="D5DEE5"/>
                      </a:solidFill>
                    </a:lnL>
                    <a:lnR w="6350">
                      <a:solidFill>
                        <a:srgbClr val="D5DEE5"/>
                      </a:solidFill>
                    </a:lnR>
                    <a:lnT w="6350">
                      <a:solidFill>
                        <a:srgbClr val="D5DEE5"/>
                      </a:solidFill>
                    </a:lnT>
                    <a:lnB w="6350">
                      <a:solidFill>
                        <a:srgbClr val="D5DEE5"/>
                      </a:solidFill>
                    </a:lnB>
                    <a:solidFill>
                      <a:schemeClr val="bg1"/>
                    </a:solidFill>
                  </a:tcPr>
                </a:tc>
                <a:tc>
                  <a:txBody>
                    <a:bodyPr wrap="square"/>
                    <a:lstStyle/>
                    <a:p>
                      <a:r>
                        <a:rPr sz="1100" b="0" i="0">
                          <a:solidFill>
                            <a:schemeClr val="tx1"/>
                          </a:solidFill>
                        </a:rPr>
                        <a:t>In the pod</a:t>
                      </a:r>
                    </a:p>
                  </a:txBody>
                  <a:tcPr marL="73152" marR="73152" marT="36576" marB="36576" anchor="ctr">
                    <a:lnL w="6350">
                      <a:solidFill>
                        <a:srgbClr val="D5DEE5"/>
                      </a:solidFill>
                    </a:lnL>
                    <a:lnR w="6350">
                      <a:solidFill>
                        <a:srgbClr val="D5DEE5"/>
                      </a:solidFill>
                    </a:lnR>
                    <a:lnT w="6350">
                      <a:solidFill>
                        <a:srgbClr val="D5DEE5"/>
                      </a:solidFill>
                    </a:lnT>
                    <a:lnB w="6350">
                      <a:solidFill>
                        <a:srgbClr val="D5DEE5"/>
                      </a:solidFill>
                    </a:lnB>
                    <a:solidFill>
                      <a:schemeClr val="bg1"/>
                    </a:solidFill>
                  </a:tcPr>
                </a:tc>
                <a:tc>
                  <a:txBody>
                    <a:bodyPr wrap="square"/>
                    <a:lstStyle/>
                    <a:p>
                      <a:r>
                        <a:rPr sz="1100" b="0" i="0">
                          <a:solidFill>
                            <a:schemeClr val="tx1"/>
                          </a:solidFill>
                        </a:rPr>
                        <a:t>Grafana Operator CRs</a:t>
                      </a:r>
                    </a:p>
                  </a:txBody>
                  <a:tcPr marL="73152" marR="73152" marT="36576" marB="36576" anchor="ctr">
                    <a:lnL w="6350">
                      <a:solidFill>
                        <a:srgbClr val="D5DEE5"/>
                      </a:solidFill>
                    </a:lnL>
                    <a:lnR w="6350">
                      <a:solidFill>
                        <a:srgbClr val="D5DEE5"/>
                      </a:solidFill>
                    </a:lnR>
                    <a:lnT w="6350">
                      <a:solidFill>
                        <a:srgbClr val="D5DEE5"/>
                      </a:solidFill>
                    </a:lnT>
                    <a:lnB w="6350">
                      <a:solidFill>
                        <a:srgbClr val="D5DEE5"/>
                      </a:solidFill>
                    </a:lnB>
                    <a:solidFill>
                      <a:schemeClr val="bg1"/>
                    </a:solidFill>
                  </a:tcPr>
                </a:tc>
                <a:tc>
                  <a:txBody>
                    <a:bodyPr wrap="square"/>
                    <a:lstStyle/>
                    <a:p>
                      <a:r>
                        <a:rPr sz="1100" b="0" i="0">
                          <a:solidFill>
                            <a:schemeClr val="tx1"/>
                          </a:solidFill>
                        </a:rPr>
                        <a:t>Versioned in Git</a:t>
                      </a:r>
                    </a:p>
                  </a:txBody>
                  <a:tcPr marL="73152" marR="73152" marT="36576" marB="36576" anchor="ctr">
                    <a:lnL w="6350">
                      <a:solidFill>
                        <a:srgbClr val="D5DEE5"/>
                      </a:solidFill>
                    </a:lnL>
                    <a:lnR w="6350">
                      <a:solidFill>
                        <a:srgbClr val="D5DEE5"/>
                      </a:solidFill>
                    </a:lnR>
                    <a:lnT w="6350">
                      <a:solidFill>
                        <a:srgbClr val="D5DEE5"/>
                      </a:solidFill>
                    </a:lnT>
                    <a:lnB w="6350">
                      <a:solidFill>
                        <a:srgbClr val="D5DEE5"/>
                      </a:solidFill>
                    </a:lnB>
                    <a:solidFill>
                      <a:schemeClr val="bg1"/>
                    </a:solidFill>
                  </a:tcPr>
                </a:tc>
                <a:tc>
                  <a:txBody>
                    <a:bodyPr wrap="square"/>
                    <a:lstStyle/>
                    <a:p>
                      <a:r>
                        <a:rPr sz="1100" b="0" i="0">
                          <a:solidFill>
                            <a:schemeClr val="tx1"/>
                          </a:solidFill>
                        </a:rPr>
                        <a:t>-</a:t>
                      </a:r>
                    </a:p>
                  </a:txBody>
                  <a:tcPr marL="73152" marR="73152" marT="36576" marB="36576" anchor="ctr">
                    <a:lnL w="6350">
                      <a:solidFill>
                        <a:srgbClr val="D5DEE5"/>
                      </a:solidFill>
                    </a:lnL>
                    <a:lnR w="6350">
                      <a:solidFill>
                        <a:srgbClr val="D5DEE5"/>
                      </a:solidFill>
                    </a:lnR>
                    <a:lnT w="6350">
                      <a:solidFill>
                        <a:srgbClr val="D5DEE5"/>
                      </a:solidFill>
                    </a:lnT>
                    <a:lnB w="6350">
                      <a:solidFill>
                        <a:srgbClr val="D5DEE5"/>
                      </a:solidFill>
                    </a:lnB>
                    <a:solidFill>
                      <a:schemeClr val="bg1"/>
                    </a:solidFill>
                  </a:tcPr>
                </a:tc>
              </a:tr>
            </a:tbl>
          </a:graphicData>
        </a:graphic>
      </p:graphicFrame>
      <p:sp>
        <p:nvSpPr>
          <p:cNvPr id="5" name="TextBox 4"/>
          <p:cNvSpPr txBox="1"/>
          <p:nvPr/>
        </p:nvSpPr>
        <p:spPr>
          <a:xfrm>
            <a:off x="457200" y="5669280"/>
            <a:ext cx="11247120" cy="365760"/>
          </a:xfrm>
          <a:prstGeom prst="rect">
            <a:avLst/>
          </a:prstGeom>
          <a:noFill/>
        </p:spPr>
        <p:txBody>
          <a:bodyPr wrap="square" lIns="0" rIns="0" tIns="0" bIns="0" anchor="t">
            <a:spAutoFit/>
          </a:bodyPr>
          <a:lstStyle/>
          <a:p>
            <a:pPr algn="l">
              <a:spcAft>
                <a:spcPts val="400"/>
              </a:spcAft>
            </a:pPr>
            <a:r>
              <a:rPr sz="1100" b="0" i="1">
                <a:solidFill>
                  <a:schemeClr val="tx2"/>
                </a:solidFill>
              </a:rPr>
              <a:t>Red = POC gaps to close before production: persistent Prometheus storage, enforced Loki retention.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Envoy access logs: the why behind a red edge</a:t>
            </a:r>
          </a:p>
        </p:txBody>
      </p:sp>
      <p:sp>
        <p:nvSpPr>
          <p:cNvPr id="3"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
        <p:nvSpPr>
          <p:cNvPr id="4" name="Rounded Rectangle 3"/>
          <p:cNvSpPr/>
          <p:nvPr/>
        </p:nvSpPr>
        <p:spPr>
          <a:xfrm>
            <a:off x="457200" y="1280160"/>
            <a:ext cx="5120640" cy="3520440"/>
          </a:xfrm>
          <a:prstGeom prst="roundRect">
            <a:avLst>
              <a:gd name="adj" fmla="val 8000"/>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137160" bIns="137160"/>
          <a:lstStyle/>
          <a:p>
            <a:pPr algn="l">
              <a:spcAft>
                <a:spcPts val="600"/>
              </a:spcAft>
            </a:pPr>
            <a:r>
              <a:rPr sz="1300" b="1" i="0">
                <a:solidFill>
                  <a:schemeClr val="bg1"/>
                </a:solidFill>
              </a:rPr>
              <a:t>One access-log record (payments-svc)</a:t>
            </a:r>
          </a:p>
          <a:p>
            <a:pPr algn="l">
              <a:spcAft>
                <a:spcPts val="600"/>
              </a:spcAft>
            </a:pPr>
            <a:r>
              <a:rPr sz="1300" b="0" i="0">
                <a:solidFill>
                  <a:schemeClr val="bg1"/>
                </a:solidFill>
                <a:latin typeface="Courier New"/>
              </a:rPr>
              <a:t>upstream_cluster = outbound|80||core-banking</a:t>
            </a:r>
          </a:p>
          <a:p>
            <a:pPr algn="l">
              <a:spcAft>
                <a:spcPts val="600"/>
              </a:spcAft>
            </a:pPr>
            <a:r>
              <a:rPr sz="1300" b="0" i="0">
                <a:solidFill>
                  <a:schemeClr val="bg1"/>
                </a:solidFill>
                <a:latin typeface="Courier New"/>
              </a:rPr>
              <a:t>response_code    = 504</a:t>
            </a:r>
          </a:p>
          <a:p>
            <a:pPr algn="l">
              <a:spcAft>
                <a:spcPts val="600"/>
              </a:spcAft>
            </a:pPr>
            <a:r>
              <a:rPr sz="1300" b="1" i="0">
                <a:solidFill>
                  <a:schemeClr val="accent4"/>
                </a:solidFill>
                <a:latin typeface="Courier New"/>
              </a:rPr>
              <a:t>response_flags   = UT</a:t>
            </a:r>
          </a:p>
          <a:p>
            <a:pPr algn="l">
              <a:spcAft>
                <a:spcPts val="600"/>
              </a:spcAft>
            </a:pPr>
            <a:r>
              <a:rPr sz="1300" b="0" i="0">
                <a:solidFill>
                  <a:schemeClr val="bg1"/>
                </a:solidFill>
                <a:latin typeface="Courier New"/>
              </a:rPr>
              <a:t>duration_ms      = 3001</a:t>
            </a:r>
          </a:p>
          <a:p>
            <a:pPr algn="l">
              <a:spcAft>
                <a:spcPts val="600"/>
              </a:spcAft>
            </a:pPr>
            <a:r>
              <a:rPr sz="1300" b="0" i="0">
                <a:solidFill>
                  <a:schemeClr val="bg1"/>
                </a:solidFill>
                <a:latin typeface="Courier New"/>
              </a:rPr>
              <a:t>journey          = fund-transfer</a:t>
            </a:r>
          </a:p>
          <a:p>
            <a:pPr algn="l">
              <a:spcAft>
                <a:spcPts val="600"/>
              </a:spcAft>
            </a:pPr>
            <a:r>
              <a:rPr sz="1300" b="0" i="0">
                <a:solidFill>
                  <a:schemeClr val="bg1"/>
                </a:solidFill>
                <a:latin typeface="Courier New"/>
              </a:rPr>
              <a:t>trace_id         = 2ba91a03eb16...</a:t>
            </a:r>
          </a:p>
          <a:p>
            <a:pPr algn="l">
              <a:spcAft>
                <a:spcPts val="600"/>
              </a:spcAft>
            </a:pPr>
            <a:r>
              <a:rPr sz="600" b="0" i="0">
                <a:solidFill>
                  <a:schemeClr val="bg1"/>
                </a:solidFill>
              </a:rPr>
              <a:t/>
            </a:r>
          </a:p>
          <a:p>
            <a:pPr algn="l">
              <a:spcAft>
                <a:spcPts val="600"/>
              </a:spcAft>
            </a:pPr>
            <a:r>
              <a:rPr sz="1300" b="0" i="0">
                <a:solidFill>
                  <a:schemeClr val="bg1"/>
                </a:solidFill>
              </a:rPr>
              <a:t>Path: Envoy  &gt;  OTLP access-log provider (gRPC)  &gt;  Collector  &gt;  Loki</a:t>
            </a:r>
          </a:p>
          <a:p>
            <a:pPr algn="l">
              <a:spcAft>
                <a:spcPts val="600"/>
              </a:spcAft>
            </a:pPr>
            <a:r>
              <a:rPr sz="1300" b="0" i="1">
                <a:solidFill>
                  <a:schemeClr val="bg1"/>
                </a:solidFill>
              </a:rPr>
              <a:t>trace_id links the log line to its trace in Tempo</a:t>
            </a:r>
          </a:p>
        </p:txBody>
      </p:sp>
      <p:graphicFrame>
        <p:nvGraphicFramePr>
          <p:cNvPr id="5" name="Table 4"/>
          <p:cNvGraphicFramePr>
            <a:graphicFrameLocks noGrp="1"/>
          </p:cNvGraphicFramePr>
          <p:nvPr/>
        </p:nvGraphicFramePr>
        <p:xfrm>
          <a:off x="5943600" y="1280160"/>
          <a:ext cx="5760720" cy="3511296"/>
        </p:xfrm>
        <a:graphic>
          <a:graphicData uri="http://schemas.openxmlformats.org/drawingml/2006/table">
            <a:tbl>
              <a:tblPr firstRow="0" bandRow="0">
                <a:tableStyleId>{5940675A-B579-460E-94D1-54222C63F5DA}</a:tableStyleId>
              </a:tblPr>
              <a:tblGrid>
                <a:gridCol w="640080"/>
                <a:gridCol w="1691640"/>
                <a:gridCol w="2331720"/>
                <a:gridCol w="1097280"/>
              </a:tblGrid>
              <a:tr h="585216">
                <a:tc>
                  <a:txBody>
                    <a:bodyPr wrap="square"/>
                    <a:lstStyle/>
                    <a:p>
                      <a:r>
                        <a:rPr sz="1100" b="1" i="0">
                          <a:solidFill>
                            <a:schemeClr val="bg1"/>
                          </a:solidFill>
                        </a:rPr>
                        <a:t>Flag</a:t>
                      </a:r>
                    </a:p>
                  </a:txBody>
                  <a:tcPr marL="73152" marR="73152" marT="36576" marB="36576" anchor="ctr">
                    <a:lnL w="6350">
                      <a:solidFill>
                        <a:srgbClr val="D5DEE5"/>
                      </a:solidFill>
                    </a:lnL>
                    <a:lnR w="6350">
                      <a:solidFill>
                        <a:srgbClr val="D5DEE5"/>
                      </a:solidFill>
                    </a:lnR>
                    <a:lnT w="6350">
                      <a:solidFill>
                        <a:srgbClr val="D5DEE5"/>
                      </a:solidFill>
                    </a:lnT>
                    <a:lnB w="6350">
                      <a:solidFill>
                        <a:srgbClr val="D5DEE5"/>
                      </a:solidFill>
                    </a:lnB>
                    <a:solidFill>
                      <a:schemeClr val="tx1"/>
                    </a:solidFill>
                  </a:tcPr>
                </a:tc>
                <a:tc>
                  <a:txBody>
                    <a:bodyPr wrap="square"/>
                    <a:lstStyle/>
                    <a:p>
                      <a:r>
                        <a:rPr sz="1100" b="1" i="0">
                          <a:solidFill>
                            <a:schemeClr val="bg1"/>
                          </a:solidFill>
                        </a:rPr>
                        <a:t>Meaning</a:t>
                      </a:r>
                    </a:p>
                  </a:txBody>
                  <a:tcPr marL="73152" marR="73152" marT="36576" marB="36576" anchor="ctr">
                    <a:lnL w="6350">
                      <a:solidFill>
                        <a:srgbClr val="D5DEE5"/>
                      </a:solidFill>
                    </a:lnL>
                    <a:lnR w="6350">
                      <a:solidFill>
                        <a:srgbClr val="D5DEE5"/>
                      </a:solidFill>
                    </a:lnR>
                    <a:lnT w="6350">
                      <a:solidFill>
                        <a:srgbClr val="D5DEE5"/>
                      </a:solidFill>
                    </a:lnT>
                    <a:lnB w="6350">
                      <a:solidFill>
                        <a:srgbClr val="D5DEE5"/>
                      </a:solidFill>
                    </a:lnB>
                    <a:solidFill>
                      <a:schemeClr val="tx1"/>
                    </a:solidFill>
                  </a:tcPr>
                </a:tc>
                <a:tc>
                  <a:txBody>
                    <a:bodyPr wrap="square"/>
                    <a:lstStyle/>
                    <a:p>
                      <a:r>
                        <a:rPr sz="1100" b="1" i="0">
                          <a:solidFill>
                            <a:schemeClr val="bg1"/>
                          </a:solidFill>
                        </a:rPr>
                        <a:t>Seen in the POC when</a:t>
                      </a:r>
                    </a:p>
                  </a:txBody>
                  <a:tcPr marL="73152" marR="73152" marT="36576" marB="36576" anchor="ctr">
                    <a:lnL w="6350">
                      <a:solidFill>
                        <a:srgbClr val="D5DEE5"/>
                      </a:solidFill>
                    </a:lnL>
                    <a:lnR w="6350">
                      <a:solidFill>
                        <a:srgbClr val="D5DEE5"/>
                      </a:solidFill>
                    </a:lnR>
                    <a:lnT w="6350">
                      <a:solidFill>
                        <a:srgbClr val="D5DEE5"/>
                      </a:solidFill>
                    </a:lnT>
                    <a:lnB w="6350">
                      <a:solidFill>
                        <a:srgbClr val="D5DEE5"/>
                      </a:solidFill>
                    </a:lnB>
                    <a:solidFill>
                      <a:schemeClr val="tx1"/>
                    </a:solidFill>
                  </a:tcPr>
                </a:tc>
                <a:tc>
                  <a:txBody>
                    <a:bodyPr wrap="square"/>
                    <a:lstStyle/>
                    <a:p>
                      <a:r>
                        <a:rPr sz="1100" b="1" i="0">
                          <a:solidFill>
                            <a:schemeClr val="bg1"/>
                          </a:solidFill>
                        </a:rPr>
                        <a:t>Call</a:t>
                      </a:r>
                    </a:p>
                  </a:txBody>
                  <a:tcPr marL="73152" marR="73152" marT="36576" marB="36576" anchor="ctr">
                    <a:lnL w="6350">
                      <a:solidFill>
                        <a:srgbClr val="D5DEE5"/>
                      </a:solidFill>
                    </a:lnL>
                    <a:lnR w="6350">
                      <a:solidFill>
                        <a:srgbClr val="D5DEE5"/>
                      </a:solidFill>
                    </a:lnR>
                    <a:lnT w="6350">
                      <a:solidFill>
                        <a:srgbClr val="D5DEE5"/>
                      </a:solidFill>
                    </a:lnT>
                    <a:lnB w="6350">
                      <a:solidFill>
                        <a:srgbClr val="D5DEE5"/>
                      </a:solidFill>
                    </a:lnB>
                    <a:solidFill>
                      <a:schemeClr val="tx1"/>
                    </a:solidFill>
                  </a:tcPr>
                </a:tc>
              </a:tr>
              <a:tr h="585216">
                <a:tc>
                  <a:txBody>
                    <a:bodyPr wrap="square"/>
                    <a:lstStyle/>
                    <a:p>
                      <a:r>
                        <a:rPr sz="1100" b="1" i="0">
                          <a:solidFill>
                            <a:schemeClr val="accent3"/>
                          </a:solidFill>
                        </a:rPr>
                        <a:t>UT</a:t>
                      </a:r>
                    </a:p>
                  </a:txBody>
                  <a:tcPr marL="73152" marR="73152" marT="36576" marB="36576" anchor="ctr">
                    <a:lnL w="6350">
                      <a:solidFill>
                        <a:srgbClr val="D5DEE5"/>
                      </a:solidFill>
                    </a:lnL>
                    <a:lnR w="6350">
                      <a:solidFill>
                        <a:srgbClr val="D5DEE5"/>
                      </a:solidFill>
                    </a:lnR>
                    <a:lnT w="6350">
                      <a:solidFill>
                        <a:srgbClr val="D5DEE5"/>
                      </a:solidFill>
                    </a:lnT>
                    <a:lnB w="6350">
                      <a:solidFill>
                        <a:srgbClr val="D5DEE5"/>
                      </a:solidFill>
                    </a:lnB>
                    <a:solidFill>
                      <a:schemeClr val="bg1"/>
                    </a:solidFill>
                  </a:tcPr>
                </a:tc>
                <a:tc>
                  <a:txBody>
                    <a:bodyPr wrap="square"/>
                    <a:lstStyle/>
                    <a:p>
                      <a:r>
                        <a:rPr sz="1100" b="0" i="0">
                          <a:solidFill>
                            <a:schemeClr val="tx1"/>
                          </a:solidFill>
                        </a:rPr>
                        <a:t>Upstream request timeout</a:t>
                      </a:r>
                    </a:p>
                  </a:txBody>
                  <a:tcPr marL="73152" marR="73152" marT="36576" marB="36576" anchor="ctr">
                    <a:lnL w="6350">
                      <a:solidFill>
                        <a:srgbClr val="D5DEE5"/>
                      </a:solidFill>
                    </a:lnL>
                    <a:lnR w="6350">
                      <a:solidFill>
                        <a:srgbClr val="D5DEE5"/>
                      </a:solidFill>
                    </a:lnR>
                    <a:lnT w="6350">
                      <a:solidFill>
                        <a:srgbClr val="D5DEE5"/>
                      </a:solidFill>
                    </a:lnT>
                    <a:lnB w="6350">
                      <a:solidFill>
                        <a:srgbClr val="D5DEE5"/>
                      </a:solidFill>
                    </a:lnB>
                    <a:solidFill>
                      <a:schemeClr val="bg1"/>
                    </a:solidFill>
                  </a:tcPr>
                </a:tc>
                <a:tc>
                  <a:txBody>
                    <a:bodyPr wrap="square"/>
                    <a:lstStyle/>
                    <a:p>
                      <a:r>
                        <a:rPr sz="1100" b="0" i="0">
                          <a:solidFill>
                            <a:schemeClr val="tx1"/>
                          </a:solidFill>
                        </a:rPr>
                        <a:t>Core banking slower than the 3 s route timeout</a:t>
                      </a:r>
                    </a:p>
                  </a:txBody>
                  <a:tcPr marL="73152" marR="73152" marT="36576" marB="36576" anchor="ctr">
                    <a:lnL w="6350">
                      <a:solidFill>
                        <a:srgbClr val="D5DEE5"/>
                      </a:solidFill>
                    </a:lnL>
                    <a:lnR w="6350">
                      <a:solidFill>
                        <a:srgbClr val="D5DEE5"/>
                      </a:solidFill>
                    </a:lnR>
                    <a:lnT w="6350">
                      <a:solidFill>
                        <a:srgbClr val="D5DEE5"/>
                      </a:solidFill>
                    </a:lnT>
                    <a:lnB w="6350">
                      <a:solidFill>
                        <a:srgbClr val="D5DEE5"/>
                      </a:solidFill>
                    </a:lnB>
                    <a:solidFill>
                      <a:schemeClr val="bg1"/>
                    </a:solidFill>
                  </a:tcPr>
                </a:tc>
                <a:tc>
                  <a:txBody>
                    <a:bodyPr wrap="square"/>
                    <a:lstStyle/>
                    <a:p>
                      <a:r>
                        <a:rPr sz="1100" b="0" i="0">
                          <a:solidFill>
                            <a:schemeClr val="tx1"/>
                          </a:solidFill>
                        </a:rPr>
                        <a:t>Owner of the target</a:t>
                      </a:r>
                    </a:p>
                  </a:txBody>
                  <a:tcPr marL="73152" marR="73152" marT="36576" marB="36576" anchor="ctr">
                    <a:lnL w="6350">
                      <a:solidFill>
                        <a:srgbClr val="D5DEE5"/>
                      </a:solidFill>
                    </a:lnL>
                    <a:lnR w="6350">
                      <a:solidFill>
                        <a:srgbClr val="D5DEE5"/>
                      </a:solidFill>
                    </a:lnR>
                    <a:lnT w="6350">
                      <a:solidFill>
                        <a:srgbClr val="D5DEE5"/>
                      </a:solidFill>
                    </a:lnT>
                    <a:lnB w="6350">
                      <a:solidFill>
                        <a:srgbClr val="D5DEE5"/>
                      </a:solidFill>
                    </a:lnB>
                    <a:solidFill>
                      <a:schemeClr val="bg1"/>
                    </a:solidFill>
                  </a:tcPr>
                </a:tc>
              </a:tr>
              <a:tr h="585216">
                <a:tc>
                  <a:txBody>
                    <a:bodyPr wrap="square"/>
                    <a:lstStyle/>
                    <a:p>
                      <a:r>
                        <a:rPr sz="1100" b="1" i="0">
                          <a:solidFill>
                            <a:schemeClr val="accent3"/>
                          </a:solidFill>
                        </a:rPr>
                        <a:t>UF</a:t>
                      </a:r>
                    </a:p>
                  </a:txBody>
                  <a:tcPr marL="73152" marR="73152" marT="36576" marB="36576" anchor="ctr">
                    <a:lnL w="6350">
                      <a:solidFill>
                        <a:srgbClr val="D5DEE5"/>
                      </a:solidFill>
                    </a:lnL>
                    <a:lnR w="6350">
                      <a:solidFill>
                        <a:srgbClr val="D5DEE5"/>
                      </a:solidFill>
                    </a:lnR>
                    <a:lnT w="6350">
                      <a:solidFill>
                        <a:srgbClr val="D5DEE5"/>
                      </a:solidFill>
                    </a:lnT>
                    <a:lnB w="6350">
                      <a:solidFill>
                        <a:srgbClr val="D5DEE5"/>
                      </a:solidFill>
                    </a:lnB>
                    <a:solidFill>
                      <a:schemeClr val="bg2"/>
                    </a:solidFill>
                  </a:tcPr>
                </a:tc>
                <a:tc>
                  <a:txBody>
                    <a:bodyPr wrap="square"/>
                    <a:lstStyle/>
                    <a:p>
                      <a:r>
                        <a:rPr sz="1100" b="0" i="0">
                          <a:solidFill>
                            <a:schemeClr val="tx1"/>
                          </a:solidFill>
                        </a:rPr>
                        <a:t>Upstream connection failure</a:t>
                      </a:r>
                    </a:p>
                  </a:txBody>
                  <a:tcPr marL="73152" marR="73152" marT="36576" marB="36576" anchor="ctr">
                    <a:lnL w="6350">
                      <a:solidFill>
                        <a:srgbClr val="D5DEE5"/>
                      </a:solidFill>
                    </a:lnL>
                    <a:lnR w="6350">
                      <a:solidFill>
                        <a:srgbClr val="D5DEE5"/>
                      </a:solidFill>
                    </a:lnR>
                    <a:lnT w="6350">
                      <a:solidFill>
                        <a:srgbClr val="D5DEE5"/>
                      </a:solidFill>
                    </a:lnT>
                    <a:lnB w="6350">
                      <a:solidFill>
                        <a:srgbClr val="D5DEE5"/>
                      </a:solidFill>
                    </a:lnB>
                    <a:solidFill>
                      <a:schemeClr val="bg2"/>
                    </a:solidFill>
                  </a:tcPr>
                </a:tc>
                <a:tc>
                  <a:txBody>
                    <a:bodyPr wrap="square"/>
                    <a:lstStyle/>
                    <a:p>
                      <a:r>
                        <a:rPr sz="1100" b="0" i="0">
                          <a:solidFill>
                            <a:schemeClr val="tx1"/>
                          </a:solidFill>
                        </a:rPr>
                        <a:t>Database or card switch refuses connections</a:t>
                      </a:r>
                    </a:p>
                  </a:txBody>
                  <a:tcPr marL="73152" marR="73152" marT="36576" marB="36576" anchor="ctr">
                    <a:lnL w="6350">
                      <a:solidFill>
                        <a:srgbClr val="D5DEE5"/>
                      </a:solidFill>
                    </a:lnL>
                    <a:lnR w="6350">
                      <a:solidFill>
                        <a:srgbClr val="D5DEE5"/>
                      </a:solidFill>
                    </a:lnR>
                    <a:lnT w="6350">
                      <a:solidFill>
                        <a:srgbClr val="D5DEE5"/>
                      </a:solidFill>
                    </a:lnT>
                    <a:lnB w="6350">
                      <a:solidFill>
                        <a:srgbClr val="D5DEE5"/>
                      </a:solidFill>
                    </a:lnB>
                    <a:solidFill>
                      <a:schemeClr val="bg2"/>
                    </a:solidFill>
                  </a:tcPr>
                </a:tc>
                <a:tc>
                  <a:txBody>
                    <a:bodyPr wrap="square"/>
                    <a:lstStyle/>
                    <a:p>
                      <a:r>
                        <a:rPr sz="1100" b="0" i="0">
                          <a:solidFill>
                            <a:schemeClr val="tx1"/>
                          </a:solidFill>
                        </a:rPr>
                        <a:t>Owner or network</a:t>
                      </a:r>
                    </a:p>
                  </a:txBody>
                  <a:tcPr marL="73152" marR="73152" marT="36576" marB="36576" anchor="ctr">
                    <a:lnL w="6350">
                      <a:solidFill>
                        <a:srgbClr val="D5DEE5"/>
                      </a:solidFill>
                    </a:lnL>
                    <a:lnR w="6350">
                      <a:solidFill>
                        <a:srgbClr val="D5DEE5"/>
                      </a:solidFill>
                    </a:lnR>
                    <a:lnT w="6350">
                      <a:solidFill>
                        <a:srgbClr val="D5DEE5"/>
                      </a:solidFill>
                    </a:lnT>
                    <a:lnB w="6350">
                      <a:solidFill>
                        <a:srgbClr val="D5DEE5"/>
                      </a:solidFill>
                    </a:lnB>
                    <a:solidFill>
                      <a:schemeClr val="bg2"/>
                    </a:solidFill>
                  </a:tcPr>
                </a:tc>
              </a:tr>
              <a:tr h="585216">
                <a:tc>
                  <a:txBody>
                    <a:bodyPr wrap="square"/>
                    <a:lstStyle/>
                    <a:p>
                      <a:r>
                        <a:rPr sz="1100" b="1" i="0">
                          <a:solidFill>
                            <a:schemeClr val="accent3"/>
                          </a:solidFill>
                        </a:rPr>
                        <a:t>UH</a:t>
                      </a:r>
                    </a:p>
                  </a:txBody>
                  <a:tcPr marL="73152" marR="73152" marT="36576" marB="36576" anchor="ctr">
                    <a:lnL w="6350">
                      <a:solidFill>
                        <a:srgbClr val="D5DEE5"/>
                      </a:solidFill>
                    </a:lnL>
                    <a:lnR w="6350">
                      <a:solidFill>
                        <a:srgbClr val="D5DEE5"/>
                      </a:solidFill>
                    </a:lnR>
                    <a:lnT w="6350">
                      <a:solidFill>
                        <a:srgbClr val="D5DEE5"/>
                      </a:solidFill>
                    </a:lnT>
                    <a:lnB w="6350">
                      <a:solidFill>
                        <a:srgbClr val="D5DEE5"/>
                      </a:solidFill>
                    </a:lnB>
                    <a:solidFill>
                      <a:schemeClr val="bg1"/>
                    </a:solidFill>
                  </a:tcPr>
                </a:tc>
                <a:tc>
                  <a:txBody>
                    <a:bodyPr wrap="square"/>
                    <a:lstStyle/>
                    <a:p>
                      <a:r>
                        <a:rPr sz="1100" b="0" i="0">
                          <a:solidFill>
                            <a:schemeClr val="tx1"/>
                          </a:solidFill>
                        </a:rPr>
                        <a:t>No healthy upstream</a:t>
                      </a:r>
                    </a:p>
                  </a:txBody>
                  <a:tcPr marL="73152" marR="73152" marT="36576" marB="36576" anchor="ctr">
                    <a:lnL w="6350">
                      <a:solidFill>
                        <a:srgbClr val="D5DEE5"/>
                      </a:solidFill>
                    </a:lnL>
                    <a:lnR w="6350">
                      <a:solidFill>
                        <a:srgbClr val="D5DEE5"/>
                      </a:solidFill>
                    </a:lnR>
                    <a:lnT w="6350">
                      <a:solidFill>
                        <a:srgbClr val="D5DEE5"/>
                      </a:solidFill>
                    </a:lnT>
                    <a:lnB w="6350">
                      <a:solidFill>
                        <a:srgbClr val="D5DEE5"/>
                      </a:solidFill>
                    </a:lnB>
                    <a:solidFill>
                      <a:schemeClr val="bg1"/>
                    </a:solidFill>
                  </a:tcPr>
                </a:tc>
                <a:tc>
                  <a:txBody>
                    <a:bodyPr wrap="square"/>
                    <a:lstStyle/>
                    <a:p>
                      <a:r>
                        <a:rPr sz="1100" b="0" i="0">
                          <a:solidFill>
                            <a:schemeClr val="tx1"/>
                          </a:solidFill>
                        </a:rPr>
                        <a:t>Card switch ejected by outlier detection</a:t>
                      </a:r>
                    </a:p>
                  </a:txBody>
                  <a:tcPr marL="73152" marR="73152" marT="36576" marB="36576" anchor="ctr">
                    <a:lnL w="6350">
                      <a:solidFill>
                        <a:srgbClr val="D5DEE5"/>
                      </a:solidFill>
                    </a:lnL>
                    <a:lnR w="6350">
                      <a:solidFill>
                        <a:srgbClr val="D5DEE5"/>
                      </a:solidFill>
                    </a:lnR>
                    <a:lnT w="6350">
                      <a:solidFill>
                        <a:srgbClr val="D5DEE5"/>
                      </a:solidFill>
                    </a:lnT>
                    <a:lnB w="6350">
                      <a:solidFill>
                        <a:srgbClr val="D5DEE5"/>
                      </a:solidFill>
                    </a:lnB>
                    <a:solidFill>
                      <a:schemeClr val="bg1"/>
                    </a:solidFill>
                  </a:tcPr>
                </a:tc>
                <a:tc>
                  <a:txBody>
                    <a:bodyPr wrap="square"/>
                    <a:lstStyle/>
                    <a:p>
                      <a:r>
                        <a:rPr sz="1100" b="0" i="0">
                          <a:solidFill>
                            <a:schemeClr val="tx1"/>
                          </a:solidFill>
                        </a:rPr>
                        <a:t>Owner of the target</a:t>
                      </a:r>
                    </a:p>
                  </a:txBody>
                  <a:tcPr marL="73152" marR="73152" marT="36576" marB="36576" anchor="ctr">
                    <a:lnL w="6350">
                      <a:solidFill>
                        <a:srgbClr val="D5DEE5"/>
                      </a:solidFill>
                    </a:lnL>
                    <a:lnR w="6350">
                      <a:solidFill>
                        <a:srgbClr val="D5DEE5"/>
                      </a:solidFill>
                    </a:lnR>
                    <a:lnT w="6350">
                      <a:solidFill>
                        <a:srgbClr val="D5DEE5"/>
                      </a:solidFill>
                    </a:lnT>
                    <a:lnB w="6350">
                      <a:solidFill>
                        <a:srgbClr val="D5DEE5"/>
                      </a:solidFill>
                    </a:lnB>
                    <a:solidFill>
                      <a:schemeClr val="bg1"/>
                    </a:solidFill>
                  </a:tcPr>
                </a:tc>
              </a:tr>
              <a:tr h="585216">
                <a:tc>
                  <a:txBody>
                    <a:bodyPr wrap="square"/>
                    <a:lstStyle/>
                    <a:p>
                      <a:r>
                        <a:rPr sz="1100" b="1" i="0">
                          <a:solidFill>
                            <a:schemeClr val="accent3"/>
                          </a:solidFill>
                        </a:rPr>
                        <a:t>URX</a:t>
                      </a:r>
                    </a:p>
                  </a:txBody>
                  <a:tcPr marL="73152" marR="73152" marT="36576" marB="36576" anchor="ctr">
                    <a:lnL w="6350">
                      <a:solidFill>
                        <a:srgbClr val="D5DEE5"/>
                      </a:solidFill>
                    </a:lnL>
                    <a:lnR w="6350">
                      <a:solidFill>
                        <a:srgbClr val="D5DEE5"/>
                      </a:solidFill>
                    </a:lnR>
                    <a:lnT w="6350">
                      <a:solidFill>
                        <a:srgbClr val="D5DEE5"/>
                      </a:solidFill>
                    </a:lnT>
                    <a:lnB w="6350">
                      <a:solidFill>
                        <a:srgbClr val="D5DEE5"/>
                      </a:solidFill>
                    </a:lnB>
                    <a:solidFill>
                      <a:schemeClr val="bg2"/>
                    </a:solidFill>
                  </a:tcPr>
                </a:tc>
                <a:tc>
                  <a:txBody>
                    <a:bodyPr wrap="square"/>
                    <a:lstStyle/>
                    <a:p>
                      <a:r>
                        <a:rPr sz="1100" b="0" i="0">
                          <a:solidFill>
                            <a:schemeClr val="tx1"/>
                          </a:solidFill>
                        </a:rPr>
                        <a:t>Retry limit exceeded</a:t>
                      </a:r>
                    </a:p>
                  </a:txBody>
                  <a:tcPr marL="73152" marR="73152" marT="36576" marB="36576" anchor="ctr">
                    <a:lnL w="6350">
                      <a:solidFill>
                        <a:srgbClr val="D5DEE5"/>
                      </a:solidFill>
                    </a:lnL>
                    <a:lnR w="6350">
                      <a:solidFill>
                        <a:srgbClr val="D5DEE5"/>
                      </a:solidFill>
                    </a:lnR>
                    <a:lnT w="6350">
                      <a:solidFill>
                        <a:srgbClr val="D5DEE5"/>
                      </a:solidFill>
                    </a:lnT>
                    <a:lnB w="6350">
                      <a:solidFill>
                        <a:srgbClr val="D5DEE5"/>
                      </a:solidFill>
                    </a:lnB>
                    <a:solidFill>
                      <a:schemeClr val="bg2"/>
                    </a:solidFill>
                  </a:tcPr>
                </a:tc>
                <a:tc>
                  <a:txBody>
                    <a:bodyPr wrap="square"/>
                    <a:lstStyle/>
                    <a:p>
                      <a:r>
                        <a:rPr sz="1100" b="0" i="0">
                          <a:solidFill>
                            <a:schemeClr val="tx1"/>
                          </a:solidFill>
                        </a:rPr>
                        <a:t>Paired with UF after Envoy retried</a:t>
                      </a:r>
                    </a:p>
                  </a:txBody>
                  <a:tcPr marL="73152" marR="73152" marT="36576" marB="36576" anchor="ctr">
                    <a:lnL w="6350">
                      <a:solidFill>
                        <a:srgbClr val="D5DEE5"/>
                      </a:solidFill>
                    </a:lnL>
                    <a:lnR w="6350">
                      <a:solidFill>
                        <a:srgbClr val="D5DEE5"/>
                      </a:solidFill>
                    </a:lnR>
                    <a:lnT w="6350">
                      <a:solidFill>
                        <a:srgbClr val="D5DEE5"/>
                      </a:solidFill>
                    </a:lnT>
                    <a:lnB w="6350">
                      <a:solidFill>
                        <a:srgbClr val="D5DEE5"/>
                      </a:solidFill>
                    </a:lnB>
                    <a:solidFill>
                      <a:schemeClr val="bg2"/>
                    </a:solidFill>
                  </a:tcPr>
                </a:tc>
                <a:tc>
                  <a:txBody>
                    <a:bodyPr wrap="square"/>
                    <a:lstStyle/>
                    <a:p>
                      <a:r>
                        <a:rPr sz="1100" b="0" i="0">
                          <a:solidFill>
                            <a:schemeClr val="tx1"/>
                          </a:solidFill>
                        </a:rPr>
                        <a:t>As for UF</a:t>
                      </a:r>
                    </a:p>
                  </a:txBody>
                  <a:tcPr marL="73152" marR="73152" marT="36576" marB="36576" anchor="ctr">
                    <a:lnL w="6350">
                      <a:solidFill>
                        <a:srgbClr val="D5DEE5"/>
                      </a:solidFill>
                    </a:lnL>
                    <a:lnR w="6350">
                      <a:solidFill>
                        <a:srgbClr val="D5DEE5"/>
                      </a:solidFill>
                    </a:lnR>
                    <a:lnT w="6350">
                      <a:solidFill>
                        <a:srgbClr val="D5DEE5"/>
                      </a:solidFill>
                    </a:lnT>
                    <a:lnB w="6350">
                      <a:solidFill>
                        <a:srgbClr val="D5DEE5"/>
                      </a:solidFill>
                    </a:lnB>
                    <a:solidFill>
                      <a:schemeClr val="bg2"/>
                    </a:solidFill>
                  </a:tcPr>
                </a:tc>
              </a:tr>
              <a:tr h="585216">
                <a:tc>
                  <a:txBody>
                    <a:bodyPr wrap="square"/>
                    <a:lstStyle/>
                    <a:p>
                      <a:r>
                        <a:rPr sz="1100" b="1" i="0">
                          <a:solidFill>
                            <a:schemeClr val="accent3"/>
                          </a:solidFill>
                        </a:rPr>
                        <a:t>UC</a:t>
                      </a:r>
                    </a:p>
                  </a:txBody>
                  <a:tcPr marL="73152" marR="73152" marT="36576" marB="36576" anchor="ctr">
                    <a:lnL w="6350">
                      <a:solidFill>
                        <a:srgbClr val="D5DEE5"/>
                      </a:solidFill>
                    </a:lnL>
                    <a:lnR w="6350">
                      <a:solidFill>
                        <a:srgbClr val="D5DEE5"/>
                      </a:solidFill>
                    </a:lnR>
                    <a:lnT w="6350">
                      <a:solidFill>
                        <a:srgbClr val="D5DEE5"/>
                      </a:solidFill>
                    </a:lnT>
                    <a:lnB w="6350">
                      <a:solidFill>
                        <a:srgbClr val="D5DEE5"/>
                      </a:solidFill>
                    </a:lnB>
                    <a:solidFill>
                      <a:schemeClr val="bg1"/>
                    </a:solidFill>
                  </a:tcPr>
                </a:tc>
                <a:tc>
                  <a:txBody>
                    <a:bodyPr wrap="square"/>
                    <a:lstStyle/>
                    <a:p>
                      <a:r>
                        <a:rPr sz="1100" b="0" i="0">
                          <a:solidFill>
                            <a:schemeClr val="tx1"/>
                          </a:solidFill>
                        </a:rPr>
                        <a:t>Connection closed mid-request</a:t>
                      </a:r>
                    </a:p>
                  </a:txBody>
                  <a:tcPr marL="73152" marR="73152" marT="36576" marB="36576" anchor="ctr">
                    <a:lnL w="6350">
                      <a:solidFill>
                        <a:srgbClr val="D5DEE5"/>
                      </a:solidFill>
                    </a:lnL>
                    <a:lnR w="6350">
                      <a:solidFill>
                        <a:srgbClr val="D5DEE5"/>
                      </a:solidFill>
                    </a:lnR>
                    <a:lnT w="6350">
                      <a:solidFill>
                        <a:srgbClr val="D5DEE5"/>
                      </a:solidFill>
                    </a:lnT>
                    <a:lnB w="6350">
                      <a:solidFill>
                        <a:srgbClr val="D5DEE5"/>
                      </a:solidFill>
                    </a:lnB>
                    <a:solidFill>
                      <a:schemeClr val="bg1"/>
                    </a:solidFill>
                  </a:tcPr>
                </a:tc>
                <a:tc>
                  <a:txBody>
                    <a:bodyPr wrap="square"/>
                    <a:lstStyle/>
                    <a:p>
                      <a:r>
                        <a:rPr sz="1100" b="0" i="0">
                          <a:solidFill>
                            <a:schemeClr val="tx1"/>
                          </a:solidFill>
                        </a:rPr>
                        <a:t>Sidecar sent plaintext to a TLS port (config)</a:t>
                      </a:r>
                    </a:p>
                  </a:txBody>
                  <a:tcPr marL="73152" marR="73152" marT="36576" marB="36576" anchor="ctr">
                    <a:lnL w="6350">
                      <a:solidFill>
                        <a:srgbClr val="D5DEE5"/>
                      </a:solidFill>
                    </a:lnL>
                    <a:lnR w="6350">
                      <a:solidFill>
                        <a:srgbClr val="D5DEE5"/>
                      </a:solidFill>
                    </a:lnR>
                    <a:lnT w="6350">
                      <a:solidFill>
                        <a:srgbClr val="D5DEE5"/>
                      </a:solidFill>
                    </a:lnT>
                    <a:lnB w="6350">
                      <a:solidFill>
                        <a:srgbClr val="D5DEE5"/>
                      </a:solidFill>
                    </a:lnB>
                    <a:solidFill>
                      <a:schemeClr val="bg1"/>
                    </a:solidFill>
                  </a:tcPr>
                </a:tc>
                <a:tc>
                  <a:txBody>
                    <a:bodyPr wrap="square"/>
                    <a:lstStyle/>
                    <a:p>
                      <a:r>
                        <a:rPr sz="1100" b="0" i="0">
                          <a:solidFill>
                            <a:schemeClr val="tx1"/>
                          </a:solidFill>
                        </a:rPr>
                        <a:t>Mesh config</a:t>
                      </a:r>
                    </a:p>
                  </a:txBody>
                  <a:tcPr marL="73152" marR="73152" marT="36576" marB="36576" anchor="ctr">
                    <a:lnL w="6350">
                      <a:solidFill>
                        <a:srgbClr val="D5DEE5"/>
                      </a:solidFill>
                    </a:lnL>
                    <a:lnR w="6350">
                      <a:solidFill>
                        <a:srgbClr val="D5DEE5"/>
                      </a:solidFill>
                    </a:lnR>
                    <a:lnT w="6350">
                      <a:solidFill>
                        <a:srgbClr val="D5DEE5"/>
                      </a:solidFill>
                    </a:lnT>
                    <a:lnB w="6350">
                      <a:solidFill>
                        <a:srgbClr val="D5DEE5"/>
                      </a:solidFill>
                    </a:lnB>
                    <a:solidFill>
                      <a:schemeClr val="bg1"/>
                    </a:solidFill>
                  </a:tcPr>
                </a:tc>
              </a:tr>
            </a:tbl>
          </a:graphicData>
        </a:graphic>
      </p:graphicFrame>
      <p:sp>
        <p:nvSpPr>
          <p:cNvPr id="6" name="TextBox 5"/>
          <p:cNvSpPr txBox="1"/>
          <p:nvPr/>
        </p:nvSpPr>
        <p:spPr>
          <a:xfrm>
            <a:off x="457200" y="5074920"/>
            <a:ext cx="11247120" cy="365760"/>
          </a:xfrm>
          <a:prstGeom prst="rect">
            <a:avLst/>
          </a:prstGeom>
          <a:noFill/>
        </p:spPr>
        <p:txBody>
          <a:bodyPr wrap="square" lIns="0" rIns="0" tIns="0" bIns="0" anchor="t">
            <a:spAutoFit/>
          </a:bodyPr>
          <a:lstStyle/>
          <a:p>
            <a:pPr algn="l">
              <a:spcAft>
                <a:spcPts val="400"/>
              </a:spcAft>
            </a:pPr>
            <a:r>
              <a:rPr sz="1100" b="0" i="1">
                <a:solidFill>
                  <a:schemeClr val="tx2"/>
                </a:solidFill>
              </a:rPr>
              <a:t>Example LogQL:  {service_name="payments-svc"} | response_flags != "-"</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Four views on the same data</a:t>
            </a:r>
          </a:p>
        </p:txBody>
      </p:sp>
      <p:sp>
        <p:nvSpPr>
          <p:cNvPr id="3"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pic>
        <p:nvPicPr>
          <p:cNvPr id="4" name="Picture 3" descr="kiali-graph.png"/>
          <p:cNvPicPr>
            <a:picLocks noChangeAspect="1"/>
          </p:cNvPicPr>
          <p:nvPr/>
        </p:nvPicPr>
        <p:blipFill>
          <a:blip r:embed="rId3"/>
          <a:stretch>
            <a:fillRect/>
          </a:stretch>
        </p:blipFill>
        <p:spPr>
          <a:xfrm>
            <a:off x="457200" y="1280160"/>
            <a:ext cx="3495527" cy="1920240"/>
          </a:xfrm>
          <a:prstGeom prst="rect">
            <a:avLst/>
          </a:prstGeom>
        </p:spPr>
      </p:pic>
      <p:pic>
        <p:nvPicPr>
          <p:cNvPr id="5" name="Picture 4" descr="grafana-journey.png"/>
          <p:cNvPicPr>
            <a:picLocks noChangeAspect="1"/>
          </p:cNvPicPr>
          <p:nvPr/>
        </p:nvPicPr>
        <p:blipFill>
          <a:blip r:embed="rId4"/>
          <a:stretch>
            <a:fillRect/>
          </a:stretch>
        </p:blipFill>
        <p:spPr>
          <a:xfrm>
            <a:off x="4227046" y="1280160"/>
            <a:ext cx="2603715" cy="1920240"/>
          </a:xfrm>
          <a:prstGeom prst="rect">
            <a:avLst/>
          </a:prstGeom>
        </p:spPr>
      </p:pic>
      <p:pic>
        <p:nvPicPr>
          <p:cNvPr id="6" name="Picture 5" descr="red-dot-dashboard.png"/>
          <p:cNvPicPr>
            <a:picLocks noChangeAspect="1"/>
          </p:cNvPicPr>
          <p:nvPr/>
        </p:nvPicPr>
        <p:blipFill>
          <a:blip r:embed="rId5"/>
          <a:stretch>
            <a:fillRect/>
          </a:stretch>
        </p:blipFill>
        <p:spPr>
          <a:xfrm>
            <a:off x="7105081" y="1280160"/>
            <a:ext cx="4608576" cy="1920240"/>
          </a:xfrm>
          <a:prstGeom prst="rect">
            <a:avLst/>
          </a:prstGeom>
        </p:spPr>
      </p:pic>
      <p:sp>
        <p:nvSpPr>
          <p:cNvPr id="7" name="TextBox 6"/>
          <p:cNvSpPr txBox="1"/>
          <p:nvPr/>
        </p:nvSpPr>
        <p:spPr>
          <a:xfrm>
            <a:off x="457200" y="3383280"/>
            <a:ext cx="3495526" cy="320040"/>
          </a:xfrm>
          <a:prstGeom prst="rect">
            <a:avLst/>
          </a:prstGeom>
          <a:noFill/>
        </p:spPr>
        <p:txBody>
          <a:bodyPr wrap="square" lIns="0" rIns="0" tIns="0" bIns="0" anchor="t">
            <a:spAutoFit/>
          </a:bodyPr>
          <a:lstStyle/>
          <a:p>
            <a:pPr algn="l">
              <a:spcAft>
                <a:spcPts val="400"/>
              </a:spcAft>
            </a:pPr>
            <a:r>
              <a:rPr sz="1350" b="1" i="0">
                <a:solidFill>
                  <a:schemeClr val="tx1"/>
                </a:solidFill>
              </a:rPr>
              <a:t>Kiali</a:t>
            </a:r>
          </a:p>
        </p:txBody>
      </p:sp>
      <p:sp>
        <p:nvSpPr>
          <p:cNvPr id="8" name="TextBox 7"/>
          <p:cNvSpPr txBox="1"/>
          <p:nvPr/>
        </p:nvSpPr>
        <p:spPr>
          <a:xfrm>
            <a:off x="457200" y="3703320"/>
            <a:ext cx="3495526" cy="731520"/>
          </a:xfrm>
          <a:prstGeom prst="rect">
            <a:avLst/>
          </a:prstGeom>
          <a:noFill/>
        </p:spPr>
        <p:txBody>
          <a:bodyPr wrap="square" lIns="0" rIns="0" tIns="0" bIns="0" anchor="t">
            <a:spAutoFit/>
          </a:bodyPr>
          <a:lstStyle/>
          <a:p>
            <a:pPr algn="l">
              <a:spcAft>
                <a:spcPts val="400"/>
              </a:spcAft>
            </a:pPr>
            <a:r>
              <a:rPr sz="1150" b="0" i="0">
                <a:solidFill>
                  <a:schemeClr val="tx2"/>
                </a:solidFill>
              </a:rPr>
              <a:t>Live graph from Prometheus; traces from Tempo per node. Audience: mesh engineers.</a:t>
            </a:r>
          </a:p>
        </p:txBody>
      </p:sp>
      <p:sp>
        <p:nvSpPr>
          <p:cNvPr id="9" name="TextBox 8"/>
          <p:cNvSpPr txBox="1"/>
          <p:nvPr/>
        </p:nvSpPr>
        <p:spPr>
          <a:xfrm>
            <a:off x="4227046" y="3383280"/>
            <a:ext cx="2603715" cy="320040"/>
          </a:xfrm>
          <a:prstGeom prst="rect">
            <a:avLst/>
          </a:prstGeom>
          <a:noFill/>
        </p:spPr>
        <p:txBody>
          <a:bodyPr wrap="square" lIns="0" rIns="0" tIns="0" bIns="0" anchor="t">
            <a:spAutoFit/>
          </a:bodyPr>
          <a:lstStyle/>
          <a:p>
            <a:pPr algn="l">
              <a:spcAft>
                <a:spcPts val="400"/>
              </a:spcAft>
            </a:pPr>
            <a:r>
              <a:rPr sz="1350" b="1" i="0">
                <a:solidFill>
                  <a:schemeClr val="tx1"/>
                </a:solidFill>
              </a:rPr>
              <a:t>Grafana journey dashboard</a:t>
            </a:r>
          </a:p>
        </p:txBody>
      </p:sp>
      <p:sp>
        <p:nvSpPr>
          <p:cNvPr id="10" name="TextBox 9"/>
          <p:cNvSpPr txBox="1"/>
          <p:nvPr/>
        </p:nvSpPr>
        <p:spPr>
          <a:xfrm>
            <a:off x="4227046" y="3703320"/>
            <a:ext cx="2603715" cy="731520"/>
          </a:xfrm>
          <a:prstGeom prst="rect">
            <a:avLst/>
          </a:prstGeom>
          <a:noFill/>
        </p:spPr>
        <p:txBody>
          <a:bodyPr wrap="square" lIns="0" rIns="0" tIns="0" bIns="0" anchor="t">
            <a:spAutoFit/>
          </a:bodyPr>
          <a:lstStyle/>
          <a:p>
            <a:pPr algn="l">
              <a:spcAft>
                <a:spcPts val="400"/>
              </a:spcAft>
            </a:pPr>
            <a:r>
              <a:rPr sz="1150" b="0" i="0">
                <a:solidFill>
                  <a:schemeClr val="tx2"/>
                </a:solidFill>
              </a:rPr>
              <a:t>Journey variable; hops, flags, Loki logs, Tempo traces. Audience: service owners.</a:t>
            </a:r>
          </a:p>
        </p:txBody>
      </p:sp>
      <p:sp>
        <p:nvSpPr>
          <p:cNvPr id="11" name="TextBox 10"/>
          <p:cNvSpPr txBox="1"/>
          <p:nvPr/>
        </p:nvSpPr>
        <p:spPr>
          <a:xfrm>
            <a:off x="7105081" y="3383280"/>
            <a:ext cx="4608576" cy="320040"/>
          </a:xfrm>
          <a:prstGeom prst="rect">
            <a:avLst/>
          </a:prstGeom>
          <a:noFill/>
        </p:spPr>
        <p:txBody>
          <a:bodyPr wrap="square" lIns="0" rIns="0" tIns="0" bIns="0" anchor="t">
            <a:spAutoFit/>
          </a:bodyPr>
          <a:lstStyle/>
          <a:p>
            <a:pPr algn="l">
              <a:spcAft>
                <a:spcPts val="400"/>
              </a:spcAft>
            </a:pPr>
            <a:r>
              <a:rPr sz="1350" b="1" i="0">
                <a:solidFill>
                  <a:schemeClr val="tx1"/>
                </a:solidFill>
              </a:rPr>
              <a:t>Red-dot dashboard</a:t>
            </a:r>
          </a:p>
        </p:txBody>
      </p:sp>
      <p:sp>
        <p:nvSpPr>
          <p:cNvPr id="12" name="TextBox 11"/>
          <p:cNvSpPr txBox="1"/>
          <p:nvPr/>
        </p:nvSpPr>
        <p:spPr>
          <a:xfrm>
            <a:off x="7105081" y="3703320"/>
            <a:ext cx="4608576" cy="731520"/>
          </a:xfrm>
          <a:prstGeom prst="rect">
            <a:avLst/>
          </a:prstGeom>
          <a:noFill/>
        </p:spPr>
        <p:txBody>
          <a:bodyPr wrap="square" lIns="0" rIns="0" tIns="0" bIns="0" anchor="t">
            <a:spAutoFit/>
          </a:bodyPr>
          <a:lstStyle/>
          <a:p>
            <a:pPr algn="l">
              <a:spcAft>
                <a:spcPts val="400"/>
              </a:spcAft>
            </a:pPr>
            <a:r>
              <a:rPr sz="1150" b="0" i="0">
                <a:solidFill>
                  <a:schemeClr val="tx2"/>
                </a:solidFill>
              </a:rPr>
              <a:t>Topology discovered from metrics; red dot, evidence and owner. Audience: NOC.</a:t>
            </a:r>
          </a:p>
        </p:txBody>
      </p:sp>
      <p:sp>
        <p:nvSpPr>
          <p:cNvPr id="13" name="Rounded Rectangle 12"/>
          <p:cNvSpPr/>
          <p:nvPr/>
        </p:nvSpPr>
        <p:spPr>
          <a:xfrm>
            <a:off x="457200" y="4754880"/>
            <a:ext cx="11247120" cy="960120"/>
          </a:xfrm>
          <a:prstGeom prst="roundRect">
            <a:avLst>
              <a:gd name="adj" fmla="val 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20700" bIns="120700"/>
          <a:lstStyle/>
          <a:p>
            <a:pPr algn="l">
              <a:spcAft>
                <a:spcPts val="400"/>
              </a:spcAft>
            </a:pPr>
            <a:r>
              <a:rPr sz="1250" b="1" i="0">
                <a:solidFill>
                  <a:schemeClr val="tx1"/>
                </a:solidFill>
              </a:rPr>
              <a:t>Alertmanager (on-call): </a:t>
            </a:r>
            <a:r>
              <a:rPr sz="1250" b="0" i="0">
                <a:solidFill>
                  <a:schemeClr val="tx1"/>
                </a:solidFill>
              </a:rPr>
              <a:t>5 rules from Prometheus. Hop error rate over 5%, hop p95 over 1 s, TCP connect failures, journey error rate over 5%, journey p95 over 2 s. Each fires after 1 minute.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From symptom to owner in under two minutes</a:t>
            </a:r>
          </a:p>
        </p:txBody>
      </p:sp>
      <p:sp>
        <p:nvSpPr>
          <p:cNvPr id="3"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
        <p:nvSpPr>
          <p:cNvPr id="4" name="Oval 3"/>
          <p:cNvSpPr/>
          <p:nvPr/>
        </p:nvSpPr>
        <p:spPr>
          <a:xfrm>
            <a:off x="1325880" y="1325880"/>
            <a:ext cx="411480" cy="411480"/>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828800"/>
            <a:ext cx="2148840" cy="365760"/>
          </a:xfrm>
          <a:prstGeom prst="rect">
            <a:avLst/>
          </a:prstGeom>
          <a:noFill/>
        </p:spPr>
        <p:txBody>
          <a:bodyPr wrap="square" lIns="0" rIns="0" tIns="0" bIns="0" anchor="t">
            <a:spAutoFit/>
          </a:bodyPr>
          <a:lstStyle/>
          <a:p>
            <a:pPr algn="ctr">
              <a:spcAft>
                <a:spcPts val="400"/>
              </a:spcAft>
            </a:pPr>
            <a:r>
              <a:rPr sz="1500" b="1" i="0">
                <a:solidFill>
                  <a:schemeClr val="tx1"/>
                </a:solidFill>
              </a:rPr>
              <a:t>0 s</a:t>
            </a:r>
          </a:p>
        </p:txBody>
      </p:sp>
      <p:sp>
        <p:nvSpPr>
          <p:cNvPr id="6" name="TextBox 5"/>
          <p:cNvSpPr txBox="1"/>
          <p:nvPr/>
        </p:nvSpPr>
        <p:spPr>
          <a:xfrm>
            <a:off x="457200" y="2194560"/>
            <a:ext cx="2148840" cy="457200"/>
          </a:xfrm>
          <a:prstGeom prst="rect">
            <a:avLst/>
          </a:prstGeom>
          <a:noFill/>
        </p:spPr>
        <p:txBody>
          <a:bodyPr wrap="square" lIns="0" rIns="0" tIns="0" bIns="0" anchor="t">
            <a:spAutoFit/>
          </a:bodyPr>
          <a:lstStyle/>
          <a:p>
            <a:pPr algn="ctr">
              <a:spcAft>
                <a:spcPts val="400"/>
              </a:spcAft>
            </a:pPr>
            <a:r>
              <a:rPr sz="1150" b="0" i="0">
                <a:solidFill>
                  <a:schemeClr val="tx2"/>
                </a:solidFill>
              </a:rPr>
              <a:t>Fault starts</a:t>
            </a:r>
          </a:p>
        </p:txBody>
      </p:sp>
      <p:sp>
        <p:nvSpPr>
          <p:cNvPr id="7" name="Oval 6"/>
          <p:cNvSpPr/>
          <p:nvPr/>
        </p:nvSpPr>
        <p:spPr>
          <a:xfrm>
            <a:off x="3611880" y="1325880"/>
            <a:ext cx="411480" cy="41148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 name="Connector 7"/>
          <p:cNvCxnSpPr/>
          <p:nvPr/>
        </p:nvCxnSpPr>
        <p:spPr>
          <a:xfrm>
            <a:off x="1737360" y="1531620"/>
            <a:ext cx="1874520" cy="0"/>
          </a:xfrm>
          <a:prstGeom prst="line">
            <a:avLst/>
          </a:prstGeom>
          <a:ln w="15875">
            <a:solidFill>
              <a:schemeClr val="accent5"/>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2743200" y="1828800"/>
            <a:ext cx="2148840" cy="365760"/>
          </a:xfrm>
          <a:prstGeom prst="rect">
            <a:avLst/>
          </a:prstGeom>
          <a:noFill/>
        </p:spPr>
        <p:txBody>
          <a:bodyPr wrap="square" lIns="0" rIns="0" tIns="0" bIns="0" anchor="t">
            <a:spAutoFit/>
          </a:bodyPr>
          <a:lstStyle/>
          <a:p>
            <a:pPr algn="ctr">
              <a:spcAft>
                <a:spcPts val="400"/>
              </a:spcAft>
            </a:pPr>
            <a:r>
              <a:rPr sz="1500" b="1" i="0">
                <a:solidFill>
                  <a:schemeClr val="tx1"/>
                </a:solidFill>
              </a:rPr>
              <a:t>~30 s</a:t>
            </a:r>
          </a:p>
        </p:txBody>
      </p:sp>
      <p:sp>
        <p:nvSpPr>
          <p:cNvPr id="10" name="TextBox 9"/>
          <p:cNvSpPr txBox="1"/>
          <p:nvPr/>
        </p:nvSpPr>
        <p:spPr>
          <a:xfrm>
            <a:off x="2743200" y="2194560"/>
            <a:ext cx="2148840" cy="457200"/>
          </a:xfrm>
          <a:prstGeom prst="rect">
            <a:avLst/>
          </a:prstGeom>
          <a:noFill/>
        </p:spPr>
        <p:txBody>
          <a:bodyPr wrap="square" lIns="0" rIns="0" tIns="0" bIns="0" anchor="t">
            <a:spAutoFit/>
          </a:bodyPr>
          <a:lstStyle/>
          <a:p>
            <a:pPr algn="ctr">
              <a:spcAft>
                <a:spcPts val="400"/>
              </a:spcAft>
            </a:pPr>
            <a:r>
              <a:rPr sz="1150" b="0" i="0">
                <a:solidFill>
                  <a:schemeClr val="tx2"/>
                </a:solidFill>
              </a:rPr>
              <a:t>Edge turns red (1 m rate)</a:t>
            </a:r>
          </a:p>
        </p:txBody>
      </p:sp>
      <p:sp>
        <p:nvSpPr>
          <p:cNvPr id="11" name="Oval 10"/>
          <p:cNvSpPr/>
          <p:nvPr/>
        </p:nvSpPr>
        <p:spPr>
          <a:xfrm>
            <a:off x="5897880" y="1325880"/>
            <a:ext cx="411480" cy="41148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 name="Connector 11"/>
          <p:cNvCxnSpPr/>
          <p:nvPr/>
        </p:nvCxnSpPr>
        <p:spPr>
          <a:xfrm>
            <a:off x="4023360" y="1531620"/>
            <a:ext cx="1874520" cy="0"/>
          </a:xfrm>
          <a:prstGeom prst="line">
            <a:avLst/>
          </a:prstGeom>
          <a:ln w="15875">
            <a:solidFill>
              <a:schemeClr val="accent5"/>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029200" y="1828800"/>
            <a:ext cx="2148840" cy="365760"/>
          </a:xfrm>
          <a:prstGeom prst="rect">
            <a:avLst/>
          </a:prstGeom>
          <a:noFill/>
        </p:spPr>
        <p:txBody>
          <a:bodyPr wrap="square" lIns="0" rIns="0" tIns="0" bIns="0" anchor="t">
            <a:spAutoFit/>
          </a:bodyPr>
          <a:lstStyle/>
          <a:p>
            <a:pPr algn="ctr">
              <a:spcAft>
                <a:spcPts val="400"/>
              </a:spcAft>
            </a:pPr>
            <a:r>
              <a:rPr sz="1500" b="1" i="0">
                <a:solidFill>
                  <a:schemeClr val="tx1"/>
                </a:solidFill>
              </a:rPr>
              <a:t>~60-90 s</a:t>
            </a:r>
          </a:p>
        </p:txBody>
      </p:sp>
      <p:sp>
        <p:nvSpPr>
          <p:cNvPr id="14" name="TextBox 13"/>
          <p:cNvSpPr txBox="1"/>
          <p:nvPr/>
        </p:nvSpPr>
        <p:spPr>
          <a:xfrm>
            <a:off x="5029200" y="2194560"/>
            <a:ext cx="2148840" cy="457200"/>
          </a:xfrm>
          <a:prstGeom prst="rect">
            <a:avLst/>
          </a:prstGeom>
          <a:noFill/>
        </p:spPr>
        <p:txBody>
          <a:bodyPr wrap="square" lIns="0" rIns="0" tIns="0" bIns="0" anchor="t">
            <a:spAutoFit/>
          </a:bodyPr>
          <a:lstStyle/>
          <a:p>
            <a:pPr algn="ctr">
              <a:spcAft>
                <a:spcPts val="400"/>
              </a:spcAft>
            </a:pPr>
            <a:r>
              <a:rPr sz="1150" b="0" i="0">
                <a:solidFill>
                  <a:schemeClr val="tx2"/>
                </a:solidFill>
              </a:rPr>
              <a:t>Alert fires (for: 1m)</a:t>
            </a:r>
          </a:p>
        </p:txBody>
      </p:sp>
      <p:sp>
        <p:nvSpPr>
          <p:cNvPr id="15" name="Oval 14"/>
          <p:cNvSpPr/>
          <p:nvPr/>
        </p:nvSpPr>
        <p:spPr>
          <a:xfrm>
            <a:off x="8183879" y="1325880"/>
            <a:ext cx="411480" cy="41148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Connector 15"/>
          <p:cNvCxnSpPr/>
          <p:nvPr/>
        </p:nvCxnSpPr>
        <p:spPr>
          <a:xfrm>
            <a:off x="6309360" y="1531620"/>
            <a:ext cx="1874519" cy="0"/>
          </a:xfrm>
          <a:prstGeom prst="line">
            <a:avLst/>
          </a:prstGeom>
          <a:ln w="15875">
            <a:solidFill>
              <a:schemeClr val="accent5"/>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7315200" y="1828800"/>
            <a:ext cx="2148840" cy="365760"/>
          </a:xfrm>
          <a:prstGeom prst="rect">
            <a:avLst/>
          </a:prstGeom>
          <a:noFill/>
        </p:spPr>
        <p:txBody>
          <a:bodyPr wrap="square" lIns="0" rIns="0" tIns="0" bIns="0" anchor="t">
            <a:spAutoFit/>
          </a:bodyPr>
          <a:lstStyle/>
          <a:p>
            <a:pPr algn="ctr">
              <a:spcAft>
                <a:spcPts val="400"/>
              </a:spcAft>
            </a:pPr>
            <a:r>
              <a:rPr sz="1500" b="1" i="0">
                <a:solidFill>
                  <a:schemeClr val="tx1"/>
                </a:solidFill>
              </a:rPr>
              <a:t>Seconds</a:t>
            </a:r>
          </a:p>
        </p:txBody>
      </p:sp>
      <p:sp>
        <p:nvSpPr>
          <p:cNvPr id="18" name="TextBox 17"/>
          <p:cNvSpPr txBox="1"/>
          <p:nvPr/>
        </p:nvSpPr>
        <p:spPr>
          <a:xfrm>
            <a:off x="7315200" y="2194560"/>
            <a:ext cx="2148840" cy="457200"/>
          </a:xfrm>
          <a:prstGeom prst="rect">
            <a:avLst/>
          </a:prstGeom>
          <a:noFill/>
        </p:spPr>
        <p:txBody>
          <a:bodyPr wrap="square" lIns="0" rIns="0" tIns="0" bIns="0" anchor="t">
            <a:spAutoFit/>
          </a:bodyPr>
          <a:lstStyle/>
          <a:p>
            <a:pPr algn="ctr">
              <a:spcAft>
                <a:spcPts val="400"/>
              </a:spcAft>
            </a:pPr>
            <a:r>
              <a:rPr sz="1150" b="0" i="0">
                <a:solidFill>
                  <a:schemeClr val="tx2"/>
                </a:solidFill>
              </a:rPr>
              <a:t>Trace + access-log flag</a:t>
            </a:r>
          </a:p>
        </p:txBody>
      </p:sp>
      <p:sp>
        <p:nvSpPr>
          <p:cNvPr id="19" name="Oval 18"/>
          <p:cNvSpPr/>
          <p:nvPr/>
        </p:nvSpPr>
        <p:spPr>
          <a:xfrm>
            <a:off x="10469880" y="1325880"/>
            <a:ext cx="411480" cy="411480"/>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Connector 19"/>
          <p:cNvCxnSpPr/>
          <p:nvPr/>
        </p:nvCxnSpPr>
        <p:spPr>
          <a:xfrm>
            <a:off x="8595360" y="1531620"/>
            <a:ext cx="1874520" cy="0"/>
          </a:xfrm>
          <a:prstGeom prst="line">
            <a:avLst/>
          </a:prstGeom>
          <a:ln w="15875">
            <a:solidFill>
              <a:schemeClr val="accent5"/>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9601200" y="1828800"/>
            <a:ext cx="2148840" cy="365760"/>
          </a:xfrm>
          <a:prstGeom prst="rect">
            <a:avLst/>
          </a:prstGeom>
          <a:noFill/>
        </p:spPr>
        <p:txBody>
          <a:bodyPr wrap="square" lIns="0" rIns="0" tIns="0" bIns="0" anchor="t">
            <a:spAutoFit/>
          </a:bodyPr>
          <a:lstStyle/>
          <a:p>
            <a:pPr algn="ctr">
              <a:spcAft>
                <a:spcPts val="400"/>
              </a:spcAft>
            </a:pPr>
            <a:r>
              <a:rPr sz="1500" b="1" i="0">
                <a:solidFill>
                  <a:schemeClr val="tx1"/>
                </a:solidFill>
              </a:rPr>
              <a:t>Same view</a:t>
            </a:r>
          </a:p>
        </p:txBody>
      </p:sp>
      <p:sp>
        <p:nvSpPr>
          <p:cNvPr id="22" name="TextBox 21"/>
          <p:cNvSpPr txBox="1"/>
          <p:nvPr/>
        </p:nvSpPr>
        <p:spPr>
          <a:xfrm>
            <a:off x="9601200" y="2194560"/>
            <a:ext cx="2148840" cy="457200"/>
          </a:xfrm>
          <a:prstGeom prst="rect">
            <a:avLst/>
          </a:prstGeom>
          <a:noFill/>
        </p:spPr>
        <p:txBody>
          <a:bodyPr wrap="square" lIns="0" rIns="0" tIns="0" bIns="0" anchor="t">
            <a:spAutoFit/>
          </a:bodyPr>
          <a:lstStyle/>
          <a:p>
            <a:pPr algn="ctr">
              <a:spcAft>
                <a:spcPts val="400"/>
              </a:spcAft>
            </a:pPr>
            <a:r>
              <a:rPr sz="1150" b="0" i="0">
                <a:solidFill>
                  <a:schemeClr val="tx2"/>
                </a:solidFill>
              </a:rPr>
              <a:t>Owner team named</a:t>
            </a:r>
          </a:p>
        </p:txBody>
      </p:sp>
      <p:graphicFrame>
        <p:nvGraphicFramePr>
          <p:cNvPr id="23" name="Table 22"/>
          <p:cNvGraphicFramePr>
            <a:graphicFrameLocks noGrp="1"/>
          </p:cNvGraphicFramePr>
          <p:nvPr/>
        </p:nvGraphicFramePr>
        <p:xfrm>
          <a:off x="457200" y="2926080"/>
          <a:ext cx="11247120" cy="2651760"/>
        </p:xfrm>
        <a:graphic>
          <a:graphicData uri="http://schemas.openxmlformats.org/drawingml/2006/table">
            <a:tbl>
              <a:tblPr firstRow="0" bandRow="0">
                <a:tableStyleId>{5940675A-B579-460E-94D1-54222C63F5DA}</a:tableStyleId>
              </a:tblPr>
              <a:tblGrid>
                <a:gridCol w="2606040"/>
                <a:gridCol w="3611880"/>
                <a:gridCol w="1234440"/>
                <a:gridCol w="1463040"/>
                <a:gridCol w="2331720"/>
              </a:tblGrid>
              <a:tr h="530352">
                <a:tc>
                  <a:txBody>
                    <a:bodyPr wrap="square"/>
                    <a:lstStyle/>
                    <a:p>
                      <a:r>
                        <a:rPr sz="1100" b="1" i="0">
                          <a:solidFill>
                            <a:schemeClr val="bg1"/>
                          </a:solidFill>
                        </a:rPr>
                        <a:t>Scenario (injected)</a:t>
                      </a:r>
                    </a:p>
                  </a:txBody>
                  <a:tcPr marL="73152" marR="73152" marT="36576" marB="36576" anchor="ctr">
                    <a:lnL w="6350">
                      <a:solidFill>
                        <a:srgbClr val="D5DEE5"/>
                      </a:solidFill>
                    </a:lnL>
                    <a:lnR w="6350">
                      <a:solidFill>
                        <a:srgbClr val="D5DEE5"/>
                      </a:solidFill>
                    </a:lnR>
                    <a:lnT w="6350">
                      <a:solidFill>
                        <a:srgbClr val="D5DEE5"/>
                      </a:solidFill>
                    </a:lnT>
                    <a:lnB w="6350">
                      <a:solidFill>
                        <a:srgbClr val="D5DEE5"/>
                      </a:solidFill>
                    </a:lnB>
                    <a:solidFill>
                      <a:schemeClr val="tx1"/>
                    </a:solidFill>
                  </a:tcPr>
                </a:tc>
                <a:tc>
                  <a:txBody>
                    <a:bodyPr wrap="square"/>
                    <a:lstStyle/>
                    <a:p>
                      <a:r>
                        <a:rPr sz="1100" b="1" i="0">
                          <a:solidFill>
                            <a:schemeClr val="bg1"/>
                          </a:solidFill>
                        </a:rPr>
                        <a:t>Red dot found</a:t>
                      </a:r>
                    </a:p>
                  </a:txBody>
                  <a:tcPr marL="73152" marR="73152" marT="36576" marB="36576" anchor="ctr">
                    <a:lnL w="6350">
                      <a:solidFill>
                        <a:srgbClr val="D5DEE5"/>
                      </a:solidFill>
                    </a:lnL>
                    <a:lnR w="6350">
                      <a:solidFill>
                        <a:srgbClr val="D5DEE5"/>
                      </a:solidFill>
                    </a:lnR>
                    <a:lnT w="6350">
                      <a:solidFill>
                        <a:srgbClr val="D5DEE5"/>
                      </a:solidFill>
                    </a:lnT>
                    <a:lnB w="6350">
                      <a:solidFill>
                        <a:srgbClr val="D5DEE5"/>
                      </a:solidFill>
                    </a:lnB>
                    <a:solidFill>
                      <a:schemeClr val="tx1"/>
                    </a:solidFill>
                  </a:tcPr>
                </a:tc>
                <a:tc>
                  <a:txBody>
                    <a:bodyPr wrap="square"/>
                    <a:lstStyle/>
                    <a:p>
                      <a:r>
                        <a:rPr sz="1100" b="1" i="0">
                          <a:solidFill>
                            <a:schemeClr val="bg1"/>
                          </a:solidFill>
                        </a:rPr>
                        <a:t>Envoy flag</a:t>
                      </a:r>
                    </a:p>
                  </a:txBody>
                  <a:tcPr marL="73152" marR="73152" marT="36576" marB="36576" anchor="ctr">
                    <a:lnL w="6350">
                      <a:solidFill>
                        <a:srgbClr val="D5DEE5"/>
                      </a:solidFill>
                    </a:lnL>
                    <a:lnR w="6350">
                      <a:solidFill>
                        <a:srgbClr val="D5DEE5"/>
                      </a:solidFill>
                    </a:lnR>
                    <a:lnT w="6350">
                      <a:solidFill>
                        <a:srgbClr val="D5DEE5"/>
                      </a:solidFill>
                    </a:lnT>
                    <a:lnB w="6350">
                      <a:solidFill>
                        <a:srgbClr val="D5DEE5"/>
                      </a:solidFill>
                    </a:lnB>
                    <a:solidFill>
                      <a:schemeClr val="tx1"/>
                    </a:solidFill>
                  </a:tcPr>
                </a:tc>
                <a:tc>
                  <a:txBody>
                    <a:bodyPr wrap="square"/>
                    <a:lstStyle/>
                    <a:p>
                      <a:r>
                        <a:rPr sz="1100" b="1" i="0">
                          <a:solidFill>
                            <a:schemeClr val="bg1"/>
                          </a:solidFill>
                        </a:rPr>
                        <a:t>Alerts after</a:t>
                      </a:r>
                    </a:p>
                  </a:txBody>
                  <a:tcPr marL="73152" marR="73152" marT="36576" marB="36576" anchor="ctr">
                    <a:lnL w="6350">
                      <a:solidFill>
                        <a:srgbClr val="D5DEE5"/>
                      </a:solidFill>
                    </a:lnL>
                    <a:lnR w="6350">
                      <a:solidFill>
                        <a:srgbClr val="D5DEE5"/>
                      </a:solidFill>
                    </a:lnR>
                    <a:lnT w="6350">
                      <a:solidFill>
                        <a:srgbClr val="D5DEE5"/>
                      </a:solidFill>
                    </a:lnT>
                    <a:lnB w="6350">
                      <a:solidFill>
                        <a:srgbClr val="D5DEE5"/>
                      </a:solidFill>
                    </a:lnB>
                    <a:solidFill>
                      <a:schemeClr val="tx1"/>
                    </a:solidFill>
                  </a:tcPr>
                </a:tc>
                <a:tc>
                  <a:txBody>
                    <a:bodyPr wrap="square"/>
                    <a:lstStyle/>
                    <a:p>
                      <a:r>
                        <a:rPr sz="1100" b="1" i="0">
                          <a:solidFill>
                            <a:schemeClr val="bg1"/>
                          </a:solidFill>
                        </a:rPr>
                        <a:t>Routed to</a:t>
                      </a:r>
                    </a:p>
                  </a:txBody>
                  <a:tcPr marL="73152" marR="73152" marT="36576" marB="36576" anchor="ctr">
                    <a:lnL w="6350">
                      <a:solidFill>
                        <a:srgbClr val="D5DEE5"/>
                      </a:solidFill>
                    </a:lnL>
                    <a:lnR w="6350">
                      <a:solidFill>
                        <a:srgbClr val="D5DEE5"/>
                      </a:solidFill>
                    </a:lnR>
                    <a:lnT w="6350">
                      <a:solidFill>
                        <a:srgbClr val="D5DEE5"/>
                      </a:solidFill>
                    </a:lnT>
                    <a:lnB w="6350">
                      <a:solidFill>
                        <a:srgbClr val="D5DEE5"/>
                      </a:solidFill>
                    </a:lnB>
                    <a:solidFill>
                      <a:schemeClr val="tx1"/>
                    </a:solidFill>
                  </a:tcPr>
                </a:tc>
              </a:tr>
              <a:tr h="530352">
                <a:tc>
                  <a:txBody>
                    <a:bodyPr wrap="square"/>
                    <a:lstStyle/>
                    <a:p>
                      <a:r>
                        <a:rPr sz="1150" b="1" i="0">
                          <a:solidFill>
                            <a:schemeClr val="tx1"/>
                          </a:solidFill>
                        </a:rPr>
                        <a:t>Core banking slow (1-4 s)</a:t>
                      </a:r>
                    </a:p>
                  </a:txBody>
                  <a:tcPr marL="73152" marR="73152" marT="36576" marB="36576" anchor="ctr">
                    <a:lnL w="6350">
                      <a:solidFill>
                        <a:srgbClr val="D5DEE5"/>
                      </a:solidFill>
                    </a:lnL>
                    <a:lnR w="6350">
                      <a:solidFill>
                        <a:srgbClr val="D5DEE5"/>
                      </a:solidFill>
                    </a:lnR>
                    <a:lnT w="6350">
                      <a:solidFill>
                        <a:srgbClr val="D5DEE5"/>
                      </a:solidFill>
                    </a:lnT>
                    <a:lnB w="6350">
                      <a:solidFill>
                        <a:srgbClr val="D5DEE5"/>
                      </a:solidFill>
                    </a:lnB>
                    <a:solidFill>
                      <a:schemeClr val="bg1"/>
                    </a:solidFill>
                  </a:tcPr>
                </a:tc>
                <a:tc>
                  <a:txBody>
                    <a:bodyPr wrap="square"/>
                    <a:lstStyle/>
                    <a:p>
                      <a:r>
                        <a:rPr sz="1150" b="0" i="0">
                          <a:solidFill>
                            <a:schemeClr val="tx1"/>
                          </a:solidFill>
                        </a:rPr>
                        <a:t>payments-svc to Core banking, 35-46% errors</a:t>
                      </a:r>
                    </a:p>
                  </a:txBody>
                  <a:tcPr marL="73152" marR="73152" marT="36576" marB="36576" anchor="ctr">
                    <a:lnL w="6350">
                      <a:solidFill>
                        <a:srgbClr val="D5DEE5"/>
                      </a:solidFill>
                    </a:lnL>
                    <a:lnR w="6350">
                      <a:solidFill>
                        <a:srgbClr val="D5DEE5"/>
                      </a:solidFill>
                    </a:lnR>
                    <a:lnT w="6350">
                      <a:solidFill>
                        <a:srgbClr val="D5DEE5"/>
                      </a:solidFill>
                    </a:lnT>
                    <a:lnB w="6350">
                      <a:solidFill>
                        <a:srgbClr val="D5DEE5"/>
                      </a:solidFill>
                    </a:lnB>
                    <a:solidFill>
                      <a:schemeClr val="bg1"/>
                    </a:solidFill>
                  </a:tcPr>
                </a:tc>
                <a:tc>
                  <a:txBody>
                    <a:bodyPr wrap="square"/>
                    <a:lstStyle/>
                    <a:p>
                      <a:r>
                        <a:rPr sz="1150" b="0" i="0">
                          <a:solidFill>
                            <a:schemeClr val="accent3"/>
                          </a:solidFill>
                        </a:rPr>
                        <a:t>UT</a:t>
                      </a:r>
                    </a:p>
                  </a:txBody>
                  <a:tcPr marL="73152" marR="73152" marT="36576" marB="36576" anchor="ctr">
                    <a:lnL w="6350">
                      <a:solidFill>
                        <a:srgbClr val="D5DEE5"/>
                      </a:solidFill>
                    </a:lnL>
                    <a:lnR w="6350">
                      <a:solidFill>
                        <a:srgbClr val="D5DEE5"/>
                      </a:solidFill>
                    </a:lnR>
                    <a:lnT w="6350">
                      <a:solidFill>
                        <a:srgbClr val="D5DEE5"/>
                      </a:solidFill>
                    </a:lnT>
                    <a:lnB w="6350">
                      <a:solidFill>
                        <a:srgbClr val="D5DEE5"/>
                      </a:solidFill>
                    </a:lnB>
                    <a:solidFill>
                      <a:schemeClr val="bg1"/>
                    </a:solidFill>
                  </a:tcPr>
                </a:tc>
                <a:tc>
                  <a:txBody>
                    <a:bodyPr wrap="square"/>
                    <a:lstStyle/>
                    <a:p>
                      <a:r>
                        <a:rPr sz="1150" b="0" i="0">
                          <a:solidFill>
                            <a:schemeClr val="tx1"/>
                          </a:solidFill>
                        </a:rPr>
                        <a:t>82-96 s</a:t>
                      </a:r>
                    </a:p>
                  </a:txBody>
                  <a:tcPr marL="73152" marR="73152" marT="36576" marB="36576" anchor="ctr">
                    <a:lnL w="6350">
                      <a:solidFill>
                        <a:srgbClr val="D5DEE5"/>
                      </a:solidFill>
                    </a:lnL>
                    <a:lnR w="6350">
                      <a:solidFill>
                        <a:srgbClr val="D5DEE5"/>
                      </a:solidFill>
                    </a:lnR>
                    <a:lnT w="6350">
                      <a:solidFill>
                        <a:srgbClr val="D5DEE5"/>
                      </a:solidFill>
                    </a:lnT>
                    <a:lnB w="6350">
                      <a:solidFill>
                        <a:srgbClr val="D5DEE5"/>
                      </a:solidFill>
                    </a:lnB>
                    <a:solidFill>
                      <a:schemeClr val="bg1"/>
                    </a:solidFill>
                  </a:tcPr>
                </a:tc>
                <a:tc>
                  <a:txBody>
                    <a:bodyPr wrap="square"/>
                    <a:lstStyle/>
                    <a:p>
                      <a:r>
                        <a:rPr sz="1150" b="0" i="0">
                          <a:solidFill>
                            <a:schemeClr val="tx1"/>
                          </a:solidFill>
                        </a:rPr>
                        <a:t>Core banking team</a:t>
                      </a:r>
                    </a:p>
                  </a:txBody>
                  <a:tcPr marL="73152" marR="73152" marT="36576" marB="36576" anchor="ctr">
                    <a:lnL w="6350">
                      <a:solidFill>
                        <a:srgbClr val="D5DEE5"/>
                      </a:solidFill>
                    </a:lnL>
                    <a:lnR w="6350">
                      <a:solidFill>
                        <a:srgbClr val="D5DEE5"/>
                      </a:solidFill>
                    </a:lnR>
                    <a:lnT w="6350">
                      <a:solidFill>
                        <a:srgbClr val="D5DEE5"/>
                      </a:solidFill>
                    </a:lnT>
                    <a:lnB w="6350">
                      <a:solidFill>
                        <a:srgbClr val="D5DEE5"/>
                      </a:solidFill>
                    </a:lnB>
                    <a:solidFill>
                      <a:schemeClr val="bg1"/>
                    </a:solidFill>
                  </a:tcPr>
                </a:tc>
              </a:tr>
              <a:tr h="530352">
                <a:tc>
                  <a:txBody>
                    <a:bodyPr wrap="square"/>
                    <a:lstStyle/>
                    <a:p>
                      <a:r>
                        <a:rPr sz="1150" b="1" i="0">
                          <a:solidFill>
                            <a:schemeClr val="tx1"/>
                          </a:solidFill>
                        </a:rPr>
                        <a:t>Oracle DB unreachable</a:t>
                      </a:r>
                    </a:p>
                  </a:txBody>
                  <a:tcPr marL="73152" marR="73152" marT="36576" marB="36576" anchor="ctr">
                    <a:lnL w="6350">
                      <a:solidFill>
                        <a:srgbClr val="D5DEE5"/>
                      </a:solidFill>
                    </a:lnL>
                    <a:lnR w="6350">
                      <a:solidFill>
                        <a:srgbClr val="D5DEE5"/>
                      </a:solidFill>
                    </a:lnR>
                    <a:lnT w="6350">
                      <a:solidFill>
                        <a:srgbClr val="D5DEE5"/>
                      </a:solidFill>
                    </a:lnT>
                    <a:lnB w="6350">
                      <a:solidFill>
                        <a:srgbClr val="D5DEE5"/>
                      </a:solidFill>
                    </a:lnB>
                    <a:solidFill>
                      <a:schemeClr val="bg2"/>
                    </a:solidFill>
                  </a:tcPr>
                </a:tc>
                <a:tc>
                  <a:txBody>
                    <a:bodyPr wrap="square"/>
                    <a:lstStyle/>
                    <a:p>
                      <a:r>
                        <a:rPr sz="1150" b="0" i="0">
                          <a:solidFill>
                            <a:schemeClr val="tx1"/>
                          </a:solidFill>
                        </a:rPr>
                        <a:t>accounts-svc to Oracle DB (TCP)</a:t>
                      </a:r>
                    </a:p>
                  </a:txBody>
                  <a:tcPr marL="73152" marR="73152" marT="36576" marB="36576" anchor="ctr">
                    <a:lnL w="6350">
                      <a:solidFill>
                        <a:srgbClr val="D5DEE5"/>
                      </a:solidFill>
                    </a:lnL>
                    <a:lnR w="6350">
                      <a:solidFill>
                        <a:srgbClr val="D5DEE5"/>
                      </a:solidFill>
                    </a:lnR>
                    <a:lnT w="6350">
                      <a:solidFill>
                        <a:srgbClr val="D5DEE5"/>
                      </a:solidFill>
                    </a:lnT>
                    <a:lnB w="6350">
                      <a:solidFill>
                        <a:srgbClr val="D5DEE5"/>
                      </a:solidFill>
                    </a:lnB>
                    <a:solidFill>
                      <a:schemeClr val="bg2"/>
                    </a:solidFill>
                  </a:tcPr>
                </a:tc>
                <a:tc>
                  <a:txBody>
                    <a:bodyPr wrap="square"/>
                    <a:lstStyle/>
                    <a:p>
                      <a:r>
                        <a:rPr sz="1150" b="0" i="0">
                          <a:solidFill>
                            <a:schemeClr val="accent3"/>
                          </a:solidFill>
                        </a:rPr>
                        <a:t>UF, URX</a:t>
                      </a:r>
                    </a:p>
                  </a:txBody>
                  <a:tcPr marL="73152" marR="73152" marT="36576" marB="36576" anchor="ctr">
                    <a:lnL w="6350">
                      <a:solidFill>
                        <a:srgbClr val="D5DEE5"/>
                      </a:solidFill>
                    </a:lnL>
                    <a:lnR w="6350">
                      <a:solidFill>
                        <a:srgbClr val="D5DEE5"/>
                      </a:solidFill>
                    </a:lnR>
                    <a:lnT w="6350">
                      <a:solidFill>
                        <a:srgbClr val="D5DEE5"/>
                      </a:solidFill>
                    </a:lnT>
                    <a:lnB w="6350">
                      <a:solidFill>
                        <a:srgbClr val="D5DEE5"/>
                      </a:solidFill>
                    </a:lnB>
                    <a:solidFill>
                      <a:schemeClr val="bg2"/>
                    </a:solidFill>
                  </a:tcPr>
                </a:tc>
                <a:tc>
                  <a:txBody>
                    <a:bodyPr wrap="square"/>
                    <a:lstStyle/>
                    <a:p>
                      <a:r>
                        <a:rPr sz="1150" b="0" i="0">
                          <a:solidFill>
                            <a:schemeClr val="tx1"/>
                          </a:solidFill>
                        </a:rPr>
                        <a:t>31-91 s</a:t>
                      </a:r>
                    </a:p>
                  </a:txBody>
                  <a:tcPr marL="73152" marR="73152" marT="36576" marB="36576" anchor="ctr">
                    <a:lnL w="6350">
                      <a:solidFill>
                        <a:srgbClr val="D5DEE5"/>
                      </a:solidFill>
                    </a:lnL>
                    <a:lnR w="6350">
                      <a:solidFill>
                        <a:srgbClr val="D5DEE5"/>
                      </a:solidFill>
                    </a:lnR>
                    <a:lnT w="6350">
                      <a:solidFill>
                        <a:srgbClr val="D5DEE5"/>
                      </a:solidFill>
                    </a:lnT>
                    <a:lnB w="6350">
                      <a:solidFill>
                        <a:srgbClr val="D5DEE5"/>
                      </a:solidFill>
                    </a:lnB>
                    <a:solidFill>
                      <a:schemeClr val="bg2"/>
                    </a:solidFill>
                  </a:tcPr>
                </a:tc>
                <a:tc>
                  <a:txBody>
                    <a:bodyPr wrap="square"/>
                    <a:lstStyle/>
                    <a:p>
                      <a:r>
                        <a:rPr sz="1150" b="0" i="0">
                          <a:solidFill>
                            <a:schemeClr val="tx1"/>
                          </a:solidFill>
                        </a:rPr>
                        <a:t>DBA team</a:t>
                      </a:r>
                    </a:p>
                  </a:txBody>
                  <a:tcPr marL="73152" marR="73152" marT="36576" marB="36576" anchor="ctr">
                    <a:lnL w="6350">
                      <a:solidFill>
                        <a:srgbClr val="D5DEE5"/>
                      </a:solidFill>
                    </a:lnL>
                    <a:lnR w="6350">
                      <a:solidFill>
                        <a:srgbClr val="D5DEE5"/>
                      </a:solidFill>
                    </a:lnR>
                    <a:lnT w="6350">
                      <a:solidFill>
                        <a:srgbClr val="D5DEE5"/>
                      </a:solidFill>
                    </a:lnT>
                    <a:lnB w="6350">
                      <a:solidFill>
                        <a:srgbClr val="D5DEE5"/>
                      </a:solidFill>
                    </a:lnB>
                    <a:solidFill>
                      <a:schemeClr val="bg2"/>
                    </a:solidFill>
                  </a:tcPr>
                </a:tc>
              </a:tr>
              <a:tr h="530352">
                <a:tc>
                  <a:txBody>
                    <a:bodyPr wrap="square"/>
                    <a:lstStyle/>
                    <a:p>
                      <a:r>
                        <a:rPr sz="1150" b="1" i="0">
                          <a:solidFill>
                            <a:schemeClr val="tx1"/>
                          </a:solidFill>
                        </a:rPr>
                        <a:t>Card switch down</a:t>
                      </a:r>
                    </a:p>
                  </a:txBody>
                  <a:tcPr marL="73152" marR="73152" marT="36576" marB="36576" anchor="ctr">
                    <a:lnL w="6350">
                      <a:solidFill>
                        <a:srgbClr val="D5DEE5"/>
                      </a:solidFill>
                    </a:lnL>
                    <a:lnR w="6350">
                      <a:solidFill>
                        <a:srgbClr val="D5DEE5"/>
                      </a:solidFill>
                    </a:lnR>
                    <a:lnT w="6350">
                      <a:solidFill>
                        <a:srgbClr val="D5DEE5"/>
                      </a:solidFill>
                    </a:lnT>
                    <a:lnB w="6350">
                      <a:solidFill>
                        <a:srgbClr val="D5DEE5"/>
                      </a:solidFill>
                    </a:lnB>
                    <a:solidFill>
                      <a:schemeClr val="bg1"/>
                    </a:solidFill>
                  </a:tcPr>
                </a:tc>
                <a:tc>
                  <a:txBody>
                    <a:bodyPr wrap="square"/>
                    <a:lstStyle/>
                    <a:p>
                      <a:r>
                        <a:rPr sz="1150" b="0" i="0">
                          <a:solidFill>
                            <a:schemeClr val="tx1"/>
                          </a:solidFill>
                        </a:rPr>
                        <a:t>cards-svc to Card switch, 100% errors</a:t>
                      </a:r>
                    </a:p>
                  </a:txBody>
                  <a:tcPr marL="73152" marR="73152" marT="36576" marB="36576" anchor="ctr">
                    <a:lnL w="6350">
                      <a:solidFill>
                        <a:srgbClr val="D5DEE5"/>
                      </a:solidFill>
                    </a:lnL>
                    <a:lnR w="6350">
                      <a:solidFill>
                        <a:srgbClr val="D5DEE5"/>
                      </a:solidFill>
                    </a:lnR>
                    <a:lnT w="6350">
                      <a:solidFill>
                        <a:srgbClr val="D5DEE5"/>
                      </a:solidFill>
                    </a:lnT>
                    <a:lnB w="6350">
                      <a:solidFill>
                        <a:srgbClr val="D5DEE5"/>
                      </a:solidFill>
                    </a:lnB>
                    <a:solidFill>
                      <a:schemeClr val="bg1"/>
                    </a:solidFill>
                  </a:tcPr>
                </a:tc>
                <a:tc>
                  <a:txBody>
                    <a:bodyPr wrap="square"/>
                    <a:lstStyle/>
                    <a:p>
                      <a:r>
                        <a:rPr sz="1150" b="0" i="0">
                          <a:solidFill>
                            <a:schemeClr val="accent3"/>
                          </a:solidFill>
                        </a:rPr>
                        <a:t>UF, then UH</a:t>
                      </a:r>
                    </a:p>
                  </a:txBody>
                  <a:tcPr marL="73152" marR="73152" marT="36576" marB="36576" anchor="ctr">
                    <a:lnL w="6350">
                      <a:solidFill>
                        <a:srgbClr val="D5DEE5"/>
                      </a:solidFill>
                    </a:lnL>
                    <a:lnR w="6350">
                      <a:solidFill>
                        <a:srgbClr val="D5DEE5"/>
                      </a:solidFill>
                    </a:lnR>
                    <a:lnT w="6350">
                      <a:solidFill>
                        <a:srgbClr val="D5DEE5"/>
                      </a:solidFill>
                    </a:lnT>
                    <a:lnB w="6350">
                      <a:solidFill>
                        <a:srgbClr val="D5DEE5"/>
                      </a:solidFill>
                    </a:lnB>
                    <a:solidFill>
                      <a:schemeClr val="bg1"/>
                    </a:solidFill>
                  </a:tcPr>
                </a:tc>
                <a:tc>
                  <a:txBody>
                    <a:bodyPr wrap="square"/>
                    <a:lstStyle/>
                    <a:p>
                      <a:r>
                        <a:rPr sz="1150" b="0" i="0">
                          <a:solidFill>
                            <a:schemeClr val="tx1"/>
                          </a:solidFill>
                        </a:rPr>
                        <a:t>72-96 s</a:t>
                      </a:r>
                    </a:p>
                  </a:txBody>
                  <a:tcPr marL="73152" marR="73152" marT="36576" marB="36576" anchor="ctr">
                    <a:lnL w="6350">
                      <a:solidFill>
                        <a:srgbClr val="D5DEE5"/>
                      </a:solidFill>
                    </a:lnL>
                    <a:lnR w="6350">
                      <a:solidFill>
                        <a:srgbClr val="D5DEE5"/>
                      </a:solidFill>
                    </a:lnR>
                    <a:lnT w="6350">
                      <a:solidFill>
                        <a:srgbClr val="D5DEE5"/>
                      </a:solidFill>
                    </a:lnT>
                    <a:lnB w="6350">
                      <a:solidFill>
                        <a:srgbClr val="D5DEE5"/>
                      </a:solidFill>
                    </a:lnB>
                    <a:solidFill>
                      <a:schemeClr val="bg1"/>
                    </a:solidFill>
                  </a:tcPr>
                </a:tc>
                <a:tc>
                  <a:txBody>
                    <a:bodyPr wrap="square"/>
                    <a:lstStyle/>
                    <a:p>
                      <a:r>
                        <a:rPr sz="1150" b="0" i="0">
                          <a:solidFill>
                            <a:schemeClr val="tx1"/>
                          </a:solidFill>
                        </a:rPr>
                        <a:t>Card switch team</a:t>
                      </a:r>
                    </a:p>
                  </a:txBody>
                  <a:tcPr marL="73152" marR="73152" marT="36576" marB="36576" anchor="ctr">
                    <a:lnL w="6350">
                      <a:solidFill>
                        <a:srgbClr val="D5DEE5"/>
                      </a:solidFill>
                    </a:lnL>
                    <a:lnR w="6350">
                      <a:solidFill>
                        <a:srgbClr val="D5DEE5"/>
                      </a:solidFill>
                    </a:lnR>
                    <a:lnT w="6350">
                      <a:solidFill>
                        <a:srgbClr val="D5DEE5"/>
                      </a:solidFill>
                    </a:lnT>
                    <a:lnB w="6350">
                      <a:solidFill>
                        <a:srgbClr val="D5DEE5"/>
                      </a:solidFill>
                    </a:lnB>
                    <a:solidFill>
                      <a:schemeClr val="bg1"/>
                    </a:solidFill>
                  </a:tcPr>
                </a:tc>
              </a:tr>
              <a:tr h="530352">
                <a:tc>
                  <a:txBody>
                    <a:bodyPr wrap="square"/>
                    <a:lstStyle/>
                    <a:p>
                      <a:r>
                        <a:rPr sz="1150" b="1" i="0">
                          <a:solidFill>
                            <a:schemeClr val="tx1"/>
                          </a:solidFill>
                        </a:rPr>
                        <a:t>New service added, then broken</a:t>
                      </a:r>
                    </a:p>
                  </a:txBody>
                  <a:tcPr marL="73152" marR="73152" marT="36576" marB="36576" anchor="ctr">
                    <a:lnL w="6350">
                      <a:solidFill>
                        <a:srgbClr val="D5DEE5"/>
                      </a:solidFill>
                    </a:lnL>
                    <a:lnR w="6350">
                      <a:solidFill>
                        <a:srgbClr val="D5DEE5"/>
                      </a:solidFill>
                    </a:lnR>
                    <a:lnT w="6350">
                      <a:solidFill>
                        <a:srgbClr val="D5DEE5"/>
                      </a:solidFill>
                    </a:lnT>
                    <a:lnB w="6350">
                      <a:solidFill>
                        <a:srgbClr val="D5DEE5"/>
                      </a:solidFill>
                    </a:lnB>
                    <a:solidFill>
                      <a:schemeClr val="bg2"/>
                    </a:solidFill>
                  </a:tcPr>
                </a:tc>
                <a:tc>
                  <a:txBody>
                    <a:bodyPr wrap="square"/>
                    <a:lstStyle/>
                    <a:p>
                      <a:r>
                        <a:rPr sz="1150" b="0" i="0">
                          <a:solidFill>
                            <a:schemeClr val="tx1"/>
                          </a:solidFill>
                        </a:rPr>
                        <a:t>loans-svc to Credit bureau (discovered in 41 s)</a:t>
                      </a:r>
                    </a:p>
                  </a:txBody>
                  <a:tcPr marL="73152" marR="73152" marT="36576" marB="36576" anchor="ctr">
                    <a:lnL w="6350">
                      <a:solidFill>
                        <a:srgbClr val="D5DEE5"/>
                      </a:solidFill>
                    </a:lnL>
                    <a:lnR w="6350">
                      <a:solidFill>
                        <a:srgbClr val="D5DEE5"/>
                      </a:solidFill>
                    </a:lnR>
                    <a:lnT w="6350">
                      <a:solidFill>
                        <a:srgbClr val="D5DEE5"/>
                      </a:solidFill>
                    </a:lnT>
                    <a:lnB w="6350">
                      <a:solidFill>
                        <a:srgbClr val="D5DEE5"/>
                      </a:solidFill>
                    </a:lnB>
                    <a:solidFill>
                      <a:schemeClr val="bg2"/>
                    </a:solidFill>
                  </a:tcPr>
                </a:tc>
                <a:tc>
                  <a:txBody>
                    <a:bodyPr wrap="square"/>
                    <a:lstStyle/>
                    <a:p>
                      <a:r>
                        <a:rPr sz="1150" b="0" i="0">
                          <a:solidFill>
                            <a:schemeClr val="accent3"/>
                          </a:solidFill>
                        </a:rPr>
                        <a:t>UF, URX</a:t>
                      </a:r>
                    </a:p>
                  </a:txBody>
                  <a:tcPr marL="73152" marR="73152" marT="36576" marB="36576" anchor="ctr">
                    <a:lnL w="6350">
                      <a:solidFill>
                        <a:srgbClr val="D5DEE5"/>
                      </a:solidFill>
                    </a:lnL>
                    <a:lnR w="6350">
                      <a:solidFill>
                        <a:srgbClr val="D5DEE5"/>
                      </a:solidFill>
                    </a:lnR>
                    <a:lnT w="6350">
                      <a:solidFill>
                        <a:srgbClr val="D5DEE5"/>
                      </a:solidFill>
                    </a:lnT>
                    <a:lnB w="6350">
                      <a:solidFill>
                        <a:srgbClr val="D5DEE5"/>
                      </a:solidFill>
                    </a:lnB>
                    <a:solidFill>
                      <a:schemeClr val="bg2"/>
                    </a:solidFill>
                  </a:tcPr>
                </a:tc>
                <a:tc>
                  <a:txBody>
                    <a:bodyPr wrap="square"/>
                    <a:lstStyle/>
                    <a:p>
                      <a:r>
                        <a:rPr sz="1150" b="0" i="0">
                          <a:solidFill>
                            <a:schemeClr val="tx1"/>
                          </a:solidFill>
                        </a:rPr>
                        <a:t>31 s to red dot</a:t>
                      </a:r>
                    </a:p>
                  </a:txBody>
                  <a:tcPr marL="73152" marR="73152" marT="36576" marB="36576" anchor="ctr">
                    <a:lnL w="6350">
                      <a:solidFill>
                        <a:srgbClr val="D5DEE5"/>
                      </a:solidFill>
                    </a:lnL>
                    <a:lnR w="6350">
                      <a:solidFill>
                        <a:srgbClr val="D5DEE5"/>
                      </a:solidFill>
                    </a:lnR>
                    <a:lnT w="6350">
                      <a:solidFill>
                        <a:srgbClr val="D5DEE5"/>
                      </a:solidFill>
                    </a:lnT>
                    <a:lnB w="6350">
                      <a:solidFill>
                        <a:srgbClr val="D5DEE5"/>
                      </a:solidFill>
                    </a:lnB>
                    <a:solidFill>
                      <a:schemeClr val="bg2"/>
                    </a:solidFill>
                  </a:tcPr>
                </a:tc>
                <a:tc>
                  <a:txBody>
                    <a:bodyPr wrap="square"/>
                    <a:lstStyle/>
                    <a:p>
                      <a:r>
                        <a:rPr sz="1150" b="0" i="0">
                          <a:solidFill>
                            <a:schemeClr val="tx1"/>
                          </a:solidFill>
                        </a:rPr>
                        <a:t>Credit bureau partner desk</a:t>
                      </a:r>
                    </a:p>
                  </a:txBody>
                  <a:tcPr marL="73152" marR="73152" marT="36576" marB="36576" anchor="ctr">
                    <a:lnL w="6350">
                      <a:solidFill>
                        <a:srgbClr val="D5DEE5"/>
                      </a:solidFill>
                    </a:lnL>
                    <a:lnR w="6350">
                      <a:solidFill>
                        <a:srgbClr val="D5DEE5"/>
                      </a:solidFill>
                    </a:lnR>
                    <a:lnT w="6350">
                      <a:solidFill>
                        <a:srgbClr val="D5DEE5"/>
                      </a:solidFill>
                    </a:lnT>
                    <a:lnB w="6350">
                      <a:solidFill>
                        <a:srgbClr val="D5DEE5"/>
                      </a:solidFill>
                    </a:lnB>
                    <a:solidFill>
                      <a:schemeClr val="bg2"/>
                    </a:solidFill>
                  </a:tcPr>
                </a:tc>
              </a:tr>
            </a:tbl>
          </a:graphicData>
        </a:graphic>
      </p:graphicFrame>
      <p:sp>
        <p:nvSpPr>
          <p:cNvPr id="24" name="TextBox 23"/>
          <p:cNvSpPr txBox="1"/>
          <p:nvPr/>
        </p:nvSpPr>
        <p:spPr>
          <a:xfrm>
            <a:off x="457200" y="5760720"/>
            <a:ext cx="11247120" cy="365760"/>
          </a:xfrm>
          <a:prstGeom prst="rect">
            <a:avLst/>
          </a:prstGeom>
          <a:noFill/>
        </p:spPr>
        <p:txBody>
          <a:bodyPr wrap="square" lIns="0" rIns="0" tIns="0" bIns="0" anchor="t">
            <a:spAutoFit/>
          </a:bodyPr>
          <a:lstStyle/>
          <a:p>
            <a:pPr algn="l">
              <a:spcAft>
                <a:spcPts val="400"/>
              </a:spcAft>
            </a:pPr>
            <a:r>
              <a:rPr sz="1100" b="0" i="1">
                <a:solidFill>
                  <a:schemeClr val="tx2"/>
                </a:solidFill>
              </a:rPr>
              <a:t>Each failure was found on the right hop, with the right flag, and routed to the right team.</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Moving the POC to OpenShift</a:t>
            </a:r>
          </a:p>
        </p:txBody>
      </p:sp>
      <p:sp>
        <p:nvSpPr>
          <p:cNvPr id="3"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
        <p:nvSpPr>
          <p:cNvPr id="4" name="Rounded Rectangle 3"/>
          <p:cNvSpPr/>
          <p:nvPr/>
        </p:nvSpPr>
        <p:spPr>
          <a:xfrm>
            <a:off x="457200" y="1417320"/>
            <a:ext cx="3566160" cy="1828800"/>
          </a:xfrm>
          <a:prstGeom prst="roundRect">
            <a:avLst>
              <a:gd name="adj" fmla="val 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85800" y="1645920"/>
            <a:ext cx="384048" cy="38404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pPr>
            <a:r>
              <a:rPr sz="1300" b="1" i="0">
                <a:solidFill>
                  <a:schemeClr val="bg1"/>
                </a:solidFill>
              </a:rPr>
              <a:t>1</a:t>
            </a:r>
          </a:p>
        </p:txBody>
      </p:sp>
      <p:sp>
        <p:nvSpPr>
          <p:cNvPr id="6" name="TextBox 5"/>
          <p:cNvSpPr txBox="1"/>
          <p:nvPr/>
        </p:nvSpPr>
        <p:spPr>
          <a:xfrm>
            <a:off x="1234440" y="1664208"/>
            <a:ext cx="2651760" cy="365760"/>
          </a:xfrm>
          <a:prstGeom prst="rect">
            <a:avLst/>
          </a:prstGeom>
          <a:noFill/>
        </p:spPr>
        <p:txBody>
          <a:bodyPr wrap="square" lIns="0" rIns="0" tIns="0" bIns="0" anchor="t">
            <a:spAutoFit/>
          </a:bodyPr>
          <a:lstStyle/>
          <a:p>
            <a:pPr algn="l">
              <a:spcAft>
                <a:spcPts val="400"/>
              </a:spcAft>
            </a:pPr>
            <a:r>
              <a:rPr sz="1500" b="1" i="0">
                <a:solidFill>
                  <a:schemeClr val="tx1"/>
                </a:solidFill>
              </a:rPr>
              <a:t>Install</a:t>
            </a:r>
          </a:p>
        </p:txBody>
      </p:sp>
      <p:sp>
        <p:nvSpPr>
          <p:cNvPr id="7" name="TextBox 6"/>
          <p:cNvSpPr txBox="1"/>
          <p:nvPr/>
        </p:nvSpPr>
        <p:spPr>
          <a:xfrm>
            <a:off x="685800" y="2194560"/>
            <a:ext cx="3154680" cy="1005840"/>
          </a:xfrm>
          <a:prstGeom prst="rect">
            <a:avLst/>
          </a:prstGeom>
          <a:noFill/>
        </p:spPr>
        <p:txBody>
          <a:bodyPr wrap="square" lIns="0" rIns="0" tIns="0" bIns="0" anchor="t">
            <a:spAutoFit/>
          </a:bodyPr>
          <a:lstStyle/>
          <a:p>
            <a:pPr algn="l">
              <a:spcAft>
                <a:spcPts val="400"/>
              </a:spcAft>
            </a:pPr>
            <a:r>
              <a:rPr sz="1300" b="0" i="0">
                <a:solidFill>
                  <a:schemeClr val="tx2"/>
                </a:solidFill>
              </a:rPr>
              <a:t>OperatorHub (OLM) instead of Helm; no cert-manager, service-ca issues webhook certificates.</a:t>
            </a:r>
          </a:p>
        </p:txBody>
      </p:sp>
      <p:sp>
        <p:nvSpPr>
          <p:cNvPr id="8" name="Rounded Rectangle 7"/>
          <p:cNvSpPr/>
          <p:nvPr/>
        </p:nvSpPr>
        <p:spPr>
          <a:xfrm>
            <a:off x="4251960" y="1417320"/>
            <a:ext cx="3566160" cy="1828800"/>
          </a:xfrm>
          <a:prstGeom prst="roundRect">
            <a:avLst>
              <a:gd name="adj" fmla="val 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4480560" y="1645920"/>
            <a:ext cx="384048" cy="38404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pPr>
            <a:r>
              <a:rPr sz="1300" b="1" i="0">
                <a:solidFill>
                  <a:schemeClr val="bg1"/>
                </a:solidFill>
              </a:rPr>
              <a:t>2</a:t>
            </a:r>
          </a:p>
        </p:txBody>
      </p:sp>
      <p:sp>
        <p:nvSpPr>
          <p:cNvPr id="10" name="TextBox 9"/>
          <p:cNvSpPr txBox="1"/>
          <p:nvPr/>
        </p:nvSpPr>
        <p:spPr>
          <a:xfrm>
            <a:off x="5029200" y="1664208"/>
            <a:ext cx="2651760" cy="365760"/>
          </a:xfrm>
          <a:prstGeom prst="rect">
            <a:avLst/>
          </a:prstGeom>
          <a:noFill/>
        </p:spPr>
        <p:txBody>
          <a:bodyPr wrap="square" lIns="0" rIns="0" tIns="0" bIns="0" anchor="t">
            <a:spAutoFit/>
          </a:bodyPr>
          <a:lstStyle/>
          <a:p>
            <a:pPr algn="l">
              <a:spcAft>
                <a:spcPts val="400"/>
              </a:spcAft>
            </a:pPr>
            <a:r>
              <a:rPr sz="1500" b="1" i="0">
                <a:solidFill>
                  <a:schemeClr val="tx1"/>
                </a:solidFill>
              </a:rPr>
              <a:t>Metrics</a:t>
            </a:r>
          </a:p>
        </p:txBody>
      </p:sp>
      <p:sp>
        <p:nvSpPr>
          <p:cNvPr id="11" name="TextBox 10"/>
          <p:cNvSpPr txBox="1"/>
          <p:nvPr/>
        </p:nvSpPr>
        <p:spPr>
          <a:xfrm>
            <a:off x="4480560" y="2194560"/>
            <a:ext cx="3154680" cy="1005840"/>
          </a:xfrm>
          <a:prstGeom prst="rect">
            <a:avLst/>
          </a:prstGeom>
          <a:noFill/>
        </p:spPr>
        <p:txBody>
          <a:bodyPr wrap="square" lIns="0" rIns="0" tIns="0" bIns="0" anchor="t">
            <a:spAutoFit/>
          </a:bodyPr>
          <a:lstStyle/>
          <a:p>
            <a:pPr algn="l">
              <a:spcAft>
                <a:spcPts val="400"/>
              </a:spcAft>
            </a:pPr>
            <a:r>
              <a:rPr sz="1300" b="0" i="0">
                <a:solidFill>
                  <a:schemeClr val="tx2"/>
                </a:solidFill>
              </a:rPr>
              <a:t>Do not install kube-prometheus-stack. Enable user workload monitoring; query Thanos Querier with a token.</a:t>
            </a:r>
          </a:p>
        </p:txBody>
      </p:sp>
      <p:sp>
        <p:nvSpPr>
          <p:cNvPr id="12" name="Rounded Rectangle 11"/>
          <p:cNvSpPr/>
          <p:nvPr/>
        </p:nvSpPr>
        <p:spPr>
          <a:xfrm>
            <a:off x="8046720" y="1417320"/>
            <a:ext cx="3566160" cy="1828800"/>
          </a:xfrm>
          <a:prstGeom prst="roundRect">
            <a:avLst>
              <a:gd name="adj" fmla="val 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275320" y="1645920"/>
            <a:ext cx="384048" cy="38404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pPr>
            <a:r>
              <a:rPr sz="1300" b="1" i="0">
                <a:solidFill>
                  <a:schemeClr val="bg1"/>
                </a:solidFill>
              </a:rPr>
              <a:t>3</a:t>
            </a:r>
          </a:p>
        </p:txBody>
      </p:sp>
      <p:sp>
        <p:nvSpPr>
          <p:cNvPr id="14" name="TextBox 13"/>
          <p:cNvSpPr txBox="1"/>
          <p:nvPr/>
        </p:nvSpPr>
        <p:spPr>
          <a:xfrm>
            <a:off x="8823960" y="1664208"/>
            <a:ext cx="2651760" cy="365760"/>
          </a:xfrm>
          <a:prstGeom prst="rect">
            <a:avLst/>
          </a:prstGeom>
          <a:noFill/>
        </p:spPr>
        <p:txBody>
          <a:bodyPr wrap="square" lIns="0" rIns="0" tIns="0" bIns="0" anchor="t">
            <a:spAutoFit/>
          </a:bodyPr>
          <a:lstStyle/>
          <a:p>
            <a:pPr algn="l">
              <a:spcAft>
                <a:spcPts val="400"/>
              </a:spcAft>
            </a:pPr>
            <a:r>
              <a:rPr sz="1500" b="1" i="0">
                <a:solidFill>
                  <a:schemeClr val="tx1"/>
                </a:solidFill>
              </a:rPr>
              <a:t>Storage</a:t>
            </a:r>
          </a:p>
        </p:txBody>
      </p:sp>
      <p:sp>
        <p:nvSpPr>
          <p:cNvPr id="15" name="TextBox 14"/>
          <p:cNvSpPr txBox="1"/>
          <p:nvPr/>
        </p:nvSpPr>
        <p:spPr>
          <a:xfrm>
            <a:off x="8275320" y="2194560"/>
            <a:ext cx="3154680" cy="1005840"/>
          </a:xfrm>
          <a:prstGeom prst="rect">
            <a:avLst/>
          </a:prstGeom>
          <a:noFill/>
        </p:spPr>
        <p:txBody>
          <a:bodyPr wrap="square" lIns="0" rIns="0" tIns="0" bIns="0" anchor="t">
            <a:spAutoFit/>
          </a:bodyPr>
          <a:lstStyle/>
          <a:p>
            <a:pPr algn="l">
              <a:spcAft>
                <a:spcPts val="400"/>
              </a:spcAft>
            </a:pPr>
            <a:r>
              <a:rPr sz="1300" b="0" i="0">
                <a:solidFill>
                  <a:schemeClr val="tx2"/>
                </a:solidFill>
              </a:rPr>
              <a:t>TempoStack and LokiStack on S3-compatible object storage; persistent Prometheus.</a:t>
            </a:r>
          </a:p>
        </p:txBody>
      </p:sp>
      <p:sp>
        <p:nvSpPr>
          <p:cNvPr id="16" name="Rounded Rectangle 15"/>
          <p:cNvSpPr/>
          <p:nvPr/>
        </p:nvSpPr>
        <p:spPr>
          <a:xfrm>
            <a:off x="457200" y="3520439"/>
            <a:ext cx="3566160" cy="1828800"/>
          </a:xfrm>
          <a:prstGeom prst="roundRect">
            <a:avLst>
              <a:gd name="adj" fmla="val 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85800" y="3749039"/>
            <a:ext cx="384048" cy="384048"/>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pPr>
            <a:r>
              <a:rPr sz="1300" b="1" i="0">
                <a:solidFill>
                  <a:schemeClr val="bg1"/>
                </a:solidFill>
              </a:rPr>
              <a:t>4</a:t>
            </a:r>
          </a:p>
        </p:txBody>
      </p:sp>
      <p:sp>
        <p:nvSpPr>
          <p:cNvPr id="18" name="TextBox 17"/>
          <p:cNvSpPr txBox="1"/>
          <p:nvPr/>
        </p:nvSpPr>
        <p:spPr>
          <a:xfrm>
            <a:off x="1234440" y="3767327"/>
            <a:ext cx="2651760" cy="365760"/>
          </a:xfrm>
          <a:prstGeom prst="rect">
            <a:avLst/>
          </a:prstGeom>
          <a:noFill/>
        </p:spPr>
        <p:txBody>
          <a:bodyPr wrap="square" lIns="0" rIns="0" tIns="0" bIns="0" anchor="t">
            <a:spAutoFit/>
          </a:bodyPr>
          <a:lstStyle/>
          <a:p>
            <a:pPr algn="l">
              <a:spcAft>
                <a:spcPts val="400"/>
              </a:spcAft>
            </a:pPr>
            <a:r>
              <a:rPr sz="1500" b="1" i="0">
                <a:solidFill>
                  <a:schemeClr val="tx1"/>
                </a:solidFill>
              </a:rPr>
              <a:t>Exposure</a:t>
            </a:r>
          </a:p>
        </p:txBody>
      </p:sp>
      <p:sp>
        <p:nvSpPr>
          <p:cNvPr id="19" name="TextBox 18"/>
          <p:cNvSpPr txBox="1"/>
          <p:nvPr/>
        </p:nvSpPr>
        <p:spPr>
          <a:xfrm>
            <a:off x="685800" y="4297679"/>
            <a:ext cx="3154680" cy="1005840"/>
          </a:xfrm>
          <a:prstGeom prst="rect">
            <a:avLst/>
          </a:prstGeom>
          <a:noFill/>
        </p:spPr>
        <p:txBody>
          <a:bodyPr wrap="square" lIns="0" rIns="0" tIns="0" bIns="0" anchor="t">
            <a:spAutoFit/>
          </a:bodyPr>
          <a:lstStyle/>
          <a:p>
            <a:pPr algn="l">
              <a:spcAft>
                <a:spcPts val="400"/>
              </a:spcAft>
            </a:pPr>
            <a:r>
              <a:rPr sz="1300" b="0" i="0">
                <a:solidFill>
                  <a:schemeClr val="tx2"/>
                </a:solidFill>
              </a:rPr>
              <a:t>Routes with OAuth instead of NodePorts; Kiali uses the openshift auth strategy.</a:t>
            </a:r>
          </a:p>
        </p:txBody>
      </p:sp>
      <p:sp>
        <p:nvSpPr>
          <p:cNvPr id="20" name="Rounded Rectangle 19"/>
          <p:cNvSpPr/>
          <p:nvPr/>
        </p:nvSpPr>
        <p:spPr>
          <a:xfrm>
            <a:off x="4251960" y="3520439"/>
            <a:ext cx="3566160" cy="1828800"/>
          </a:xfrm>
          <a:prstGeom prst="roundRect">
            <a:avLst>
              <a:gd name="adj" fmla="val 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480560" y="3749039"/>
            <a:ext cx="384048" cy="384048"/>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pPr>
            <a:r>
              <a:rPr sz="1300" b="1" i="0">
                <a:solidFill>
                  <a:schemeClr val="bg1"/>
                </a:solidFill>
              </a:rPr>
              <a:t>5</a:t>
            </a:r>
          </a:p>
        </p:txBody>
      </p:sp>
      <p:sp>
        <p:nvSpPr>
          <p:cNvPr id="22" name="TextBox 21"/>
          <p:cNvSpPr txBox="1"/>
          <p:nvPr/>
        </p:nvSpPr>
        <p:spPr>
          <a:xfrm>
            <a:off x="5029200" y="3767327"/>
            <a:ext cx="2651760" cy="365760"/>
          </a:xfrm>
          <a:prstGeom prst="rect">
            <a:avLst/>
          </a:prstGeom>
          <a:noFill/>
        </p:spPr>
        <p:txBody>
          <a:bodyPr wrap="square" lIns="0" rIns="0" tIns="0" bIns="0" anchor="t">
            <a:spAutoFit/>
          </a:bodyPr>
          <a:lstStyle/>
          <a:p>
            <a:pPr algn="l">
              <a:spcAft>
                <a:spcPts val="400"/>
              </a:spcAft>
            </a:pPr>
            <a:r>
              <a:rPr sz="1500" b="1" i="0">
                <a:solidFill>
                  <a:schemeClr val="tx1"/>
                </a:solidFill>
              </a:rPr>
              <a:t>External TLS</a:t>
            </a:r>
          </a:p>
        </p:txBody>
      </p:sp>
      <p:sp>
        <p:nvSpPr>
          <p:cNvPr id="23" name="TextBox 22"/>
          <p:cNvSpPr txBox="1"/>
          <p:nvPr/>
        </p:nvSpPr>
        <p:spPr>
          <a:xfrm>
            <a:off x="4480560" y="4297679"/>
            <a:ext cx="3154680" cy="1005840"/>
          </a:xfrm>
          <a:prstGeom prst="rect">
            <a:avLst/>
          </a:prstGeom>
          <a:noFill/>
        </p:spPr>
        <p:txBody>
          <a:bodyPr wrap="square" lIns="0" rIns="0" tIns="0" bIns="0" anchor="t">
            <a:spAutoFit/>
          </a:bodyPr>
          <a:lstStyle/>
          <a:p>
            <a:pPr algn="l">
              <a:spcAft>
                <a:spcPts val="400"/>
              </a:spcAft>
            </a:pPr>
            <a:r>
              <a:rPr sz="1300" b="0" i="0">
                <a:solidFill>
                  <a:schemeClr val="tx2"/>
                </a:solidFill>
              </a:rPr>
              <a:t>Bank CA in a ConfigMap, credentialName configmap://. A Secret without workloadSelector is ignored.</a:t>
            </a:r>
          </a:p>
        </p:txBody>
      </p:sp>
      <p:sp>
        <p:nvSpPr>
          <p:cNvPr id="24" name="Rounded Rectangle 23"/>
          <p:cNvSpPr/>
          <p:nvPr/>
        </p:nvSpPr>
        <p:spPr>
          <a:xfrm>
            <a:off x="8046720" y="3520439"/>
            <a:ext cx="3566160" cy="1828800"/>
          </a:xfrm>
          <a:prstGeom prst="roundRect">
            <a:avLst>
              <a:gd name="adj" fmla="val 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8275320" y="3749039"/>
            <a:ext cx="384048" cy="384048"/>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pPr>
            <a:r>
              <a:rPr sz="1300" b="1" i="0">
                <a:solidFill>
                  <a:schemeClr val="bg1"/>
                </a:solidFill>
              </a:rPr>
              <a:t>6</a:t>
            </a:r>
          </a:p>
        </p:txBody>
      </p:sp>
      <p:sp>
        <p:nvSpPr>
          <p:cNvPr id="26" name="TextBox 25"/>
          <p:cNvSpPr txBox="1"/>
          <p:nvPr/>
        </p:nvSpPr>
        <p:spPr>
          <a:xfrm>
            <a:off x="8823960" y="3767327"/>
            <a:ext cx="2651760" cy="365760"/>
          </a:xfrm>
          <a:prstGeom prst="rect">
            <a:avLst/>
          </a:prstGeom>
          <a:noFill/>
        </p:spPr>
        <p:txBody>
          <a:bodyPr wrap="square" lIns="0" rIns="0" tIns="0" bIns="0" anchor="t">
            <a:spAutoFit/>
          </a:bodyPr>
          <a:lstStyle/>
          <a:p>
            <a:pPr algn="l">
              <a:spcAft>
                <a:spcPts val="400"/>
              </a:spcAft>
            </a:pPr>
            <a:r>
              <a:rPr sz="1500" b="1" i="0">
                <a:solidFill>
                  <a:schemeClr val="tx1"/>
                </a:solidFill>
              </a:rPr>
              <a:t>Unchanged</a:t>
            </a:r>
          </a:p>
        </p:txBody>
      </p:sp>
      <p:sp>
        <p:nvSpPr>
          <p:cNvPr id="27" name="TextBox 26"/>
          <p:cNvSpPr txBox="1"/>
          <p:nvPr/>
        </p:nvSpPr>
        <p:spPr>
          <a:xfrm>
            <a:off x="8275320" y="4297679"/>
            <a:ext cx="3154680" cy="1005840"/>
          </a:xfrm>
          <a:prstGeom prst="rect">
            <a:avLst/>
          </a:prstGeom>
          <a:noFill/>
        </p:spPr>
        <p:txBody>
          <a:bodyPr wrap="square" lIns="0" rIns="0" tIns="0" bIns="0" anchor="t">
            <a:spAutoFit/>
          </a:bodyPr>
          <a:lstStyle/>
          <a:p>
            <a:pPr algn="l">
              <a:spcAft>
                <a:spcPts val="400"/>
              </a:spcAft>
            </a:pPr>
            <a:r>
              <a:rPr sz="1300" b="0" i="0">
                <a:solidFill>
                  <a:schemeClr val="tx2"/>
                </a:solidFill>
              </a:rPr>
              <a:t>Istio, IstioCNI, Telemetry, ServiceEntries, OTel CRs, TempoMonolithic, PodMonitors, alert rules.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47120" cy="731520"/>
          </a:xfrm>
          <a:prstGeom prst="rect">
            <a:avLst/>
          </a:prstGeom>
          <a:noFill/>
          <a:ln/>
        </p:spPr>
        <p:txBody>
          <a:bodyPr wrap="square" rtlCol="0" anchor="ctr"/>
          <a:lstStyle/>
          <a:p>
            <a:pPr algn="l" indent="0" marL="0">
              <a:buNone/>
            </a:pPr>
            <a:r>
              <a:rPr lang="en-US" sz="3000" b="1" dirty="0">
                <a:solidFill>
                  <a:schemeClr val="tx1"/>
                </a:solidFill>
              </a:rPr>
              <a:t>Implementation steps</a:t>
            </a:r>
            <a:endParaRPr lang="en-US" sz="3000" dirty="0"/>
          </a:p>
        </p:txBody>
      </p:sp>
      <p:sp>
        <p:nvSpPr>
          <p:cNvPr id="3" name="Step 1"/>
          <p:cNvSpPr/>
          <p:nvPr/>
        </p:nvSpPr>
        <p:spPr>
          <a:xfrm>
            <a:off x="457200" y="1325880"/>
            <a:ext cx="2606040" cy="2148840"/>
          </a:xfrm>
          <a:prstGeom prst="roundRect">
            <a:avLst>
              <a:gd name="adj" fmla="val 4255"/>
            </a:avLst>
          </a:prstGeom>
          <a:solidFill>
            <a:schemeClr val="bg2"/>
          </a:solidFill>
          <a:ln w="12700">
            <a:solidFill>
              <a:schemeClr val="bg2"/>
            </a:solidFill>
            <a:prstDash val="solid"/>
          </a:ln>
        </p:spPr>
      </p:sp>
      <p:sp>
        <p:nvSpPr>
          <p:cNvPr id="4" name="Shape 2"/>
          <p:cNvSpPr/>
          <p:nvPr/>
        </p:nvSpPr>
        <p:spPr>
          <a:xfrm>
            <a:off x="685800" y="1554480"/>
            <a:ext cx="502920" cy="502920"/>
          </a:xfrm>
          <a:prstGeom prst="ellipse">
            <a:avLst/>
          </a:prstGeom>
          <a:solidFill>
            <a:schemeClr val="accent2"/>
          </a:solidFill>
          <a:ln w="6350">
            <a:solidFill>
              <a:schemeClr val="accent2"/>
            </a:solidFill>
            <a:prstDash val="solid"/>
          </a:ln>
        </p:spPr>
      </p:sp>
      <p:sp>
        <p:nvSpPr>
          <p:cNvPr id="5" name="Text 3"/>
          <p:cNvSpPr txBox="1"/>
          <p:nvPr/>
        </p:nvSpPr>
        <p:spPr>
          <a:xfrm>
            <a:off x="685800" y="1554480"/>
            <a:ext cx="502920" cy="50292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Text 4"/>
          <p:cNvSpPr txBox="1"/>
          <p:nvPr/>
        </p:nvSpPr>
        <p:spPr>
          <a:xfrm>
            <a:off x="685800" y="2194560"/>
            <a:ext cx="2148840" cy="548640"/>
          </a:xfrm>
          <a:prstGeom prst="rect">
            <a:avLst/>
          </a:prstGeom>
          <a:noFill/>
          <a:ln/>
        </p:spPr>
        <p:txBody>
          <a:bodyPr wrap="square" lIns="0" tIns="0" rIns="0" bIns="0" rtlCol="0" anchor="t"/>
          <a:lstStyle/>
          <a:p>
            <a:pPr indent="0" marL="0">
              <a:buNone/>
            </a:pPr>
            <a:r>
              <a:rPr lang="en-US" sz="1500" b="1" dirty="0">
                <a:solidFill>
                  <a:schemeClr val="tx1"/>
                </a:solidFill>
              </a:rPr>
              <a:t>Enable user workload monitoring</a:t>
            </a:r>
            <a:endParaRPr lang="en-US" sz="1500" dirty="0"/>
          </a:p>
        </p:txBody>
      </p:sp>
      <p:sp>
        <p:nvSpPr>
          <p:cNvPr id="7" name="Text 5"/>
          <p:cNvSpPr txBox="1"/>
          <p:nvPr/>
        </p:nvSpPr>
        <p:spPr>
          <a:xfrm>
            <a:off x="685800" y="2743200"/>
            <a:ext cx="2148840" cy="640080"/>
          </a:xfrm>
          <a:prstGeom prst="rect">
            <a:avLst/>
          </a:prstGeom>
          <a:noFill/>
          <a:ln/>
        </p:spPr>
        <p:txBody>
          <a:bodyPr wrap="square" lIns="0" tIns="0" rIns="0" bIns="0" rtlCol="0" anchor="t"/>
          <a:lstStyle/>
          <a:p>
            <a:pPr indent="0" marL="0">
              <a:buNone/>
            </a:pPr>
            <a:r>
              <a:rPr lang="en-US" sz="1200" dirty="0">
                <a:solidFill>
                  <a:schemeClr val="tx2"/>
                </a:solidFill>
              </a:rPr>
              <a:t>cluster-monitoring-config: enableUserWorkload</a:t>
            </a:r>
            <a:endParaRPr lang="en-US" sz="1200" dirty="0"/>
          </a:p>
        </p:txBody>
      </p:sp>
      <p:sp>
        <p:nvSpPr>
          <p:cNvPr id="8" name="Step 2"/>
          <p:cNvSpPr/>
          <p:nvPr/>
        </p:nvSpPr>
        <p:spPr>
          <a:xfrm>
            <a:off x="3337560" y="1325880"/>
            <a:ext cx="2606040" cy="2148840"/>
          </a:xfrm>
          <a:prstGeom prst="roundRect">
            <a:avLst>
              <a:gd name="adj" fmla="val 4255"/>
            </a:avLst>
          </a:prstGeom>
          <a:solidFill>
            <a:schemeClr val="bg2"/>
          </a:solidFill>
          <a:ln w="12700">
            <a:solidFill>
              <a:schemeClr val="bg2"/>
            </a:solidFill>
            <a:prstDash val="solid"/>
          </a:ln>
        </p:spPr>
      </p:sp>
      <p:sp>
        <p:nvSpPr>
          <p:cNvPr id="9" name="Shape 7"/>
          <p:cNvSpPr/>
          <p:nvPr/>
        </p:nvSpPr>
        <p:spPr>
          <a:xfrm>
            <a:off x="3566160" y="1554480"/>
            <a:ext cx="502920" cy="502920"/>
          </a:xfrm>
          <a:prstGeom prst="ellipse">
            <a:avLst/>
          </a:prstGeom>
          <a:solidFill>
            <a:schemeClr val="accent2"/>
          </a:solidFill>
          <a:ln w="6350">
            <a:solidFill>
              <a:schemeClr val="accent2"/>
            </a:solidFill>
            <a:prstDash val="solid"/>
          </a:ln>
        </p:spPr>
      </p:sp>
      <p:sp>
        <p:nvSpPr>
          <p:cNvPr id="10" name="Text 8"/>
          <p:cNvSpPr txBox="1"/>
          <p:nvPr/>
        </p:nvSpPr>
        <p:spPr>
          <a:xfrm>
            <a:off x="3566160" y="1554480"/>
            <a:ext cx="502920" cy="50292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1" name="Text 9"/>
          <p:cNvSpPr txBox="1"/>
          <p:nvPr/>
        </p:nvSpPr>
        <p:spPr>
          <a:xfrm>
            <a:off x="3566160" y="2194560"/>
            <a:ext cx="2148840" cy="548640"/>
          </a:xfrm>
          <a:prstGeom prst="rect">
            <a:avLst/>
          </a:prstGeom>
          <a:noFill/>
          <a:ln/>
        </p:spPr>
        <p:txBody>
          <a:bodyPr wrap="square" lIns="0" tIns="0" rIns="0" bIns="0" rtlCol="0" anchor="t"/>
          <a:lstStyle/>
          <a:p>
            <a:pPr indent="0" marL="0">
              <a:buNone/>
            </a:pPr>
            <a:r>
              <a:rPr lang="en-US" sz="1500" b="1" dirty="0">
                <a:solidFill>
                  <a:schemeClr val="tx1"/>
                </a:solidFill>
              </a:rPr>
              <a:t>Scrape the mesh</a:t>
            </a:r>
            <a:endParaRPr lang="en-US" sz="1500" dirty="0"/>
          </a:p>
        </p:txBody>
      </p:sp>
      <p:sp>
        <p:nvSpPr>
          <p:cNvPr id="12" name="Text 10"/>
          <p:cNvSpPr txBox="1"/>
          <p:nvPr/>
        </p:nvSpPr>
        <p:spPr>
          <a:xfrm>
            <a:off x="3566160" y="2743200"/>
            <a:ext cx="2148840" cy="640080"/>
          </a:xfrm>
          <a:prstGeom prst="rect">
            <a:avLst/>
          </a:prstGeom>
          <a:noFill/>
          <a:ln/>
        </p:spPr>
        <p:txBody>
          <a:bodyPr wrap="square" lIns="0" tIns="0" rIns="0" bIns="0" rtlCol="0" anchor="t"/>
          <a:lstStyle/>
          <a:p>
            <a:pPr indent="0" marL="0">
              <a:buNone/>
            </a:pPr>
            <a:r>
              <a:rPr lang="en-US" sz="1200" dirty="0">
                <a:solidFill>
                  <a:schemeClr val="tx2"/>
                </a:solidFill>
              </a:rPr>
              <a:t>PodMonitor for sidecars, ServiceMonitor for istiod</a:t>
            </a:r>
            <a:endParaRPr lang="en-US" sz="1200" dirty="0"/>
          </a:p>
        </p:txBody>
      </p:sp>
      <p:sp>
        <p:nvSpPr>
          <p:cNvPr id="13" name="Step 3"/>
          <p:cNvSpPr/>
          <p:nvPr/>
        </p:nvSpPr>
        <p:spPr>
          <a:xfrm>
            <a:off x="6217920" y="1325880"/>
            <a:ext cx="2606040" cy="2148840"/>
          </a:xfrm>
          <a:prstGeom prst="roundRect">
            <a:avLst>
              <a:gd name="adj" fmla="val 4255"/>
            </a:avLst>
          </a:prstGeom>
          <a:solidFill>
            <a:schemeClr val="bg2"/>
          </a:solidFill>
          <a:ln w="12700">
            <a:solidFill>
              <a:schemeClr val="bg2"/>
            </a:solidFill>
            <a:prstDash val="solid"/>
          </a:ln>
        </p:spPr>
      </p:sp>
      <p:sp>
        <p:nvSpPr>
          <p:cNvPr id="14" name="Shape 12"/>
          <p:cNvSpPr/>
          <p:nvPr/>
        </p:nvSpPr>
        <p:spPr>
          <a:xfrm>
            <a:off x="6446520" y="1554480"/>
            <a:ext cx="502920" cy="502920"/>
          </a:xfrm>
          <a:prstGeom prst="ellipse">
            <a:avLst/>
          </a:prstGeom>
          <a:solidFill>
            <a:schemeClr val="accent2"/>
          </a:solidFill>
          <a:ln w="6350">
            <a:solidFill>
              <a:schemeClr val="accent2"/>
            </a:solidFill>
            <a:prstDash val="solid"/>
          </a:ln>
        </p:spPr>
      </p:sp>
      <p:sp>
        <p:nvSpPr>
          <p:cNvPr id="15" name="Text 13"/>
          <p:cNvSpPr txBox="1"/>
          <p:nvPr/>
        </p:nvSpPr>
        <p:spPr>
          <a:xfrm>
            <a:off x="6446520" y="1554480"/>
            <a:ext cx="502920" cy="50292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6" name="Text 14"/>
          <p:cNvSpPr txBox="1"/>
          <p:nvPr/>
        </p:nvSpPr>
        <p:spPr>
          <a:xfrm>
            <a:off x="6446520" y="2194560"/>
            <a:ext cx="2148840" cy="548640"/>
          </a:xfrm>
          <a:prstGeom prst="rect">
            <a:avLst/>
          </a:prstGeom>
          <a:noFill/>
          <a:ln/>
        </p:spPr>
        <p:txBody>
          <a:bodyPr wrap="square" lIns="0" tIns="0" rIns="0" bIns="0" rtlCol="0" anchor="t"/>
          <a:lstStyle/>
          <a:p>
            <a:pPr indent="0" marL="0">
              <a:buNone/>
            </a:pPr>
            <a:r>
              <a:rPr lang="en-US" sz="1500" b="1" dirty="0">
                <a:solidFill>
                  <a:schemeClr val="tx1"/>
                </a:solidFill>
              </a:rPr>
              <a:t>Connect Kiali</a:t>
            </a:r>
            <a:endParaRPr lang="en-US" sz="1500" dirty="0"/>
          </a:p>
        </p:txBody>
      </p:sp>
      <p:sp>
        <p:nvSpPr>
          <p:cNvPr id="17" name="Text 15"/>
          <p:cNvSpPr txBox="1"/>
          <p:nvPr/>
        </p:nvSpPr>
        <p:spPr>
          <a:xfrm>
            <a:off x="6446520" y="2743200"/>
            <a:ext cx="2148840" cy="640080"/>
          </a:xfrm>
          <a:prstGeom prst="rect">
            <a:avLst/>
          </a:prstGeom>
          <a:noFill/>
          <a:ln/>
        </p:spPr>
        <p:txBody>
          <a:bodyPr wrap="square" lIns="0" tIns="0" rIns="0" bIns="0" rtlCol="0" anchor="t"/>
          <a:lstStyle/>
          <a:p>
            <a:pPr indent="0" marL="0">
              <a:buNone/>
            </a:pPr>
            <a:r>
              <a:rPr lang="en-US" sz="1200" dirty="0">
                <a:solidFill>
                  <a:schemeClr val="tx2"/>
                </a:solidFill>
              </a:rPr>
              <a:t>Point to Thanos Querier; service graph live</a:t>
            </a:r>
            <a:endParaRPr lang="en-US" sz="1200" dirty="0"/>
          </a:p>
        </p:txBody>
      </p:sp>
      <p:sp>
        <p:nvSpPr>
          <p:cNvPr id="18" name="Step 4"/>
          <p:cNvSpPr/>
          <p:nvPr/>
        </p:nvSpPr>
        <p:spPr>
          <a:xfrm>
            <a:off x="9098280" y="1325880"/>
            <a:ext cx="2606040" cy="2148840"/>
          </a:xfrm>
          <a:prstGeom prst="roundRect">
            <a:avLst>
              <a:gd name="adj" fmla="val 4255"/>
            </a:avLst>
          </a:prstGeom>
          <a:solidFill>
            <a:schemeClr val="bg2"/>
          </a:solidFill>
          <a:ln w="12700">
            <a:solidFill>
              <a:schemeClr val="bg2"/>
            </a:solidFill>
            <a:prstDash val="solid"/>
          </a:ln>
        </p:spPr>
      </p:sp>
      <p:sp>
        <p:nvSpPr>
          <p:cNvPr id="19" name="Shape 17"/>
          <p:cNvSpPr/>
          <p:nvPr/>
        </p:nvSpPr>
        <p:spPr>
          <a:xfrm>
            <a:off x="9326880" y="1554480"/>
            <a:ext cx="502920" cy="502920"/>
          </a:xfrm>
          <a:prstGeom prst="ellipse">
            <a:avLst/>
          </a:prstGeom>
          <a:solidFill>
            <a:schemeClr val="accent1"/>
          </a:solidFill>
          <a:ln w="6350">
            <a:solidFill>
              <a:schemeClr val="accent1"/>
            </a:solidFill>
            <a:prstDash val="solid"/>
          </a:ln>
        </p:spPr>
      </p:sp>
      <p:sp>
        <p:nvSpPr>
          <p:cNvPr id="20" name="Text 18"/>
          <p:cNvSpPr txBox="1"/>
          <p:nvPr/>
        </p:nvSpPr>
        <p:spPr>
          <a:xfrm>
            <a:off x="9326880" y="1554480"/>
            <a:ext cx="502920" cy="50292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1" name="Text 19"/>
          <p:cNvSpPr txBox="1"/>
          <p:nvPr/>
        </p:nvSpPr>
        <p:spPr>
          <a:xfrm>
            <a:off x="9326880" y="2194560"/>
            <a:ext cx="2148840" cy="548640"/>
          </a:xfrm>
          <a:prstGeom prst="rect">
            <a:avLst/>
          </a:prstGeom>
          <a:noFill/>
          <a:ln/>
        </p:spPr>
        <p:txBody>
          <a:bodyPr wrap="square" lIns="0" tIns="0" rIns="0" bIns="0" rtlCol="0" anchor="t"/>
          <a:lstStyle/>
          <a:p>
            <a:pPr indent="0" marL="0">
              <a:buNone/>
            </a:pPr>
            <a:r>
              <a:rPr lang="en-US" sz="1500" b="1" dirty="0">
                <a:solidFill>
                  <a:schemeClr val="tx1"/>
                </a:solidFill>
              </a:rPr>
              <a:t>Deploy trace and log stores</a:t>
            </a:r>
            <a:endParaRPr lang="en-US" sz="1500" dirty="0"/>
          </a:p>
        </p:txBody>
      </p:sp>
      <p:sp>
        <p:nvSpPr>
          <p:cNvPr id="22" name="Text 20"/>
          <p:cNvSpPr txBox="1"/>
          <p:nvPr/>
        </p:nvSpPr>
        <p:spPr>
          <a:xfrm>
            <a:off x="9326880" y="2743200"/>
            <a:ext cx="2148840" cy="640080"/>
          </a:xfrm>
          <a:prstGeom prst="rect">
            <a:avLst/>
          </a:prstGeom>
          <a:noFill/>
          <a:ln/>
        </p:spPr>
        <p:txBody>
          <a:bodyPr wrap="square" lIns="0" tIns="0" rIns="0" bIns="0" rtlCol="0" anchor="t"/>
          <a:lstStyle/>
          <a:p>
            <a:pPr indent="0" marL="0">
              <a:buNone/>
            </a:pPr>
            <a:r>
              <a:rPr lang="en-US" sz="1200" dirty="0">
                <a:solidFill>
                  <a:schemeClr val="tx2"/>
                </a:solidFill>
              </a:rPr>
              <a:t>Tempo, Loki and Red Hat build of OpenTelemetry</a:t>
            </a:r>
            <a:endParaRPr lang="en-US" sz="1200" dirty="0"/>
          </a:p>
        </p:txBody>
      </p:sp>
      <p:sp>
        <p:nvSpPr>
          <p:cNvPr id="23" name="Step 5"/>
          <p:cNvSpPr/>
          <p:nvPr/>
        </p:nvSpPr>
        <p:spPr>
          <a:xfrm>
            <a:off x="457200" y="3749040"/>
            <a:ext cx="2606040" cy="2148840"/>
          </a:xfrm>
          <a:prstGeom prst="roundRect">
            <a:avLst>
              <a:gd name="adj" fmla="val 4255"/>
            </a:avLst>
          </a:prstGeom>
          <a:solidFill>
            <a:schemeClr val="accent6"/>
          </a:solidFill>
          <a:ln w="12700">
            <a:solidFill>
              <a:schemeClr val="accent6"/>
            </a:solidFill>
            <a:prstDash val="solid"/>
          </a:ln>
        </p:spPr>
      </p:sp>
      <p:sp>
        <p:nvSpPr>
          <p:cNvPr id="24" name="Shape 22"/>
          <p:cNvSpPr/>
          <p:nvPr/>
        </p:nvSpPr>
        <p:spPr>
          <a:xfrm>
            <a:off x="685800" y="3977640"/>
            <a:ext cx="502920" cy="502920"/>
          </a:xfrm>
          <a:prstGeom prst="ellipse">
            <a:avLst/>
          </a:prstGeom>
          <a:solidFill>
            <a:schemeClr val="accent1"/>
          </a:solidFill>
          <a:ln w="6350">
            <a:solidFill>
              <a:schemeClr val="accent1"/>
            </a:solidFill>
            <a:prstDash val="solid"/>
          </a:ln>
        </p:spPr>
      </p:sp>
      <p:sp>
        <p:nvSpPr>
          <p:cNvPr id="25" name="Text 23"/>
          <p:cNvSpPr txBox="1"/>
          <p:nvPr/>
        </p:nvSpPr>
        <p:spPr>
          <a:xfrm>
            <a:off x="685800" y="3977640"/>
            <a:ext cx="502920" cy="502920"/>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6" name="Text 24"/>
          <p:cNvSpPr txBox="1"/>
          <p:nvPr/>
        </p:nvSpPr>
        <p:spPr>
          <a:xfrm>
            <a:off x="685800" y="4617720"/>
            <a:ext cx="2148840" cy="548640"/>
          </a:xfrm>
          <a:prstGeom prst="rect">
            <a:avLst/>
          </a:prstGeom>
          <a:noFill/>
          <a:ln/>
        </p:spPr>
        <p:txBody>
          <a:bodyPr wrap="square" lIns="0" tIns="0" rIns="0" bIns="0" rtlCol="0" anchor="t"/>
          <a:lstStyle/>
          <a:p>
            <a:pPr indent="0" marL="0">
              <a:buNone/>
            </a:pPr>
            <a:r>
              <a:rPr lang="en-US" sz="1500" b="1" dirty="0">
                <a:solidFill>
                  <a:schemeClr val="tx1"/>
                </a:solidFill>
              </a:rPr>
              <a:t>Send traces and access logs</a:t>
            </a:r>
            <a:endParaRPr lang="en-US" sz="1500" dirty="0"/>
          </a:p>
        </p:txBody>
      </p:sp>
      <p:sp>
        <p:nvSpPr>
          <p:cNvPr id="27" name="Text 25"/>
          <p:cNvSpPr txBox="1"/>
          <p:nvPr/>
        </p:nvSpPr>
        <p:spPr>
          <a:xfrm>
            <a:off x="685800" y="5166360"/>
            <a:ext cx="2148840" cy="640080"/>
          </a:xfrm>
          <a:prstGeom prst="rect">
            <a:avLst/>
          </a:prstGeom>
          <a:noFill/>
          <a:ln/>
        </p:spPr>
        <p:txBody>
          <a:bodyPr wrap="square" lIns="0" tIns="0" rIns="0" bIns="0" rtlCol="0" anchor="t"/>
          <a:lstStyle/>
          <a:p>
            <a:pPr indent="0" marL="0">
              <a:buNone/>
            </a:pPr>
            <a:r>
              <a:rPr lang="en-US" sz="1200" dirty="0">
                <a:solidFill>
                  <a:schemeClr val="tx2"/>
                </a:solidFill>
              </a:rPr>
              <a:t>Telemetry API providers; tail sampling keeps all errors</a:t>
            </a:r>
            <a:endParaRPr lang="en-US" sz="1200" dirty="0"/>
          </a:p>
        </p:txBody>
      </p:sp>
      <p:sp>
        <p:nvSpPr>
          <p:cNvPr id="28" name="Step 6"/>
          <p:cNvSpPr/>
          <p:nvPr/>
        </p:nvSpPr>
        <p:spPr>
          <a:xfrm>
            <a:off x="3337560" y="3749040"/>
            <a:ext cx="2606040" cy="2148840"/>
          </a:xfrm>
          <a:prstGeom prst="roundRect">
            <a:avLst>
              <a:gd name="adj" fmla="val 4255"/>
            </a:avLst>
          </a:prstGeom>
          <a:solidFill>
            <a:schemeClr val="accent6"/>
          </a:solidFill>
          <a:ln w="12700">
            <a:solidFill>
              <a:schemeClr val="accent6"/>
            </a:solidFill>
            <a:prstDash val="solid"/>
          </a:ln>
        </p:spPr>
      </p:sp>
      <p:sp>
        <p:nvSpPr>
          <p:cNvPr id="29" name="Shape 27"/>
          <p:cNvSpPr/>
          <p:nvPr/>
        </p:nvSpPr>
        <p:spPr>
          <a:xfrm>
            <a:off x="3566160" y="3977640"/>
            <a:ext cx="502920" cy="502920"/>
          </a:xfrm>
          <a:prstGeom prst="ellipse">
            <a:avLst/>
          </a:prstGeom>
          <a:solidFill>
            <a:schemeClr val="accent1"/>
          </a:solidFill>
          <a:ln w="6350">
            <a:solidFill>
              <a:schemeClr val="accent1"/>
            </a:solidFill>
            <a:prstDash val="solid"/>
          </a:ln>
        </p:spPr>
      </p:sp>
      <p:sp>
        <p:nvSpPr>
          <p:cNvPr id="30" name="Text 28"/>
          <p:cNvSpPr txBox="1"/>
          <p:nvPr/>
        </p:nvSpPr>
        <p:spPr>
          <a:xfrm>
            <a:off x="3566160" y="3977640"/>
            <a:ext cx="502920" cy="502920"/>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31" name="Text 29"/>
          <p:cNvSpPr txBox="1"/>
          <p:nvPr/>
        </p:nvSpPr>
        <p:spPr>
          <a:xfrm>
            <a:off x="3566160" y="4617720"/>
            <a:ext cx="2148840" cy="548640"/>
          </a:xfrm>
          <a:prstGeom prst="rect">
            <a:avLst/>
          </a:prstGeom>
          <a:noFill/>
          <a:ln/>
        </p:spPr>
        <p:txBody>
          <a:bodyPr wrap="square" lIns="0" tIns="0" rIns="0" bIns="0" rtlCol="0" anchor="t"/>
          <a:lstStyle/>
          <a:p>
            <a:pPr indent="0" marL="0">
              <a:buNone/>
            </a:pPr>
            <a:r>
              <a:rPr lang="en-US" sz="1500" b="1" dirty="0">
                <a:solidFill>
                  <a:schemeClr val="tx1"/>
                </a:solidFill>
              </a:rPr>
              <a:t>Fix trace propagation</a:t>
            </a:r>
            <a:endParaRPr lang="en-US" sz="1500" dirty="0"/>
          </a:p>
        </p:txBody>
      </p:sp>
      <p:sp>
        <p:nvSpPr>
          <p:cNvPr id="32" name="Text 30"/>
          <p:cNvSpPr txBox="1"/>
          <p:nvPr/>
        </p:nvSpPr>
        <p:spPr>
          <a:xfrm>
            <a:off x="3566160" y="5166360"/>
            <a:ext cx="2148840" cy="640080"/>
          </a:xfrm>
          <a:prstGeom prst="rect">
            <a:avLst/>
          </a:prstGeom>
          <a:noFill/>
          <a:ln/>
        </p:spPr>
        <p:txBody>
          <a:bodyPr wrap="square" lIns="0" tIns="0" rIns="0" bIns="0" rtlCol="0" anchor="t"/>
          <a:lstStyle/>
          <a:p>
            <a:pPr indent="0" marL="0">
              <a:buNone/>
            </a:pPr>
            <a:r>
              <a:rPr lang="en-US" sz="1200" dirty="0">
                <a:solidFill>
                  <a:schemeClr val="tx2"/>
                </a:solidFill>
              </a:rPr>
              <a:t>OTel auto-instrumentation via annotations</a:t>
            </a:r>
            <a:endParaRPr lang="en-US" sz="1200" dirty="0"/>
          </a:p>
        </p:txBody>
      </p:sp>
      <p:sp>
        <p:nvSpPr>
          <p:cNvPr id="33" name="Step 7"/>
          <p:cNvSpPr/>
          <p:nvPr/>
        </p:nvSpPr>
        <p:spPr>
          <a:xfrm>
            <a:off x="6217920" y="3749040"/>
            <a:ext cx="2606040" cy="2148840"/>
          </a:xfrm>
          <a:prstGeom prst="roundRect">
            <a:avLst>
              <a:gd name="adj" fmla="val 4255"/>
            </a:avLst>
          </a:prstGeom>
          <a:solidFill>
            <a:schemeClr val="accent6"/>
          </a:solidFill>
          <a:ln w="12700">
            <a:solidFill>
              <a:schemeClr val="accent6"/>
            </a:solidFill>
            <a:prstDash val="solid"/>
          </a:ln>
        </p:spPr>
      </p:sp>
      <p:sp>
        <p:nvSpPr>
          <p:cNvPr id="34" name="Shape 32"/>
          <p:cNvSpPr/>
          <p:nvPr/>
        </p:nvSpPr>
        <p:spPr>
          <a:xfrm>
            <a:off x="6446520" y="3977640"/>
            <a:ext cx="502920" cy="502920"/>
          </a:xfrm>
          <a:prstGeom prst="ellipse">
            <a:avLst/>
          </a:prstGeom>
          <a:solidFill>
            <a:schemeClr val="accent4"/>
          </a:solidFill>
          <a:ln w="6350">
            <a:solidFill>
              <a:schemeClr val="accent4"/>
            </a:solidFill>
            <a:prstDash val="solid"/>
          </a:ln>
        </p:spPr>
      </p:sp>
      <p:sp>
        <p:nvSpPr>
          <p:cNvPr id="35" name="Text 33"/>
          <p:cNvSpPr txBox="1"/>
          <p:nvPr/>
        </p:nvSpPr>
        <p:spPr>
          <a:xfrm>
            <a:off x="6446520" y="3977640"/>
            <a:ext cx="502920" cy="502920"/>
          </a:xfrm>
          <a:prstGeom prst="rect">
            <a:avLst/>
          </a:prstGeom>
          <a:noFill/>
          <a:ln/>
        </p:spPr>
        <p:txBody>
          <a:bodyPr wrap="square" lIns="0" tIns="0" rIns="0" bIns="0" rtlCol="0" anchor="ctr"/>
          <a:lstStyle/>
          <a:p>
            <a:pPr algn="ctr" indent="0" marL="0">
              <a:buNone/>
            </a:pPr>
            <a:r>
              <a:rPr lang="en-US" sz="1400" b="1" dirty="0">
                <a:solidFill>
                  <a:schemeClr val="bg1"/>
                </a:solidFill>
              </a:rPr>
              <a:t>7</a:t>
            </a:r>
            <a:endParaRPr lang="en-US" sz="1400" dirty="0"/>
          </a:p>
        </p:txBody>
      </p:sp>
      <p:sp>
        <p:nvSpPr>
          <p:cNvPr id="36" name="Text 34"/>
          <p:cNvSpPr txBox="1"/>
          <p:nvPr/>
        </p:nvSpPr>
        <p:spPr>
          <a:xfrm>
            <a:off x="6446520" y="4617720"/>
            <a:ext cx="2148840" cy="548640"/>
          </a:xfrm>
          <a:prstGeom prst="rect">
            <a:avLst/>
          </a:prstGeom>
          <a:noFill/>
          <a:ln/>
        </p:spPr>
        <p:txBody>
          <a:bodyPr wrap="square" lIns="0" tIns="0" rIns="0" bIns="0" rtlCol="0" anchor="t"/>
          <a:lstStyle/>
          <a:p>
            <a:pPr indent="0" marL="0">
              <a:buNone/>
            </a:pPr>
            <a:r>
              <a:rPr lang="en-US" sz="1500" b="1" dirty="0">
                <a:solidFill>
                  <a:schemeClr val="tx1"/>
                </a:solidFill>
              </a:rPr>
              <a:t>Register externals</a:t>
            </a:r>
            <a:endParaRPr lang="en-US" sz="1500" dirty="0"/>
          </a:p>
        </p:txBody>
      </p:sp>
      <p:sp>
        <p:nvSpPr>
          <p:cNvPr id="37" name="Text 35"/>
          <p:cNvSpPr txBox="1"/>
          <p:nvPr/>
        </p:nvSpPr>
        <p:spPr>
          <a:xfrm>
            <a:off x="6446520" y="5166360"/>
            <a:ext cx="2148840" cy="640080"/>
          </a:xfrm>
          <a:prstGeom prst="rect">
            <a:avLst/>
          </a:prstGeom>
          <a:noFill/>
          <a:ln/>
        </p:spPr>
        <p:txBody>
          <a:bodyPr wrap="square" lIns="0" tIns="0" rIns="0" bIns="0" rtlCol="0" anchor="t"/>
          <a:lstStyle/>
          <a:p>
            <a:pPr indent="0" marL="0">
              <a:buNone/>
            </a:pPr>
            <a:r>
              <a:rPr lang="en-US" sz="1200" dirty="0">
                <a:solidFill>
                  <a:schemeClr val="tx2"/>
                </a:solidFill>
              </a:rPr>
              <a:t>ServiceEntries, DestinationRules for TLS</a:t>
            </a:r>
            <a:endParaRPr lang="en-US" sz="1200" dirty="0"/>
          </a:p>
        </p:txBody>
      </p:sp>
      <p:sp>
        <p:nvSpPr>
          <p:cNvPr id="38" name="Step 8"/>
          <p:cNvSpPr/>
          <p:nvPr/>
        </p:nvSpPr>
        <p:spPr>
          <a:xfrm>
            <a:off x="9098280" y="3749040"/>
            <a:ext cx="2606040" cy="2148840"/>
          </a:xfrm>
          <a:prstGeom prst="roundRect">
            <a:avLst>
              <a:gd name="adj" fmla="val 4255"/>
            </a:avLst>
          </a:prstGeom>
          <a:solidFill>
            <a:schemeClr val="accent6"/>
          </a:solidFill>
          <a:ln w="12700">
            <a:solidFill>
              <a:schemeClr val="accent6"/>
            </a:solidFill>
            <a:prstDash val="solid"/>
          </a:ln>
        </p:spPr>
      </p:sp>
      <p:sp>
        <p:nvSpPr>
          <p:cNvPr id="39" name="Shape 37"/>
          <p:cNvSpPr/>
          <p:nvPr/>
        </p:nvSpPr>
        <p:spPr>
          <a:xfrm>
            <a:off x="9326880" y="3977640"/>
            <a:ext cx="502920" cy="502920"/>
          </a:xfrm>
          <a:prstGeom prst="ellipse">
            <a:avLst/>
          </a:prstGeom>
          <a:solidFill>
            <a:schemeClr val="accent4"/>
          </a:solidFill>
          <a:ln w="6350">
            <a:solidFill>
              <a:schemeClr val="accent4"/>
            </a:solidFill>
            <a:prstDash val="solid"/>
          </a:ln>
        </p:spPr>
      </p:sp>
      <p:sp>
        <p:nvSpPr>
          <p:cNvPr id="40" name="Text 38"/>
          <p:cNvSpPr txBox="1"/>
          <p:nvPr/>
        </p:nvSpPr>
        <p:spPr>
          <a:xfrm>
            <a:off x="9326880" y="3977640"/>
            <a:ext cx="502920" cy="502920"/>
          </a:xfrm>
          <a:prstGeom prst="rect">
            <a:avLst/>
          </a:prstGeom>
          <a:noFill/>
          <a:ln/>
        </p:spPr>
        <p:txBody>
          <a:bodyPr wrap="square" lIns="0" tIns="0" rIns="0" bIns="0" rtlCol="0" anchor="ctr"/>
          <a:lstStyle/>
          <a:p>
            <a:pPr algn="ctr" indent="0" marL="0">
              <a:buNone/>
            </a:pPr>
            <a:r>
              <a:rPr lang="en-US" sz="1400" b="1" dirty="0">
                <a:solidFill>
                  <a:schemeClr val="bg1"/>
                </a:solidFill>
              </a:rPr>
              <a:t>8</a:t>
            </a:r>
            <a:endParaRPr lang="en-US" sz="1400" dirty="0"/>
          </a:p>
        </p:txBody>
      </p:sp>
      <p:sp>
        <p:nvSpPr>
          <p:cNvPr id="41" name="Text 39"/>
          <p:cNvSpPr txBox="1"/>
          <p:nvPr/>
        </p:nvSpPr>
        <p:spPr>
          <a:xfrm>
            <a:off x="9326880" y="4617720"/>
            <a:ext cx="2148840" cy="548640"/>
          </a:xfrm>
          <a:prstGeom prst="rect">
            <a:avLst/>
          </a:prstGeom>
          <a:noFill/>
          <a:ln/>
        </p:spPr>
        <p:txBody>
          <a:bodyPr wrap="square" lIns="0" tIns="0" rIns="0" bIns="0" rtlCol="0" anchor="t"/>
          <a:lstStyle/>
          <a:p>
            <a:pPr indent="0" marL="0">
              <a:buNone/>
            </a:pPr>
            <a:r>
              <a:rPr lang="en-US" sz="1500" b="1" dirty="0">
                <a:solidFill>
                  <a:schemeClr val="tx1"/>
                </a:solidFill>
              </a:rPr>
              <a:t>Verify end to end</a:t>
            </a:r>
            <a:endParaRPr lang="en-US" sz="1500" dirty="0"/>
          </a:p>
        </p:txBody>
      </p:sp>
      <p:sp>
        <p:nvSpPr>
          <p:cNvPr id="42" name="Text 40"/>
          <p:cNvSpPr txBox="1"/>
          <p:nvPr/>
        </p:nvSpPr>
        <p:spPr>
          <a:xfrm>
            <a:off x="9326880" y="5166360"/>
            <a:ext cx="2148840" cy="640080"/>
          </a:xfrm>
          <a:prstGeom prst="rect">
            <a:avLst/>
          </a:prstGeom>
          <a:noFill/>
          <a:ln/>
        </p:spPr>
        <p:txBody>
          <a:bodyPr wrap="square" lIns="0" tIns="0" rIns="0" bIns="0" rtlCol="0" anchor="t"/>
          <a:lstStyle/>
          <a:p>
            <a:pPr indent="0" marL="0">
              <a:buNone/>
            </a:pPr>
            <a:r>
              <a:rPr lang="en-US" sz="1200" dirty="0">
                <a:solidFill>
                  <a:schemeClr val="tx2"/>
                </a:solidFill>
              </a:rPr>
              <a:t>Kiali nodes named, one unbroken trace</a:t>
            </a:r>
            <a:endParaRPr lang="en-US" sz="12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731520" y="457200"/>
            <a:ext cx="10698480" cy="822960"/>
          </a:xfrm>
          <a:prstGeom prst="rect">
            <a:avLst/>
          </a:prstGeom>
          <a:noFill/>
          <a:ln/>
        </p:spPr>
        <p:txBody>
          <a:bodyPr wrap="square" lIns="0" tIns="0" rIns="0" bIns="0" rtlCol="0" anchor="ctr"/>
          <a:lstStyle/>
          <a:p>
            <a:pPr indent="0" marL="0">
              <a:buNone/>
            </a:pPr>
            <a:r>
              <a:rPr lang="en-US" sz="3400" b="1" dirty="0">
                <a:solidFill>
                  <a:schemeClr val="bg1"/>
                </a:solidFill>
              </a:rPr>
              <a:t>Start with one journey, then scale</a:t>
            </a:r>
            <a:endParaRPr lang="en-US" sz="3400" dirty="0"/>
          </a:p>
        </p:txBody>
      </p:sp>
      <p:sp>
        <p:nvSpPr>
          <p:cNvPr id="3" name="Shape 1"/>
          <p:cNvSpPr/>
          <p:nvPr/>
        </p:nvSpPr>
        <p:spPr>
          <a:xfrm>
            <a:off x="731520" y="1691640"/>
            <a:ext cx="548640" cy="548640"/>
          </a:xfrm>
          <a:prstGeom prst="ellipse">
            <a:avLst/>
          </a:prstGeom>
          <a:solidFill>
            <a:schemeClr val="accent3"/>
          </a:solidFill>
          <a:ln w="6350">
            <a:solidFill>
              <a:schemeClr val="accent3"/>
            </a:solidFill>
            <a:prstDash val="solid"/>
          </a:ln>
        </p:spPr>
      </p:sp>
      <p:sp>
        <p:nvSpPr>
          <p:cNvPr id="4" name="Text 2"/>
          <p:cNvSpPr txBox="1"/>
          <p:nvPr/>
        </p:nvSpPr>
        <p:spPr>
          <a:xfrm>
            <a:off x="731520" y="1691640"/>
            <a:ext cx="548640" cy="54864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5" name="Shape 3"/>
          <p:cNvSpPr/>
          <p:nvPr/>
        </p:nvSpPr>
        <p:spPr>
          <a:xfrm>
            <a:off x="1325880" y="1965960"/>
            <a:ext cx="914400" cy="0"/>
          </a:xfrm>
          <a:prstGeom prst="line">
            <a:avLst/>
          </a:prstGeom>
          <a:noFill/>
          <a:ln w="15875">
            <a:solidFill>
              <a:schemeClr val="tx2"/>
            </a:solidFill>
            <a:prstDash val="solid"/>
          </a:ln>
        </p:spPr>
      </p:sp>
      <p:sp>
        <p:nvSpPr>
          <p:cNvPr id="6" name="Shape 4"/>
          <p:cNvSpPr/>
          <p:nvPr/>
        </p:nvSpPr>
        <p:spPr>
          <a:xfrm>
            <a:off x="2240280" y="1691640"/>
            <a:ext cx="548640" cy="548640"/>
          </a:xfrm>
          <a:prstGeom prst="ellipse">
            <a:avLst/>
          </a:prstGeom>
          <a:solidFill>
            <a:schemeClr val="accent1"/>
          </a:solidFill>
          <a:ln w="6350">
            <a:solidFill>
              <a:schemeClr val="accent1"/>
            </a:solidFill>
            <a:prstDash val="solid"/>
          </a:ln>
        </p:spPr>
      </p:sp>
      <p:sp>
        <p:nvSpPr>
          <p:cNvPr id="7" name="Text 5"/>
          <p:cNvSpPr txBox="1"/>
          <p:nvPr/>
        </p:nvSpPr>
        <p:spPr>
          <a:xfrm>
            <a:off x="2240280" y="1691640"/>
            <a:ext cx="548640" cy="54864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8" name="Shape 6"/>
          <p:cNvSpPr/>
          <p:nvPr/>
        </p:nvSpPr>
        <p:spPr>
          <a:xfrm>
            <a:off x="2834640" y="1965960"/>
            <a:ext cx="914400" cy="0"/>
          </a:xfrm>
          <a:prstGeom prst="line">
            <a:avLst/>
          </a:prstGeom>
          <a:noFill/>
          <a:ln w="15875">
            <a:solidFill>
              <a:schemeClr val="tx2"/>
            </a:solidFill>
            <a:prstDash val="solid"/>
          </a:ln>
        </p:spPr>
      </p:sp>
      <p:sp>
        <p:nvSpPr>
          <p:cNvPr id="9" name="Shape 7"/>
          <p:cNvSpPr/>
          <p:nvPr/>
        </p:nvSpPr>
        <p:spPr>
          <a:xfrm>
            <a:off x="3749040" y="1691640"/>
            <a:ext cx="548640" cy="548640"/>
          </a:xfrm>
          <a:prstGeom prst="ellipse">
            <a:avLst/>
          </a:prstGeom>
          <a:solidFill>
            <a:schemeClr val="accent1"/>
          </a:solidFill>
          <a:ln w="6350">
            <a:solidFill>
              <a:schemeClr val="accent1"/>
            </a:solidFill>
            <a:prstDash val="solid"/>
          </a:ln>
        </p:spPr>
      </p:sp>
      <p:sp>
        <p:nvSpPr>
          <p:cNvPr id="10" name="Text 8"/>
          <p:cNvSpPr txBox="1"/>
          <p:nvPr/>
        </p:nvSpPr>
        <p:spPr>
          <a:xfrm>
            <a:off x="3749040" y="1691640"/>
            <a:ext cx="548640" cy="54864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1" name="Shape 9"/>
          <p:cNvSpPr/>
          <p:nvPr/>
        </p:nvSpPr>
        <p:spPr>
          <a:xfrm>
            <a:off x="4343400" y="1965960"/>
            <a:ext cx="914400" cy="0"/>
          </a:xfrm>
          <a:prstGeom prst="line">
            <a:avLst/>
          </a:prstGeom>
          <a:noFill/>
          <a:ln w="15875">
            <a:solidFill>
              <a:schemeClr val="tx2"/>
            </a:solidFill>
            <a:prstDash val="solid"/>
          </a:ln>
        </p:spPr>
      </p:sp>
      <p:sp>
        <p:nvSpPr>
          <p:cNvPr id="12" name="Shape 10"/>
          <p:cNvSpPr/>
          <p:nvPr/>
        </p:nvSpPr>
        <p:spPr>
          <a:xfrm>
            <a:off x="5257800" y="1691640"/>
            <a:ext cx="548640" cy="548640"/>
          </a:xfrm>
          <a:prstGeom prst="ellipse">
            <a:avLst/>
          </a:prstGeom>
          <a:solidFill>
            <a:schemeClr val="accent1"/>
          </a:solidFill>
          <a:ln w="6350">
            <a:solidFill>
              <a:schemeClr val="accent1"/>
            </a:solidFill>
            <a:prstDash val="solid"/>
          </a:ln>
        </p:spPr>
      </p:sp>
      <p:sp>
        <p:nvSpPr>
          <p:cNvPr id="13" name="Text 11"/>
          <p:cNvSpPr txBox="1"/>
          <p:nvPr/>
        </p:nvSpPr>
        <p:spPr>
          <a:xfrm>
            <a:off x="5257800" y="1691640"/>
            <a:ext cx="548640" cy="54864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4" name="Text 12"/>
          <p:cNvSpPr txBox="1"/>
          <p:nvPr/>
        </p:nvSpPr>
        <p:spPr>
          <a:xfrm>
            <a:off x="685800" y="2377440"/>
            <a:ext cx="1371600" cy="1463040"/>
          </a:xfrm>
          <a:prstGeom prst="rect">
            <a:avLst/>
          </a:prstGeom>
          <a:noFill/>
          <a:ln/>
        </p:spPr>
        <p:txBody>
          <a:bodyPr wrap="square" lIns="0" tIns="0" rIns="0" bIns="0" rtlCol="0" anchor="t"/>
          <a:lstStyle/>
          <a:p>
            <a:pPr indent="0" marL="0">
              <a:buNone/>
            </a:pPr>
            <a:r>
              <a:rPr lang="en-US" sz="1500" b="1" dirty="0">
                <a:solidFill>
                  <a:schemeClr val="bg1"/>
                </a:solidFill>
              </a:rPr>
              <a:t>Pilot</a:t>
            </a:r>
            <a:endParaRPr lang="en-US" sz="1500" dirty="0"/>
          </a:p>
          <a:p>
            <a:pPr indent="0" marL="0">
              <a:buNone/>
            </a:pPr>
            <a:r>
              <a:rPr lang="en-US" sz="1200" dirty="0">
                <a:solidFill>
                  <a:schemeClr val="accent6"/>
                </a:solidFill>
              </a:rPr>
              <a:t>One critical journey, e.g. mobile fund transfer</a:t>
            </a:r>
            <a:endParaRPr lang="en-US" sz="1500" dirty="0"/>
          </a:p>
        </p:txBody>
      </p:sp>
      <p:sp>
        <p:nvSpPr>
          <p:cNvPr id="15" name="Text 13"/>
          <p:cNvSpPr txBox="1"/>
          <p:nvPr/>
        </p:nvSpPr>
        <p:spPr>
          <a:xfrm>
            <a:off x="2194560" y="2377440"/>
            <a:ext cx="1371600" cy="1463040"/>
          </a:xfrm>
          <a:prstGeom prst="rect">
            <a:avLst/>
          </a:prstGeom>
          <a:noFill/>
          <a:ln/>
        </p:spPr>
        <p:txBody>
          <a:bodyPr wrap="square" lIns="0" tIns="0" rIns="0" bIns="0" rtlCol="0" anchor="t"/>
          <a:lstStyle/>
          <a:p>
            <a:pPr indent="0" marL="0">
              <a:buNone/>
            </a:pPr>
            <a:r>
              <a:rPr lang="en-US" sz="1500" b="1" dirty="0">
                <a:solidFill>
                  <a:schemeClr val="bg1"/>
                </a:solidFill>
              </a:rPr>
              <a:t>Validate</a:t>
            </a:r>
            <a:endParaRPr lang="en-US" sz="1500" dirty="0"/>
          </a:p>
          <a:p>
            <a:pPr indent="0" marL="0">
              <a:buNone/>
            </a:pPr>
            <a:r>
              <a:rPr lang="en-US" sz="1200" dirty="0">
                <a:solidFill>
                  <a:schemeClr val="accent6"/>
                </a:solidFill>
              </a:rPr>
              <a:t>Unbroken traces, named external nodes</a:t>
            </a:r>
            <a:endParaRPr lang="en-US" sz="1500" dirty="0"/>
          </a:p>
        </p:txBody>
      </p:sp>
      <p:sp>
        <p:nvSpPr>
          <p:cNvPr id="16" name="Text 14"/>
          <p:cNvSpPr txBox="1"/>
          <p:nvPr/>
        </p:nvSpPr>
        <p:spPr>
          <a:xfrm>
            <a:off x="3703320" y="2377440"/>
            <a:ext cx="1371600" cy="1463040"/>
          </a:xfrm>
          <a:prstGeom prst="rect">
            <a:avLst/>
          </a:prstGeom>
          <a:noFill/>
          <a:ln/>
        </p:spPr>
        <p:txBody>
          <a:bodyPr wrap="square" lIns="0" tIns="0" rIns="0" bIns="0" rtlCol="0" anchor="t"/>
          <a:lstStyle/>
          <a:p>
            <a:pPr indent="0" marL="0">
              <a:buNone/>
            </a:pPr>
            <a:r>
              <a:rPr lang="en-US" sz="1500" b="1" dirty="0">
                <a:solidFill>
                  <a:schemeClr val="bg1"/>
                </a:solidFill>
              </a:rPr>
              <a:t>Roll out</a:t>
            </a:r>
            <a:endParaRPr lang="en-US" sz="1500" dirty="0"/>
          </a:p>
          <a:p>
            <a:pPr indent="0" marL="0">
              <a:buNone/>
            </a:pPr>
            <a:r>
              <a:rPr lang="en-US" sz="1200" dirty="0">
                <a:solidFill>
                  <a:schemeClr val="accent6"/>
                </a:solidFill>
              </a:rPr>
              <a:t>Namespace by namespace</a:t>
            </a:r>
            <a:endParaRPr lang="en-US" sz="1500" dirty="0"/>
          </a:p>
        </p:txBody>
      </p:sp>
      <p:sp>
        <p:nvSpPr>
          <p:cNvPr id="17" name="Text 15"/>
          <p:cNvSpPr txBox="1"/>
          <p:nvPr/>
        </p:nvSpPr>
        <p:spPr>
          <a:xfrm>
            <a:off x="5212080" y="2377440"/>
            <a:ext cx="1371600" cy="1463040"/>
          </a:xfrm>
          <a:prstGeom prst="rect">
            <a:avLst/>
          </a:prstGeom>
          <a:noFill/>
          <a:ln/>
        </p:spPr>
        <p:txBody>
          <a:bodyPr wrap="square" lIns="0" tIns="0" rIns="0" bIns="0" rtlCol="0" anchor="t"/>
          <a:lstStyle/>
          <a:p>
            <a:pPr indent="0" marL="0">
              <a:buNone/>
            </a:pPr>
            <a:r>
              <a:rPr lang="en-US" sz="1500" b="1" dirty="0">
                <a:solidFill>
                  <a:schemeClr val="bg1"/>
                </a:solidFill>
              </a:rPr>
              <a:t>Tune</a:t>
            </a:r>
            <a:endParaRPr lang="en-US" sz="1500" dirty="0"/>
          </a:p>
          <a:p>
            <a:pPr indent="0" marL="0">
              <a:buNone/>
            </a:pPr>
            <a:r>
              <a:rPr lang="en-US" sz="1200" dirty="0">
                <a:solidFill>
                  <a:schemeClr val="accent6"/>
                </a:solidFill>
              </a:rPr>
              <a:t>Sampling, alert thresholds, dashboards</a:t>
            </a:r>
            <a:endParaRPr lang="en-US" sz="1500" dirty="0"/>
          </a:p>
        </p:txBody>
      </p:sp>
      <p:sp>
        <p:nvSpPr>
          <p:cNvPr id="18" name="Decisions card"/>
          <p:cNvSpPr/>
          <p:nvPr/>
        </p:nvSpPr>
        <p:spPr>
          <a:xfrm>
            <a:off x="7040880" y="1554480"/>
            <a:ext cx="4389120" cy="4389120"/>
          </a:xfrm>
          <a:prstGeom prst="roundRect">
            <a:avLst>
              <a:gd name="adj" fmla="val 2083"/>
            </a:avLst>
          </a:prstGeom>
          <a:solidFill>
            <a:schemeClr val="tx2"/>
          </a:solidFill>
          <a:ln w="12700">
            <a:solidFill>
              <a:schemeClr val="tx2"/>
            </a:solidFill>
            <a:prstDash val="solid"/>
          </a:ln>
        </p:spPr>
      </p:sp>
      <p:sp>
        <p:nvSpPr>
          <p:cNvPr id="19" name="Text 17"/>
          <p:cNvSpPr txBox="1"/>
          <p:nvPr/>
        </p:nvSpPr>
        <p:spPr>
          <a:xfrm>
            <a:off x="7315200" y="1737360"/>
            <a:ext cx="3840480" cy="457200"/>
          </a:xfrm>
          <a:prstGeom prst="rect">
            <a:avLst/>
          </a:prstGeom>
          <a:noFill/>
          <a:ln/>
        </p:spPr>
        <p:txBody>
          <a:bodyPr wrap="square" lIns="0" tIns="0" rIns="0" bIns="0" rtlCol="0" anchor="ctr"/>
          <a:lstStyle/>
          <a:p>
            <a:pPr indent="0" marL="0">
              <a:buNone/>
            </a:pPr>
            <a:r>
              <a:rPr lang="en-US" sz="2000" b="1" dirty="0">
                <a:solidFill>
                  <a:schemeClr val="bg1"/>
                </a:solidFill>
              </a:rPr>
              <a:t>Decisions needed</a:t>
            </a:r>
            <a:endParaRPr lang="en-US" sz="2000" dirty="0"/>
          </a:p>
        </p:txBody>
      </p:sp>
      <p:sp>
        <p:nvSpPr>
          <p:cNvPr id="20" name="Text 18"/>
          <p:cNvSpPr txBox="1"/>
          <p:nvPr/>
        </p:nvSpPr>
        <p:spPr>
          <a:xfrm>
            <a:off x="7315200" y="2331720"/>
            <a:ext cx="3840480" cy="347472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accent6"/>
                </a:solidFill>
              </a:rPr>
              <a:t>Service Mesh version (2.x or 3.x) and upgrade timing</a:t>
            </a:r>
            <a:endParaRPr lang="en-US" sz="1500" dirty="0"/>
          </a:p>
          <a:p>
            <a:pPr marL="342900" indent="-342900">
              <a:spcAft>
                <a:spcPts val="1000"/>
              </a:spcAft>
              <a:buSzPct val="100000"/>
              <a:buChar char="•"/>
            </a:pPr>
            <a:r>
              <a:rPr lang="en-US" sz="1500" dirty="0">
                <a:solidFill>
                  <a:schemeClr val="accent6"/>
                </a:solidFill>
              </a:rPr>
              <a:t>Tempo and Loki storage: monolithic for pilot, object storage for production</a:t>
            </a:r>
            <a:endParaRPr lang="en-US" sz="1500" dirty="0"/>
          </a:p>
          <a:p>
            <a:pPr marL="342900" indent="-342900">
              <a:spcAft>
                <a:spcPts val="1000"/>
              </a:spcAft>
              <a:buSzPct val="100000"/>
              <a:buChar char="•"/>
            </a:pPr>
            <a:r>
              <a:rPr lang="en-US" sz="1500" dirty="0">
                <a:solidFill>
                  <a:schemeClr val="accent6"/>
                </a:solidFill>
              </a:rPr>
              <a:t>Sampling policy and trace and log retention</a:t>
            </a:r>
            <a:endParaRPr lang="en-US" sz="1500" dirty="0"/>
          </a:p>
          <a:p>
            <a:pPr marL="342900" indent="-342900">
              <a:spcAft>
                <a:spcPts val="1000"/>
              </a:spcAft>
              <a:buSzPct val="100000"/>
              <a:buChar char="•"/>
            </a:pPr>
            <a:r>
              <a:rPr lang="en-US" sz="1500" dirty="0">
                <a:solidFill>
                  <a:schemeClr val="accent6"/>
                </a:solidFill>
              </a:rPr>
              <a:t>Pilot journey and owning team</a:t>
            </a:r>
            <a:endParaRPr lang="en-US" sz="1500" dirty="0"/>
          </a:p>
          <a:p>
            <a:pPr marL="342900" indent="-342900">
              <a:spcAft>
                <a:spcPts val="1000"/>
              </a:spcAft>
              <a:buSzPct val="100000"/>
              <a:buChar char="•"/>
            </a:pPr>
            <a:r>
              <a:rPr lang="en-US" sz="1500" dirty="0">
                <a:solidFill>
                  <a:schemeClr val="accent6"/>
                </a:solidFill>
              </a:rPr>
              <a:t>Who owns dashboards and alert routing</a:t>
            </a:r>
            <a:endParaRPr lang="en-US" sz="1500" dirty="0"/>
          </a:p>
        </p:txBody>
      </p:sp>
      <p:sp>
        <p:nvSpPr>
          <p:cNvPr id="21" name="Text 19"/>
          <p:cNvSpPr txBox="1"/>
          <p:nvPr/>
        </p:nvSpPr>
        <p:spPr>
          <a:xfrm>
            <a:off x="731520" y="4206240"/>
            <a:ext cx="5943600" cy="731520"/>
          </a:xfrm>
          <a:prstGeom prst="rect">
            <a:avLst/>
          </a:prstGeom>
          <a:noFill/>
          <a:ln/>
        </p:spPr>
        <p:txBody>
          <a:bodyPr wrap="square" lIns="0" tIns="0" rIns="0" bIns="0" rtlCol="0" anchor="ctr"/>
          <a:lstStyle/>
          <a:p>
            <a:pPr indent="0" marL="0">
              <a:buNone/>
            </a:pPr>
            <a:r>
              <a:rPr lang="en-US" sz="1400" i="1" dirty="0">
                <a:solidFill>
                  <a:schemeClr val="accent5"/>
                </a:solidFill>
              </a:rPr>
              <a:t>Phase 2: channel-side tracing and agents on VMs and databases.</a:t>
            </a:r>
            <a:endParaRPr lang="en-US" sz="1400" dirty="0"/>
          </a:p>
        </p:txBody>
      </p:sp>
      <p:sp>
        <p:nvSpPr>
          <p:cNvPr id="23" name="Text 0"/>
          <p:cNvSpPr/>
          <p:nvPr>
            <p:ph idx="100" type="title" hasCustomPrompt="1"/>
          </p:nvPr>
        </p:nvSpPr>
        <p:spPr>
          <a:xfrm>
            <a:off x="731520" y="2103120"/>
            <a:ext cx="9601200" cy="1463040"/>
          </a:xfrm>
          <a:prstGeom prst="rect">
            <a:avLst/>
          </a:prstGeom>
          <a:noFill/>
          <a:ln/>
        </p:spPr>
        <p:txBody>
          <a:bodyPr wrap="square" rtlCol="0" anchor="b"/>
          <a:lstStyle/>
          <a:p>
            <a:pPr algn="l" indent="0" marL="0">
              <a:buNone/>
            </a:pPr>
            <a:endParaRPr lang="en-US" sz="4000" dirty="0"/>
          </a:p>
        </p:txBody>
      </p:sp>
      <p:sp>
        <p:nvSpPr>
          <p:cNvPr id="24" name="Text 0"/>
          <p:cNvSpPr/>
          <p:nvPr>
            <p:ph idx="101" type="body" hasCustomPrompt="1"/>
          </p:nvPr>
        </p:nvSpPr>
        <p:spPr>
          <a:xfrm>
            <a:off x="731520" y="3703320"/>
            <a:ext cx="9601200" cy="914400"/>
          </a:xfrm>
          <a:prstGeom prst="rect">
            <a:avLst/>
          </a:prstGeom>
          <a:noFill/>
          <a:ln/>
        </p:spPr>
        <p:txBody>
          <a:bodyPr wrap="square" rtlCol="0" anchor="t"/>
          <a:lstStyle/>
          <a:p>
            <a:pPr indent="0" marL="0">
              <a:buNone/>
            </a:pPr>
            <a:endParaRPr lang="en-US" sz="1800" dirty="0"/>
          </a:p>
        </p:txBody>
      </p:sp>
    </p:spTree>
  </p:cSld>
  <p:clrMapOvr>
    <a:masterClrMapping/>
  </p:clrMapOvr>
</p:sld>
</file>

<file path=ppt/theme/theme1.xml><?xml version="1.0" encoding="utf-8"?>
<a:theme xmlns:a="http://schemas.openxmlformats.org/drawingml/2006/main" name="E2E Observability">
  <a:themeElements>
    <a:clrScheme name="E2E Observability">
      <a:dk1>
        <a:srgbClr val="16232F"/>
      </a:dk1>
      <a:lt1>
        <a:srgbClr val="FFFFFF"/>
      </a:lt1>
      <a:dk2>
        <a:srgbClr val="3E5263"/>
      </a:dk2>
      <a:lt2>
        <a:srgbClr val="EEF3F6"/>
      </a:lt2>
      <a:accent1>
        <a:srgbClr val="0E8A8C"/>
      </a:accent1>
      <a:accent2>
        <a:srgbClr val="5446B0"/>
      </a:accent2>
      <a:accent3>
        <a:srgbClr val="E4572E"/>
      </a:accent3>
      <a:accent4>
        <a:srgbClr val="F2A541"/>
      </a:accent4>
      <a:accent5>
        <a:srgbClr val="8A99A6"/>
      </a:accent5>
      <a:accent6>
        <a:srgbClr val="D7E9EA"/>
      </a:accent6>
      <a:hlink>
        <a:srgbClr val="0E8A8C"/>
      </a:hlink>
      <a:folHlink>
        <a:srgbClr val="5446B0"/>
      </a:folHlink>
    </a:clrScheme>
    <a:fontScheme name="E2E Observability">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OpenShift end-to-end observability - Phase 1 design</dc:title>
  <dc:subject>PptxGenJS Presentation</dc:subject>
  <dc:creator>PptxGenJS</dc:creator>
  <cp:lastModifiedBy>PptxGenJS</cp:lastModifiedBy>
  <cp:revision>1</cp:revision>
  <dcterms:created xsi:type="dcterms:W3CDTF">2026-10-06T08:00:32Z</dcterms:created>
  <dcterms:modified xsi:type="dcterms:W3CDTF">2026-10-06T08:00:32Z</dcterms:modified>
</cp:coreProperties>
</file>