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6.xml"/><Relationship Id="rId8" Type="http://schemas.openxmlformats.org/officeDocument/2006/relationships/slide" Target="slides/slide2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 Each arrow starts at the caller.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trace from the POC. The trace ID is created once, at the ingress gateway, and copied unchanged to every hop. Every span gets its own 8-byte span ID. When a component calls the next hop it writes its own span ID into the traceparent header; the W3C standard calls that field parent-id because, for the receiver, it is the parent. The receiver creates a new span ID and records the incoming one as its parent. Tempo rebuilds the tree from these 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real IDs from trace f0b98398... Each component reads the parent-id from the incoming traceparent header, creates its own span ID, records the incoming value as the parent, and writes its own span ID into the next call. Step 2 is the one only the application can do: Envoy sees the incoming request and the outgoing call to notify as two unrelated connections. The OTel agent links them by keeping the current span in the request's context and writing it into the outgoing header. Each component sends its own spans to the collector; Tempo joins them by trace ID and parent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traceparent header only ever carries one span ID: the sender's. A component's own span ID is not in the request it receives; it does not exist yet, the component generates it. It then appears in two places: in the span record the component sends to the collector (with the trace ID and its parent's span ID), and in the header of its next outgoing call, where it becomes the next hop's parent.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arrow starts at the caller, the side that opens the connection; the pill names the mechanism.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stores nothing. Its backend is a read-only client of the stores the platform already has. Prometheus gives the topology and every number on screen; the Kubernetes API gives names and owners; Alertmanager, Tempo and Loki give the evidence for each red dot. Every arrow starts at the caller: the browser calls the backend, the backend calls each store, and the data returns against the arrow. Only Prometheus is required; if another source is down the view still renders without that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The OpenTelemetry SDK for Android (opentelemetry-android) and iOS (opentelemetry-swift) creates a span for each user action and injects the W3C traceparent header into the API call, so the Istio gateway continues the app's trace instead of starting a new one. Every hop in front of OpenShift (CDN, WAF, external API gateway, Route) must forward traceparent. The app's own spans go to a separate, internet-facing collector endpoint with authentication, rate limits, redaction and sampling, which forwards to the internal collector. The journey is still set at the gateway from the route, never from the client. Decisions: whether to trust client-supplied trace IDs, OpenTelemetry versus a commercial RUM product, and consent.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headEnd type="triangle"/>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headEnd type="triangle"/>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ln>
        </p:spPr>
        <p:txBody>
          <a:bodyPr/>
          <a:p/>
        </p:txBody>
      </p:sp>
      <p:sp>
        <p:nvSpPr>
          <p:cNvPr id="38" name="Shape 36"/>
          <p:cNvSpPr/>
          <p:nvPr/>
        </p:nvSpPr>
        <p:spPr>
          <a:xfrm>
            <a:off x="6400800" y="4594860"/>
            <a:ext cx="274320" cy="0"/>
          </a:xfrm>
          <a:prstGeom prst="line">
            <a:avLst/>
          </a:prstGeom>
          <a:noFill/>
          <a:ln w="15875">
            <a:solidFill>
              <a:schemeClr val="tx2"/>
            </a:solidFill>
            <a:prstDash val="solid"/>
            <a:headEnd type="triangle"/>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88620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TextBox 60"/>
          <p:cNvSpPr txBox="1"/>
          <p:nvPr/>
        </p:nvSpPr>
        <p:spPr>
          <a:xfrm>
            <a:off x="9555480" y="4690872"/>
            <a:ext cx="2103120" cy="201168"/>
          </a:xfrm>
          <a:prstGeom prst="rect">
            <a:avLst/>
          </a:prstGeom>
          <a:noFill/>
        </p:spPr>
        <p:txBody>
          <a:bodyPr wrap="square" lIns="0" rIns="0" tIns="0" bIns="0">
            <a:spAutoFit/>
          </a:bodyPr>
          <a:lstStyle/>
          <a:p>
            <a:pPr algn="l"/>
            <a:r>
              <a:rPr sz="950" i="1">
                <a:solidFill>
                  <a:schemeClr val="tx2"/>
                </a:solidFill>
              </a:rPr>
              <a:t>Arrow = caller to callee</a:t>
            </a:r>
          </a:p>
        </p:txBody>
      </p:sp>
      <p:sp>
        <p:nvSpPr>
          <p:cNvPr id="62" name="Rounded Rectangle 61"/>
          <p:cNvSpPr/>
          <p:nvPr/>
        </p:nvSpPr>
        <p:spPr>
          <a:xfrm>
            <a:off x="9555480" y="492861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3" name="TextBox 62"/>
          <p:cNvSpPr txBox="1"/>
          <p:nvPr/>
        </p:nvSpPr>
        <p:spPr>
          <a:xfrm>
            <a:off x="10104120" y="495604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4" name="Rounded Rectangle 63"/>
          <p:cNvSpPr/>
          <p:nvPr/>
        </p:nvSpPr>
        <p:spPr>
          <a:xfrm>
            <a:off x="9555480" y="5157216"/>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5" name="TextBox 64"/>
          <p:cNvSpPr txBox="1"/>
          <p:nvPr/>
        </p:nvSpPr>
        <p:spPr>
          <a:xfrm>
            <a:off x="10104120" y="5184648"/>
            <a:ext cx="1554480" cy="201168"/>
          </a:xfrm>
          <a:prstGeom prst="rect">
            <a:avLst/>
          </a:prstGeom>
          <a:noFill/>
        </p:spPr>
        <p:txBody>
          <a:bodyPr wrap="square" lIns="0" rIns="0" tIns="0" bIns="0">
            <a:spAutoFit/>
          </a:bodyPr>
          <a:lstStyle/>
          <a:p>
            <a:pPr algn="l"/>
            <a:r>
              <a:rPr sz="900" i="0">
                <a:solidFill>
                  <a:schemeClr val="tx2"/>
                </a:solidFill>
              </a:rPr>
              <a:t>Prometheus calls the pod</a:t>
            </a:r>
          </a:p>
        </p:txBody>
      </p:sp>
      <p:sp>
        <p:nvSpPr>
          <p:cNvPr id="66" name="Rounded Rectangle 65"/>
          <p:cNvSpPr/>
          <p:nvPr/>
        </p:nvSpPr>
        <p:spPr>
          <a:xfrm>
            <a:off x="9555480" y="5385816"/>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7" name="TextBox 66"/>
          <p:cNvSpPr txBox="1"/>
          <p:nvPr/>
        </p:nvSpPr>
        <p:spPr>
          <a:xfrm>
            <a:off x="10104120" y="5413248"/>
            <a:ext cx="1554480" cy="201168"/>
          </a:xfrm>
          <a:prstGeom prst="rect">
            <a:avLst/>
          </a:prstGeom>
          <a:noFill/>
        </p:spPr>
        <p:txBody>
          <a:bodyPr wrap="square" lIns="0" rIns="0" tIns="0" bIns="0">
            <a:spAutoFit/>
          </a:bodyPr>
          <a:lstStyle/>
          <a:p>
            <a:pPr algn="l"/>
            <a:r>
              <a:rPr sz="900" i="0">
                <a:solidFill>
                  <a:schemeClr val="tx2"/>
                </a:solidFill>
              </a:rPr>
              <a:t>view calls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head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Targets from PodMonitor</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head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Thanos Querier</a:t>
            </a:r>
            <a:endParaRPr lang="en-US" sz="1400" dirty="0"/>
          </a:p>
          <a:p>
            <a:pPr algn="ctr" indent="0" marL="0">
              <a:buNone/>
            </a:pPr>
            <a:r>
              <a:rPr lang="en-US" sz="1100" dirty="0">
                <a:solidFill>
                  <a:schemeClr val="accent6"/>
                </a:solidFill>
              </a:rPr>
              <a:t>Query front for UWM</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head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Grafana</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head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scrapes :15020</a:t>
            </a:r>
          </a:p>
        </p:txBody>
      </p:sp>
      <p:sp>
        <p:nvSpPr>
          <p:cNvPr id="33" name="Rounded Rectangle 32"/>
          <p:cNvSpPr/>
          <p:nvPr/>
        </p:nvSpPr>
        <p:spPr>
          <a:xfrm>
            <a:off x="579729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fans out</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 :9091</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head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TextBox 62"/>
          <p:cNvSpPr txBox="1"/>
          <p:nvPr/>
        </p:nvSpPr>
        <p:spPr>
          <a:xfrm>
            <a:off x="2240280" y="1243584"/>
            <a:ext cx="1600200" cy="228600"/>
          </a:xfrm>
          <a:prstGeom prst="rect">
            <a:avLst/>
          </a:prstGeom>
          <a:noFill/>
        </p:spPr>
        <p:txBody>
          <a:bodyPr wrap="square" lIns="0" rIns="0" tIns="0" bIns="0">
            <a:spAutoFit/>
          </a:bodyPr>
          <a:lstStyle/>
          <a:p>
            <a:pPr algn="l"/>
            <a:r>
              <a:rPr sz="1000" i="1">
                <a:solidFill>
                  <a:schemeClr val="tx2"/>
                </a:solidFill>
              </a:rPr>
              <a:t>Arrow = caller to callee</a:t>
            </a:r>
          </a:p>
        </p:txBody>
      </p:sp>
      <p:sp>
        <p:nvSpPr>
          <p:cNvPr id="64" name="Rounded Rectangle 63"/>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5" name="TextBox 64"/>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sends the data</a:t>
            </a:r>
          </a:p>
        </p:txBody>
      </p:sp>
      <p:sp>
        <p:nvSpPr>
          <p:cNvPr id="66" name="Rounded Rectangle 65"/>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7" name="TextBox 66"/>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calls, data returns</a:t>
            </a:r>
          </a:p>
        </p:txBody>
      </p:sp>
      <p:sp>
        <p:nvSpPr>
          <p:cNvPr id="68" name="Rounded Rectangle 67"/>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9" name="TextBox 68"/>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calls, results return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traceparent HEADER THE payments APP SENDS WHEN IT CALLS notify-svc</a:t>
            </a:r>
          </a:p>
        </p:txBody>
      </p:sp>
      <p:sp>
        <p:nvSpPr>
          <p:cNvPr id="5" name="Rounded Rectangle 4"/>
          <p:cNvSpPr/>
          <p:nvPr/>
        </p:nvSpPr>
        <p:spPr>
          <a:xfrm>
            <a:off x="457200" y="1508760"/>
            <a:ext cx="548640" cy="45720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011680"/>
            <a:ext cx="548640" cy="27432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08760"/>
            <a:ext cx="4846320" cy="457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f0b9839816c71c1a6d5cf853fd44ea44</a:t>
            </a:r>
          </a:p>
        </p:txBody>
      </p:sp>
      <p:sp>
        <p:nvSpPr>
          <p:cNvPr id="9" name="TextBox 8"/>
          <p:cNvSpPr txBox="1"/>
          <p:nvPr/>
        </p:nvSpPr>
        <p:spPr>
          <a:xfrm>
            <a:off x="1234440" y="2011680"/>
            <a:ext cx="4846320" cy="27432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on every hop</a:t>
            </a:r>
          </a:p>
        </p:txBody>
      </p:sp>
      <p:sp>
        <p:nvSpPr>
          <p:cNvPr id="10" name="TextBox 9"/>
          <p:cNvSpPr txBox="1"/>
          <p:nvPr/>
        </p:nvSpPr>
        <p:spPr>
          <a:xfrm>
            <a:off x="610819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08760"/>
            <a:ext cx="2834640" cy="457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c5a7545b5b936a12</a:t>
            </a:r>
          </a:p>
        </p:txBody>
      </p:sp>
      <p:sp>
        <p:nvSpPr>
          <p:cNvPr id="12" name="TextBox 11"/>
          <p:cNvSpPr txBox="1"/>
          <p:nvPr/>
        </p:nvSpPr>
        <p:spPr>
          <a:xfrm>
            <a:off x="6309360" y="2011680"/>
            <a:ext cx="2834640" cy="274320"/>
          </a:xfrm>
          <a:prstGeom prst="rect">
            <a:avLst/>
          </a:prstGeom>
          <a:noFill/>
        </p:spPr>
        <p:txBody>
          <a:bodyPr wrap="square" lIns="0" rIns="0" tIns="0" bIns="0" anchor="t">
            <a:spAutoFit/>
          </a:bodyPr>
          <a:lstStyle/>
          <a:p>
            <a:pPr algn="ctr">
              <a:spcAft>
                <a:spcPts val="400"/>
              </a:spcAft>
            </a:pPr>
            <a:r>
              <a:rPr sz="1050" b="1" i="0">
                <a:solidFill>
                  <a:schemeClr val="accent2"/>
                </a:solidFill>
              </a:rPr>
              <a:t>parent-id = the CALLER's span ID (row 7)</a:t>
            </a:r>
          </a:p>
        </p:txBody>
      </p:sp>
      <p:sp>
        <p:nvSpPr>
          <p:cNvPr id="13" name="TextBox 12"/>
          <p:cNvSpPr txBox="1"/>
          <p:nvPr/>
        </p:nvSpPr>
        <p:spPr>
          <a:xfrm>
            <a:off x="917143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08760"/>
            <a:ext cx="1188720" cy="45720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011680"/>
            <a:ext cx="1188720" cy="27432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514600"/>
            <a:ext cx="2377440" cy="256032"/>
          </a:xfrm>
          <a:prstGeom prst="rect">
            <a:avLst/>
          </a:prstGeom>
          <a:noFill/>
        </p:spPr>
        <p:txBody>
          <a:bodyPr wrap="square" lIns="0" rIns="0" tIns="0" bIns="0" anchor="t">
            <a:spAutoFit/>
          </a:bodyPr>
          <a:lstStyle/>
          <a:p>
            <a:pPr algn="l">
              <a:spcAft>
                <a:spcPts val="400"/>
              </a:spcAft>
            </a:pPr>
            <a:r>
              <a:rPr sz="1000" b="1" i="0">
                <a:solidFill>
                  <a:schemeClr val="tx2"/>
                </a:solidFill>
              </a:rPr>
              <a:t>#  span (who records it)</a:t>
            </a:r>
          </a:p>
        </p:txBody>
      </p:sp>
      <p:sp>
        <p:nvSpPr>
          <p:cNvPr id="17" name="TextBox 16"/>
          <p:cNvSpPr txBox="1"/>
          <p:nvPr/>
        </p:nvSpPr>
        <p:spPr>
          <a:xfrm>
            <a:off x="306324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span ID</a:t>
            </a:r>
          </a:p>
        </p:txBody>
      </p:sp>
      <p:sp>
        <p:nvSpPr>
          <p:cNvPr id="18" name="TextBox 17"/>
          <p:cNvSpPr txBox="1"/>
          <p:nvPr/>
        </p:nvSpPr>
        <p:spPr>
          <a:xfrm>
            <a:off x="452628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parent span ID</a:t>
            </a:r>
          </a:p>
        </p:txBody>
      </p:sp>
      <p:sp>
        <p:nvSpPr>
          <p:cNvPr id="19" name="TextBox 18"/>
          <p:cNvSpPr txBox="1"/>
          <p:nvPr/>
        </p:nvSpPr>
        <p:spPr>
          <a:xfrm>
            <a:off x="5989320" y="2514600"/>
            <a:ext cx="3108960" cy="256032"/>
          </a:xfrm>
          <a:prstGeom prst="rect">
            <a:avLst/>
          </a:prstGeom>
          <a:noFill/>
        </p:spPr>
        <p:txBody>
          <a:bodyPr wrap="square" lIns="0" rIns="0" tIns="0" bIns="0" anchor="t">
            <a:spAutoFit/>
          </a:bodyPr>
          <a:lstStyle/>
          <a:p>
            <a:pPr algn="l">
              <a:spcAft>
                <a:spcPts val="400"/>
              </a:spcAft>
            </a:pPr>
            <a:r>
              <a:rPr sz="1000" b="1" i="0">
                <a:solidFill>
                  <a:schemeClr val="tx2"/>
                </a:solidFill>
              </a:rPr>
              <a:t>time: 0 to 200 ms</a:t>
            </a:r>
          </a:p>
        </p:txBody>
      </p:sp>
      <p:sp>
        <p:nvSpPr>
          <p:cNvPr id="20" name="TextBox 19"/>
          <p:cNvSpPr txBox="1"/>
          <p:nvPr/>
        </p:nvSpPr>
        <p:spPr>
          <a:xfrm>
            <a:off x="457200" y="280720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  </a:t>
            </a:r>
            <a:r>
              <a:rPr sz="1050" b="0" i="0">
                <a:solidFill>
                  <a:schemeClr val="tx1"/>
                </a:solidFill>
              </a:rPr>
              <a:t>ingress gateway</a:t>
            </a:r>
            <a:r>
              <a:rPr sz="900" b="0" i="0">
                <a:solidFill>
                  <a:schemeClr val="tx2"/>
                </a:solidFill>
              </a:rPr>
              <a:t>  server</a:t>
            </a:r>
          </a:p>
        </p:txBody>
      </p:sp>
      <p:sp>
        <p:nvSpPr>
          <p:cNvPr id="21" name="TextBox 20"/>
          <p:cNvSpPr txBox="1"/>
          <p:nvPr/>
        </p:nvSpPr>
        <p:spPr>
          <a:xfrm>
            <a:off x="3063240" y="280720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3883effb70da8a5c</a:t>
            </a:r>
          </a:p>
        </p:txBody>
      </p:sp>
      <p:sp>
        <p:nvSpPr>
          <p:cNvPr id="22" name="TextBox 21"/>
          <p:cNvSpPr txBox="1"/>
          <p:nvPr/>
        </p:nvSpPr>
        <p:spPr>
          <a:xfrm>
            <a:off x="4526280" y="280720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t>
            </a:r>
          </a:p>
        </p:txBody>
      </p:sp>
      <p:sp>
        <p:nvSpPr>
          <p:cNvPr id="23" name="Rounded Rectangle 22"/>
          <p:cNvSpPr/>
          <p:nvPr/>
        </p:nvSpPr>
        <p:spPr>
          <a:xfrm>
            <a:off x="5989320" y="2852927"/>
            <a:ext cx="3108960"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140963"/>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2  </a:t>
            </a:r>
            <a:r>
              <a:rPr sz="1050" b="0" i="0">
                <a:solidFill>
                  <a:schemeClr val="tx1"/>
                </a:solidFill>
              </a:rPr>
              <a:t>ingress gateway</a:t>
            </a:r>
            <a:r>
              <a:rPr sz="900" b="0" i="0">
                <a:solidFill>
                  <a:schemeClr val="tx2"/>
                </a:solidFill>
              </a:rPr>
              <a:t>  client</a:t>
            </a:r>
          </a:p>
        </p:txBody>
      </p:sp>
      <p:sp>
        <p:nvSpPr>
          <p:cNvPr id="25" name="TextBox 24"/>
          <p:cNvSpPr txBox="1"/>
          <p:nvPr/>
        </p:nvSpPr>
        <p:spPr>
          <a:xfrm>
            <a:off x="3063240" y="3140963"/>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e9c757822d8649cc</a:t>
            </a:r>
          </a:p>
        </p:txBody>
      </p:sp>
      <p:sp>
        <p:nvSpPr>
          <p:cNvPr id="26" name="TextBox 25"/>
          <p:cNvSpPr txBox="1"/>
          <p:nvPr/>
        </p:nvSpPr>
        <p:spPr>
          <a:xfrm>
            <a:off x="4526280" y="3140963"/>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3883effb70da8a5c</a:t>
            </a:r>
          </a:p>
        </p:txBody>
      </p:sp>
      <p:sp>
        <p:nvSpPr>
          <p:cNvPr id="27" name="Rounded Rectangle 26"/>
          <p:cNvSpPr/>
          <p:nvPr/>
        </p:nvSpPr>
        <p:spPr>
          <a:xfrm>
            <a:off x="5992425" y="3186683"/>
            <a:ext cx="3105854"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47472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3  </a:t>
            </a:r>
            <a:r>
              <a:rPr sz="1050" b="0" i="0">
                <a:solidFill>
                  <a:schemeClr val="tx1"/>
                </a:solidFill>
              </a:rPr>
              <a:t>payments sidecar</a:t>
            </a:r>
            <a:r>
              <a:rPr sz="900" b="0" i="0">
                <a:solidFill>
                  <a:schemeClr val="tx2"/>
                </a:solidFill>
              </a:rPr>
              <a:t>  server</a:t>
            </a:r>
          </a:p>
        </p:txBody>
      </p:sp>
      <p:sp>
        <p:nvSpPr>
          <p:cNvPr id="29" name="TextBox 28"/>
          <p:cNvSpPr txBox="1"/>
          <p:nvPr/>
        </p:nvSpPr>
        <p:spPr>
          <a:xfrm>
            <a:off x="3063240" y="347472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55692cc06a0eeb9e</a:t>
            </a:r>
          </a:p>
        </p:txBody>
      </p:sp>
      <p:sp>
        <p:nvSpPr>
          <p:cNvPr id="30" name="TextBox 29"/>
          <p:cNvSpPr txBox="1"/>
          <p:nvPr/>
        </p:nvSpPr>
        <p:spPr>
          <a:xfrm>
            <a:off x="4526280" y="3474720"/>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e9c757822d8649cc</a:t>
            </a:r>
          </a:p>
        </p:txBody>
      </p:sp>
      <p:sp>
        <p:nvSpPr>
          <p:cNvPr id="31" name="Rounded Rectangle 30"/>
          <p:cNvSpPr/>
          <p:nvPr/>
        </p:nvSpPr>
        <p:spPr>
          <a:xfrm>
            <a:off x="5993978" y="3520439"/>
            <a:ext cx="3098089"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80847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4  </a:t>
            </a:r>
            <a:r>
              <a:rPr sz="1050" b="0" i="0">
                <a:solidFill>
                  <a:schemeClr val="tx1"/>
                </a:solidFill>
              </a:rPr>
              <a:t>payments app: POST /transfer</a:t>
            </a:r>
            <a:r>
              <a:rPr sz="900" b="0" i="0">
                <a:solidFill>
                  <a:schemeClr val="tx2"/>
                </a:solidFill>
              </a:rPr>
              <a:t>  agent</a:t>
            </a:r>
          </a:p>
        </p:txBody>
      </p:sp>
      <p:sp>
        <p:nvSpPr>
          <p:cNvPr id="33" name="TextBox 32"/>
          <p:cNvSpPr txBox="1"/>
          <p:nvPr/>
        </p:nvSpPr>
        <p:spPr>
          <a:xfrm>
            <a:off x="3063240" y="380847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f8fea851cf1486e0</a:t>
            </a:r>
          </a:p>
        </p:txBody>
      </p:sp>
      <p:sp>
        <p:nvSpPr>
          <p:cNvPr id="34" name="TextBox 33"/>
          <p:cNvSpPr txBox="1"/>
          <p:nvPr/>
        </p:nvSpPr>
        <p:spPr>
          <a:xfrm>
            <a:off x="4526280" y="380847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55692cc06a0eeb9e</a:t>
            </a:r>
          </a:p>
        </p:txBody>
      </p:sp>
      <p:sp>
        <p:nvSpPr>
          <p:cNvPr id="35" name="Rounded Rectangle 34"/>
          <p:cNvSpPr/>
          <p:nvPr/>
        </p:nvSpPr>
        <p:spPr>
          <a:xfrm>
            <a:off x="6006402" y="3854196"/>
            <a:ext cx="3082560"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142231"/>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5  </a:t>
            </a:r>
            <a:r>
              <a:rPr sz="1050" b="0" i="0">
                <a:solidFill>
                  <a:schemeClr val="tx1"/>
                </a:solidFill>
              </a:rPr>
              <a:t>payments app: call core banking</a:t>
            </a:r>
            <a:r>
              <a:rPr sz="900" b="0" i="0">
                <a:solidFill>
                  <a:schemeClr val="tx2"/>
                </a:solidFill>
              </a:rPr>
              <a:t>  agent</a:t>
            </a:r>
          </a:p>
        </p:txBody>
      </p:sp>
      <p:sp>
        <p:nvSpPr>
          <p:cNvPr id="37" name="TextBox 36"/>
          <p:cNvSpPr txBox="1"/>
          <p:nvPr/>
        </p:nvSpPr>
        <p:spPr>
          <a:xfrm>
            <a:off x="3063240" y="4142231"/>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70f5a1ed76dfd980</a:t>
            </a:r>
          </a:p>
        </p:txBody>
      </p:sp>
      <p:sp>
        <p:nvSpPr>
          <p:cNvPr id="38" name="TextBox 37"/>
          <p:cNvSpPr txBox="1"/>
          <p:nvPr/>
        </p:nvSpPr>
        <p:spPr>
          <a:xfrm>
            <a:off x="4526280" y="4142231"/>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39" name="Rounded Rectangle 38"/>
          <p:cNvSpPr/>
          <p:nvPr/>
        </p:nvSpPr>
        <p:spPr>
          <a:xfrm>
            <a:off x="6422586" y="4187951"/>
            <a:ext cx="1956688"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47598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6  </a:t>
            </a:r>
            <a:r>
              <a:rPr sz="1050" b="0" i="0">
                <a:solidFill>
                  <a:schemeClr val="tx1"/>
                </a:solidFill>
              </a:rPr>
              <a:t>payments sidecar -&gt; core banking</a:t>
            </a:r>
            <a:r>
              <a:rPr sz="900" b="0" i="0">
                <a:solidFill>
                  <a:schemeClr val="tx2"/>
                </a:solidFill>
              </a:rPr>
              <a:t>  client</a:t>
            </a:r>
          </a:p>
        </p:txBody>
      </p:sp>
      <p:sp>
        <p:nvSpPr>
          <p:cNvPr id="41" name="TextBox 40"/>
          <p:cNvSpPr txBox="1"/>
          <p:nvPr/>
        </p:nvSpPr>
        <p:spPr>
          <a:xfrm>
            <a:off x="3063240" y="447598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8f33021add1527d8</a:t>
            </a:r>
          </a:p>
        </p:txBody>
      </p:sp>
      <p:sp>
        <p:nvSpPr>
          <p:cNvPr id="42" name="TextBox 41"/>
          <p:cNvSpPr txBox="1"/>
          <p:nvPr/>
        </p:nvSpPr>
        <p:spPr>
          <a:xfrm>
            <a:off x="4526280" y="447598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70f5a1ed76dfd980</a:t>
            </a:r>
          </a:p>
        </p:txBody>
      </p:sp>
      <p:sp>
        <p:nvSpPr>
          <p:cNvPr id="43" name="Rounded Rectangle 42"/>
          <p:cNvSpPr/>
          <p:nvPr/>
        </p:nvSpPr>
        <p:spPr>
          <a:xfrm>
            <a:off x="6427245" y="4521707"/>
            <a:ext cx="1941158"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4048" y="4791456"/>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809744"/>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7  </a:t>
            </a:r>
            <a:r>
              <a:rPr sz="1050" b="0" i="0">
                <a:solidFill>
                  <a:schemeClr val="tx1"/>
                </a:solidFill>
              </a:rPr>
              <a:t>payments app: call notify-svc</a:t>
            </a:r>
            <a:r>
              <a:rPr sz="900" b="0" i="0">
                <a:solidFill>
                  <a:schemeClr val="tx2"/>
                </a:solidFill>
              </a:rPr>
              <a:t>  agent</a:t>
            </a:r>
          </a:p>
        </p:txBody>
      </p:sp>
      <p:sp>
        <p:nvSpPr>
          <p:cNvPr id="46" name="TextBox 45"/>
          <p:cNvSpPr txBox="1"/>
          <p:nvPr/>
        </p:nvSpPr>
        <p:spPr>
          <a:xfrm>
            <a:off x="3063240" y="4809744"/>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47" name="TextBox 46"/>
          <p:cNvSpPr txBox="1"/>
          <p:nvPr/>
        </p:nvSpPr>
        <p:spPr>
          <a:xfrm>
            <a:off x="4526280" y="4809744"/>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48" name="Rounded Rectangle 47"/>
          <p:cNvSpPr/>
          <p:nvPr/>
        </p:nvSpPr>
        <p:spPr>
          <a:xfrm>
            <a:off x="8383933" y="4855464"/>
            <a:ext cx="701923"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84048" y="5125212"/>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14350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8  </a:t>
            </a:r>
            <a:r>
              <a:rPr sz="1050" b="0" i="0">
                <a:solidFill>
                  <a:schemeClr val="tx1"/>
                </a:solidFill>
              </a:rPr>
              <a:t>payments sidecar -&gt; notify-svc</a:t>
            </a:r>
            <a:r>
              <a:rPr sz="900" b="0" i="0">
                <a:solidFill>
                  <a:schemeClr val="tx2"/>
                </a:solidFill>
              </a:rPr>
              <a:t>  client</a:t>
            </a:r>
          </a:p>
        </p:txBody>
      </p:sp>
      <p:sp>
        <p:nvSpPr>
          <p:cNvPr id="51" name="TextBox 50"/>
          <p:cNvSpPr txBox="1"/>
          <p:nvPr/>
        </p:nvSpPr>
        <p:spPr>
          <a:xfrm>
            <a:off x="3063240" y="514350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a3583a0a25b8976b</a:t>
            </a:r>
          </a:p>
        </p:txBody>
      </p:sp>
      <p:sp>
        <p:nvSpPr>
          <p:cNvPr id="52" name="TextBox 51"/>
          <p:cNvSpPr txBox="1"/>
          <p:nvPr/>
        </p:nvSpPr>
        <p:spPr>
          <a:xfrm>
            <a:off x="4526280" y="5143500"/>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53" name="Rounded Rectangle 52"/>
          <p:cNvSpPr/>
          <p:nvPr/>
        </p:nvSpPr>
        <p:spPr>
          <a:xfrm>
            <a:off x="8388592" y="5189220"/>
            <a:ext cx="691052"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547725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9  </a:t>
            </a:r>
            <a:r>
              <a:rPr sz="1050" b="0" i="0">
                <a:solidFill>
                  <a:schemeClr val="tx1"/>
                </a:solidFill>
              </a:rPr>
              <a:t>notify sidecar</a:t>
            </a:r>
            <a:r>
              <a:rPr sz="900" b="0" i="0">
                <a:solidFill>
                  <a:schemeClr val="tx2"/>
                </a:solidFill>
              </a:rPr>
              <a:t>  server</a:t>
            </a:r>
          </a:p>
        </p:txBody>
      </p:sp>
      <p:sp>
        <p:nvSpPr>
          <p:cNvPr id="55" name="TextBox 54"/>
          <p:cNvSpPr txBox="1"/>
          <p:nvPr/>
        </p:nvSpPr>
        <p:spPr>
          <a:xfrm>
            <a:off x="3063240" y="547725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1f72f872e5221901</a:t>
            </a:r>
          </a:p>
        </p:txBody>
      </p:sp>
      <p:sp>
        <p:nvSpPr>
          <p:cNvPr id="56" name="TextBox 55"/>
          <p:cNvSpPr txBox="1"/>
          <p:nvPr/>
        </p:nvSpPr>
        <p:spPr>
          <a:xfrm>
            <a:off x="4526280" y="547725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a3583a0a25b8976b</a:t>
            </a:r>
          </a:p>
        </p:txBody>
      </p:sp>
      <p:sp>
        <p:nvSpPr>
          <p:cNvPr id="57" name="Rounded Rectangle 56"/>
          <p:cNvSpPr/>
          <p:nvPr/>
        </p:nvSpPr>
        <p:spPr>
          <a:xfrm>
            <a:off x="8393251" y="5522976"/>
            <a:ext cx="683287"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5811012"/>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10  </a:t>
            </a:r>
            <a:r>
              <a:rPr sz="1050" b="0" i="0">
                <a:solidFill>
                  <a:schemeClr val="tx1"/>
                </a:solidFill>
              </a:rPr>
              <a:t>notify app: POST /notify</a:t>
            </a:r>
            <a:r>
              <a:rPr sz="900" b="0" i="0">
                <a:solidFill>
                  <a:schemeClr val="tx2"/>
                </a:solidFill>
              </a:rPr>
              <a:t>  agent</a:t>
            </a:r>
          </a:p>
        </p:txBody>
      </p:sp>
      <p:sp>
        <p:nvSpPr>
          <p:cNvPr id="59" name="TextBox 58"/>
          <p:cNvSpPr txBox="1"/>
          <p:nvPr/>
        </p:nvSpPr>
        <p:spPr>
          <a:xfrm>
            <a:off x="3063240" y="5811012"/>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6ffc79c30976757e</a:t>
            </a:r>
          </a:p>
        </p:txBody>
      </p:sp>
      <p:sp>
        <p:nvSpPr>
          <p:cNvPr id="60" name="TextBox 59"/>
          <p:cNvSpPr txBox="1"/>
          <p:nvPr/>
        </p:nvSpPr>
        <p:spPr>
          <a:xfrm>
            <a:off x="4526280" y="5811012"/>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1f72f872e5221901</a:t>
            </a:r>
          </a:p>
        </p:txBody>
      </p:sp>
      <p:sp>
        <p:nvSpPr>
          <p:cNvPr id="61" name="Rounded Rectangle 60"/>
          <p:cNvSpPr/>
          <p:nvPr/>
        </p:nvSpPr>
        <p:spPr>
          <a:xfrm>
            <a:off x="8402568" y="5856732"/>
            <a:ext cx="669311"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181344"/>
            <a:ext cx="8686800" cy="274320"/>
          </a:xfrm>
          <a:prstGeom prst="rect">
            <a:avLst/>
          </a:prstGeom>
          <a:noFill/>
        </p:spPr>
        <p:txBody>
          <a:bodyPr wrap="square" lIns="0" rIns="0" tIns="0" bIns="0" anchor="t">
            <a:spAutoFit/>
          </a:bodyPr>
          <a:lstStyle/>
          <a:p>
            <a:pPr algn="l">
              <a:spcAft>
                <a:spcPts val="400"/>
              </a:spcAft>
            </a:pPr>
            <a:r>
              <a:rPr sz="1050" b="0" i="1">
                <a:solidFill>
                  <a:schemeClr val="tx2"/>
                </a:solidFill>
              </a:rPr>
              <a:t>Row 7's span ID goes out as parent-id; row 8 records it as parent and sends a3583a0a... on. Rows 5 and 7 are siblings.</a:t>
            </a:r>
          </a:p>
        </p:txBody>
      </p:sp>
      <p:sp>
        <p:nvSpPr>
          <p:cNvPr id="63" name="Rounded Rectangle 62"/>
          <p:cNvSpPr/>
          <p:nvPr/>
        </p:nvSpPr>
        <p:spPr>
          <a:xfrm>
            <a:off x="9326880" y="2514600"/>
            <a:ext cx="2377440" cy="36118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500"/>
              </a:spcAft>
            </a:pPr>
            <a:r>
              <a:rPr sz="1300" b="1" i="0">
                <a:solidFill>
                  <a:schemeClr val="tx1"/>
                </a:solidFill>
              </a:rPr>
              <a:t>Key terms</a:t>
            </a:r>
          </a:p>
          <a:p>
            <a:pPr algn="l">
              <a:spcAft>
                <a:spcPts val="500"/>
              </a:spcAft>
            </a:pPr>
            <a:r>
              <a:rPr sz="1050" b="1" i="0">
                <a:solidFill>
                  <a:schemeClr val="tx1"/>
                </a:solidFill>
              </a:rPr>
              <a:t>Trace ID: </a:t>
            </a:r>
            <a:r>
              <a:rPr sz="1050" b="0" i="0">
                <a:solidFill>
                  <a:schemeClr val="tx1"/>
                </a:solidFill>
              </a:rPr>
              <a:t>created once at the gateway, copied to every hop.</a:t>
            </a:r>
          </a:p>
          <a:p>
            <a:pPr algn="l">
              <a:spcAft>
                <a:spcPts val="500"/>
              </a:spcAft>
            </a:pPr>
            <a:r>
              <a:rPr sz="1050" b="1" i="0">
                <a:solidFill>
                  <a:schemeClr val="tx1"/>
                </a:solidFill>
              </a:rPr>
              <a:t>Span ID: </a:t>
            </a:r>
            <a:r>
              <a:rPr sz="1050" b="0" i="0">
                <a:solidFill>
                  <a:schemeClr val="tx1"/>
                </a:solidFill>
              </a:rPr>
              <a:t>new for every span, created by whoever records it.</a:t>
            </a:r>
          </a:p>
          <a:p>
            <a:pPr algn="l">
              <a:spcAft>
                <a:spcPts val="500"/>
              </a:spcAft>
            </a:pPr>
            <a:r>
              <a:rPr sz="1050" b="1" i="0">
                <a:solidFill>
                  <a:schemeClr val="tx1"/>
                </a:solidFill>
              </a:rPr>
              <a:t>parent-id: </a:t>
            </a:r>
            <a:r>
              <a:rPr sz="1050" b="0" i="0">
                <a:solidFill>
                  <a:schemeClr val="tx1"/>
                </a:solidFill>
              </a:rPr>
              <a:t>the header field; carries the caller's span ID.</a:t>
            </a:r>
          </a:p>
          <a:p>
            <a:pPr algn="l">
              <a:spcAft>
                <a:spcPts val="500"/>
              </a:spcAft>
            </a:pPr>
            <a:r>
              <a:rPr sz="1050" b="1" i="0">
                <a:solidFill>
                  <a:schemeClr val="tx1"/>
                </a:solidFill>
              </a:rPr>
              <a:t>Propagation: </a:t>
            </a:r>
            <a:r>
              <a:rPr sz="1050" b="0" i="0">
                <a:solidFill>
                  <a:schemeClr val="tx1"/>
                </a:solidFill>
              </a:rPr>
              <a:t>each hop reads parent-id, makes its own span ID and writes that into its outgoing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Context propagation: how payments-svc passes the trace to notify-svc</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1  </a:t>
            </a:r>
            <a:r>
              <a:rPr sz="1250" b="1" i="0">
                <a:solidFill>
                  <a:schemeClr val="bg1"/>
                </a:solidFill>
              </a:rPr>
              <a:t>payments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55692cc0...</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e9c75782... (gateway)</a:t>
            </a:r>
          </a:p>
        </p:txBody>
      </p:sp>
      <p:sp>
        <p:nvSpPr>
          <p:cNvPr id="5" name="Rounded Rectangle 4"/>
          <p:cNvSpPr/>
          <p:nvPr/>
        </p:nvSpPr>
        <p:spPr>
          <a:xfrm>
            <a:off x="276606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2  </a:t>
            </a:r>
            <a:r>
              <a:rPr sz="1250" b="1" i="0">
                <a:solidFill>
                  <a:schemeClr val="bg1"/>
                </a:solidFill>
              </a:rPr>
              <a:t>payments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f8fea851 (handler)
c5a7545b (call)</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55692cc0...</a:t>
            </a:r>
          </a:p>
        </p:txBody>
      </p:sp>
      <p:cxnSp>
        <p:nvCxnSpPr>
          <p:cNvPr id="6" name="Connector 5"/>
          <p:cNvCxnSpPr/>
          <p:nvPr/>
        </p:nvCxnSpPr>
        <p:spPr>
          <a:xfrm>
            <a:off x="246888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492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3  </a:t>
            </a:r>
            <a:r>
              <a:rPr sz="1250" b="1" i="0">
                <a:solidFill>
                  <a:schemeClr val="bg1"/>
                </a:solidFill>
              </a:rPr>
              <a:t>payments sidecar</a:t>
            </a:r>
          </a:p>
          <a:p>
            <a:pPr algn="l">
              <a:spcAft>
                <a:spcPts val="100"/>
              </a:spcAft>
            </a:pPr>
            <a:r>
              <a:rPr sz="1050" b="0" i="1">
                <a:solidFill>
                  <a:schemeClr val="bg1"/>
                </a:solidFill>
              </a:rPr>
              <a:t>outbound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a3583a0a...</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c5a7545b...</a:t>
            </a:r>
          </a:p>
        </p:txBody>
      </p:sp>
      <p:cxnSp>
        <p:nvCxnSpPr>
          <p:cNvPr id="8" name="Connector 7"/>
          <p:cNvCxnSpPr/>
          <p:nvPr/>
        </p:nvCxnSpPr>
        <p:spPr>
          <a:xfrm>
            <a:off x="477774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8378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4  </a:t>
            </a:r>
            <a:r>
              <a:rPr sz="1250" b="1" i="0">
                <a:solidFill>
                  <a:schemeClr val="bg1"/>
                </a:solidFill>
              </a:rPr>
              <a:t>notify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1f72f872...</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a3583a0a...</a:t>
            </a:r>
          </a:p>
        </p:txBody>
      </p:sp>
      <p:cxnSp>
        <p:nvCxnSpPr>
          <p:cNvPr id="10" name="Connector 9"/>
          <p:cNvCxnSpPr/>
          <p:nvPr/>
        </p:nvCxnSpPr>
        <p:spPr>
          <a:xfrm>
            <a:off x="708660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9264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5  </a:t>
            </a:r>
            <a:r>
              <a:rPr sz="1250" b="1" i="0">
                <a:solidFill>
                  <a:schemeClr val="bg1"/>
                </a:solidFill>
              </a:rPr>
              <a:t>notify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6ffc79c3...</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1f72f872...</a:t>
            </a:r>
          </a:p>
        </p:txBody>
      </p:sp>
      <p:cxnSp>
        <p:nvCxnSpPr>
          <p:cNvPr id="12" name="Connector 11"/>
          <p:cNvCxnSpPr/>
          <p:nvPr/>
        </p:nvCxnSpPr>
        <p:spPr>
          <a:xfrm>
            <a:off x="939546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306324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traceparent ON EACH LEG (trace-id f0b98398... never changes)</a:t>
            </a:r>
          </a:p>
        </p:txBody>
      </p:sp>
      <p:sp>
        <p:nvSpPr>
          <p:cNvPr id="14" name="Rounded Rectangle 13"/>
          <p:cNvSpPr/>
          <p:nvPr/>
        </p:nvSpPr>
        <p:spPr>
          <a:xfrm>
            <a:off x="152019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55692cc0...</a:t>
            </a:r>
          </a:p>
          <a:p>
            <a:pPr algn="ctr">
              <a:spcAft>
                <a:spcPts val="0"/>
              </a:spcAft>
            </a:pPr>
            <a:r>
              <a:rPr sz="950" b="0" i="0">
                <a:solidFill>
                  <a:schemeClr val="tx2"/>
                </a:solidFill>
              </a:rPr>
              <a:t>sidecar to app, same pod</a:t>
            </a:r>
          </a:p>
        </p:txBody>
      </p:sp>
      <p:sp>
        <p:nvSpPr>
          <p:cNvPr id="15" name="Rounded Rectangle 14"/>
          <p:cNvSpPr/>
          <p:nvPr/>
        </p:nvSpPr>
        <p:spPr>
          <a:xfrm>
            <a:off x="382905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c5a7545b...</a:t>
            </a:r>
          </a:p>
          <a:p>
            <a:pPr algn="ctr">
              <a:spcAft>
                <a:spcPts val="0"/>
              </a:spcAft>
            </a:pPr>
            <a:r>
              <a:rPr sz="950" b="0" i="0">
                <a:solidFill>
                  <a:schemeClr val="tx2"/>
                </a:solidFill>
              </a:rPr>
              <a:t>app to its sidecar</a:t>
            </a:r>
          </a:p>
        </p:txBody>
      </p:sp>
      <p:sp>
        <p:nvSpPr>
          <p:cNvPr id="16" name="Rounded Rectangle 15"/>
          <p:cNvSpPr/>
          <p:nvPr/>
        </p:nvSpPr>
        <p:spPr>
          <a:xfrm>
            <a:off x="613791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a3583a0a...</a:t>
            </a:r>
          </a:p>
          <a:p>
            <a:pPr algn="ctr">
              <a:spcAft>
                <a:spcPts val="0"/>
              </a:spcAft>
            </a:pPr>
            <a:r>
              <a:rPr sz="950" b="0" i="0">
                <a:solidFill>
                  <a:schemeClr val="tx2"/>
                </a:solidFill>
              </a:rPr>
              <a:t>over the network, mTLS</a:t>
            </a:r>
          </a:p>
        </p:txBody>
      </p:sp>
      <p:sp>
        <p:nvSpPr>
          <p:cNvPr id="17" name="Rounded Rectangle 16"/>
          <p:cNvSpPr/>
          <p:nvPr/>
        </p:nvSpPr>
        <p:spPr>
          <a:xfrm>
            <a:off x="844677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1f72f872...</a:t>
            </a:r>
          </a:p>
          <a:p>
            <a:pPr algn="ctr">
              <a:spcAft>
                <a:spcPts val="0"/>
              </a:spcAft>
            </a:pPr>
            <a:r>
              <a:rPr sz="950" b="0" i="0">
                <a:solidFill>
                  <a:schemeClr val="tx2"/>
                </a:solidFill>
              </a:rPr>
              <a:t>sidecar to app, same pod</a:t>
            </a:r>
          </a:p>
        </p:txBody>
      </p:sp>
      <p:sp>
        <p:nvSpPr>
          <p:cNvPr id="18" name="Rounded Rectangle 17"/>
          <p:cNvSpPr/>
          <p:nvPr/>
        </p:nvSpPr>
        <p:spPr>
          <a:xfrm>
            <a:off x="45720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261104"/>
            <a:ext cx="219456" cy="2194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Step 2 needs the app</a:t>
            </a:r>
          </a:p>
        </p:txBody>
      </p:sp>
      <p:sp>
        <p:nvSpPr>
          <p:cNvPr id="21" name="TextBox 20"/>
          <p:cNvSpPr txBox="1"/>
          <p:nvPr/>
        </p:nvSpPr>
        <p:spPr>
          <a:xfrm>
            <a:off x="64008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Envoy sees two unrelated connections: the request into payments and, ms later, a call to notify.</a:t>
            </a:r>
          </a:p>
          <a:p>
            <a:pPr algn="l" marL="164592" indent="-146304">
              <a:spcAft>
                <a:spcPts val="300"/>
              </a:spcAft>
              <a:buChar char="•"/>
            </a:pPr>
            <a:r>
              <a:rPr sz="1050" b="0" i="0">
                <a:solidFill>
                  <a:schemeClr val="tx1"/>
                </a:solidFill>
              </a:rPr>
              <a:t>The OTel agent keeps the current span in the request context (contextvar / thread-local) and writes it into the outgoing header.</a:t>
            </a:r>
          </a:p>
          <a:p>
            <a:pPr algn="l" marL="164592" indent="-146304">
              <a:spcAft>
                <a:spcPts val="300"/>
              </a:spcAft>
              <a:buChar char="•"/>
            </a:pPr>
            <a:r>
              <a:rPr sz="1050" b="0" i="0">
                <a:solidFill>
                  <a:schemeClr val="tx1"/>
                </a:solidFill>
              </a:rPr>
              <a:t>The app code has no tracing calls, just an ordinary HTTP POST to notify.</a:t>
            </a:r>
          </a:p>
        </p:txBody>
      </p:sp>
      <p:sp>
        <p:nvSpPr>
          <p:cNvPr id="22" name="Rounded Rectangle 21"/>
          <p:cNvSpPr/>
          <p:nvPr/>
        </p:nvSpPr>
        <p:spPr>
          <a:xfrm>
            <a:off x="425196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16552" y="4261104"/>
            <a:ext cx="219456" cy="21945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Without the agent</a:t>
            </a:r>
          </a:p>
        </p:txBody>
      </p:sp>
      <p:sp>
        <p:nvSpPr>
          <p:cNvPr id="25" name="TextBox 24"/>
          <p:cNvSpPr txBox="1"/>
          <p:nvPr/>
        </p:nvSpPr>
        <p:spPr>
          <a:xfrm>
            <a:off x="443484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notify's sidecar receives no traceparent and starts a NEW trace ID.</a:t>
            </a:r>
          </a:p>
          <a:p>
            <a:pPr algn="l" marL="164592" indent="-146304">
              <a:spcAft>
                <a:spcPts val="300"/>
              </a:spcAft>
              <a:buChar char="•"/>
            </a:pPr>
            <a:r>
              <a:rPr sz="1050" b="0" i="0">
                <a:solidFill>
                  <a:schemeClr val="tx1"/>
                </a:solidFill>
              </a:rPr>
              <a:t>The transaction splits into two half traces.</a:t>
            </a:r>
          </a:p>
          <a:p>
            <a:pPr algn="l" marL="164592" indent="-146304">
              <a:spcAft>
                <a:spcPts val="300"/>
              </a:spcAft>
              <a:buChar char="•"/>
            </a:pPr>
            <a:r>
              <a:rPr sz="1050" b="0" i="0">
                <a:solidFill>
                  <a:schemeClr val="tx1"/>
                </a:solidFill>
              </a:rPr>
              <a:t>Seen in the POC: 3 of 12 spans before auto-instrumentation.</a:t>
            </a:r>
          </a:p>
        </p:txBody>
      </p:sp>
      <p:sp>
        <p:nvSpPr>
          <p:cNvPr id="26" name="Rounded Rectangle 25"/>
          <p:cNvSpPr/>
          <p:nvPr/>
        </p:nvSpPr>
        <p:spPr>
          <a:xfrm>
            <a:off x="804672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11312" y="4261104"/>
            <a:ext cx="219456" cy="21945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How Tempo rebuilds it</a:t>
            </a:r>
          </a:p>
        </p:txBody>
      </p:sp>
      <p:sp>
        <p:nvSpPr>
          <p:cNvPr id="29" name="TextBox 28"/>
          <p:cNvSpPr txBox="1"/>
          <p:nvPr/>
        </p:nvSpPr>
        <p:spPr>
          <a:xfrm>
            <a:off x="822960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Nobody sends the whole trace: every sidecar and agent sends only its own spans over OTLP.</a:t>
            </a:r>
          </a:p>
          <a:p>
            <a:pPr algn="l" marL="164592" indent="-146304">
              <a:spcAft>
                <a:spcPts val="300"/>
              </a:spcAft>
              <a:buChar char="•"/>
            </a:pPr>
            <a:r>
              <a:rPr sz="1050" b="0" i="0">
                <a:solidFill>
                  <a:schemeClr val="tx1"/>
                </a:solidFill>
              </a:rPr>
              <a:t>Tempo groups spans by trace ID and links each to its parent span ID.</a:t>
            </a:r>
          </a:p>
          <a:p>
            <a:pPr algn="l" marL="164592" indent="-146304">
              <a:spcAft>
                <a:spcPts val="300"/>
              </a:spcAft>
              <a:buChar char="•"/>
            </a:pPr>
            <a:r>
              <a:rPr sz="1050" b="0" i="0">
                <a:solidFill>
                  <a:schemeClr val="tx1"/>
                </a:solidFill>
              </a:rPr>
              <a:t>Calls to core banking and notify share parent f8fea851: siblings.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a span ID lives: header in, span record, header out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INCOMING HEADER</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2"/>
                </a:solidFill>
                <a:latin typeface="Courier New"/>
              </a:rPr>
              <a:t>c5a7545b...</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2"/>
                </a:solidFill>
              </a:rPr>
              <a:t>parent-id = the CALLER's span ID </a:t>
            </a:r>
            <a:r>
              <a:rPr sz="1150" b="0" i="0">
                <a:solidFill>
                  <a:schemeClr val="tx1"/>
                </a:solidFill>
              </a:rPr>
              <a:t>(the payments app's call, c5a7545b)</a:t>
            </a:r>
          </a:p>
          <a:p>
            <a:pPr algn="l">
              <a:spcAft>
                <a:spcPts val="300"/>
              </a:spcAft>
            </a:pPr>
            <a:r>
              <a:rPr sz="1150" b="0" i="1">
                <a:solidFill>
                  <a:schemeClr val="tx2"/>
                </a:solidFill>
              </a:rPr>
              <a:t>Says who called me. My own ID is not here yet.</a:t>
            </a:r>
          </a:p>
        </p:txBody>
      </p:sp>
      <p:sp>
        <p:nvSpPr>
          <p:cNvPr id="5" name="Rounded Rectangle 4"/>
          <p:cNvSpPr/>
          <p:nvPr/>
        </p:nvSpPr>
        <p:spPr>
          <a:xfrm>
            <a:off x="4160520" y="1417320"/>
            <a:ext cx="3840480" cy="21031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500"/>
              </a:spcAft>
            </a:pPr>
            <a:r>
              <a:rPr sz="1300" b="1" i="0">
                <a:solidFill>
                  <a:schemeClr val="bg1"/>
                </a:solidFill>
              </a:rPr>
              <a:t>payments sidecar (Envoy), outbound to notify</a:t>
            </a:r>
          </a:p>
          <a:p>
            <a:pPr algn="l">
              <a:spcAft>
                <a:spcPts val="500"/>
              </a:spcAft>
            </a:pPr>
            <a:r>
              <a:rPr sz="1150" b="0" i="0">
                <a:solidFill>
                  <a:schemeClr val="bg1"/>
                </a:solidFill>
              </a:rPr>
              <a:t>1  reads parent-id c5a7545b (my parent)</a:t>
            </a:r>
          </a:p>
          <a:p>
            <a:pPr algn="l">
              <a:spcAft>
                <a:spcPts val="500"/>
              </a:spcAft>
            </a:pPr>
            <a:r>
              <a:rPr sz="1150" b="0" i="0">
                <a:solidFill>
                  <a:schemeClr val="bg1"/>
                </a:solidFill>
              </a:rPr>
              <a:t>2  generates its OWN span ID: a3583a0a (random 8 bytes)</a:t>
            </a:r>
          </a:p>
          <a:p>
            <a:pPr algn="l">
              <a:spcAft>
                <a:spcPts val="500"/>
              </a:spcAft>
            </a:pPr>
            <a:r>
              <a:rPr sz="1150" b="0" i="0">
                <a:solidFill>
                  <a:schemeClr val="bg1"/>
                </a:solidFill>
              </a:rPr>
              <a:t>3  writes a3583a0a into the call to notify</a:t>
            </a:r>
          </a:p>
          <a:p>
            <a:pPr algn="l">
              <a:spcAft>
                <a:spcPts val="500"/>
              </a:spcAft>
            </a:pPr>
            <a:r>
              <a:rPr sz="1150" b="0" i="0">
                <a:solidFill>
                  <a:schemeClr val="bg1"/>
                </a:solidFill>
              </a:rPr>
              <a:t>4  when done, sends its span record to the collector</a:t>
            </a:r>
          </a:p>
        </p:txBody>
      </p:sp>
      <p:sp>
        <p:nvSpPr>
          <p:cNvPr id="6" name="Rounded Rectangle 5"/>
          <p:cNvSpPr/>
          <p:nvPr/>
        </p:nvSpPr>
        <p:spPr>
          <a:xfrm>
            <a:off x="8458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OUTGOING HEADER (to notify)</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1"/>
                </a:solidFill>
                <a:latin typeface="Courier New"/>
              </a:rPr>
              <a:t>a3583a0a...</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1"/>
                </a:solidFill>
              </a:rPr>
              <a:t>parent-id = MY span ID</a:t>
            </a:r>
          </a:p>
          <a:p>
            <a:pPr algn="l">
              <a:spcAft>
                <a:spcPts val="300"/>
              </a:spcAft>
            </a:pPr>
            <a:r>
              <a:rPr sz="1150" b="0" i="1">
                <a:solidFill>
                  <a:schemeClr val="tx2"/>
                </a:solidFill>
              </a:rPr>
              <a:t>notify's sidecar will record a3583a0a as its parent.</a:t>
            </a:r>
          </a:p>
        </p:txBody>
      </p:sp>
      <p:cxnSp>
        <p:nvCxnSpPr>
          <p:cNvPr id="7" name="Connector 6"/>
          <p:cNvCxnSpPr/>
          <p:nvPr/>
        </p:nvCxnSpPr>
        <p:spPr>
          <a:xfrm>
            <a:off x="370332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100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160520" y="3931920"/>
            <a:ext cx="3840480" cy="182880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accent6"/>
                </a:solidFill>
              </a:rPr>
              <a:t>SPAN RECORD sent to the collector (OTLP), stored in Tempo</a:t>
            </a:r>
          </a:p>
          <a:p>
            <a:pPr algn="l">
              <a:spcAft>
                <a:spcPts val="300"/>
              </a:spcAft>
            </a:pPr>
            <a:r>
              <a:rPr sz="1100" b="0" i="0">
                <a:solidFill>
                  <a:schemeClr val="bg1"/>
                </a:solidFill>
                <a:latin typeface="Courier New"/>
              </a:rPr>
              <a:t>traceId      </a:t>
            </a:r>
            <a:r>
              <a:rPr sz="1100" b="0" i="0">
                <a:solidFill>
                  <a:schemeClr val="bg1"/>
                </a:solidFill>
                <a:latin typeface="Courier New"/>
              </a:rPr>
              <a:t>f0b9839816c71c1a...</a:t>
            </a:r>
          </a:p>
          <a:p>
            <a:pPr algn="l">
              <a:spcAft>
                <a:spcPts val="300"/>
              </a:spcAft>
            </a:pPr>
            <a:r>
              <a:rPr sz="1100" b="0" i="0">
                <a:solidFill>
                  <a:schemeClr val="bg1"/>
                </a:solidFill>
                <a:latin typeface="Courier New"/>
              </a:rPr>
              <a:t>spanId       </a:t>
            </a:r>
            <a:r>
              <a:rPr sz="1100" b="1" i="0">
                <a:solidFill>
                  <a:schemeClr val="accent4"/>
                </a:solidFill>
                <a:latin typeface="Courier New"/>
              </a:rPr>
              <a:t>a3583a0a25b8976b</a:t>
            </a:r>
            <a:r>
              <a:rPr sz="1050" b="0" i="1">
                <a:solidFill>
                  <a:schemeClr val="accent4"/>
                </a:solidFill>
              </a:rPr>
              <a:t>  &lt;- my own ID</a:t>
            </a:r>
          </a:p>
          <a:p>
            <a:pPr algn="l">
              <a:spcAft>
                <a:spcPts val="300"/>
              </a:spcAft>
            </a:pPr>
            <a:r>
              <a:rPr sz="1100" b="0" i="0">
                <a:solidFill>
                  <a:schemeClr val="bg1"/>
                </a:solidFill>
                <a:latin typeface="Courier New"/>
              </a:rPr>
              <a:t>parentSpanId </a:t>
            </a:r>
            <a:r>
              <a:rPr sz="1100" b="0" i="0">
                <a:solidFill>
                  <a:schemeClr val="bg1"/>
                </a:solidFill>
                <a:latin typeface="Courier New"/>
              </a:rPr>
              <a:t>c5a7545b5b936a12</a:t>
            </a:r>
          </a:p>
          <a:p>
            <a:pPr algn="l">
              <a:spcAft>
                <a:spcPts val="300"/>
              </a:spcAft>
            </a:pPr>
            <a:r>
              <a:rPr sz="1000" b="0" i="0">
                <a:solidFill>
                  <a:schemeClr val="accent6"/>
                </a:solidFill>
                <a:latin typeface="Courier New"/>
              </a:rPr>
              <a:t>name, start, duration, status, attributes</a:t>
            </a:r>
          </a:p>
        </p:txBody>
      </p:sp>
      <p:cxnSp>
        <p:nvCxnSpPr>
          <p:cNvPr id="10" name="Connector 9"/>
          <p:cNvCxnSpPr/>
          <p:nvPr/>
        </p:nvCxnSpPr>
        <p:spPr>
          <a:xfrm>
            <a:off x="6080760" y="3520440"/>
            <a:ext cx="0" cy="41148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63640" y="360273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graphicFrame>
        <p:nvGraphicFramePr>
          <p:cNvPr id="12" name="Table 11"/>
          <p:cNvGraphicFramePr>
            <a:graphicFrameLocks noGrp="1"/>
          </p:cNvGraphicFramePr>
          <p:nvPr/>
        </p:nvGraphicFramePr>
        <p:xfrm>
          <a:off x="457200" y="3931920"/>
          <a:ext cx="3246120" cy="1828800"/>
        </p:xfrm>
        <a:graphic>
          <a:graphicData uri="http://schemas.openxmlformats.org/drawingml/2006/table">
            <a:tbl>
              <a:tblPr firstRow="0" bandRow="0">
                <a:tableStyleId>{5940675A-B579-460E-94D1-54222C63F5DA}</a:tableStyleId>
              </a:tblPr>
              <a:tblGrid>
                <a:gridCol w="1463040"/>
                <a:gridCol w="1783080"/>
              </a:tblGrid>
              <a:tr h="457200">
                <a:tc>
                  <a:txBody>
                    <a:bodyPr wrap="square"/>
                    <a:lstStyle/>
                    <a:p>
                      <a:r>
                        <a:rPr sz="1100" b="1" i="0">
                          <a:solidFill>
                            <a:schemeClr val="bg1"/>
                          </a:solidFill>
                        </a:rPr>
                        <a:t>Where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Which span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457200">
                <a:tc>
                  <a:txBody>
                    <a:bodyPr wrap="square"/>
                    <a:lstStyle/>
                    <a:p>
                      <a:r>
                        <a:rPr sz="1100" b="1" i="0">
                          <a:solidFill>
                            <a:schemeClr val="tx1"/>
                          </a:solidFill>
                        </a:rPr>
                        <a:t>Incoming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the caller's (my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457200">
                <a:tc>
                  <a:txBody>
                    <a:bodyPr wrap="square"/>
                    <a:lstStyle/>
                    <a:p>
                      <a:r>
                        <a:rPr sz="1100" b="1" i="0">
                          <a:solidFill>
                            <a:schemeClr val="tx1"/>
                          </a:solidFill>
                        </a:rPr>
                        <a:t>My span record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mine + my parent's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457200">
                <a:tc>
                  <a:txBody>
                    <a:bodyPr wrap="square"/>
                    <a:lstStyle/>
                    <a:p>
                      <a:r>
                        <a:rPr sz="1100" b="1" i="0">
                          <a:solidFill>
                            <a:schemeClr val="tx1"/>
                          </a:solidFill>
                        </a:rPr>
                        <a:t>Outgoing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mine (the next hop's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13" name="Rounded Rectangle 12"/>
          <p:cNvSpPr/>
          <p:nvPr/>
        </p:nvSpPr>
        <p:spPr>
          <a:xfrm>
            <a:off x="8458200" y="3931920"/>
            <a:ext cx="3246120" cy="182880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250" b="1" i="0">
                <a:solidFill>
                  <a:schemeClr val="tx1"/>
                </a:solidFill>
              </a:rPr>
              <a:t>Like a relay baton with one name slot</a:t>
            </a:r>
          </a:p>
          <a:p>
            <a:pPr algn="l">
              <a:spcAft>
                <a:spcPts val="400"/>
              </a:spcAft>
            </a:pPr>
            <a:r>
              <a:rPr sz="1100" b="0" i="0">
                <a:solidFill>
                  <a:schemeClr val="tx1"/>
                </a:solidFill>
              </a:rPr>
              <a:t>Each runner reads who handed it over, notes "I got it from X" in their own logbook, then writes their own name on the baton and passes it on. The baton shows only the last name; the full chain is in the logbooks: the span records in Tempo.</a:t>
            </a:r>
          </a:p>
        </p:txBody>
      </p:sp>
      <p:sp>
        <p:nvSpPr>
          <p:cNvPr id="14" name="TextBox 13"/>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Slide 9's span ID column comes from the span records; each value reappears one row later in a header, as the next hop's parent-id.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flipH="1">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flipH="1">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flipH="1">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flipH="1">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Ingest + rules</a:t>
            </a:r>
          </a:p>
          <a:p>
            <a:pPr algn="ctr">
              <a:spcAft>
                <a:spcPts val="400"/>
              </a:spcAft>
            </a:pPr>
            <a:r>
              <a:rPr sz="1000" b="1" i="0">
                <a:solidFill>
                  <a:schemeClr val="bg1"/>
                </a:solidFill>
              </a:rPr>
              <a:t>Writes samples;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7" name="Connector 36"/>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0" name="Rounded Rectangle 39"/>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1" name="Rounded Rectangle 40"/>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2" name="Rounded Rectangle 41"/>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 + K8s</a:t>
            </a:r>
          </a:p>
        </p:txBody>
      </p:sp>
      <p:sp>
        <p:nvSpPr>
          <p:cNvPr id="43" name="Rounded Rectangle 42"/>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Receives alerts (PUSH)</a:t>
            </a:r>
          </a:p>
        </p:txBody>
      </p:sp>
      <p:sp>
        <p:nvSpPr>
          <p:cNvPr id="44" name="Rounded Rectangle 43"/>
          <p:cNvSpPr/>
          <p:nvPr/>
        </p:nvSpPr>
        <p:spPr>
          <a:xfrm>
            <a:off x="484632" y="579729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5" name="TextBox 44"/>
          <p:cNvSpPr txBox="1"/>
          <p:nvPr/>
        </p:nvSpPr>
        <p:spPr>
          <a:xfrm>
            <a:off x="105156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6" name="Rounded Rectangle 45"/>
          <p:cNvSpPr/>
          <p:nvPr/>
        </p:nvSpPr>
        <p:spPr>
          <a:xfrm>
            <a:off x="4233672" y="5797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7" name="TextBox 46"/>
          <p:cNvSpPr txBox="1"/>
          <p:nvPr/>
        </p:nvSpPr>
        <p:spPr>
          <a:xfrm>
            <a:off x="480060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calls the target, data returns</a:t>
            </a:r>
          </a:p>
        </p:txBody>
      </p:sp>
      <p:sp>
        <p:nvSpPr>
          <p:cNvPr id="48" name="Rounded Rectangle 47"/>
          <p:cNvSpPr/>
          <p:nvPr/>
        </p:nvSpPr>
        <p:spPr>
          <a:xfrm>
            <a:off x="7982711" y="579729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49" name="TextBox 48"/>
          <p:cNvSpPr txBox="1"/>
          <p:nvPr/>
        </p:nvSpPr>
        <p:spPr>
          <a:xfrm>
            <a:off x="854964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calls the store, results return</a:t>
            </a:r>
          </a:p>
        </p:txBody>
      </p:sp>
      <p:sp>
        <p:nvSpPr>
          <p:cNvPr id="50" name="TextBox 49"/>
          <p:cNvSpPr txBox="1"/>
          <p:nvPr/>
        </p:nvSpPr>
        <p:spPr>
          <a:xfrm>
            <a:off x="457200" y="6089904"/>
            <a:ext cx="11247120" cy="256032"/>
          </a:xfrm>
          <a:prstGeom prst="rect">
            <a:avLst/>
          </a:prstGeom>
          <a:noFill/>
        </p:spPr>
        <p:txBody>
          <a:bodyPr wrap="square" lIns="0" rIns="0" tIns="0" bIns="0" anchor="t">
            <a:spAutoFit/>
          </a:bodyPr>
          <a:lstStyle/>
          <a:p>
            <a:pPr algn="l">
              <a:spcAft>
                <a:spcPts val="400"/>
              </a:spcAft>
            </a:pPr>
            <a:r>
              <a:rPr sz="1050" b="0" i="1">
                <a:solidFill>
                  <a:schemeClr val="tx2"/>
                </a:solidFill>
              </a:rPr>
              <a:t>Each arrow starts at the caller. On PULL and QUERY the data travels back against the arrow. Arrows without a pill are hand-offs inside one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Red-dot dashboard: where its data comes from</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2514600"/>
            <a:ext cx="17373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ctr">
              <a:spcAft>
                <a:spcPts val="400"/>
              </a:spcAft>
            </a:pPr>
            <a:r>
              <a:rPr sz="1100" b="1" i="0">
                <a:solidFill>
                  <a:schemeClr val="tx1"/>
                </a:solidFill>
              </a:rPr>
              <a:t>Browser UI</a:t>
            </a:r>
          </a:p>
          <a:p>
            <a:pPr algn="ctr">
              <a:spcAft>
                <a:spcPts val="400"/>
              </a:spcAft>
            </a:pPr>
            <a:r>
              <a:rPr sz="1100" b="0" i="0">
                <a:solidFill>
                  <a:schemeClr val="tx1"/>
                </a:solidFill>
              </a:rPr>
              <a:t>Polls /api/state every 3 s; draws edges, red dot, signals</a:t>
            </a:r>
          </a:p>
        </p:txBody>
      </p:sp>
      <p:cxnSp>
        <p:nvCxnSpPr>
          <p:cNvPr id="5" name="Connector 4"/>
          <p:cNvCxnSpPr/>
          <p:nvPr/>
        </p:nvCxnSpPr>
        <p:spPr>
          <a:xfrm>
            <a:off x="2194560" y="3218688"/>
            <a:ext cx="5943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263139" y="291693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7" name="Rounded Rectangle 6"/>
          <p:cNvSpPr/>
          <p:nvPr/>
        </p:nvSpPr>
        <p:spPr>
          <a:xfrm>
            <a:off x="2788920" y="1325880"/>
            <a:ext cx="2926080" cy="434340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44752"/>
            <a:ext cx="2651760" cy="320040"/>
          </a:xfrm>
          <a:prstGeom prst="rect">
            <a:avLst/>
          </a:prstGeom>
          <a:noFill/>
        </p:spPr>
        <p:txBody>
          <a:bodyPr wrap="square" lIns="0" rIns="0" tIns="0" bIns="0" anchor="t">
            <a:spAutoFit/>
          </a:bodyPr>
          <a:lstStyle/>
          <a:p>
            <a:pPr algn="l">
              <a:spcAft>
                <a:spcPts val="400"/>
              </a:spcAft>
            </a:pPr>
            <a:r>
              <a:rPr sz="1350" b="1" i="0">
                <a:solidFill>
                  <a:schemeClr val="bg1"/>
                </a:solidFill>
              </a:rPr>
              <a:t>Backend (server.py)</a:t>
            </a:r>
          </a:p>
        </p:txBody>
      </p:sp>
      <p:sp>
        <p:nvSpPr>
          <p:cNvPr id="9" name="Oval 8"/>
          <p:cNvSpPr/>
          <p:nvPr/>
        </p:nvSpPr>
        <p:spPr>
          <a:xfrm>
            <a:off x="2944368" y="1911095"/>
            <a:ext cx="310896" cy="3108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100" b="1" i="0">
                <a:solidFill>
                  <a:schemeClr val="bg1"/>
                </a:solidFill>
              </a:rPr>
              <a:t>1</a:t>
            </a:r>
          </a:p>
        </p:txBody>
      </p:sp>
      <p:sp>
        <p:nvSpPr>
          <p:cNvPr id="10" name="TextBox 9"/>
          <p:cNvSpPr txBox="1"/>
          <p:nvPr/>
        </p:nvSpPr>
        <p:spPr>
          <a:xfrm>
            <a:off x="3364992" y="1874519"/>
            <a:ext cx="2286000" cy="274320"/>
          </a:xfrm>
          <a:prstGeom prst="rect">
            <a:avLst/>
          </a:prstGeom>
          <a:noFill/>
        </p:spPr>
        <p:txBody>
          <a:bodyPr wrap="square" lIns="0" rIns="0" tIns="0" bIns="0" anchor="t">
            <a:spAutoFit/>
          </a:bodyPr>
          <a:lstStyle/>
          <a:p>
            <a:pPr algn="l">
              <a:spcAft>
                <a:spcPts val="400"/>
              </a:spcAft>
            </a:pPr>
            <a:r>
              <a:rPr sz="1150" b="1" i="0">
                <a:solidFill>
                  <a:schemeClr val="bg1"/>
                </a:solidFill>
              </a:rPr>
              <a:t>Discover topology</a:t>
            </a:r>
          </a:p>
        </p:txBody>
      </p:sp>
      <p:sp>
        <p:nvSpPr>
          <p:cNvPr id="11" name="TextBox 10"/>
          <p:cNvSpPr txBox="1"/>
          <p:nvPr/>
        </p:nvSpPr>
        <p:spPr>
          <a:xfrm>
            <a:off x="3364992" y="2121408"/>
            <a:ext cx="2286000" cy="502920"/>
          </a:xfrm>
          <a:prstGeom prst="rect">
            <a:avLst/>
          </a:prstGeom>
          <a:noFill/>
        </p:spPr>
        <p:txBody>
          <a:bodyPr wrap="square" lIns="0" rIns="0" tIns="0" bIns="0" anchor="t">
            <a:spAutoFit/>
          </a:bodyPr>
          <a:lstStyle/>
          <a:p>
            <a:pPr algn="l">
              <a:spcAft>
                <a:spcPts val="400"/>
              </a:spcAft>
            </a:pPr>
            <a:r>
              <a:rPr sz="950" b="0" i="0">
                <a:solidFill>
                  <a:schemeClr val="bg1"/>
                </a:solidFill>
              </a:rPr>
              <a:t>hops with traffic in 15 min; names from annotations (every 20 s)</a:t>
            </a:r>
          </a:p>
        </p:txBody>
      </p:sp>
      <p:sp>
        <p:nvSpPr>
          <p:cNvPr id="12" name="Oval 11"/>
          <p:cNvSpPr/>
          <p:nvPr/>
        </p:nvSpPr>
        <p:spPr>
          <a:xfrm>
            <a:off x="2944368" y="2660903"/>
            <a:ext cx="310896" cy="3108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100" b="1" i="0">
                <a:solidFill>
                  <a:schemeClr val="bg1"/>
                </a:solidFill>
              </a:rPr>
              <a:t>2</a:t>
            </a:r>
          </a:p>
        </p:txBody>
      </p:sp>
      <p:sp>
        <p:nvSpPr>
          <p:cNvPr id="13" name="TextBox 12"/>
          <p:cNvSpPr txBox="1"/>
          <p:nvPr/>
        </p:nvSpPr>
        <p:spPr>
          <a:xfrm>
            <a:off x="3364992" y="2624327"/>
            <a:ext cx="2286000" cy="274320"/>
          </a:xfrm>
          <a:prstGeom prst="rect">
            <a:avLst/>
          </a:prstGeom>
          <a:noFill/>
        </p:spPr>
        <p:txBody>
          <a:bodyPr wrap="square" lIns="0" rIns="0" tIns="0" bIns="0" anchor="t">
            <a:spAutoFit/>
          </a:bodyPr>
          <a:lstStyle/>
          <a:p>
            <a:pPr algn="l">
              <a:spcAft>
                <a:spcPts val="400"/>
              </a:spcAft>
            </a:pPr>
            <a:r>
              <a:rPr sz="1150" b="1" i="0">
                <a:solidFill>
                  <a:schemeClr val="bg1"/>
                </a:solidFill>
              </a:rPr>
              <a:t>Live numbers</a:t>
            </a:r>
          </a:p>
        </p:txBody>
      </p:sp>
      <p:sp>
        <p:nvSpPr>
          <p:cNvPr id="14" name="TextBox 13"/>
          <p:cNvSpPr txBox="1"/>
          <p:nvPr/>
        </p:nvSpPr>
        <p:spPr>
          <a:xfrm>
            <a:off x="3364992" y="2871215"/>
            <a:ext cx="2286000" cy="502920"/>
          </a:xfrm>
          <a:prstGeom prst="rect">
            <a:avLst/>
          </a:prstGeom>
          <a:noFill/>
        </p:spPr>
        <p:txBody>
          <a:bodyPr wrap="square" lIns="0" rIns="0" tIns="0" bIns="0" anchor="t">
            <a:spAutoFit/>
          </a:bodyPr>
          <a:lstStyle/>
          <a:p>
            <a:pPr algn="l">
              <a:spcAft>
                <a:spcPts val="400"/>
              </a:spcAft>
            </a:pPr>
            <a:r>
              <a:rPr sz="950" b="0" i="0">
                <a:solidFill>
                  <a:schemeClr val="bg1"/>
                </a:solidFill>
              </a:rPr>
              <a:t>1-min rate, 5xx %, p95, Envoy flags per hop, journey, channel (every 2 s)</a:t>
            </a:r>
          </a:p>
        </p:txBody>
      </p:sp>
      <p:sp>
        <p:nvSpPr>
          <p:cNvPr id="15" name="Oval 14"/>
          <p:cNvSpPr/>
          <p:nvPr/>
        </p:nvSpPr>
        <p:spPr>
          <a:xfrm>
            <a:off x="2944368" y="3410711"/>
            <a:ext cx="310896" cy="3108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100" b="1" i="0">
                <a:solidFill>
                  <a:schemeClr val="bg1"/>
                </a:solidFill>
              </a:rPr>
              <a:t>3</a:t>
            </a:r>
          </a:p>
        </p:txBody>
      </p:sp>
      <p:sp>
        <p:nvSpPr>
          <p:cNvPr id="16" name="TextBox 15"/>
          <p:cNvSpPr txBox="1"/>
          <p:nvPr/>
        </p:nvSpPr>
        <p:spPr>
          <a:xfrm>
            <a:off x="3364992" y="3374135"/>
            <a:ext cx="2286000" cy="274320"/>
          </a:xfrm>
          <a:prstGeom prst="rect">
            <a:avLst/>
          </a:prstGeom>
          <a:noFill/>
        </p:spPr>
        <p:txBody>
          <a:bodyPr wrap="square" lIns="0" rIns="0" tIns="0" bIns="0" anchor="t">
            <a:spAutoFit/>
          </a:bodyPr>
          <a:lstStyle/>
          <a:p>
            <a:pPr algn="l">
              <a:spcAft>
                <a:spcPts val="400"/>
              </a:spcAft>
            </a:pPr>
            <a:r>
              <a:rPr sz="1150" b="1" i="0">
                <a:solidFill>
                  <a:schemeClr val="bg1"/>
                </a:solidFill>
              </a:rPr>
              <a:t>Classify</a:t>
            </a:r>
          </a:p>
        </p:txBody>
      </p:sp>
      <p:sp>
        <p:nvSpPr>
          <p:cNvPr id="17" name="TextBox 16"/>
          <p:cNvSpPr txBox="1"/>
          <p:nvPr/>
        </p:nvSpPr>
        <p:spPr>
          <a:xfrm>
            <a:off x="3364992" y="3621023"/>
            <a:ext cx="2286000" cy="502920"/>
          </a:xfrm>
          <a:prstGeom prst="rect">
            <a:avLst/>
          </a:prstGeom>
          <a:noFill/>
        </p:spPr>
        <p:txBody>
          <a:bodyPr wrap="square" lIns="0" rIns="0" tIns="0" bIns="0" anchor="t">
            <a:spAutoFit/>
          </a:bodyPr>
          <a:lstStyle/>
          <a:p>
            <a:pPr algn="l">
              <a:spcAft>
                <a:spcPts val="400"/>
              </a:spcAft>
            </a:pPr>
            <a:r>
              <a:rPr sz="950" b="0" i="0">
                <a:solidFill>
                  <a:schemeClr val="bg1"/>
                </a:solidFill>
              </a:rPr>
              <a:t>bad at 5 % errors; amber at 1 % or p95 1 s (same as alerts)</a:t>
            </a:r>
          </a:p>
        </p:txBody>
      </p:sp>
      <p:sp>
        <p:nvSpPr>
          <p:cNvPr id="18" name="Oval 17"/>
          <p:cNvSpPr/>
          <p:nvPr/>
        </p:nvSpPr>
        <p:spPr>
          <a:xfrm>
            <a:off x="2944368" y="4160520"/>
            <a:ext cx="310896" cy="3108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100" b="1" i="0">
                <a:solidFill>
                  <a:schemeClr val="bg1"/>
                </a:solidFill>
              </a:rPr>
              <a:t>4</a:t>
            </a:r>
          </a:p>
        </p:txBody>
      </p:sp>
      <p:sp>
        <p:nvSpPr>
          <p:cNvPr id="19" name="TextBox 18"/>
          <p:cNvSpPr txBox="1"/>
          <p:nvPr/>
        </p:nvSpPr>
        <p:spPr>
          <a:xfrm>
            <a:off x="3364992" y="4123944"/>
            <a:ext cx="2286000" cy="274320"/>
          </a:xfrm>
          <a:prstGeom prst="rect">
            <a:avLst/>
          </a:prstGeom>
          <a:noFill/>
        </p:spPr>
        <p:txBody>
          <a:bodyPr wrap="square" lIns="0" rIns="0" tIns="0" bIns="0" anchor="t">
            <a:spAutoFit/>
          </a:bodyPr>
          <a:lstStyle/>
          <a:p>
            <a:pPr algn="l">
              <a:spcAft>
                <a:spcPts val="400"/>
              </a:spcAft>
            </a:pPr>
            <a:r>
              <a:rPr sz="1150" b="1" i="0">
                <a:solidFill>
                  <a:schemeClr val="bg1"/>
                </a:solidFill>
              </a:rPr>
              <a:t>Red dot</a:t>
            </a:r>
          </a:p>
        </p:txBody>
      </p:sp>
      <p:sp>
        <p:nvSpPr>
          <p:cNvPr id="20" name="TextBox 19"/>
          <p:cNvSpPr txBox="1"/>
          <p:nvPr/>
        </p:nvSpPr>
        <p:spPr>
          <a:xfrm>
            <a:off x="3364992" y="4370831"/>
            <a:ext cx="2286000" cy="502920"/>
          </a:xfrm>
          <a:prstGeom prst="rect">
            <a:avLst/>
          </a:prstGeom>
          <a:noFill/>
        </p:spPr>
        <p:txBody>
          <a:bodyPr wrap="square" lIns="0" rIns="0" tIns="0" bIns="0" anchor="t">
            <a:spAutoFit/>
          </a:bodyPr>
          <a:lstStyle/>
          <a:p>
            <a:pPr algn="l">
              <a:spcAft>
                <a:spcPts val="400"/>
              </a:spcAft>
            </a:pPr>
            <a:r>
              <a:rPr sz="950" b="0" i="0">
                <a:solidFill>
                  <a:schemeClr val="bg1"/>
                </a:solidFill>
              </a:rPr>
              <a:t>the deepest bad hop: its target has no bad outgoing hop</a:t>
            </a:r>
          </a:p>
        </p:txBody>
      </p:sp>
      <p:sp>
        <p:nvSpPr>
          <p:cNvPr id="21" name="Oval 20"/>
          <p:cNvSpPr/>
          <p:nvPr/>
        </p:nvSpPr>
        <p:spPr>
          <a:xfrm>
            <a:off x="2944368" y="4910328"/>
            <a:ext cx="310896" cy="3108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100" b="1" i="0">
                <a:solidFill>
                  <a:schemeClr val="bg1"/>
                </a:solidFill>
              </a:rPr>
              <a:t>5</a:t>
            </a:r>
          </a:p>
        </p:txBody>
      </p:sp>
      <p:sp>
        <p:nvSpPr>
          <p:cNvPr id="22" name="TextBox 21"/>
          <p:cNvSpPr txBox="1"/>
          <p:nvPr/>
        </p:nvSpPr>
        <p:spPr>
          <a:xfrm>
            <a:off x="3364992" y="4873752"/>
            <a:ext cx="2286000" cy="274320"/>
          </a:xfrm>
          <a:prstGeom prst="rect">
            <a:avLst/>
          </a:prstGeom>
          <a:noFill/>
        </p:spPr>
        <p:txBody>
          <a:bodyPr wrap="square" lIns="0" rIns="0" tIns="0" bIns="0" anchor="t">
            <a:spAutoFit/>
          </a:bodyPr>
          <a:lstStyle/>
          <a:p>
            <a:pPr algn="l">
              <a:spcAft>
                <a:spcPts val="400"/>
              </a:spcAft>
            </a:pPr>
            <a:r>
              <a:rPr sz="1150" b="1" i="0">
                <a:solidFill>
                  <a:schemeClr val="bg1"/>
                </a:solidFill>
              </a:rPr>
              <a:t>Evidence</a:t>
            </a:r>
          </a:p>
        </p:txBody>
      </p:sp>
      <p:sp>
        <p:nvSpPr>
          <p:cNvPr id="23" name="TextBox 22"/>
          <p:cNvSpPr txBox="1"/>
          <p:nvPr/>
        </p:nvSpPr>
        <p:spPr>
          <a:xfrm>
            <a:off x="3364992" y="5120640"/>
            <a:ext cx="2286000" cy="502920"/>
          </a:xfrm>
          <a:prstGeom prst="rect">
            <a:avLst/>
          </a:prstGeom>
          <a:noFill/>
        </p:spPr>
        <p:txBody>
          <a:bodyPr wrap="square" lIns="0" rIns="0" tIns="0" bIns="0" anchor="t">
            <a:spAutoFit/>
          </a:bodyPr>
          <a:lstStyle/>
          <a:p>
            <a:pPr algn="l">
              <a:spcAft>
                <a:spcPts val="400"/>
              </a:spcAft>
            </a:pPr>
            <a:r>
              <a:rPr sz="950" b="0" i="0">
                <a:solidFill>
                  <a:schemeClr val="bg1"/>
                </a:solidFill>
              </a:rPr>
              <a:t>alerts, a trace and flag counts for the red hop, plus the owner</a:t>
            </a:r>
          </a:p>
        </p:txBody>
      </p:sp>
      <p:cxnSp>
        <p:nvCxnSpPr>
          <p:cNvPr id="24" name="Connector 23"/>
          <p:cNvCxnSpPr/>
          <p:nvPr/>
        </p:nvCxnSpPr>
        <p:spPr>
          <a:xfrm flipV="1">
            <a:off x="5715000" y="1636776"/>
            <a:ext cx="1005840" cy="18562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20840" y="132588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20840" y="1325880"/>
            <a:ext cx="82296" cy="64008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1371600"/>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Prometheus</a:t>
            </a:r>
          </a:p>
        </p:txBody>
      </p:sp>
      <p:sp>
        <p:nvSpPr>
          <p:cNvPr id="28" name="TextBox 27"/>
          <p:cNvSpPr txBox="1"/>
          <p:nvPr/>
        </p:nvSpPr>
        <p:spPr>
          <a:xfrm>
            <a:off x="6903720" y="1655064"/>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PromQL  /api/v1/query</a:t>
            </a:r>
          </a:p>
        </p:txBody>
      </p:sp>
      <p:sp>
        <p:nvSpPr>
          <p:cNvPr id="29" name="TextBox 28"/>
          <p:cNvSpPr txBox="1"/>
          <p:nvPr/>
        </p:nvSpPr>
        <p:spPr>
          <a:xfrm>
            <a:off x="9098280" y="138074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Topology (15 m) and all live numbers: req/s, 5xx, p95, flags, TCP connections</a:t>
            </a:r>
          </a:p>
        </p:txBody>
      </p:sp>
      <p:sp>
        <p:nvSpPr>
          <p:cNvPr id="30" name="TextBox 29"/>
          <p:cNvSpPr txBox="1"/>
          <p:nvPr/>
        </p:nvSpPr>
        <p:spPr>
          <a:xfrm>
            <a:off x="11018520" y="149047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2 s / 20 s</a:t>
            </a:r>
          </a:p>
        </p:txBody>
      </p:sp>
      <p:cxnSp>
        <p:nvCxnSpPr>
          <p:cNvPr id="31" name="Connector 30"/>
          <p:cNvCxnSpPr/>
          <p:nvPr/>
        </p:nvCxnSpPr>
        <p:spPr>
          <a:xfrm flipV="1">
            <a:off x="5715000" y="2368296"/>
            <a:ext cx="1005840" cy="112471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720840" y="205740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20840" y="2057400"/>
            <a:ext cx="82296" cy="64008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2103120"/>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Kubernetes API</a:t>
            </a:r>
          </a:p>
        </p:txBody>
      </p:sp>
      <p:sp>
        <p:nvSpPr>
          <p:cNvPr id="35" name="TextBox 34"/>
          <p:cNvSpPr txBox="1"/>
          <p:nvPr/>
        </p:nvSpPr>
        <p:spPr>
          <a:xfrm>
            <a:off x="6903720" y="2386584"/>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list Services, ServiceEntries</a:t>
            </a:r>
          </a:p>
        </p:txBody>
      </p:sp>
      <p:sp>
        <p:nvSpPr>
          <p:cNvPr id="36" name="TextBox 35"/>
          <p:cNvSpPr txBox="1"/>
          <p:nvPr/>
        </p:nvSpPr>
        <p:spPr>
          <a:xfrm>
            <a:off x="9098280" y="211226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observability.bank/ display-name, description, owner, hidden</a:t>
            </a:r>
          </a:p>
        </p:txBody>
      </p:sp>
      <p:sp>
        <p:nvSpPr>
          <p:cNvPr id="37" name="TextBox 36"/>
          <p:cNvSpPr txBox="1"/>
          <p:nvPr/>
        </p:nvSpPr>
        <p:spPr>
          <a:xfrm>
            <a:off x="11018520" y="222199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60 s</a:t>
            </a:r>
          </a:p>
        </p:txBody>
      </p:sp>
      <p:cxnSp>
        <p:nvCxnSpPr>
          <p:cNvPr id="38" name="Connector 37"/>
          <p:cNvCxnSpPr/>
          <p:nvPr/>
        </p:nvCxnSpPr>
        <p:spPr>
          <a:xfrm flipV="1">
            <a:off x="5715000" y="3099815"/>
            <a:ext cx="1005840" cy="393193"/>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720840" y="278892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20840" y="2788920"/>
            <a:ext cx="82296"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2834639"/>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Alertmanager</a:t>
            </a:r>
          </a:p>
        </p:txBody>
      </p:sp>
      <p:sp>
        <p:nvSpPr>
          <p:cNvPr id="42" name="TextBox 41"/>
          <p:cNvSpPr txBox="1"/>
          <p:nvPr/>
        </p:nvSpPr>
        <p:spPr>
          <a:xfrm>
            <a:off x="6903720" y="3118103"/>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API v2  /api/v2/alerts</a:t>
            </a:r>
          </a:p>
        </p:txBody>
      </p:sp>
      <p:sp>
        <p:nvSpPr>
          <p:cNvPr id="43" name="TextBox 42"/>
          <p:cNvSpPr txBox="1"/>
          <p:nvPr/>
        </p:nvSpPr>
        <p:spPr>
          <a:xfrm>
            <a:off x="9098280" y="284378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Firing hop and journey alerts; the red hop's alerts first</a:t>
            </a:r>
          </a:p>
        </p:txBody>
      </p:sp>
      <p:sp>
        <p:nvSpPr>
          <p:cNvPr id="44" name="TextBox 43"/>
          <p:cNvSpPr txBox="1"/>
          <p:nvPr/>
        </p:nvSpPr>
        <p:spPr>
          <a:xfrm>
            <a:off x="11018520" y="295351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5 s</a:t>
            </a:r>
          </a:p>
        </p:txBody>
      </p:sp>
      <p:cxnSp>
        <p:nvCxnSpPr>
          <p:cNvPr id="45" name="Connector 44"/>
          <p:cNvCxnSpPr/>
          <p:nvPr/>
        </p:nvCxnSpPr>
        <p:spPr>
          <a:xfrm>
            <a:off x="5715000" y="3493008"/>
            <a:ext cx="1005840" cy="338328"/>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6720840" y="352044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20840" y="3520440"/>
            <a:ext cx="82296"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03720" y="3566160"/>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Tempo</a:t>
            </a:r>
          </a:p>
        </p:txBody>
      </p:sp>
      <p:sp>
        <p:nvSpPr>
          <p:cNvPr id="49" name="TextBox 48"/>
          <p:cNvSpPr txBox="1"/>
          <p:nvPr/>
        </p:nvSpPr>
        <p:spPr>
          <a:xfrm>
            <a:off x="6903720" y="3849624"/>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TraceQL  /api/search</a:t>
            </a:r>
          </a:p>
        </p:txBody>
      </p:sp>
      <p:sp>
        <p:nvSpPr>
          <p:cNvPr id="50" name="TextBox 49"/>
          <p:cNvSpPr txBox="1"/>
          <p:nvPr/>
        </p:nvSpPr>
        <p:spPr>
          <a:xfrm>
            <a:off x="9098280" y="357530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Failing traces (15 min); the trace for the red hop: time spent on it</a:t>
            </a:r>
          </a:p>
        </p:txBody>
      </p:sp>
      <p:sp>
        <p:nvSpPr>
          <p:cNvPr id="51" name="TextBox 50"/>
          <p:cNvSpPr txBox="1"/>
          <p:nvPr/>
        </p:nvSpPr>
        <p:spPr>
          <a:xfrm>
            <a:off x="11018520" y="368503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10 s</a:t>
            </a:r>
          </a:p>
        </p:txBody>
      </p:sp>
      <p:cxnSp>
        <p:nvCxnSpPr>
          <p:cNvPr id="52" name="Connector 51"/>
          <p:cNvCxnSpPr/>
          <p:nvPr/>
        </p:nvCxnSpPr>
        <p:spPr>
          <a:xfrm>
            <a:off x="5715000" y="3493008"/>
            <a:ext cx="1005840" cy="1069848"/>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6720840" y="425196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720840" y="4251960"/>
            <a:ext cx="82296"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903720" y="4297680"/>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Loki</a:t>
            </a:r>
          </a:p>
        </p:txBody>
      </p:sp>
      <p:sp>
        <p:nvSpPr>
          <p:cNvPr id="56" name="TextBox 55"/>
          <p:cNvSpPr txBox="1"/>
          <p:nvPr/>
        </p:nvSpPr>
        <p:spPr>
          <a:xfrm>
            <a:off x="6903720" y="4581144"/>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LogQL  /loki/api/v1/query</a:t>
            </a:r>
          </a:p>
        </p:txBody>
      </p:sp>
      <p:sp>
        <p:nvSpPr>
          <p:cNvPr id="57" name="TextBox 56"/>
          <p:cNvSpPr txBox="1"/>
          <p:nvPr/>
        </p:nvSpPr>
        <p:spPr>
          <a:xfrm>
            <a:off x="9098280" y="430682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Envoy flag counts on the red hop (2 min), e.g. UT on 412 calls</a:t>
            </a:r>
          </a:p>
        </p:txBody>
      </p:sp>
      <p:sp>
        <p:nvSpPr>
          <p:cNvPr id="58" name="TextBox 57"/>
          <p:cNvSpPr txBox="1"/>
          <p:nvPr/>
        </p:nvSpPr>
        <p:spPr>
          <a:xfrm>
            <a:off x="11018520" y="441655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10 s</a:t>
            </a:r>
          </a:p>
        </p:txBody>
      </p:sp>
      <p:cxnSp>
        <p:nvCxnSpPr>
          <p:cNvPr id="59" name="Connector 58"/>
          <p:cNvCxnSpPr/>
          <p:nvPr/>
        </p:nvCxnSpPr>
        <p:spPr>
          <a:xfrm>
            <a:off x="5715000" y="3493008"/>
            <a:ext cx="1005840" cy="1801368"/>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720840" y="4983480"/>
            <a:ext cx="5029200" cy="640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0840" y="4983480"/>
            <a:ext cx="82296" cy="640080"/>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03720" y="5029200"/>
            <a:ext cx="2194560" cy="274320"/>
          </a:xfrm>
          <a:prstGeom prst="rect">
            <a:avLst/>
          </a:prstGeom>
          <a:noFill/>
        </p:spPr>
        <p:txBody>
          <a:bodyPr wrap="square" lIns="0" rIns="0" tIns="0" bIns="0" anchor="t">
            <a:spAutoFit/>
          </a:bodyPr>
          <a:lstStyle/>
          <a:p>
            <a:pPr algn="l">
              <a:spcAft>
                <a:spcPts val="400"/>
              </a:spcAft>
            </a:pPr>
            <a:r>
              <a:rPr sz="1150" b="1" i="0">
                <a:solidFill>
                  <a:schemeClr val="tx1"/>
                </a:solidFill>
              </a:rPr>
              <a:t>Fault mocks (POC only)</a:t>
            </a:r>
          </a:p>
        </p:txBody>
      </p:sp>
      <p:sp>
        <p:nvSpPr>
          <p:cNvPr id="63" name="TextBox 62"/>
          <p:cNvSpPr txBox="1"/>
          <p:nvPr/>
        </p:nvSpPr>
        <p:spPr>
          <a:xfrm>
            <a:off x="6903720" y="5312664"/>
            <a:ext cx="2194560" cy="274320"/>
          </a:xfrm>
          <a:prstGeom prst="rect">
            <a:avLst/>
          </a:prstGeom>
          <a:noFill/>
        </p:spPr>
        <p:txBody>
          <a:bodyPr wrap="square" lIns="0" rIns="0" tIns="0" bIns="0" anchor="t">
            <a:spAutoFit/>
          </a:bodyPr>
          <a:lstStyle/>
          <a:p>
            <a:pPr algn="l">
              <a:spcAft>
                <a:spcPts val="400"/>
              </a:spcAft>
            </a:pPr>
            <a:r>
              <a:rPr sz="850" b="0" i="0">
                <a:solidFill>
                  <a:schemeClr val="tx2"/>
                </a:solidFill>
                <a:latin typeface="Courier New"/>
              </a:rPr>
              <a:t>admin API :9000</a:t>
            </a:r>
          </a:p>
        </p:txBody>
      </p:sp>
      <p:sp>
        <p:nvSpPr>
          <p:cNvPr id="64" name="TextBox 63"/>
          <p:cNvSpPr txBox="1"/>
          <p:nvPr/>
        </p:nvSpPr>
        <p:spPr>
          <a:xfrm>
            <a:off x="9098280" y="5038344"/>
            <a:ext cx="1920240" cy="566928"/>
          </a:xfrm>
          <a:prstGeom prst="rect">
            <a:avLst/>
          </a:prstGeom>
          <a:noFill/>
        </p:spPr>
        <p:txBody>
          <a:bodyPr wrap="square" lIns="0" rIns="0" tIns="0" bIns="0" anchor="t">
            <a:spAutoFit/>
          </a:bodyPr>
          <a:lstStyle/>
          <a:p>
            <a:pPr algn="l">
              <a:spcAft>
                <a:spcPts val="400"/>
              </a:spcAft>
            </a:pPr>
            <a:r>
              <a:rPr sz="950" b="0" i="0">
                <a:solidFill>
                  <a:schemeClr val="tx2"/>
                </a:solidFill>
              </a:rPr>
              <a:t>State of the injected faults; the scenario buttons</a:t>
            </a:r>
          </a:p>
        </p:txBody>
      </p:sp>
      <p:sp>
        <p:nvSpPr>
          <p:cNvPr id="65" name="TextBox 64"/>
          <p:cNvSpPr txBox="1"/>
          <p:nvPr/>
        </p:nvSpPr>
        <p:spPr>
          <a:xfrm>
            <a:off x="11018520" y="5148072"/>
            <a:ext cx="685800" cy="274320"/>
          </a:xfrm>
          <a:prstGeom prst="rect">
            <a:avLst/>
          </a:prstGeom>
          <a:noFill/>
        </p:spPr>
        <p:txBody>
          <a:bodyPr wrap="square" lIns="0" rIns="0" tIns="0" bIns="0" anchor="t">
            <a:spAutoFit/>
          </a:bodyPr>
          <a:lstStyle/>
          <a:p>
            <a:pPr algn="r">
              <a:spcAft>
                <a:spcPts val="400"/>
              </a:spcAft>
            </a:pPr>
            <a:r>
              <a:rPr sz="950" b="1" i="0">
                <a:solidFill>
                  <a:schemeClr val="tx1"/>
                </a:solidFill>
              </a:rPr>
              <a:t>3 s</a:t>
            </a:r>
          </a:p>
        </p:txBody>
      </p:sp>
      <p:sp>
        <p:nvSpPr>
          <p:cNvPr id="66" name="Rounded Rectangle 65"/>
          <p:cNvSpPr/>
          <p:nvPr/>
        </p:nvSpPr>
        <p:spPr>
          <a:xfrm>
            <a:off x="5989320" y="312724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67" name="TextBox 66"/>
          <p:cNvSpPr txBox="1"/>
          <p:nvPr/>
        </p:nvSpPr>
        <p:spPr>
          <a:xfrm>
            <a:off x="10607040" y="1024128"/>
            <a:ext cx="1143000" cy="274320"/>
          </a:xfrm>
          <a:prstGeom prst="rect">
            <a:avLst/>
          </a:prstGeom>
          <a:noFill/>
        </p:spPr>
        <p:txBody>
          <a:bodyPr wrap="square" lIns="0" rIns="0" tIns="0" bIns="0" anchor="t">
            <a:spAutoFit/>
          </a:bodyPr>
          <a:lstStyle/>
          <a:p>
            <a:pPr algn="r">
              <a:spcAft>
                <a:spcPts val="400"/>
              </a:spcAft>
            </a:pPr>
            <a:r>
              <a:rPr sz="900" b="0" i="1">
                <a:solidFill>
                  <a:schemeClr val="tx2"/>
                </a:solidFill>
              </a:rPr>
              <a:t>refresh</a:t>
            </a:r>
          </a:p>
        </p:txBody>
      </p:sp>
      <p:sp>
        <p:nvSpPr>
          <p:cNvPr id="68" name="TextBox 67"/>
          <p:cNvSpPr txBox="1"/>
          <p:nvPr/>
        </p:nvSpPr>
        <p:spPr>
          <a:xfrm>
            <a:off x="457200" y="5870448"/>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Read-only, nothing stored. Prometheus is required; the other sources are best effort. On OpenShift only the URLs change (Thanos Querier + token).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Adding the mobile banking app: start the trace at the tap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REQUEST PATH (the same trace ID from the phone to core banking)</a:t>
            </a:r>
          </a:p>
        </p:txBody>
      </p:sp>
      <p:sp>
        <p:nvSpPr>
          <p:cNvPr id="5" name="Rounded Rectangle 4"/>
          <p:cNvSpPr/>
          <p:nvPr/>
        </p:nvSpPr>
        <p:spPr>
          <a:xfrm>
            <a:off x="457200" y="1508760"/>
            <a:ext cx="2011680" cy="105156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Mobile banking app</a:t>
            </a:r>
          </a:p>
          <a:p>
            <a:pPr algn="ctr">
              <a:spcAft>
                <a:spcPts val="400"/>
              </a:spcAft>
            </a:pPr>
            <a:r>
              <a:rPr sz="1000" b="0" i="0">
                <a:solidFill>
                  <a:schemeClr val="bg1"/>
                </a:solidFill>
              </a:rPr>
              <a:t>OTel SDK (Android / iOS)
span per tap: "Transfer"</a:t>
            </a:r>
          </a:p>
        </p:txBody>
      </p:sp>
      <p:sp>
        <p:nvSpPr>
          <p:cNvPr id="6" name="Rounded Rectangle 5"/>
          <p:cNvSpPr/>
          <p:nvPr/>
        </p:nvSpPr>
        <p:spPr>
          <a:xfrm>
            <a:off x="2766060" y="1508760"/>
            <a:ext cx="2011680" cy="105156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Edge: CDN / WAF /
API gateway</a:t>
            </a:r>
          </a:p>
          <a:p>
            <a:pPr algn="ctr">
              <a:spcAft>
                <a:spcPts val="400"/>
              </a:spcAft>
            </a:pPr>
            <a:r>
              <a:rPr sz="1000" b="0" i="0">
                <a:solidFill>
                  <a:schemeClr val="bg1"/>
                </a:solidFill>
              </a:rPr>
              <a:t>must forward traceparent
(header allow-list)</a:t>
            </a:r>
          </a:p>
        </p:txBody>
      </p:sp>
      <p:cxnSp>
        <p:nvCxnSpPr>
          <p:cNvPr id="7" name="Connector 6"/>
          <p:cNvCxnSpPr/>
          <p:nvPr/>
        </p:nvCxnSpPr>
        <p:spPr>
          <a:xfrm>
            <a:off x="246888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7492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OpenShift Route</a:t>
            </a:r>
          </a:p>
          <a:p>
            <a:pPr algn="ctr">
              <a:spcAft>
                <a:spcPts val="400"/>
              </a:spcAft>
            </a:pPr>
            <a:r>
              <a:rPr sz="1000" b="0" i="0">
                <a:solidFill>
                  <a:schemeClr val="bg1"/>
                </a:solidFill>
              </a:rPr>
              <a:t>passes headers through</a:t>
            </a:r>
          </a:p>
        </p:txBody>
      </p:sp>
      <p:cxnSp>
        <p:nvCxnSpPr>
          <p:cNvPr id="9" name="Connector 8"/>
          <p:cNvCxnSpPr/>
          <p:nvPr/>
        </p:nvCxnSpPr>
        <p:spPr>
          <a:xfrm>
            <a:off x="477774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8378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Istio ingress gateway</a:t>
            </a:r>
          </a:p>
          <a:p>
            <a:pPr algn="ctr">
              <a:spcAft>
                <a:spcPts val="400"/>
              </a:spcAft>
            </a:pPr>
            <a:r>
              <a:rPr sz="1000" b="0" i="0">
                <a:solidFill>
                  <a:schemeClr val="bg1"/>
                </a:solidFill>
              </a:rPr>
              <a:t>continues the app's trace;
sets journey from the route</a:t>
            </a:r>
          </a:p>
        </p:txBody>
      </p:sp>
      <p:cxnSp>
        <p:nvCxnSpPr>
          <p:cNvPr id="11" name="Connector 10"/>
          <p:cNvCxnSpPr/>
          <p:nvPr/>
        </p:nvCxnSpPr>
        <p:spPr>
          <a:xfrm>
            <a:off x="708660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92640" y="1508760"/>
            <a:ext cx="201168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payments-svc ...</a:t>
            </a:r>
          </a:p>
          <a:p>
            <a:pPr algn="ctr">
              <a:spcAft>
                <a:spcPts val="400"/>
              </a:spcAft>
            </a:pPr>
            <a:r>
              <a:rPr sz="1000" b="0" i="0">
                <a:solidFill>
                  <a:schemeClr val="bg1"/>
                </a:solidFill>
              </a:rPr>
              <a:t>same trace ID to the
core banking call</a:t>
            </a:r>
          </a:p>
        </p:txBody>
      </p:sp>
      <p:cxnSp>
        <p:nvCxnSpPr>
          <p:cNvPr id="13" name="Connector 12"/>
          <p:cNvCxnSpPr/>
          <p:nvPr/>
        </p:nvCxnSpPr>
        <p:spPr>
          <a:xfrm>
            <a:off x="9395460" y="203454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68880" y="2587752"/>
            <a:ext cx="2377440" cy="256032"/>
          </a:xfrm>
          <a:prstGeom prst="rect">
            <a:avLst/>
          </a:prstGeom>
          <a:noFill/>
        </p:spPr>
        <p:txBody>
          <a:bodyPr wrap="square" lIns="0" rIns="0" tIns="0" bIns="0" anchor="t">
            <a:spAutoFit/>
          </a:bodyPr>
          <a:lstStyle/>
          <a:p>
            <a:pPr algn="l">
              <a:spcAft>
                <a:spcPts val="400"/>
              </a:spcAft>
            </a:pPr>
            <a:r>
              <a:rPr sz="950" b="0" i="1">
                <a:solidFill>
                  <a:schemeClr val="tx2"/>
                </a:solidFill>
              </a:rPr>
              <a:t>HTTPS + traceparent + x-channel: mobile</a:t>
            </a:r>
          </a:p>
        </p:txBody>
      </p:sp>
      <p:sp>
        <p:nvSpPr>
          <p:cNvPr id="15" name="TextBox 14"/>
          <p:cNvSpPr txBox="1"/>
          <p:nvPr/>
        </p:nvSpPr>
        <p:spPr>
          <a:xfrm>
            <a:off x="457200" y="292608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TELEMETRY PATH (the app's own spans, PUSHED over OTLP/HTTPS; each arrow starts at the sender)</a:t>
            </a:r>
          </a:p>
        </p:txBody>
      </p:sp>
      <p:sp>
        <p:nvSpPr>
          <p:cNvPr id="16" name="Rounded Rectangle 15"/>
          <p:cNvSpPr/>
          <p:nvPr/>
        </p:nvSpPr>
        <p:spPr>
          <a:xfrm>
            <a:off x="457200" y="3246120"/>
            <a:ext cx="2011680" cy="96012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Mobile banking app</a:t>
            </a:r>
          </a:p>
          <a:p>
            <a:pPr algn="ctr">
              <a:spcAft>
                <a:spcPts val="400"/>
              </a:spcAft>
            </a:pPr>
            <a:r>
              <a:rPr sz="1000" b="0" i="0">
                <a:solidFill>
                  <a:schemeClr val="bg1"/>
                </a:solidFill>
              </a:rPr>
              <a:t>batched, gzip, on Wi-Fi
or when idle</a:t>
            </a:r>
          </a:p>
        </p:txBody>
      </p:sp>
      <p:sp>
        <p:nvSpPr>
          <p:cNvPr id="17" name="Rounded Rectangle 16"/>
          <p:cNvSpPr/>
          <p:nvPr/>
        </p:nvSpPr>
        <p:spPr>
          <a:xfrm>
            <a:off x="276606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Public OTLP endpoint</a:t>
            </a:r>
          </a:p>
          <a:p>
            <a:pPr algn="ctr">
              <a:spcAft>
                <a:spcPts val="400"/>
              </a:spcAft>
            </a:pPr>
            <a:r>
              <a:rPr sz="1000" b="0" i="0">
                <a:solidFill>
                  <a:schemeClr val="bg1"/>
                </a:solidFill>
              </a:rPr>
              <a:t>Route + auth (app token),
rate limit, size limits</a:t>
            </a:r>
          </a:p>
        </p:txBody>
      </p:sp>
      <p:cxnSp>
        <p:nvCxnSpPr>
          <p:cNvPr id="18" name="Connector 17"/>
          <p:cNvCxnSpPr/>
          <p:nvPr/>
        </p:nvCxnSpPr>
        <p:spPr>
          <a:xfrm>
            <a:off x="246888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7492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Edge collector</a:t>
            </a:r>
          </a:p>
          <a:p>
            <a:pPr algn="ctr">
              <a:spcAft>
                <a:spcPts val="400"/>
              </a:spcAft>
            </a:pPr>
            <a:r>
              <a:rPr sz="1000" b="0" i="0">
                <a:solidFill>
                  <a:schemeClr val="bg1"/>
                </a:solidFill>
              </a:rPr>
              <a:t>redact PII (allow-list),
sample: errors + 10% sessions</a:t>
            </a:r>
          </a:p>
        </p:txBody>
      </p:sp>
      <p:cxnSp>
        <p:nvCxnSpPr>
          <p:cNvPr id="20" name="Connector 19"/>
          <p:cNvCxnSpPr/>
          <p:nvPr/>
        </p:nvCxnSpPr>
        <p:spPr>
          <a:xfrm>
            <a:off x="477774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8378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Internal OTel Collector</a:t>
            </a:r>
          </a:p>
          <a:p>
            <a:pPr algn="ctr">
              <a:spcAft>
                <a:spcPts val="400"/>
              </a:spcAft>
            </a:pPr>
            <a:r>
              <a:rPr sz="1000" b="0" i="0">
                <a:solidFill>
                  <a:schemeClr val="bg1"/>
                </a:solidFill>
              </a:rPr>
              <a:t>same pipeline as the
mesh: journey, tail sampling</a:t>
            </a:r>
          </a:p>
        </p:txBody>
      </p:sp>
      <p:cxnSp>
        <p:nvCxnSpPr>
          <p:cNvPr id="22" name="Connector 21"/>
          <p:cNvCxnSpPr/>
          <p:nvPr/>
        </p:nvCxnSpPr>
        <p:spPr>
          <a:xfrm>
            <a:off x="708660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692640" y="3246120"/>
            <a:ext cx="2011680" cy="9601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 / Prometheus / Loki</a:t>
            </a:r>
          </a:p>
          <a:p>
            <a:pPr algn="ctr">
              <a:spcAft>
                <a:spcPts val="400"/>
              </a:spcAft>
            </a:pPr>
            <a:r>
              <a:rPr sz="1000" b="0" i="0">
                <a:solidFill>
                  <a:schemeClr val="bg1"/>
                </a:solidFill>
              </a:rPr>
              <a:t>traces; RED metrics from
spans; crash reports</a:t>
            </a:r>
          </a:p>
        </p:txBody>
      </p:sp>
      <p:cxnSp>
        <p:nvCxnSpPr>
          <p:cNvPr id="24" name="Connector 23"/>
          <p:cNvCxnSpPr/>
          <p:nvPr/>
        </p:nvCxnSpPr>
        <p:spPr>
          <a:xfrm>
            <a:off x="9395460" y="372618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720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03504" y="4572000"/>
            <a:ext cx="201168" cy="20116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What we gain</a:t>
            </a:r>
          </a:p>
        </p:txBody>
      </p:sp>
      <p:sp>
        <p:nvSpPr>
          <p:cNvPr id="28" name="TextBox 27"/>
          <p:cNvSpPr txBox="1"/>
          <p:nvPr/>
        </p:nvSpPr>
        <p:spPr>
          <a:xfrm>
            <a:off x="62179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Time on the phone vs the network vs the bank, per tap.</a:t>
            </a:r>
          </a:p>
          <a:p>
            <a:pPr algn="l" marL="164592" indent="-146304">
              <a:spcAft>
                <a:spcPts val="200"/>
              </a:spcAft>
              <a:buChar char="•"/>
            </a:pPr>
            <a:r>
              <a:rPr sz="1050" b="0" i="0">
                <a:solidFill>
                  <a:schemeClr val="tx1"/>
                </a:solidFill>
              </a:rPr>
              <a:t>Errors and crashes linked to the server trace.</a:t>
            </a:r>
          </a:p>
          <a:p>
            <a:pPr algn="l" marL="164592" indent="-146304">
              <a:spcAft>
                <a:spcPts val="200"/>
              </a:spcAft>
              <a:buChar char="•"/>
            </a:pPr>
            <a:r>
              <a:rPr sz="1050" b="0" i="0">
                <a:solidFill>
                  <a:schemeClr val="tx1"/>
                </a:solidFill>
              </a:rPr>
              <a:t>Breakdown by app version, OS and network type.</a:t>
            </a:r>
          </a:p>
        </p:txBody>
      </p:sp>
      <p:sp>
        <p:nvSpPr>
          <p:cNvPr id="29" name="Rounded Rectangle 28"/>
          <p:cNvSpPr/>
          <p:nvPr/>
        </p:nvSpPr>
        <p:spPr>
          <a:xfrm>
            <a:off x="329184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38144" y="4572000"/>
            <a:ext cx="201168" cy="20116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3075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What to build</a:t>
            </a:r>
          </a:p>
        </p:txBody>
      </p:sp>
      <p:sp>
        <p:nvSpPr>
          <p:cNvPr id="32" name="TextBox 31"/>
          <p:cNvSpPr txBox="1"/>
          <p:nvPr/>
        </p:nvSpPr>
        <p:spPr>
          <a:xfrm>
            <a:off x="345643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OTel SDK in the app (auto-instruments the HTTP client).</a:t>
            </a:r>
          </a:p>
          <a:p>
            <a:pPr algn="l" marL="164592" indent="-146304">
              <a:spcAft>
                <a:spcPts val="200"/>
              </a:spcAft>
              <a:buChar char="•"/>
            </a:pPr>
            <a:r>
              <a:rPr sz="1050" b="0" i="0">
                <a:solidFill>
                  <a:schemeClr val="tx1"/>
                </a:solidFill>
              </a:rPr>
              <a:t>traceparent on the edge allow-list.</a:t>
            </a:r>
          </a:p>
          <a:p>
            <a:pPr algn="l" marL="164592" indent="-146304">
              <a:spcAft>
                <a:spcPts val="200"/>
              </a:spcAft>
              <a:buChar char="•"/>
            </a:pPr>
            <a:r>
              <a:rPr sz="1050" b="0" i="0">
                <a:solidFill>
                  <a:schemeClr val="tx1"/>
                </a:solidFill>
              </a:rPr>
              <a:t>Public OTLP endpoint + edge collector.</a:t>
            </a:r>
          </a:p>
        </p:txBody>
      </p:sp>
      <p:sp>
        <p:nvSpPr>
          <p:cNvPr id="33" name="Rounded Rectangle 32"/>
          <p:cNvSpPr/>
          <p:nvPr/>
        </p:nvSpPr>
        <p:spPr>
          <a:xfrm>
            <a:off x="612648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272784" y="4572000"/>
            <a:ext cx="201168" cy="20116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539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Guardrails</a:t>
            </a:r>
          </a:p>
        </p:txBody>
      </p:sp>
      <p:sp>
        <p:nvSpPr>
          <p:cNvPr id="36" name="TextBox 35"/>
          <p:cNvSpPr txBox="1"/>
          <p:nvPr/>
        </p:nvSpPr>
        <p:spPr>
          <a:xfrm>
            <a:off x="629107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No account numbers, names or device IDs in spans.</a:t>
            </a:r>
          </a:p>
          <a:p>
            <a:pPr algn="l" marL="164592" indent="-146304">
              <a:spcAft>
                <a:spcPts val="200"/>
              </a:spcAft>
              <a:buChar char="•"/>
            </a:pPr>
            <a:r>
              <a:rPr sz="1050" b="0" i="0">
                <a:solidFill>
                  <a:schemeClr val="tx1"/>
                </a:solidFill>
              </a:rPr>
              <a:t>Collector redaction + attribute allow-list.</a:t>
            </a:r>
          </a:p>
          <a:p>
            <a:pPr algn="l" marL="164592" indent="-146304">
              <a:spcAft>
                <a:spcPts val="200"/>
              </a:spcAft>
              <a:buChar char="•"/>
            </a:pPr>
            <a:r>
              <a:rPr sz="1050" b="0" i="0">
                <a:solidFill>
                  <a:schemeClr val="tx1"/>
                </a:solidFill>
              </a:rPr>
              <a:t>Journey set by the gateway, never by the app.</a:t>
            </a:r>
          </a:p>
        </p:txBody>
      </p:sp>
      <p:sp>
        <p:nvSpPr>
          <p:cNvPr id="37" name="Rounded Rectangle 36"/>
          <p:cNvSpPr/>
          <p:nvPr/>
        </p:nvSpPr>
        <p:spPr>
          <a:xfrm>
            <a:off x="8961120" y="4434840"/>
            <a:ext cx="2651760" cy="16916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107424" y="4572000"/>
            <a:ext cx="201168" cy="201168"/>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00032" y="4517136"/>
            <a:ext cx="2103120" cy="310896"/>
          </a:xfrm>
          <a:prstGeom prst="rect">
            <a:avLst/>
          </a:prstGeom>
          <a:noFill/>
        </p:spPr>
        <p:txBody>
          <a:bodyPr wrap="square" lIns="0" rIns="0" tIns="0" bIns="0" anchor="t">
            <a:spAutoFit/>
          </a:bodyPr>
          <a:lstStyle/>
          <a:p>
            <a:pPr algn="l">
              <a:spcAft>
                <a:spcPts val="400"/>
              </a:spcAft>
            </a:pPr>
            <a:r>
              <a:rPr sz="1300" b="1" i="0">
                <a:solidFill>
                  <a:schemeClr val="tx1"/>
                </a:solidFill>
              </a:rPr>
              <a:t>Decide</a:t>
            </a:r>
          </a:p>
        </p:txBody>
      </p:sp>
      <p:sp>
        <p:nvSpPr>
          <p:cNvPr id="40" name="TextBox 39"/>
          <p:cNvSpPr txBox="1"/>
          <p:nvPr/>
        </p:nvSpPr>
        <p:spPr>
          <a:xfrm>
            <a:off x="9125712" y="4864608"/>
            <a:ext cx="2377440" cy="1234440"/>
          </a:xfrm>
          <a:prstGeom prst="rect">
            <a:avLst/>
          </a:prstGeom>
          <a:noFill/>
        </p:spPr>
        <p:txBody>
          <a:bodyPr wrap="square" lIns="0" rIns="0" tIns="0" bIns="0" anchor="t">
            <a:spAutoFit/>
          </a:bodyPr>
          <a:lstStyle/>
          <a:p>
            <a:pPr algn="l" marL="164592" indent="-146304">
              <a:spcAft>
                <a:spcPts val="200"/>
              </a:spcAft>
              <a:buChar char="•"/>
            </a:pPr>
            <a:r>
              <a:rPr sz="1050" b="0" i="0">
                <a:solidFill>
                  <a:schemeClr val="tx1"/>
                </a:solidFill>
              </a:rPr>
              <a:t>Trust client trace IDs, or start a new trace at the gateway?</a:t>
            </a:r>
          </a:p>
          <a:p>
            <a:pPr algn="l" marL="164592" indent="-146304">
              <a:spcAft>
                <a:spcPts val="200"/>
              </a:spcAft>
              <a:buChar char="•"/>
            </a:pPr>
            <a:r>
              <a:rPr sz="1050" b="0" i="0">
                <a:solidFill>
                  <a:schemeClr val="tx1"/>
                </a:solidFill>
              </a:rPr>
              <a:t>OpenTelemetry SDK or a commercial RUM product?</a:t>
            </a:r>
          </a:p>
          <a:p>
            <a:pPr algn="l" marL="164592" indent="-146304">
              <a:spcAft>
                <a:spcPts val="200"/>
              </a:spcAft>
              <a:buChar char="•"/>
            </a:pPr>
            <a:r>
              <a:rPr sz="1050" b="0" i="0">
                <a:solidFill>
                  <a:schemeClr val="tx1"/>
                </a:solidFill>
              </a:rPr>
              <a:t>Consent and sampling rate per app release.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